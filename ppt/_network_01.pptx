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68" r:id="rId3"/>
    <p:sldId id="270" r:id="rId4"/>
    <p:sldId id="269" r:id="rId5"/>
    <p:sldId id="271" r:id="rId6"/>
    <p:sldId id="272" r:id="rId7"/>
    <p:sldId id="273" r:id="rId8"/>
    <p:sldId id="274" r:id="rId9"/>
    <p:sldId id="276" r:id="rId10"/>
    <p:sldId id="277" r:id="rId11"/>
    <p:sldId id="278" r:id="rId12"/>
    <p:sldId id="281" r:id="rId13"/>
    <p:sldId id="309" r:id="rId14"/>
    <p:sldId id="310" r:id="rId15"/>
    <p:sldId id="311" r:id="rId16"/>
    <p:sldId id="312" r:id="rId17"/>
    <p:sldId id="313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9" r:id="rId35"/>
    <p:sldId id="298" r:id="rId36"/>
    <p:sldId id="300" r:id="rId37"/>
    <p:sldId id="301" r:id="rId38"/>
    <p:sldId id="304" r:id="rId39"/>
    <p:sldId id="308" r:id="rId40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0000"/>
    <a:srgbClr val="CC0000"/>
    <a:srgbClr val="0000FF"/>
    <a:srgbClr val="009900"/>
    <a:srgbClr val="FF00FF"/>
    <a:srgbClr val="CC00CC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67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632" y="114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5.xml"/><Relationship Id="rId1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5303FD4-4BE5-1AAF-4EA3-806835C41F4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CEAA5C50-84FF-B2B6-C3BB-352BBC53BCD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0C1FD95-7B03-D11A-A9CA-FF9CE80BCC6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8525F284-7CD5-BB16-6B89-DC2392592CA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1C097E4F-B73D-9939-38CA-E0646AE2C0F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159A0CDE-FEC5-B5BC-E93D-5FA25CF5F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417FBE07-0E65-4A40-8B35-AA3D85E5E2A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152871EC-9CD2-7922-671F-931AEE250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852697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8570FC7-8D1A-FAC0-7B82-CAD05C23F94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11047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667323D-74C3-3F15-99A7-22E21A9F73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23920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F511A56-53D6-9878-FBC5-A334269082B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24858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5F5932D-6AAE-F60D-F3BB-AB9A4AD93FD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46788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9D2555AE-F751-9E8A-9722-E62F486E346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910030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D99ABCB8-260E-1DA6-F596-7DA308B7CC3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977187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E0464E6-F67C-47BE-BFA5-E5973F7DF3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677726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C4EE108-6A9F-15C7-5F8F-830FE0518A6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469871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ED25CF5-033E-4EB8-4902-4328DD66065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16423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D9122B6A-8B30-3D56-3413-E2E7DC1C2E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884757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7614305-8CE5-66C0-89F1-41183999DF4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954659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861AC23-663C-765D-F868-BA86377E6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ABF1C56-9F69-ADED-FFE9-A35A3FE3C6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8E11B006-CEA9-832B-1746-E96A0A254FF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781013BD-3AD2-3437-A21D-AF696514911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바닥글 개체 틀 3">
            <a:extLst>
              <a:ext uri="{FF2B5EF4-FFF2-40B4-BE49-F238E27FC236}">
                <a16:creationId xmlns:a16="http://schemas.microsoft.com/office/drawing/2014/main" id="{C14ADB3F-8B71-7603-3518-F970096103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B8F3E4E2-F8AC-5A52-9EA1-1B59A6FB530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708275"/>
            <a:ext cx="7772400" cy="1143000"/>
          </a:xfrm>
        </p:spPr>
        <p:txBody>
          <a:bodyPr anchor="ctr"/>
          <a:lstStyle/>
          <a:p>
            <a:pPr eaLnBrk="1" hangingPunct="1"/>
            <a:r>
              <a:rPr lang="en-US" altLang="ko-KR" sz="3200">
                <a:solidFill>
                  <a:schemeClr val="tx1"/>
                </a:solidFill>
              </a:rPr>
              <a:t>Network Programming - 01</a:t>
            </a:r>
            <a:br>
              <a:rPr lang="en-US" altLang="ko-KR" sz="3200">
                <a:solidFill>
                  <a:schemeClr val="tx1"/>
                </a:solidFill>
              </a:rPr>
            </a:br>
            <a:r>
              <a:rPr lang="en-US" altLang="ko-KR" sz="3200">
                <a:solidFill>
                  <a:schemeClr val="tx1"/>
                </a:solidFill>
              </a:rPr>
              <a:t> </a:t>
            </a:r>
            <a:r>
              <a:rPr lang="en-US" altLang="ko-KR" sz="1400">
                <a:solidFill>
                  <a:schemeClr val="tx1"/>
                </a:solidFill>
              </a:rPr>
              <a:t>afewhee@gmail.com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바닥글 개체 틀 3">
            <a:extLst>
              <a:ext uri="{FF2B5EF4-FFF2-40B4-BE49-F238E27FC236}">
                <a16:creationId xmlns:a16="http://schemas.microsoft.com/office/drawing/2014/main" id="{9CA0313A-5253-9E4F-6080-969D2EBAF4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D201C4DE-133A-76AD-1B55-590B13FF7D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0. </a:t>
            </a:r>
            <a:r>
              <a:rPr lang="ko-KR" altLang="en-US" sz="2400"/>
              <a:t>목차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61C1A992-C129-D46B-121D-AFF1D7F013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/>
              <a:t>네트워크 기초</a:t>
            </a:r>
          </a:p>
          <a:p>
            <a:pPr eaLnBrk="1" hangingPunct="1"/>
            <a:endParaRPr lang="ko-KR" altLang="en-US"/>
          </a:p>
          <a:p>
            <a:pPr eaLnBrk="1" hangingPunct="1"/>
            <a:r>
              <a:rPr lang="ko-KR" altLang="en-US"/>
              <a:t>소켓</a:t>
            </a:r>
          </a:p>
          <a:p>
            <a:pPr eaLnBrk="1" hangingPunct="1"/>
            <a:endParaRPr lang="ko-KR" altLang="en-US"/>
          </a:p>
          <a:p>
            <a:pPr eaLnBrk="1" hangingPunct="1"/>
            <a:r>
              <a:rPr lang="en-US" altLang="ko-KR"/>
              <a:t>TCP/IP</a:t>
            </a:r>
          </a:p>
          <a:p>
            <a:pPr eaLnBrk="1" hangingPunct="1"/>
            <a:endParaRPr lang="en-US" altLang="ko-KR"/>
          </a:p>
          <a:p>
            <a:pPr eaLnBrk="1" hangingPunct="1"/>
            <a:r>
              <a:rPr lang="ko-KR" altLang="en-US"/>
              <a:t>소켓 프로그래밍</a:t>
            </a:r>
          </a:p>
          <a:p>
            <a:pPr eaLnBrk="1" hangingPunct="1"/>
            <a:endParaRPr lang="en-US" alt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바닥글 개체 틀 3">
            <a:extLst>
              <a:ext uri="{FF2B5EF4-FFF2-40B4-BE49-F238E27FC236}">
                <a16:creationId xmlns:a16="http://schemas.microsoft.com/office/drawing/2014/main" id="{FEB1D73A-9680-5A9C-9ECE-D87990DE44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3A7AECB9-470D-7793-250C-3EB187748A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1. </a:t>
            </a:r>
            <a:r>
              <a:rPr lang="ko-KR" altLang="en-US" sz="2400"/>
              <a:t>네트워크</a:t>
            </a:r>
          </a:p>
        </p:txBody>
      </p:sp>
      <p:grpSp>
        <p:nvGrpSpPr>
          <p:cNvPr id="5124" name="Group 3">
            <a:extLst>
              <a:ext uri="{FF2B5EF4-FFF2-40B4-BE49-F238E27FC236}">
                <a16:creationId xmlns:a16="http://schemas.microsoft.com/office/drawing/2014/main" id="{8DA9C491-D539-EBA1-3095-4B29E43C904C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1143000"/>
            <a:ext cx="7315200" cy="4876800"/>
            <a:chOff x="240" y="720"/>
            <a:chExt cx="6660" cy="3504"/>
          </a:xfrm>
        </p:grpSpPr>
        <p:sp>
          <p:nvSpPr>
            <p:cNvPr id="5125" name="Rectangle 4">
              <a:extLst>
                <a:ext uri="{FF2B5EF4-FFF2-40B4-BE49-F238E27FC236}">
                  <a16:creationId xmlns:a16="http://schemas.microsoft.com/office/drawing/2014/main" id="{C25DECF4-6C09-7AE2-5113-8DBCFC095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1488"/>
              <a:ext cx="1380" cy="5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2000">
                  <a:latin typeface="굴림" panose="020B0600000101010101" pitchFamily="50" charset="-127"/>
                  <a:ea typeface="굴림" panose="020B0600000101010101" pitchFamily="50" charset="-127"/>
                </a:rPr>
                <a:t>종단 시스템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000">
                  <a:latin typeface="굴림" panose="020B0600000101010101" pitchFamily="50" charset="-127"/>
                  <a:ea typeface="굴림" panose="020B0600000101010101" pitchFamily="50" charset="-127"/>
                </a:rPr>
                <a:t>(PC, PDA, ...)</a:t>
              </a:r>
            </a:p>
          </p:txBody>
        </p:sp>
        <p:grpSp>
          <p:nvGrpSpPr>
            <p:cNvPr id="5126" name="Group 5">
              <a:extLst>
                <a:ext uri="{FF2B5EF4-FFF2-40B4-BE49-F238E27FC236}">
                  <a16:creationId xmlns:a16="http://schemas.microsoft.com/office/drawing/2014/main" id="{B5CDC861-CA3C-DF40-86E6-57546A83FB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0" y="720"/>
              <a:ext cx="1020" cy="759"/>
              <a:chOff x="2366" y="1497"/>
              <a:chExt cx="1391" cy="1374"/>
            </a:xfrm>
          </p:grpSpPr>
          <p:sp>
            <p:nvSpPr>
              <p:cNvPr id="5206" name="Freeform 6">
                <a:extLst>
                  <a:ext uri="{FF2B5EF4-FFF2-40B4-BE49-F238E27FC236}">
                    <a16:creationId xmlns:a16="http://schemas.microsoft.com/office/drawing/2014/main" id="{2932D661-AE5A-6600-85FD-3C41C9A607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8" y="1530"/>
                <a:ext cx="768" cy="760"/>
              </a:xfrm>
              <a:custGeom>
                <a:avLst/>
                <a:gdLst>
                  <a:gd name="T0" fmla="*/ 3 w 1537"/>
                  <a:gd name="T1" fmla="*/ 24 h 1520"/>
                  <a:gd name="T2" fmla="*/ 2 w 1537"/>
                  <a:gd name="T3" fmla="*/ 21 h 1520"/>
                  <a:gd name="T4" fmla="*/ 0 w 1537"/>
                  <a:gd name="T5" fmla="*/ 8 h 1520"/>
                  <a:gd name="T6" fmla="*/ 0 w 1537"/>
                  <a:gd name="T7" fmla="*/ 6 h 1520"/>
                  <a:gd name="T8" fmla="*/ 0 w 1537"/>
                  <a:gd name="T9" fmla="*/ 5 h 1520"/>
                  <a:gd name="T10" fmla="*/ 3 w 1537"/>
                  <a:gd name="T11" fmla="*/ 4 h 1520"/>
                  <a:gd name="T12" fmla="*/ 7 w 1537"/>
                  <a:gd name="T13" fmla="*/ 3 h 1520"/>
                  <a:gd name="T14" fmla="*/ 14 w 1537"/>
                  <a:gd name="T15" fmla="*/ 1 h 1520"/>
                  <a:gd name="T16" fmla="*/ 19 w 1537"/>
                  <a:gd name="T17" fmla="*/ 0 h 1520"/>
                  <a:gd name="T18" fmla="*/ 21 w 1537"/>
                  <a:gd name="T19" fmla="*/ 0 h 1520"/>
                  <a:gd name="T20" fmla="*/ 21 w 1537"/>
                  <a:gd name="T21" fmla="*/ 1 h 1520"/>
                  <a:gd name="T22" fmla="*/ 21 w 1537"/>
                  <a:gd name="T23" fmla="*/ 3 h 1520"/>
                  <a:gd name="T24" fmla="*/ 21 w 1537"/>
                  <a:gd name="T25" fmla="*/ 7 h 1520"/>
                  <a:gd name="T26" fmla="*/ 21 w 1537"/>
                  <a:gd name="T27" fmla="*/ 12 h 1520"/>
                  <a:gd name="T28" fmla="*/ 22 w 1537"/>
                  <a:gd name="T29" fmla="*/ 2 h 1520"/>
                  <a:gd name="T30" fmla="*/ 23 w 1537"/>
                  <a:gd name="T31" fmla="*/ 1 h 1520"/>
                  <a:gd name="T32" fmla="*/ 23 w 1537"/>
                  <a:gd name="T33" fmla="*/ 3 h 1520"/>
                  <a:gd name="T34" fmla="*/ 24 w 1537"/>
                  <a:gd name="T35" fmla="*/ 4 h 1520"/>
                  <a:gd name="T36" fmla="*/ 22 w 1537"/>
                  <a:gd name="T37" fmla="*/ 13 h 1520"/>
                  <a:gd name="T38" fmla="*/ 21 w 1537"/>
                  <a:gd name="T39" fmla="*/ 23 h 1520"/>
                  <a:gd name="T40" fmla="*/ 20 w 1537"/>
                  <a:gd name="T41" fmla="*/ 24 h 1520"/>
                  <a:gd name="T42" fmla="*/ 16 w 1537"/>
                  <a:gd name="T43" fmla="*/ 24 h 1520"/>
                  <a:gd name="T44" fmla="*/ 5 w 1537"/>
                  <a:gd name="T45" fmla="*/ 24 h 1520"/>
                  <a:gd name="T46" fmla="*/ 4 w 1537"/>
                  <a:gd name="T47" fmla="*/ 24 h 1520"/>
                  <a:gd name="T48" fmla="*/ 3 w 1537"/>
                  <a:gd name="T49" fmla="*/ 24 h 1520"/>
                  <a:gd name="T50" fmla="*/ 3 w 1537"/>
                  <a:gd name="T51" fmla="*/ 24 h 1520"/>
                  <a:gd name="T52" fmla="*/ 3 w 1537"/>
                  <a:gd name="T53" fmla="*/ 24 h 152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537" h="1520">
                    <a:moveTo>
                      <a:pt x="222" y="1483"/>
                    </a:moveTo>
                    <a:lnTo>
                      <a:pt x="161" y="1336"/>
                    </a:lnTo>
                    <a:lnTo>
                      <a:pt x="0" y="458"/>
                    </a:lnTo>
                    <a:lnTo>
                      <a:pt x="5" y="357"/>
                    </a:lnTo>
                    <a:lnTo>
                      <a:pt x="61" y="311"/>
                    </a:lnTo>
                    <a:lnTo>
                      <a:pt x="217" y="245"/>
                    </a:lnTo>
                    <a:lnTo>
                      <a:pt x="459" y="186"/>
                    </a:lnTo>
                    <a:lnTo>
                      <a:pt x="958" y="59"/>
                    </a:lnTo>
                    <a:lnTo>
                      <a:pt x="1229" y="0"/>
                    </a:lnTo>
                    <a:lnTo>
                      <a:pt x="1351" y="0"/>
                    </a:lnTo>
                    <a:lnTo>
                      <a:pt x="1376" y="8"/>
                    </a:lnTo>
                    <a:lnTo>
                      <a:pt x="1376" y="160"/>
                    </a:lnTo>
                    <a:lnTo>
                      <a:pt x="1351" y="397"/>
                    </a:lnTo>
                    <a:lnTo>
                      <a:pt x="1361" y="730"/>
                    </a:lnTo>
                    <a:lnTo>
                      <a:pt x="1452" y="73"/>
                    </a:lnTo>
                    <a:lnTo>
                      <a:pt x="1482" y="64"/>
                    </a:lnTo>
                    <a:lnTo>
                      <a:pt x="1517" y="145"/>
                    </a:lnTo>
                    <a:lnTo>
                      <a:pt x="1537" y="250"/>
                    </a:lnTo>
                    <a:lnTo>
                      <a:pt x="1471" y="791"/>
                    </a:lnTo>
                    <a:lnTo>
                      <a:pt x="1382" y="1471"/>
                    </a:lnTo>
                    <a:lnTo>
                      <a:pt x="1316" y="1504"/>
                    </a:lnTo>
                    <a:lnTo>
                      <a:pt x="1077" y="1520"/>
                    </a:lnTo>
                    <a:lnTo>
                      <a:pt x="342" y="1512"/>
                    </a:lnTo>
                    <a:lnTo>
                      <a:pt x="269" y="1495"/>
                    </a:lnTo>
                    <a:lnTo>
                      <a:pt x="222" y="1483"/>
                    </a:lnTo>
                    <a:close/>
                  </a:path>
                </a:pathLst>
              </a:custGeom>
              <a:solidFill>
                <a:srgbClr val="E8DC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07" name="Freeform 7">
                <a:extLst>
                  <a:ext uri="{FF2B5EF4-FFF2-40B4-BE49-F238E27FC236}">
                    <a16:creationId xmlns:a16="http://schemas.microsoft.com/office/drawing/2014/main" id="{478B530C-B635-E308-84B4-9EBC863CAA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1" y="1636"/>
                <a:ext cx="535" cy="537"/>
              </a:xfrm>
              <a:custGeom>
                <a:avLst/>
                <a:gdLst>
                  <a:gd name="T0" fmla="*/ 1 w 1069"/>
                  <a:gd name="T1" fmla="*/ 10 h 1074"/>
                  <a:gd name="T2" fmla="*/ 1 w 1069"/>
                  <a:gd name="T3" fmla="*/ 8 h 1074"/>
                  <a:gd name="T4" fmla="*/ 0 w 1069"/>
                  <a:gd name="T5" fmla="*/ 7 h 1074"/>
                  <a:gd name="T6" fmla="*/ 1 w 1069"/>
                  <a:gd name="T7" fmla="*/ 4 h 1074"/>
                  <a:gd name="T8" fmla="*/ 3 w 1069"/>
                  <a:gd name="T9" fmla="*/ 3 h 1074"/>
                  <a:gd name="T10" fmla="*/ 12 w 1069"/>
                  <a:gd name="T11" fmla="*/ 0 h 1074"/>
                  <a:gd name="T12" fmla="*/ 15 w 1069"/>
                  <a:gd name="T13" fmla="*/ 1 h 1074"/>
                  <a:gd name="T14" fmla="*/ 17 w 1069"/>
                  <a:gd name="T15" fmla="*/ 2 h 1074"/>
                  <a:gd name="T16" fmla="*/ 17 w 1069"/>
                  <a:gd name="T17" fmla="*/ 5 h 1074"/>
                  <a:gd name="T18" fmla="*/ 15 w 1069"/>
                  <a:gd name="T19" fmla="*/ 16 h 1074"/>
                  <a:gd name="T20" fmla="*/ 3 w 1069"/>
                  <a:gd name="T21" fmla="*/ 17 h 1074"/>
                  <a:gd name="T22" fmla="*/ 2 w 1069"/>
                  <a:gd name="T23" fmla="*/ 16 h 1074"/>
                  <a:gd name="T24" fmla="*/ 1 w 1069"/>
                  <a:gd name="T25" fmla="*/ 10 h 1074"/>
                  <a:gd name="T26" fmla="*/ 1 w 1069"/>
                  <a:gd name="T27" fmla="*/ 10 h 1074"/>
                  <a:gd name="T28" fmla="*/ 1 w 1069"/>
                  <a:gd name="T29" fmla="*/ 10 h 107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69" h="1074">
                    <a:moveTo>
                      <a:pt x="30" y="623"/>
                    </a:moveTo>
                    <a:lnTo>
                      <a:pt x="14" y="500"/>
                    </a:lnTo>
                    <a:lnTo>
                      <a:pt x="0" y="388"/>
                    </a:lnTo>
                    <a:lnTo>
                      <a:pt x="43" y="196"/>
                    </a:lnTo>
                    <a:lnTo>
                      <a:pt x="168" y="148"/>
                    </a:lnTo>
                    <a:lnTo>
                      <a:pt x="732" y="0"/>
                    </a:lnTo>
                    <a:lnTo>
                      <a:pt x="905" y="4"/>
                    </a:lnTo>
                    <a:lnTo>
                      <a:pt x="1034" y="94"/>
                    </a:lnTo>
                    <a:lnTo>
                      <a:pt x="1069" y="274"/>
                    </a:lnTo>
                    <a:lnTo>
                      <a:pt x="951" y="977"/>
                    </a:lnTo>
                    <a:lnTo>
                      <a:pt x="156" y="1074"/>
                    </a:lnTo>
                    <a:lnTo>
                      <a:pt x="116" y="1012"/>
                    </a:lnTo>
                    <a:lnTo>
                      <a:pt x="30" y="623"/>
                    </a:lnTo>
                    <a:close/>
                  </a:path>
                </a:pathLst>
              </a:custGeom>
              <a:solidFill>
                <a:srgbClr val="A5B8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08" name="Freeform 8">
                <a:extLst>
                  <a:ext uri="{FF2B5EF4-FFF2-40B4-BE49-F238E27FC236}">
                    <a16:creationId xmlns:a16="http://schemas.microsoft.com/office/drawing/2014/main" id="{E60278B5-EBDC-7E50-D877-54DE86D67F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1" y="2323"/>
                <a:ext cx="473" cy="89"/>
              </a:xfrm>
              <a:custGeom>
                <a:avLst/>
                <a:gdLst>
                  <a:gd name="T0" fmla="*/ 0 w 945"/>
                  <a:gd name="T1" fmla="*/ 3 h 177"/>
                  <a:gd name="T2" fmla="*/ 1 w 945"/>
                  <a:gd name="T3" fmla="*/ 2 h 177"/>
                  <a:gd name="T4" fmla="*/ 4 w 945"/>
                  <a:gd name="T5" fmla="*/ 2 h 177"/>
                  <a:gd name="T6" fmla="*/ 10 w 945"/>
                  <a:gd name="T7" fmla="*/ 1 h 177"/>
                  <a:gd name="T8" fmla="*/ 13 w 945"/>
                  <a:gd name="T9" fmla="*/ 1 h 177"/>
                  <a:gd name="T10" fmla="*/ 15 w 945"/>
                  <a:gd name="T11" fmla="*/ 0 h 177"/>
                  <a:gd name="T12" fmla="*/ 15 w 945"/>
                  <a:gd name="T13" fmla="*/ 2 h 177"/>
                  <a:gd name="T14" fmla="*/ 9 w 945"/>
                  <a:gd name="T15" fmla="*/ 2 h 177"/>
                  <a:gd name="T16" fmla="*/ 4 w 945"/>
                  <a:gd name="T17" fmla="*/ 3 h 177"/>
                  <a:gd name="T18" fmla="*/ 1 w 945"/>
                  <a:gd name="T19" fmla="*/ 3 h 177"/>
                  <a:gd name="T20" fmla="*/ 0 w 945"/>
                  <a:gd name="T21" fmla="*/ 3 h 177"/>
                  <a:gd name="T22" fmla="*/ 0 w 945"/>
                  <a:gd name="T23" fmla="*/ 3 h 177"/>
                  <a:gd name="T24" fmla="*/ 0 w 945"/>
                  <a:gd name="T25" fmla="*/ 3 h 17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45" h="177">
                    <a:moveTo>
                      <a:pt x="0" y="152"/>
                    </a:moveTo>
                    <a:lnTo>
                      <a:pt x="30" y="116"/>
                    </a:lnTo>
                    <a:lnTo>
                      <a:pt x="221" y="67"/>
                    </a:lnTo>
                    <a:lnTo>
                      <a:pt x="580" y="6"/>
                    </a:lnTo>
                    <a:lnTo>
                      <a:pt x="807" y="16"/>
                    </a:lnTo>
                    <a:lnTo>
                      <a:pt x="945" y="0"/>
                    </a:lnTo>
                    <a:lnTo>
                      <a:pt x="922" y="106"/>
                    </a:lnTo>
                    <a:lnTo>
                      <a:pt x="544" y="111"/>
                    </a:lnTo>
                    <a:lnTo>
                      <a:pt x="206" y="136"/>
                    </a:lnTo>
                    <a:lnTo>
                      <a:pt x="40" y="177"/>
                    </a:lnTo>
                    <a:lnTo>
                      <a:pt x="0" y="152"/>
                    </a:lnTo>
                    <a:close/>
                  </a:path>
                </a:pathLst>
              </a:custGeom>
              <a:solidFill>
                <a:srgbClr val="E8DC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09" name="Freeform 9">
                <a:extLst>
                  <a:ext uri="{FF2B5EF4-FFF2-40B4-BE49-F238E27FC236}">
                    <a16:creationId xmlns:a16="http://schemas.microsoft.com/office/drawing/2014/main" id="{0AF911E7-373E-F720-0959-FD8906FC1C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3" y="1722"/>
                <a:ext cx="193" cy="170"/>
              </a:xfrm>
              <a:custGeom>
                <a:avLst/>
                <a:gdLst>
                  <a:gd name="T0" fmla="*/ 4 w 388"/>
                  <a:gd name="T1" fmla="*/ 0 h 341"/>
                  <a:gd name="T2" fmla="*/ 2 w 388"/>
                  <a:gd name="T3" fmla="*/ 0 h 341"/>
                  <a:gd name="T4" fmla="*/ 1 w 388"/>
                  <a:gd name="T5" fmla="*/ 1 h 341"/>
                  <a:gd name="T6" fmla="*/ 0 w 388"/>
                  <a:gd name="T7" fmla="*/ 2 h 341"/>
                  <a:gd name="T8" fmla="*/ 0 w 388"/>
                  <a:gd name="T9" fmla="*/ 3 h 341"/>
                  <a:gd name="T10" fmla="*/ 0 w 388"/>
                  <a:gd name="T11" fmla="*/ 5 h 341"/>
                  <a:gd name="T12" fmla="*/ 1 w 388"/>
                  <a:gd name="T13" fmla="*/ 3 h 341"/>
                  <a:gd name="T14" fmla="*/ 3 w 388"/>
                  <a:gd name="T15" fmla="*/ 1 h 341"/>
                  <a:gd name="T16" fmla="*/ 6 w 388"/>
                  <a:gd name="T17" fmla="*/ 0 h 341"/>
                  <a:gd name="T18" fmla="*/ 4 w 388"/>
                  <a:gd name="T19" fmla="*/ 0 h 341"/>
                  <a:gd name="T20" fmla="*/ 4 w 388"/>
                  <a:gd name="T21" fmla="*/ 0 h 341"/>
                  <a:gd name="T22" fmla="*/ 4 w 388"/>
                  <a:gd name="T23" fmla="*/ 0 h 34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88" h="341">
                    <a:moveTo>
                      <a:pt x="266" y="12"/>
                    </a:moveTo>
                    <a:lnTo>
                      <a:pt x="160" y="40"/>
                    </a:lnTo>
                    <a:lnTo>
                      <a:pt x="66" y="87"/>
                    </a:lnTo>
                    <a:lnTo>
                      <a:pt x="23" y="146"/>
                    </a:lnTo>
                    <a:lnTo>
                      <a:pt x="0" y="212"/>
                    </a:lnTo>
                    <a:lnTo>
                      <a:pt x="34" y="341"/>
                    </a:lnTo>
                    <a:lnTo>
                      <a:pt x="109" y="208"/>
                    </a:lnTo>
                    <a:lnTo>
                      <a:pt x="216" y="87"/>
                    </a:lnTo>
                    <a:lnTo>
                      <a:pt x="388" y="0"/>
                    </a:lnTo>
                    <a:lnTo>
                      <a:pt x="266" y="12"/>
                    </a:lnTo>
                    <a:close/>
                  </a:path>
                </a:pathLst>
              </a:custGeom>
              <a:solidFill>
                <a:srgbClr val="DBE5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10" name="Freeform 10">
                <a:extLst>
                  <a:ext uri="{FF2B5EF4-FFF2-40B4-BE49-F238E27FC236}">
                    <a16:creationId xmlns:a16="http://schemas.microsoft.com/office/drawing/2014/main" id="{4E0DAEAE-F4A9-010A-D7DD-51FACC0BD0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1931"/>
                <a:ext cx="122" cy="161"/>
              </a:xfrm>
              <a:custGeom>
                <a:avLst/>
                <a:gdLst>
                  <a:gd name="T0" fmla="*/ 3 w 243"/>
                  <a:gd name="T1" fmla="*/ 1 h 321"/>
                  <a:gd name="T2" fmla="*/ 3 w 243"/>
                  <a:gd name="T3" fmla="*/ 3 h 321"/>
                  <a:gd name="T4" fmla="*/ 0 w 243"/>
                  <a:gd name="T5" fmla="*/ 5 h 321"/>
                  <a:gd name="T6" fmla="*/ 2 w 243"/>
                  <a:gd name="T7" fmla="*/ 6 h 321"/>
                  <a:gd name="T8" fmla="*/ 3 w 243"/>
                  <a:gd name="T9" fmla="*/ 5 h 321"/>
                  <a:gd name="T10" fmla="*/ 4 w 243"/>
                  <a:gd name="T11" fmla="*/ 3 h 321"/>
                  <a:gd name="T12" fmla="*/ 4 w 243"/>
                  <a:gd name="T13" fmla="*/ 0 h 321"/>
                  <a:gd name="T14" fmla="*/ 3 w 243"/>
                  <a:gd name="T15" fmla="*/ 1 h 321"/>
                  <a:gd name="T16" fmla="*/ 3 w 243"/>
                  <a:gd name="T17" fmla="*/ 1 h 321"/>
                  <a:gd name="T18" fmla="*/ 3 w 243"/>
                  <a:gd name="T19" fmla="*/ 1 h 32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43" h="321">
                    <a:moveTo>
                      <a:pt x="187" y="43"/>
                    </a:moveTo>
                    <a:lnTo>
                      <a:pt x="133" y="166"/>
                    </a:lnTo>
                    <a:lnTo>
                      <a:pt x="0" y="302"/>
                    </a:lnTo>
                    <a:lnTo>
                      <a:pt x="101" y="321"/>
                    </a:lnTo>
                    <a:lnTo>
                      <a:pt x="187" y="278"/>
                    </a:lnTo>
                    <a:lnTo>
                      <a:pt x="215" y="173"/>
                    </a:lnTo>
                    <a:lnTo>
                      <a:pt x="243" y="0"/>
                    </a:lnTo>
                    <a:lnTo>
                      <a:pt x="187" y="43"/>
                    </a:lnTo>
                    <a:close/>
                  </a:path>
                </a:pathLst>
              </a:custGeom>
              <a:solidFill>
                <a:srgbClr val="6D76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11" name="Freeform 11">
                <a:extLst>
                  <a:ext uri="{FF2B5EF4-FFF2-40B4-BE49-F238E27FC236}">
                    <a16:creationId xmlns:a16="http://schemas.microsoft.com/office/drawing/2014/main" id="{9D0521C0-C7E2-A44D-B7D7-3E9599B959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9" y="2580"/>
                <a:ext cx="289" cy="205"/>
              </a:xfrm>
              <a:custGeom>
                <a:avLst/>
                <a:gdLst>
                  <a:gd name="T0" fmla="*/ 1 w 578"/>
                  <a:gd name="T1" fmla="*/ 3 h 410"/>
                  <a:gd name="T2" fmla="*/ 2 w 578"/>
                  <a:gd name="T3" fmla="*/ 1 h 410"/>
                  <a:gd name="T4" fmla="*/ 3 w 578"/>
                  <a:gd name="T5" fmla="*/ 1 h 410"/>
                  <a:gd name="T6" fmla="*/ 5 w 578"/>
                  <a:gd name="T7" fmla="*/ 0 h 410"/>
                  <a:gd name="T8" fmla="*/ 6 w 578"/>
                  <a:gd name="T9" fmla="*/ 1 h 410"/>
                  <a:gd name="T10" fmla="*/ 7 w 578"/>
                  <a:gd name="T11" fmla="*/ 2 h 410"/>
                  <a:gd name="T12" fmla="*/ 8 w 578"/>
                  <a:gd name="T13" fmla="*/ 2 h 410"/>
                  <a:gd name="T14" fmla="*/ 9 w 578"/>
                  <a:gd name="T15" fmla="*/ 3 h 410"/>
                  <a:gd name="T16" fmla="*/ 9 w 578"/>
                  <a:gd name="T17" fmla="*/ 4 h 410"/>
                  <a:gd name="T18" fmla="*/ 10 w 578"/>
                  <a:gd name="T19" fmla="*/ 5 h 410"/>
                  <a:gd name="T20" fmla="*/ 8 w 578"/>
                  <a:gd name="T21" fmla="*/ 7 h 410"/>
                  <a:gd name="T22" fmla="*/ 5 w 578"/>
                  <a:gd name="T23" fmla="*/ 7 h 410"/>
                  <a:gd name="T24" fmla="*/ 3 w 578"/>
                  <a:gd name="T25" fmla="*/ 5 h 410"/>
                  <a:gd name="T26" fmla="*/ 1 w 578"/>
                  <a:gd name="T27" fmla="*/ 5 h 410"/>
                  <a:gd name="T28" fmla="*/ 0 w 578"/>
                  <a:gd name="T29" fmla="*/ 4 h 410"/>
                  <a:gd name="T30" fmla="*/ 1 w 578"/>
                  <a:gd name="T31" fmla="*/ 3 h 410"/>
                  <a:gd name="T32" fmla="*/ 1 w 578"/>
                  <a:gd name="T33" fmla="*/ 3 h 410"/>
                  <a:gd name="T34" fmla="*/ 1 w 578"/>
                  <a:gd name="T35" fmla="*/ 3 h 41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578" h="410">
                    <a:moveTo>
                      <a:pt x="15" y="131"/>
                    </a:moveTo>
                    <a:lnTo>
                      <a:pt x="91" y="50"/>
                    </a:lnTo>
                    <a:lnTo>
                      <a:pt x="170" y="10"/>
                    </a:lnTo>
                    <a:lnTo>
                      <a:pt x="260" y="0"/>
                    </a:lnTo>
                    <a:lnTo>
                      <a:pt x="333" y="25"/>
                    </a:lnTo>
                    <a:lnTo>
                      <a:pt x="443" y="76"/>
                    </a:lnTo>
                    <a:lnTo>
                      <a:pt x="497" y="115"/>
                    </a:lnTo>
                    <a:lnTo>
                      <a:pt x="537" y="172"/>
                    </a:lnTo>
                    <a:lnTo>
                      <a:pt x="571" y="238"/>
                    </a:lnTo>
                    <a:lnTo>
                      <a:pt x="578" y="296"/>
                    </a:lnTo>
                    <a:lnTo>
                      <a:pt x="503" y="392"/>
                    </a:lnTo>
                    <a:lnTo>
                      <a:pt x="319" y="410"/>
                    </a:lnTo>
                    <a:lnTo>
                      <a:pt x="182" y="311"/>
                    </a:lnTo>
                    <a:lnTo>
                      <a:pt x="61" y="311"/>
                    </a:lnTo>
                    <a:lnTo>
                      <a:pt x="0" y="226"/>
                    </a:lnTo>
                    <a:lnTo>
                      <a:pt x="15" y="13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12" name="Freeform 12">
                <a:extLst>
                  <a:ext uri="{FF2B5EF4-FFF2-40B4-BE49-F238E27FC236}">
                    <a16:creationId xmlns:a16="http://schemas.microsoft.com/office/drawing/2014/main" id="{0AE09698-750A-6DEC-9467-26BD18364C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9" y="2617"/>
                <a:ext cx="295" cy="179"/>
              </a:xfrm>
              <a:custGeom>
                <a:avLst/>
                <a:gdLst>
                  <a:gd name="T0" fmla="*/ 1 w 589"/>
                  <a:gd name="T1" fmla="*/ 1 h 358"/>
                  <a:gd name="T2" fmla="*/ 2 w 589"/>
                  <a:gd name="T3" fmla="*/ 0 h 358"/>
                  <a:gd name="T4" fmla="*/ 4 w 589"/>
                  <a:gd name="T5" fmla="*/ 0 h 358"/>
                  <a:gd name="T6" fmla="*/ 5 w 589"/>
                  <a:gd name="T7" fmla="*/ 1 h 358"/>
                  <a:gd name="T8" fmla="*/ 3 w 589"/>
                  <a:gd name="T9" fmla="*/ 2 h 358"/>
                  <a:gd name="T10" fmla="*/ 5 w 589"/>
                  <a:gd name="T11" fmla="*/ 1 h 358"/>
                  <a:gd name="T12" fmla="*/ 7 w 589"/>
                  <a:gd name="T13" fmla="*/ 1 h 358"/>
                  <a:gd name="T14" fmla="*/ 8 w 589"/>
                  <a:gd name="T15" fmla="*/ 1 h 358"/>
                  <a:gd name="T16" fmla="*/ 8 w 589"/>
                  <a:gd name="T17" fmla="*/ 2 h 358"/>
                  <a:gd name="T18" fmla="*/ 7 w 589"/>
                  <a:gd name="T19" fmla="*/ 2 h 358"/>
                  <a:gd name="T20" fmla="*/ 6 w 589"/>
                  <a:gd name="T21" fmla="*/ 3 h 358"/>
                  <a:gd name="T22" fmla="*/ 6 w 589"/>
                  <a:gd name="T23" fmla="*/ 4 h 358"/>
                  <a:gd name="T24" fmla="*/ 8 w 589"/>
                  <a:gd name="T25" fmla="*/ 3 h 358"/>
                  <a:gd name="T26" fmla="*/ 9 w 589"/>
                  <a:gd name="T27" fmla="*/ 2 h 358"/>
                  <a:gd name="T28" fmla="*/ 10 w 589"/>
                  <a:gd name="T29" fmla="*/ 3 h 358"/>
                  <a:gd name="T30" fmla="*/ 10 w 589"/>
                  <a:gd name="T31" fmla="*/ 4 h 358"/>
                  <a:gd name="T32" fmla="*/ 8 w 589"/>
                  <a:gd name="T33" fmla="*/ 6 h 358"/>
                  <a:gd name="T34" fmla="*/ 7 w 589"/>
                  <a:gd name="T35" fmla="*/ 6 h 358"/>
                  <a:gd name="T36" fmla="*/ 5 w 589"/>
                  <a:gd name="T37" fmla="*/ 6 h 358"/>
                  <a:gd name="T38" fmla="*/ 4 w 589"/>
                  <a:gd name="T39" fmla="*/ 5 h 358"/>
                  <a:gd name="T40" fmla="*/ 2 w 589"/>
                  <a:gd name="T41" fmla="*/ 5 h 358"/>
                  <a:gd name="T42" fmla="*/ 1 w 589"/>
                  <a:gd name="T43" fmla="*/ 4 h 358"/>
                  <a:gd name="T44" fmla="*/ 0 w 589"/>
                  <a:gd name="T45" fmla="*/ 2 h 358"/>
                  <a:gd name="T46" fmla="*/ 1 w 589"/>
                  <a:gd name="T47" fmla="*/ 1 h 358"/>
                  <a:gd name="T48" fmla="*/ 1 w 589"/>
                  <a:gd name="T49" fmla="*/ 1 h 358"/>
                  <a:gd name="T50" fmla="*/ 1 w 589"/>
                  <a:gd name="T51" fmla="*/ 1 h 35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589" h="358">
                    <a:moveTo>
                      <a:pt x="32" y="37"/>
                    </a:moveTo>
                    <a:lnTo>
                      <a:pt x="82" y="0"/>
                    </a:lnTo>
                    <a:lnTo>
                      <a:pt x="193" y="0"/>
                    </a:lnTo>
                    <a:lnTo>
                      <a:pt x="260" y="19"/>
                    </a:lnTo>
                    <a:lnTo>
                      <a:pt x="182" y="116"/>
                    </a:lnTo>
                    <a:lnTo>
                      <a:pt x="298" y="56"/>
                    </a:lnTo>
                    <a:lnTo>
                      <a:pt x="389" y="23"/>
                    </a:lnTo>
                    <a:lnTo>
                      <a:pt x="460" y="55"/>
                    </a:lnTo>
                    <a:lnTo>
                      <a:pt x="492" y="93"/>
                    </a:lnTo>
                    <a:lnTo>
                      <a:pt x="429" y="111"/>
                    </a:lnTo>
                    <a:lnTo>
                      <a:pt x="359" y="154"/>
                    </a:lnTo>
                    <a:lnTo>
                      <a:pt x="353" y="233"/>
                    </a:lnTo>
                    <a:lnTo>
                      <a:pt x="473" y="133"/>
                    </a:lnTo>
                    <a:lnTo>
                      <a:pt x="523" y="125"/>
                    </a:lnTo>
                    <a:lnTo>
                      <a:pt x="580" y="163"/>
                    </a:lnTo>
                    <a:lnTo>
                      <a:pt x="589" y="220"/>
                    </a:lnTo>
                    <a:lnTo>
                      <a:pt x="454" y="340"/>
                    </a:lnTo>
                    <a:lnTo>
                      <a:pt x="385" y="358"/>
                    </a:lnTo>
                    <a:lnTo>
                      <a:pt x="291" y="345"/>
                    </a:lnTo>
                    <a:lnTo>
                      <a:pt x="217" y="265"/>
                    </a:lnTo>
                    <a:lnTo>
                      <a:pt x="65" y="269"/>
                    </a:lnTo>
                    <a:lnTo>
                      <a:pt x="20" y="214"/>
                    </a:lnTo>
                    <a:lnTo>
                      <a:pt x="0" y="92"/>
                    </a:lnTo>
                    <a:lnTo>
                      <a:pt x="32" y="37"/>
                    </a:lnTo>
                    <a:close/>
                  </a:path>
                </a:pathLst>
              </a:custGeom>
              <a:solidFill>
                <a:srgbClr val="E8DC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13" name="Freeform 13">
                <a:extLst>
                  <a:ext uri="{FF2B5EF4-FFF2-40B4-BE49-F238E27FC236}">
                    <a16:creationId xmlns:a16="http://schemas.microsoft.com/office/drawing/2014/main" id="{E5AB09D4-6848-8702-73FC-7E6BC75E4D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2699"/>
                <a:ext cx="278" cy="97"/>
              </a:xfrm>
              <a:custGeom>
                <a:avLst/>
                <a:gdLst>
                  <a:gd name="T0" fmla="*/ 0 w 558"/>
                  <a:gd name="T1" fmla="*/ 1 h 194"/>
                  <a:gd name="T2" fmla="*/ 1 w 558"/>
                  <a:gd name="T3" fmla="*/ 1 h 194"/>
                  <a:gd name="T4" fmla="*/ 1 w 558"/>
                  <a:gd name="T5" fmla="*/ 1 h 194"/>
                  <a:gd name="T6" fmla="*/ 2 w 558"/>
                  <a:gd name="T7" fmla="*/ 1 h 194"/>
                  <a:gd name="T8" fmla="*/ 3 w 558"/>
                  <a:gd name="T9" fmla="*/ 1 h 194"/>
                  <a:gd name="T10" fmla="*/ 3 w 558"/>
                  <a:gd name="T11" fmla="*/ 1 h 194"/>
                  <a:gd name="T12" fmla="*/ 4 w 558"/>
                  <a:gd name="T13" fmla="*/ 2 h 194"/>
                  <a:gd name="T14" fmla="*/ 5 w 558"/>
                  <a:gd name="T15" fmla="*/ 2 h 194"/>
                  <a:gd name="T16" fmla="*/ 6 w 558"/>
                  <a:gd name="T17" fmla="*/ 1 h 194"/>
                  <a:gd name="T18" fmla="*/ 7 w 558"/>
                  <a:gd name="T19" fmla="*/ 1 h 194"/>
                  <a:gd name="T20" fmla="*/ 8 w 558"/>
                  <a:gd name="T21" fmla="*/ 0 h 194"/>
                  <a:gd name="T22" fmla="*/ 8 w 558"/>
                  <a:gd name="T23" fmla="*/ 1 h 194"/>
                  <a:gd name="T24" fmla="*/ 8 w 558"/>
                  <a:gd name="T25" fmla="*/ 1 h 194"/>
                  <a:gd name="T26" fmla="*/ 8 w 558"/>
                  <a:gd name="T27" fmla="*/ 2 h 194"/>
                  <a:gd name="T28" fmla="*/ 6 w 558"/>
                  <a:gd name="T29" fmla="*/ 3 h 194"/>
                  <a:gd name="T30" fmla="*/ 5 w 558"/>
                  <a:gd name="T31" fmla="*/ 4 h 194"/>
                  <a:gd name="T32" fmla="*/ 4 w 558"/>
                  <a:gd name="T33" fmla="*/ 3 h 194"/>
                  <a:gd name="T34" fmla="*/ 3 w 558"/>
                  <a:gd name="T35" fmla="*/ 2 h 194"/>
                  <a:gd name="T36" fmla="*/ 1 w 558"/>
                  <a:gd name="T37" fmla="*/ 2 h 194"/>
                  <a:gd name="T38" fmla="*/ 0 w 558"/>
                  <a:gd name="T39" fmla="*/ 2 h 194"/>
                  <a:gd name="T40" fmla="*/ 0 w 558"/>
                  <a:gd name="T41" fmla="*/ 1 h 194"/>
                  <a:gd name="T42" fmla="*/ 0 w 558"/>
                  <a:gd name="T43" fmla="*/ 1 h 194"/>
                  <a:gd name="T44" fmla="*/ 0 w 558"/>
                  <a:gd name="T45" fmla="*/ 1 h 19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558" h="194">
                    <a:moveTo>
                      <a:pt x="0" y="16"/>
                    </a:moveTo>
                    <a:lnTo>
                      <a:pt x="71" y="48"/>
                    </a:lnTo>
                    <a:lnTo>
                      <a:pt x="127" y="30"/>
                    </a:lnTo>
                    <a:lnTo>
                      <a:pt x="178" y="14"/>
                    </a:lnTo>
                    <a:lnTo>
                      <a:pt x="228" y="23"/>
                    </a:lnTo>
                    <a:lnTo>
                      <a:pt x="255" y="49"/>
                    </a:lnTo>
                    <a:lnTo>
                      <a:pt x="275" y="82"/>
                    </a:lnTo>
                    <a:lnTo>
                      <a:pt x="341" y="119"/>
                    </a:lnTo>
                    <a:lnTo>
                      <a:pt x="388" y="59"/>
                    </a:lnTo>
                    <a:lnTo>
                      <a:pt x="454" y="18"/>
                    </a:lnTo>
                    <a:lnTo>
                      <a:pt x="514" y="0"/>
                    </a:lnTo>
                    <a:lnTo>
                      <a:pt x="553" y="31"/>
                    </a:lnTo>
                    <a:lnTo>
                      <a:pt x="558" y="63"/>
                    </a:lnTo>
                    <a:lnTo>
                      <a:pt x="515" y="125"/>
                    </a:lnTo>
                    <a:lnTo>
                      <a:pt x="443" y="176"/>
                    </a:lnTo>
                    <a:lnTo>
                      <a:pt x="374" y="194"/>
                    </a:lnTo>
                    <a:lnTo>
                      <a:pt x="271" y="178"/>
                    </a:lnTo>
                    <a:lnTo>
                      <a:pt x="193" y="109"/>
                    </a:lnTo>
                    <a:lnTo>
                      <a:pt x="75" y="102"/>
                    </a:lnTo>
                    <a:lnTo>
                      <a:pt x="16" y="73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A3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14" name="Freeform 14">
                <a:extLst>
                  <a:ext uri="{FF2B5EF4-FFF2-40B4-BE49-F238E27FC236}">
                    <a16:creationId xmlns:a16="http://schemas.microsoft.com/office/drawing/2014/main" id="{191F0D52-80E6-08DC-7905-AC17C52987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" y="2631"/>
                <a:ext cx="69" cy="42"/>
              </a:xfrm>
              <a:custGeom>
                <a:avLst/>
                <a:gdLst>
                  <a:gd name="T0" fmla="*/ 0 w 139"/>
                  <a:gd name="T1" fmla="*/ 0 h 84"/>
                  <a:gd name="T2" fmla="*/ 1 w 139"/>
                  <a:gd name="T3" fmla="*/ 1 h 84"/>
                  <a:gd name="T4" fmla="*/ 1 w 139"/>
                  <a:gd name="T5" fmla="*/ 1 h 84"/>
                  <a:gd name="T6" fmla="*/ 2 w 139"/>
                  <a:gd name="T7" fmla="*/ 2 h 84"/>
                  <a:gd name="T8" fmla="*/ 2 w 139"/>
                  <a:gd name="T9" fmla="*/ 2 h 84"/>
                  <a:gd name="T10" fmla="*/ 2 w 139"/>
                  <a:gd name="T11" fmla="*/ 2 h 84"/>
                  <a:gd name="T12" fmla="*/ 1 w 139"/>
                  <a:gd name="T13" fmla="*/ 2 h 84"/>
                  <a:gd name="T14" fmla="*/ 1 w 139"/>
                  <a:gd name="T15" fmla="*/ 1 h 84"/>
                  <a:gd name="T16" fmla="*/ 0 w 139"/>
                  <a:gd name="T17" fmla="*/ 1 h 84"/>
                  <a:gd name="T18" fmla="*/ 0 w 139"/>
                  <a:gd name="T19" fmla="*/ 1 h 84"/>
                  <a:gd name="T20" fmla="*/ 0 w 139"/>
                  <a:gd name="T21" fmla="*/ 0 h 84"/>
                  <a:gd name="T22" fmla="*/ 0 w 139"/>
                  <a:gd name="T23" fmla="*/ 0 h 84"/>
                  <a:gd name="T24" fmla="*/ 0 w 139"/>
                  <a:gd name="T25" fmla="*/ 0 h 8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39" h="84">
                    <a:moveTo>
                      <a:pt x="23" y="0"/>
                    </a:moveTo>
                    <a:lnTo>
                      <a:pt x="84" y="26"/>
                    </a:lnTo>
                    <a:lnTo>
                      <a:pt x="111" y="48"/>
                    </a:lnTo>
                    <a:lnTo>
                      <a:pt x="137" y="72"/>
                    </a:lnTo>
                    <a:lnTo>
                      <a:pt x="139" y="83"/>
                    </a:lnTo>
                    <a:lnTo>
                      <a:pt x="128" y="84"/>
                    </a:lnTo>
                    <a:lnTo>
                      <a:pt x="100" y="65"/>
                    </a:lnTo>
                    <a:lnTo>
                      <a:pt x="68" y="51"/>
                    </a:lnTo>
                    <a:lnTo>
                      <a:pt x="0" y="37"/>
                    </a:lnTo>
                    <a:lnTo>
                      <a:pt x="0" y="18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15" name="Freeform 15">
                <a:extLst>
                  <a:ext uri="{FF2B5EF4-FFF2-40B4-BE49-F238E27FC236}">
                    <a16:creationId xmlns:a16="http://schemas.microsoft.com/office/drawing/2014/main" id="{6077637D-9348-CADF-FD1B-904FCE32C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0" y="2657"/>
                <a:ext cx="77" cy="133"/>
              </a:xfrm>
              <a:custGeom>
                <a:avLst/>
                <a:gdLst>
                  <a:gd name="T0" fmla="*/ 2 w 153"/>
                  <a:gd name="T1" fmla="*/ 1 h 266"/>
                  <a:gd name="T2" fmla="*/ 2 w 153"/>
                  <a:gd name="T3" fmla="*/ 1 h 266"/>
                  <a:gd name="T4" fmla="*/ 3 w 153"/>
                  <a:gd name="T5" fmla="*/ 2 h 266"/>
                  <a:gd name="T6" fmla="*/ 3 w 153"/>
                  <a:gd name="T7" fmla="*/ 3 h 266"/>
                  <a:gd name="T8" fmla="*/ 2 w 153"/>
                  <a:gd name="T9" fmla="*/ 4 h 266"/>
                  <a:gd name="T10" fmla="*/ 1 w 153"/>
                  <a:gd name="T11" fmla="*/ 4 h 266"/>
                  <a:gd name="T12" fmla="*/ 1 w 153"/>
                  <a:gd name="T13" fmla="*/ 5 h 266"/>
                  <a:gd name="T14" fmla="*/ 0 w 153"/>
                  <a:gd name="T15" fmla="*/ 4 h 266"/>
                  <a:gd name="T16" fmla="*/ 2 w 153"/>
                  <a:gd name="T17" fmla="*/ 4 h 266"/>
                  <a:gd name="T18" fmla="*/ 2 w 153"/>
                  <a:gd name="T19" fmla="*/ 3 h 266"/>
                  <a:gd name="T20" fmla="*/ 2 w 153"/>
                  <a:gd name="T21" fmla="*/ 2 h 266"/>
                  <a:gd name="T22" fmla="*/ 2 w 153"/>
                  <a:gd name="T23" fmla="*/ 1 h 266"/>
                  <a:gd name="T24" fmla="*/ 2 w 153"/>
                  <a:gd name="T25" fmla="*/ 1 h 266"/>
                  <a:gd name="T26" fmla="*/ 2 w 153"/>
                  <a:gd name="T27" fmla="*/ 0 h 266"/>
                  <a:gd name="T28" fmla="*/ 2 w 153"/>
                  <a:gd name="T29" fmla="*/ 1 h 266"/>
                  <a:gd name="T30" fmla="*/ 2 w 153"/>
                  <a:gd name="T31" fmla="*/ 1 h 266"/>
                  <a:gd name="T32" fmla="*/ 2 w 153"/>
                  <a:gd name="T33" fmla="*/ 1 h 26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53" h="266">
                    <a:moveTo>
                      <a:pt x="93" y="1"/>
                    </a:moveTo>
                    <a:lnTo>
                      <a:pt x="118" y="34"/>
                    </a:lnTo>
                    <a:lnTo>
                      <a:pt x="153" y="80"/>
                    </a:lnTo>
                    <a:lnTo>
                      <a:pt x="153" y="146"/>
                    </a:lnTo>
                    <a:lnTo>
                      <a:pt x="107" y="214"/>
                    </a:lnTo>
                    <a:lnTo>
                      <a:pt x="48" y="243"/>
                    </a:lnTo>
                    <a:lnTo>
                      <a:pt x="8" y="266"/>
                    </a:lnTo>
                    <a:lnTo>
                      <a:pt x="0" y="254"/>
                    </a:lnTo>
                    <a:lnTo>
                      <a:pt x="67" y="199"/>
                    </a:lnTo>
                    <a:lnTo>
                      <a:pt x="121" y="132"/>
                    </a:lnTo>
                    <a:lnTo>
                      <a:pt x="114" y="67"/>
                    </a:lnTo>
                    <a:lnTo>
                      <a:pt x="100" y="38"/>
                    </a:lnTo>
                    <a:lnTo>
                      <a:pt x="81" y="10"/>
                    </a:lnTo>
                    <a:lnTo>
                      <a:pt x="83" y="0"/>
                    </a:lnTo>
                    <a:lnTo>
                      <a:pt x="9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16" name="Freeform 16">
                <a:extLst>
                  <a:ext uri="{FF2B5EF4-FFF2-40B4-BE49-F238E27FC236}">
                    <a16:creationId xmlns:a16="http://schemas.microsoft.com/office/drawing/2014/main" id="{612526E6-A6AD-96D3-90C5-25A578F086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9" y="2578"/>
                <a:ext cx="250" cy="217"/>
              </a:xfrm>
              <a:custGeom>
                <a:avLst/>
                <a:gdLst>
                  <a:gd name="T0" fmla="*/ 8 w 500"/>
                  <a:gd name="T1" fmla="*/ 2 h 433"/>
                  <a:gd name="T2" fmla="*/ 7 w 500"/>
                  <a:gd name="T3" fmla="*/ 2 h 433"/>
                  <a:gd name="T4" fmla="*/ 7 w 500"/>
                  <a:gd name="T5" fmla="*/ 2 h 433"/>
                  <a:gd name="T6" fmla="*/ 7 w 500"/>
                  <a:gd name="T7" fmla="*/ 1 h 433"/>
                  <a:gd name="T8" fmla="*/ 6 w 500"/>
                  <a:gd name="T9" fmla="*/ 1 h 433"/>
                  <a:gd name="T10" fmla="*/ 6 w 500"/>
                  <a:gd name="T11" fmla="*/ 1 h 433"/>
                  <a:gd name="T12" fmla="*/ 5 w 500"/>
                  <a:gd name="T13" fmla="*/ 1 h 433"/>
                  <a:gd name="T14" fmla="*/ 3 w 500"/>
                  <a:gd name="T15" fmla="*/ 1 h 433"/>
                  <a:gd name="T16" fmla="*/ 2 w 500"/>
                  <a:gd name="T17" fmla="*/ 2 h 433"/>
                  <a:gd name="T18" fmla="*/ 2 w 500"/>
                  <a:gd name="T19" fmla="*/ 2 h 433"/>
                  <a:gd name="T20" fmla="*/ 1 w 500"/>
                  <a:gd name="T21" fmla="*/ 3 h 433"/>
                  <a:gd name="T22" fmla="*/ 1 w 500"/>
                  <a:gd name="T23" fmla="*/ 3 h 433"/>
                  <a:gd name="T24" fmla="*/ 1 w 500"/>
                  <a:gd name="T25" fmla="*/ 4 h 433"/>
                  <a:gd name="T26" fmla="*/ 1 w 500"/>
                  <a:gd name="T27" fmla="*/ 5 h 433"/>
                  <a:gd name="T28" fmla="*/ 2 w 500"/>
                  <a:gd name="T29" fmla="*/ 5 h 433"/>
                  <a:gd name="T30" fmla="*/ 2 w 500"/>
                  <a:gd name="T31" fmla="*/ 5 h 433"/>
                  <a:gd name="T32" fmla="*/ 4 w 500"/>
                  <a:gd name="T33" fmla="*/ 5 h 433"/>
                  <a:gd name="T34" fmla="*/ 4 w 500"/>
                  <a:gd name="T35" fmla="*/ 6 h 433"/>
                  <a:gd name="T36" fmla="*/ 5 w 500"/>
                  <a:gd name="T37" fmla="*/ 6 h 433"/>
                  <a:gd name="T38" fmla="*/ 5 w 500"/>
                  <a:gd name="T39" fmla="*/ 7 h 433"/>
                  <a:gd name="T40" fmla="*/ 6 w 500"/>
                  <a:gd name="T41" fmla="*/ 7 h 433"/>
                  <a:gd name="T42" fmla="*/ 7 w 500"/>
                  <a:gd name="T43" fmla="*/ 7 h 433"/>
                  <a:gd name="T44" fmla="*/ 7 w 500"/>
                  <a:gd name="T45" fmla="*/ 7 h 433"/>
                  <a:gd name="T46" fmla="*/ 6 w 500"/>
                  <a:gd name="T47" fmla="*/ 7 h 433"/>
                  <a:gd name="T48" fmla="*/ 4 w 500"/>
                  <a:gd name="T49" fmla="*/ 7 h 433"/>
                  <a:gd name="T50" fmla="*/ 4 w 500"/>
                  <a:gd name="T51" fmla="*/ 6 h 433"/>
                  <a:gd name="T52" fmla="*/ 3 w 500"/>
                  <a:gd name="T53" fmla="*/ 6 h 433"/>
                  <a:gd name="T54" fmla="*/ 2 w 500"/>
                  <a:gd name="T55" fmla="*/ 6 h 433"/>
                  <a:gd name="T56" fmla="*/ 1 w 500"/>
                  <a:gd name="T57" fmla="*/ 6 h 433"/>
                  <a:gd name="T58" fmla="*/ 1 w 500"/>
                  <a:gd name="T59" fmla="*/ 5 h 433"/>
                  <a:gd name="T60" fmla="*/ 1 w 500"/>
                  <a:gd name="T61" fmla="*/ 4 h 433"/>
                  <a:gd name="T62" fmla="*/ 0 w 500"/>
                  <a:gd name="T63" fmla="*/ 3 h 433"/>
                  <a:gd name="T64" fmla="*/ 1 w 500"/>
                  <a:gd name="T65" fmla="*/ 2 h 433"/>
                  <a:gd name="T66" fmla="*/ 1 w 500"/>
                  <a:gd name="T67" fmla="*/ 2 h 433"/>
                  <a:gd name="T68" fmla="*/ 1 w 500"/>
                  <a:gd name="T69" fmla="*/ 2 h 433"/>
                  <a:gd name="T70" fmla="*/ 2 w 500"/>
                  <a:gd name="T71" fmla="*/ 1 h 433"/>
                  <a:gd name="T72" fmla="*/ 3 w 500"/>
                  <a:gd name="T73" fmla="*/ 1 h 433"/>
                  <a:gd name="T74" fmla="*/ 4 w 500"/>
                  <a:gd name="T75" fmla="*/ 1 h 433"/>
                  <a:gd name="T76" fmla="*/ 5 w 500"/>
                  <a:gd name="T77" fmla="*/ 0 h 433"/>
                  <a:gd name="T78" fmla="*/ 7 w 500"/>
                  <a:gd name="T79" fmla="*/ 1 h 433"/>
                  <a:gd name="T80" fmla="*/ 8 w 500"/>
                  <a:gd name="T81" fmla="*/ 2 h 433"/>
                  <a:gd name="T82" fmla="*/ 8 w 500"/>
                  <a:gd name="T83" fmla="*/ 2 h 433"/>
                  <a:gd name="T84" fmla="*/ 8 w 500"/>
                  <a:gd name="T85" fmla="*/ 2 h 433"/>
                  <a:gd name="T86" fmla="*/ 8 w 500"/>
                  <a:gd name="T87" fmla="*/ 2 h 433"/>
                  <a:gd name="T88" fmla="*/ 8 w 500"/>
                  <a:gd name="T89" fmla="*/ 2 h 433"/>
                  <a:gd name="T90" fmla="*/ 8 w 500"/>
                  <a:gd name="T91" fmla="*/ 2 h 433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500" h="433">
                    <a:moveTo>
                      <a:pt x="490" y="111"/>
                    </a:moveTo>
                    <a:lnTo>
                      <a:pt x="448" y="80"/>
                    </a:lnTo>
                    <a:lnTo>
                      <a:pt x="429" y="66"/>
                    </a:lnTo>
                    <a:lnTo>
                      <a:pt x="405" y="53"/>
                    </a:lnTo>
                    <a:lnTo>
                      <a:pt x="372" y="40"/>
                    </a:lnTo>
                    <a:lnTo>
                      <a:pt x="342" y="32"/>
                    </a:lnTo>
                    <a:lnTo>
                      <a:pt x="281" y="24"/>
                    </a:lnTo>
                    <a:lnTo>
                      <a:pt x="154" y="48"/>
                    </a:lnTo>
                    <a:lnTo>
                      <a:pt x="117" y="66"/>
                    </a:lnTo>
                    <a:lnTo>
                      <a:pt x="85" y="94"/>
                    </a:lnTo>
                    <a:lnTo>
                      <a:pt x="47" y="134"/>
                    </a:lnTo>
                    <a:lnTo>
                      <a:pt x="30" y="189"/>
                    </a:lnTo>
                    <a:lnTo>
                      <a:pt x="31" y="233"/>
                    </a:lnTo>
                    <a:lnTo>
                      <a:pt x="43" y="273"/>
                    </a:lnTo>
                    <a:lnTo>
                      <a:pt x="66" y="305"/>
                    </a:lnTo>
                    <a:lnTo>
                      <a:pt x="101" y="317"/>
                    </a:lnTo>
                    <a:lnTo>
                      <a:pt x="200" y="318"/>
                    </a:lnTo>
                    <a:lnTo>
                      <a:pt x="243" y="330"/>
                    </a:lnTo>
                    <a:lnTo>
                      <a:pt x="280" y="362"/>
                    </a:lnTo>
                    <a:lnTo>
                      <a:pt x="311" y="389"/>
                    </a:lnTo>
                    <a:lnTo>
                      <a:pt x="343" y="405"/>
                    </a:lnTo>
                    <a:lnTo>
                      <a:pt x="418" y="418"/>
                    </a:lnTo>
                    <a:lnTo>
                      <a:pt x="418" y="433"/>
                    </a:lnTo>
                    <a:lnTo>
                      <a:pt x="329" y="428"/>
                    </a:lnTo>
                    <a:lnTo>
                      <a:pt x="254" y="386"/>
                    </a:lnTo>
                    <a:lnTo>
                      <a:pt x="223" y="361"/>
                    </a:lnTo>
                    <a:lnTo>
                      <a:pt x="186" y="351"/>
                    </a:lnTo>
                    <a:lnTo>
                      <a:pt x="101" y="351"/>
                    </a:lnTo>
                    <a:lnTo>
                      <a:pt x="53" y="336"/>
                    </a:lnTo>
                    <a:lnTo>
                      <a:pt x="21" y="296"/>
                    </a:lnTo>
                    <a:lnTo>
                      <a:pt x="3" y="243"/>
                    </a:lnTo>
                    <a:lnTo>
                      <a:pt x="0" y="186"/>
                    </a:lnTo>
                    <a:lnTo>
                      <a:pt x="17" y="120"/>
                    </a:lnTo>
                    <a:lnTo>
                      <a:pt x="35" y="95"/>
                    </a:lnTo>
                    <a:lnTo>
                      <a:pt x="60" y="70"/>
                    </a:lnTo>
                    <a:lnTo>
                      <a:pt x="101" y="39"/>
                    </a:lnTo>
                    <a:lnTo>
                      <a:pt x="147" y="19"/>
                    </a:lnTo>
                    <a:lnTo>
                      <a:pt x="216" y="2"/>
                    </a:lnTo>
                    <a:lnTo>
                      <a:pt x="299" y="0"/>
                    </a:lnTo>
                    <a:lnTo>
                      <a:pt x="394" y="25"/>
                    </a:lnTo>
                    <a:lnTo>
                      <a:pt x="456" y="66"/>
                    </a:lnTo>
                    <a:lnTo>
                      <a:pt x="498" y="99"/>
                    </a:lnTo>
                    <a:lnTo>
                      <a:pt x="500" y="109"/>
                    </a:lnTo>
                    <a:lnTo>
                      <a:pt x="490" y="1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17" name="Freeform 17">
                <a:extLst>
                  <a:ext uri="{FF2B5EF4-FFF2-40B4-BE49-F238E27FC236}">
                    <a16:creationId xmlns:a16="http://schemas.microsoft.com/office/drawing/2014/main" id="{860BEB01-073B-3DA6-872F-E4E5B21AAF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2" y="2678"/>
                <a:ext cx="72" cy="94"/>
              </a:xfrm>
              <a:custGeom>
                <a:avLst/>
                <a:gdLst>
                  <a:gd name="T0" fmla="*/ 3 w 143"/>
                  <a:gd name="T1" fmla="*/ 1 h 187"/>
                  <a:gd name="T2" fmla="*/ 1 w 143"/>
                  <a:gd name="T3" fmla="*/ 2 h 187"/>
                  <a:gd name="T4" fmla="*/ 1 w 143"/>
                  <a:gd name="T5" fmla="*/ 3 h 187"/>
                  <a:gd name="T6" fmla="*/ 1 w 143"/>
                  <a:gd name="T7" fmla="*/ 3 h 187"/>
                  <a:gd name="T8" fmla="*/ 1 w 143"/>
                  <a:gd name="T9" fmla="*/ 3 h 187"/>
                  <a:gd name="T10" fmla="*/ 1 w 143"/>
                  <a:gd name="T11" fmla="*/ 3 h 187"/>
                  <a:gd name="T12" fmla="*/ 0 w 143"/>
                  <a:gd name="T13" fmla="*/ 3 h 187"/>
                  <a:gd name="T14" fmla="*/ 1 w 143"/>
                  <a:gd name="T15" fmla="*/ 2 h 187"/>
                  <a:gd name="T16" fmla="*/ 1 w 143"/>
                  <a:gd name="T17" fmla="*/ 2 h 187"/>
                  <a:gd name="T18" fmla="*/ 1 w 143"/>
                  <a:gd name="T19" fmla="*/ 1 h 187"/>
                  <a:gd name="T20" fmla="*/ 2 w 143"/>
                  <a:gd name="T21" fmla="*/ 1 h 187"/>
                  <a:gd name="T22" fmla="*/ 2 w 143"/>
                  <a:gd name="T23" fmla="*/ 1 h 187"/>
                  <a:gd name="T24" fmla="*/ 3 w 143"/>
                  <a:gd name="T25" fmla="*/ 0 h 187"/>
                  <a:gd name="T26" fmla="*/ 3 w 143"/>
                  <a:gd name="T27" fmla="*/ 1 h 187"/>
                  <a:gd name="T28" fmla="*/ 3 w 143"/>
                  <a:gd name="T29" fmla="*/ 1 h 187"/>
                  <a:gd name="T30" fmla="*/ 3 w 143"/>
                  <a:gd name="T31" fmla="*/ 1 h 187"/>
                  <a:gd name="T32" fmla="*/ 3 w 143"/>
                  <a:gd name="T33" fmla="*/ 1 h 1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43" h="187">
                    <a:moveTo>
                      <a:pt x="140" y="13"/>
                    </a:moveTo>
                    <a:lnTo>
                      <a:pt x="53" y="95"/>
                    </a:lnTo>
                    <a:lnTo>
                      <a:pt x="30" y="153"/>
                    </a:lnTo>
                    <a:lnTo>
                      <a:pt x="32" y="179"/>
                    </a:lnTo>
                    <a:lnTo>
                      <a:pt x="28" y="187"/>
                    </a:lnTo>
                    <a:lnTo>
                      <a:pt x="18" y="184"/>
                    </a:lnTo>
                    <a:lnTo>
                      <a:pt x="0" y="153"/>
                    </a:lnTo>
                    <a:lnTo>
                      <a:pt x="11" y="114"/>
                    </a:lnTo>
                    <a:lnTo>
                      <a:pt x="28" y="77"/>
                    </a:lnTo>
                    <a:lnTo>
                      <a:pt x="52" y="53"/>
                    </a:lnTo>
                    <a:lnTo>
                      <a:pt x="77" y="35"/>
                    </a:lnTo>
                    <a:lnTo>
                      <a:pt x="104" y="19"/>
                    </a:lnTo>
                    <a:lnTo>
                      <a:pt x="132" y="0"/>
                    </a:lnTo>
                    <a:lnTo>
                      <a:pt x="143" y="3"/>
                    </a:lnTo>
                    <a:lnTo>
                      <a:pt x="140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18" name="Freeform 18">
                <a:extLst>
                  <a:ext uri="{FF2B5EF4-FFF2-40B4-BE49-F238E27FC236}">
                    <a16:creationId xmlns:a16="http://schemas.microsoft.com/office/drawing/2014/main" id="{3427CC96-89D7-1DB4-AAA1-32E16C54DD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0" y="2608"/>
                <a:ext cx="111" cy="67"/>
              </a:xfrm>
              <a:custGeom>
                <a:avLst/>
                <a:gdLst>
                  <a:gd name="T0" fmla="*/ 4 w 222"/>
                  <a:gd name="T1" fmla="*/ 1 h 133"/>
                  <a:gd name="T2" fmla="*/ 2 w 222"/>
                  <a:gd name="T3" fmla="*/ 2 h 133"/>
                  <a:gd name="T4" fmla="*/ 1 w 222"/>
                  <a:gd name="T5" fmla="*/ 2 h 133"/>
                  <a:gd name="T6" fmla="*/ 1 w 222"/>
                  <a:gd name="T7" fmla="*/ 3 h 133"/>
                  <a:gd name="T8" fmla="*/ 1 w 222"/>
                  <a:gd name="T9" fmla="*/ 3 h 133"/>
                  <a:gd name="T10" fmla="*/ 0 w 222"/>
                  <a:gd name="T11" fmla="*/ 2 h 133"/>
                  <a:gd name="T12" fmla="*/ 1 w 222"/>
                  <a:gd name="T13" fmla="*/ 2 h 133"/>
                  <a:gd name="T14" fmla="*/ 2 w 222"/>
                  <a:gd name="T15" fmla="*/ 1 h 133"/>
                  <a:gd name="T16" fmla="*/ 2 w 222"/>
                  <a:gd name="T17" fmla="*/ 1 h 133"/>
                  <a:gd name="T18" fmla="*/ 3 w 222"/>
                  <a:gd name="T19" fmla="*/ 1 h 133"/>
                  <a:gd name="T20" fmla="*/ 4 w 222"/>
                  <a:gd name="T21" fmla="*/ 0 h 133"/>
                  <a:gd name="T22" fmla="*/ 4 w 222"/>
                  <a:gd name="T23" fmla="*/ 1 h 133"/>
                  <a:gd name="T24" fmla="*/ 4 w 222"/>
                  <a:gd name="T25" fmla="*/ 1 h 133"/>
                  <a:gd name="T26" fmla="*/ 4 w 222"/>
                  <a:gd name="T27" fmla="*/ 1 h 133"/>
                  <a:gd name="T28" fmla="*/ 4 w 222"/>
                  <a:gd name="T29" fmla="*/ 1 h 13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22" h="133">
                    <a:moveTo>
                      <a:pt x="217" y="14"/>
                    </a:moveTo>
                    <a:lnTo>
                      <a:pt x="94" y="68"/>
                    </a:lnTo>
                    <a:lnTo>
                      <a:pt x="43" y="107"/>
                    </a:lnTo>
                    <a:lnTo>
                      <a:pt x="19" y="131"/>
                    </a:lnTo>
                    <a:lnTo>
                      <a:pt x="1" y="133"/>
                    </a:lnTo>
                    <a:lnTo>
                      <a:pt x="0" y="114"/>
                    </a:lnTo>
                    <a:lnTo>
                      <a:pt x="22" y="85"/>
                    </a:lnTo>
                    <a:lnTo>
                      <a:pt x="77" y="41"/>
                    </a:lnTo>
                    <a:lnTo>
                      <a:pt x="110" y="25"/>
                    </a:lnTo>
                    <a:lnTo>
                      <a:pt x="143" y="16"/>
                    </a:lnTo>
                    <a:lnTo>
                      <a:pt x="213" y="0"/>
                    </a:lnTo>
                    <a:lnTo>
                      <a:pt x="222" y="5"/>
                    </a:lnTo>
                    <a:lnTo>
                      <a:pt x="217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19" name="Freeform 19">
                <a:extLst>
                  <a:ext uri="{FF2B5EF4-FFF2-40B4-BE49-F238E27FC236}">
                    <a16:creationId xmlns:a16="http://schemas.microsoft.com/office/drawing/2014/main" id="{8126F868-95C6-5D46-AACC-DB7A7F96D9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6" y="2594"/>
                <a:ext cx="74" cy="18"/>
              </a:xfrm>
              <a:custGeom>
                <a:avLst/>
                <a:gdLst>
                  <a:gd name="T0" fmla="*/ 1 w 147"/>
                  <a:gd name="T1" fmla="*/ 1 h 35"/>
                  <a:gd name="T2" fmla="*/ 1 w 147"/>
                  <a:gd name="T3" fmla="*/ 0 h 35"/>
                  <a:gd name="T4" fmla="*/ 2 w 147"/>
                  <a:gd name="T5" fmla="*/ 0 h 35"/>
                  <a:gd name="T6" fmla="*/ 3 w 147"/>
                  <a:gd name="T7" fmla="*/ 1 h 35"/>
                  <a:gd name="T8" fmla="*/ 3 w 147"/>
                  <a:gd name="T9" fmla="*/ 1 h 35"/>
                  <a:gd name="T10" fmla="*/ 3 w 147"/>
                  <a:gd name="T11" fmla="*/ 1 h 35"/>
                  <a:gd name="T12" fmla="*/ 2 w 147"/>
                  <a:gd name="T13" fmla="*/ 1 h 35"/>
                  <a:gd name="T14" fmla="*/ 1 w 147"/>
                  <a:gd name="T15" fmla="*/ 1 h 35"/>
                  <a:gd name="T16" fmla="*/ 1 w 147"/>
                  <a:gd name="T17" fmla="*/ 1 h 35"/>
                  <a:gd name="T18" fmla="*/ 0 w 147"/>
                  <a:gd name="T19" fmla="*/ 1 h 35"/>
                  <a:gd name="T20" fmla="*/ 1 w 147"/>
                  <a:gd name="T21" fmla="*/ 1 h 35"/>
                  <a:gd name="T22" fmla="*/ 1 w 147"/>
                  <a:gd name="T23" fmla="*/ 1 h 35"/>
                  <a:gd name="T24" fmla="*/ 1 w 147"/>
                  <a:gd name="T25" fmla="*/ 1 h 3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47" h="35">
                    <a:moveTo>
                      <a:pt x="9" y="1"/>
                    </a:moveTo>
                    <a:lnTo>
                      <a:pt x="28" y="0"/>
                    </a:lnTo>
                    <a:lnTo>
                      <a:pt x="89" y="0"/>
                    </a:lnTo>
                    <a:lnTo>
                      <a:pt x="143" y="21"/>
                    </a:lnTo>
                    <a:lnTo>
                      <a:pt x="147" y="31"/>
                    </a:lnTo>
                    <a:lnTo>
                      <a:pt x="138" y="35"/>
                    </a:lnTo>
                    <a:lnTo>
                      <a:pt x="86" y="24"/>
                    </a:lnTo>
                    <a:lnTo>
                      <a:pt x="28" y="24"/>
                    </a:lnTo>
                    <a:lnTo>
                      <a:pt x="9" y="21"/>
                    </a:lnTo>
                    <a:lnTo>
                      <a:pt x="0" y="11"/>
                    </a:lnTo>
                    <a:lnTo>
                      <a:pt x="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20" name="Freeform 20">
                <a:extLst>
                  <a:ext uri="{FF2B5EF4-FFF2-40B4-BE49-F238E27FC236}">
                    <a16:creationId xmlns:a16="http://schemas.microsoft.com/office/drawing/2014/main" id="{FA643197-89B4-374A-D4AF-CCD6E40DE5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4" y="2712"/>
                <a:ext cx="346" cy="159"/>
              </a:xfrm>
              <a:custGeom>
                <a:avLst/>
                <a:gdLst>
                  <a:gd name="T0" fmla="*/ 1 w 690"/>
                  <a:gd name="T1" fmla="*/ 0 h 319"/>
                  <a:gd name="T2" fmla="*/ 1 w 690"/>
                  <a:gd name="T3" fmla="*/ 0 h 319"/>
                  <a:gd name="T4" fmla="*/ 2 w 690"/>
                  <a:gd name="T5" fmla="*/ 0 h 319"/>
                  <a:gd name="T6" fmla="*/ 3 w 690"/>
                  <a:gd name="T7" fmla="*/ 1 h 319"/>
                  <a:gd name="T8" fmla="*/ 3 w 690"/>
                  <a:gd name="T9" fmla="*/ 2 h 319"/>
                  <a:gd name="T10" fmla="*/ 4 w 690"/>
                  <a:gd name="T11" fmla="*/ 3 h 319"/>
                  <a:gd name="T12" fmla="*/ 5 w 690"/>
                  <a:gd name="T13" fmla="*/ 4 h 319"/>
                  <a:gd name="T14" fmla="*/ 7 w 690"/>
                  <a:gd name="T15" fmla="*/ 4 h 319"/>
                  <a:gd name="T16" fmla="*/ 9 w 690"/>
                  <a:gd name="T17" fmla="*/ 4 h 319"/>
                  <a:gd name="T18" fmla="*/ 10 w 690"/>
                  <a:gd name="T19" fmla="*/ 3 h 319"/>
                  <a:gd name="T20" fmla="*/ 11 w 690"/>
                  <a:gd name="T21" fmla="*/ 2 h 319"/>
                  <a:gd name="T22" fmla="*/ 11 w 690"/>
                  <a:gd name="T23" fmla="*/ 1 h 319"/>
                  <a:gd name="T24" fmla="*/ 10 w 690"/>
                  <a:gd name="T25" fmla="*/ 0 h 319"/>
                  <a:gd name="T26" fmla="*/ 10 w 690"/>
                  <a:gd name="T27" fmla="*/ 0 h 319"/>
                  <a:gd name="T28" fmla="*/ 10 w 690"/>
                  <a:gd name="T29" fmla="*/ 0 h 319"/>
                  <a:gd name="T30" fmla="*/ 11 w 690"/>
                  <a:gd name="T31" fmla="*/ 0 h 319"/>
                  <a:gd name="T32" fmla="*/ 11 w 690"/>
                  <a:gd name="T33" fmla="*/ 1 h 319"/>
                  <a:gd name="T34" fmla="*/ 11 w 690"/>
                  <a:gd name="T35" fmla="*/ 2 h 319"/>
                  <a:gd name="T36" fmla="*/ 11 w 690"/>
                  <a:gd name="T37" fmla="*/ 3 h 319"/>
                  <a:gd name="T38" fmla="*/ 10 w 690"/>
                  <a:gd name="T39" fmla="*/ 4 h 319"/>
                  <a:gd name="T40" fmla="*/ 9 w 690"/>
                  <a:gd name="T41" fmla="*/ 4 h 319"/>
                  <a:gd name="T42" fmla="*/ 8 w 690"/>
                  <a:gd name="T43" fmla="*/ 4 h 319"/>
                  <a:gd name="T44" fmla="*/ 7 w 690"/>
                  <a:gd name="T45" fmla="*/ 4 h 319"/>
                  <a:gd name="T46" fmla="*/ 5 w 690"/>
                  <a:gd name="T47" fmla="*/ 4 h 319"/>
                  <a:gd name="T48" fmla="*/ 3 w 690"/>
                  <a:gd name="T49" fmla="*/ 3 h 319"/>
                  <a:gd name="T50" fmla="*/ 2 w 690"/>
                  <a:gd name="T51" fmla="*/ 2 h 319"/>
                  <a:gd name="T52" fmla="*/ 2 w 690"/>
                  <a:gd name="T53" fmla="*/ 2 h 319"/>
                  <a:gd name="T54" fmla="*/ 2 w 690"/>
                  <a:gd name="T55" fmla="*/ 1 h 319"/>
                  <a:gd name="T56" fmla="*/ 1 w 690"/>
                  <a:gd name="T57" fmla="*/ 0 h 319"/>
                  <a:gd name="T58" fmla="*/ 0 w 690"/>
                  <a:gd name="T59" fmla="*/ 0 h 319"/>
                  <a:gd name="T60" fmla="*/ 1 w 690"/>
                  <a:gd name="T61" fmla="*/ 0 h 319"/>
                  <a:gd name="T62" fmla="*/ 1 w 690"/>
                  <a:gd name="T63" fmla="*/ 0 h 319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690" h="319">
                    <a:moveTo>
                      <a:pt x="16" y="0"/>
                    </a:moveTo>
                    <a:lnTo>
                      <a:pt x="63" y="23"/>
                    </a:lnTo>
                    <a:lnTo>
                      <a:pt x="106" y="57"/>
                    </a:lnTo>
                    <a:lnTo>
                      <a:pt x="140" y="108"/>
                    </a:lnTo>
                    <a:lnTo>
                      <a:pt x="161" y="176"/>
                    </a:lnTo>
                    <a:lnTo>
                      <a:pt x="218" y="227"/>
                    </a:lnTo>
                    <a:lnTo>
                      <a:pt x="282" y="256"/>
                    </a:lnTo>
                    <a:lnTo>
                      <a:pt x="411" y="281"/>
                    </a:lnTo>
                    <a:lnTo>
                      <a:pt x="527" y="262"/>
                    </a:lnTo>
                    <a:lnTo>
                      <a:pt x="623" y="215"/>
                    </a:lnTo>
                    <a:lnTo>
                      <a:pt x="657" y="169"/>
                    </a:lnTo>
                    <a:lnTo>
                      <a:pt x="662" y="120"/>
                    </a:lnTo>
                    <a:lnTo>
                      <a:pt x="602" y="63"/>
                    </a:lnTo>
                    <a:lnTo>
                      <a:pt x="605" y="43"/>
                    </a:lnTo>
                    <a:lnTo>
                      <a:pt x="619" y="37"/>
                    </a:lnTo>
                    <a:lnTo>
                      <a:pt x="666" y="62"/>
                    </a:lnTo>
                    <a:lnTo>
                      <a:pt x="689" y="109"/>
                    </a:lnTo>
                    <a:lnTo>
                      <a:pt x="690" y="169"/>
                    </a:lnTo>
                    <a:lnTo>
                      <a:pt x="651" y="237"/>
                    </a:lnTo>
                    <a:lnTo>
                      <a:pt x="600" y="281"/>
                    </a:lnTo>
                    <a:lnTo>
                      <a:pt x="526" y="304"/>
                    </a:lnTo>
                    <a:lnTo>
                      <a:pt x="451" y="316"/>
                    </a:lnTo>
                    <a:lnTo>
                      <a:pt x="389" y="319"/>
                    </a:lnTo>
                    <a:lnTo>
                      <a:pt x="291" y="302"/>
                    </a:lnTo>
                    <a:lnTo>
                      <a:pt x="172" y="248"/>
                    </a:lnTo>
                    <a:lnTo>
                      <a:pt x="126" y="188"/>
                    </a:lnTo>
                    <a:lnTo>
                      <a:pt x="107" y="141"/>
                    </a:lnTo>
                    <a:lnTo>
                      <a:pt x="83" y="93"/>
                    </a:lnTo>
                    <a:lnTo>
                      <a:pt x="49" y="50"/>
                    </a:lnTo>
                    <a:lnTo>
                      <a:pt x="0" y="15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21" name="Freeform 21">
                <a:extLst>
                  <a:ext uri="{FF2B5EF4-FFF2-40B4-BE49-F238E27FC236}">
                    <a16:creationId xmlns:a16="http://schemas.microsoft.com/office/drawing/2014/main" id="{DE245E65-B782-17EC-9555-411B58C222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6" y="2520"/>
                <a:ext cx="1035" cy="223"/>
              </a:xfrm>
              <a:custGeom>
                <a:avLst/>
                <a:gdLst>
                  <a:gd name="T0" fmla="*/ 5 w 2072"/>
                  <a:gd name="T1" fmla="*/ 0 h 445"/>
                  <a:gd name="T2" fmla="*/ 4 w 2072"/>
                  <a:gd name="T3" fmla="*/ 1 h 445"/>
                  <a:gd name="T4" fmla="*/ 1 w 2072"/>
                  <a:gd name="T5" fmla="*/ 5 h 445"/>
                  <a:gd name="T6" fmla="*/ 0 w 2072"/>
                  <a:gd name="T7" fmla="*/ 6 h 445"/>
                  <a:gd name="T8" fmla="*/ 0 w 2072"/>
                  <a:gd name="T9" fmla="*/ 7 h 445"/>
                  <a:gd name="T10" fmla="*/ 7 w 2072"/>
                  <a:gd name="T11" fmla="*/ 7 h 445"/>
                  <a:gd name="T12" fmla="*/ 30 w 2072"/>
                  <a:gd name="T13" fmla="*/ 7 h 445"/>
                  <a:gd name="T14" fmla="*/ 32 w 2072"/>
                  <a:gd name="T15" fmla="*/ 6 h 445"/>
                  <a:gd name="T16" fmla="*/ 27 w 2072"/>
                  <a:gd name="T17" fmla="*/ 6 h 445"/>
                  <a:gd name="T18" fmla="*/ 31 w 2072"/>
                  <a:gd name="T19" fmla="*/ 5 h 445"/>
                  <a:gd name="T20" fmla="*/ 30 w 2072"/>
                  <a:gd name="T21" fmla="*/ 4 h 445"/>
                  <a:gd name="T22" fmla="*/ 28 w 2072"/>
                  <a:gd name="T23" fmla="*/ 2 h 445"/>
                  <a:gd name="T24" fmla="*/ 16 w 2072"/>
                  <a:gd name="T25" fmla="*/ 1 h 445"/>
                  <a:gd name="T26" fmla="*/ 6 w 2072"/>
                  <a:gd name="T27" fmla="*/ 1 h 445"/>
                  <a:gd name="T28" fmla="*/ 5 w 2072"/>
                  <a:gd name="T29" fmla="*/ 0 h 445"/>
                  <a:gd name="T30" fmla="*/ 5 w 2072"/>
                  <a:gd name="T31" fmla="*/ 0 h 445"/>
                  <a:gd name="T32" fmla="*/ 5 w 2072"/>
                  <a:gd name="T33" fmla="*/ 0 h 44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072" h="445">
                    <a:moveTo>
                      <a:pt x="323" y="0"/>
                    </a:moveTo>
                    <a:lnTo>
                      <a:pt x="264" y="35"/>
                    </a:lnTo>
                    <a:lnTo>
                      <a:pt x="69" y="287"/>
                    </a:lnTo>
                    <a:lnTo>
                      <a:pt x="0" y="323"/>
                    </a:lnTo>
                    <a:lnTo>
                      <a:pt x="60" y="416"/>
                    </a:lnTo>
                    <a:lnTo>
                      <a:pt x="506" y="394"/>
                    </a:lnTo>
                    <a:lnTo>
                      <a:pt x="1931" y="445"/>
                    </a:lnTo>
                    <a:lnTo>
                      <a:pt x="2072" y="373"/>
                    </a:lnTo>
                    <a:lnTo>
                      <a:pt x="1750" y="338"/>
                    </a:lnTo>
                    <a:lnTo>
                      <a:pt x="2012" y="318"/>
                    </a:lnTo>
                    <a:lnTo>
                      <a:pt x="1952" y="238"/>
                    </a:lnTo>
                    <a:lnTo>
                      <a:pt x="1846" y="91"/>
                    </a:lnTo>
                    <a:lnTo>
                      <a:pt x="1065" y="50"/>
                    </a:lnTo>
                    <a:lnTo>
                      <a:pt x="399" y="5"/>
                    </a:lnTo>
                    <a:lnTo>
                      <a:pt x="323" y="0"/>
                    </a:lnTo>
                    <a:close/>
                  </a:path>
                </a:pathLst>
              </a:custGeom>
              <a:solidFill>
                <a:srgbClr val="E8DC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22" name="Freeform 22">
                <a:extLst>
                  <a:ext uri="{FF2B5EF4-FFF2-40B4-BE49-F238E27FC236}">
                    <a16:creationId xmlns:a16="http://schemas.microsoft.com/office/drawing/2014/main" id="{BB2666B0-EBB0-F72B-AF16-46411B3276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0" y="2391"/>
                <a:ext cx="794" cy="218"/>
              </a:xfrm>
              <a:custGeom>
                <a:avLst/>
                <a:gdLst>
                  <a:gd name="T0" fmla="*/ 0 w 1588"/>
                  <a:gd name="T1" fmla="*/ 4 h 436"/>
                  <a:gd name="T2" fmla="*/ 1 w 1588"/>
                  <a:gd name="T3" fmla="*/ 2 h 436"/>
                  <a:gd name="T4" fmla="*/ 3 w 1588"/>
                  <a:gd name="T5" fmla="*/ 2 h 436"/>
                  <a:gd name="T6" fmla="*/ 11 w 1588"/>
                  <a:gd name="T7" fmla="*/ 1 h 436"/>
                  <a:gd name="T8" fmla="*/ 15 w 1588"/>
                  <a:gd name="T9" fmla="*/ 1 h 436"/>
                  <a:gd name="T10" fmla="*/ 22 w 1588"/>
                  <a:gd name="T11" fmla="*/ 1 h 436"/>
                  <a:gd name="T12" fmla="*/ 25 w 1588"/>
                  <a:gd name="T13" fmla="*/ 1 h 436"/>
                  <a:gd name="T14" fmla="*/ 25 w 1588"/>
                  <a:gd name="T15" fmla="*/ 0 h 436"/>
                  <a:gd name="T16" fmla="*/ 25 w 1588"/>
                  <a:gd name="T17" fmla="*/ 7 h 436"/>
                  <a:gd name="T18" fmla="*/ 24 w 1588"/>
                  <a:gd name="T19" fmla="*/ 5 h 436"/>
                  <a:gd name="T20" fmla="*/ 0 w 1588"/>
                  <a:gd name="T21" fmla="*/ 4 h 436"/>
                  <a:gd name="T22" fmla="*/ 0 w 1588"/>
                  <a:gd name="T23" fmla="*/ 4 h 436"/>
                  <a:gd name="T24" fmla="*/ 0 w 1588"/>
                  <a:gd name="T25" fmla="*/ 4 h 4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588" h="436">
                    <a:moveTo>
                      <a:pt x="0" y="223"/>
                    </a:moveTo>
                    <a:lnTo>
                      <a:pt x="11" y="103"/>
                    </a:lnTo>
                    <a:lnTo>
                      <a:pt x="136" y="98"/>
                    </a:lnTo>
                    <a:lnTo>
                      <a:pt x="686" y="52"/>
                    </a:lnTo>
                    <a:lnTo>
                      <a:pt x="913" y="27"/>
                    </a:lnTo>
                    <a:lnTo>
                      <a:pt x="1377" y="22"/>
                    </a:lnTo>
                    <a:lnTo>
                      <a:pt x="1537" y="17"/>
                    </a:lnTo>
                    <a:lnTo>
                      <a:pt x="1588" y="0"/>
                    </a:lnTo>
                    <a:lnTo>
                      <a:pt x="1558" y="436"/>
                    </a:lnTo>
                    <a:lnTo>
                      <a:pt x="1478" y="302"/>
                    </a:lnTo>
                    <a:lnTo>
                      <a:pt x="0" y="223"/>
                    </a:lnTo>
                    <a:close/>
                  </a:path>
                </a:pathLst>
              </a:custGeom>
              <a:solidFill>
                <a:srgbClr val="E8DC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23" name="Freeform 23">
                <a:extLst>
                  <a:ext uri="{FF2B5EF4-FFF2-40B4-BE49-F238E27FC236}">
                    <a16:creationId xmlns:a16="http://schemas.microsoft.com/office/drawing/2014/main" id="{8550D3BD-9BA4-39A2-C549-E5BAD04DC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2289"/>
                <a:ext cx="431" cy="95"/>
              </a:xfrm>
              <a:custGeom>
                <a:avLst/>
                <a:gdLst>
                  <a:gd name="T0" fmla="*/ 1 w 862"/>
                  <a:gd name="T1" fmla="*/ 0 h 191"/>
                  <a:gd name="T2" fmla="*/ 1 w 862"/>
                  <a:gd name="T3" fmla="*/ 0 h 191"/>
                  <a:gd name="T4" fmla="*/ 0 w 862"/>
                  <a:gd name="T5" fmla="*/ 2 h 191"/>
                  <a:gd name="T6" fmla="*/ 5 w 862"/>
                  <a:gd name="T7" fmla="*/ 1 h 191"/>
                  <a:gd name="T8" fmla="*/ 7 w 862"/>
                  <a:gd name="T9" fmla="*/ 1 h 191"/>
                  <a:gd name="T10" fmla="*/ 4 w 862"/>
                  <a:gd name="T11" fmla="*/ 2 h 191"/>
                  <a:gd name="T12" fmla="*/ 14 w 862"/>
                  <a:gd name="T13" fmla="*/ 2 h 191"/>
                  <a:gd name="T14" fmla="*/ 14 w 862"/>
                  <a:gd name="T15" fmla="*/ 1 h 191"/>
                  <a:gd name="T16" fmla="*/ 12 w 862"/>
                  <a:gd name="T17" fmla="*/ 1 h 191"/>
                  <a:gd name="T18" fmla="*/ 10 w 862"/>
                  <a:gd name="T19" fmla="*/ 0 h 191"/>
                  <a:gd name="T20" fmla="*/ 1 w 862"/>
                  <a:gd name="T21" fmla="*/ 0 h 191"/>
                  <a:gd name="T22" fmla="*/ 1 w 862"/>
                  <a:gd name="T23" fmla="*/ 0 h 191"/>
                  <a:gd name="T24" fmla="*/ 1 w 862"/>
                  <a:gd name="T25" fmla="*/ 0 h 19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62" h="191">
                    <a:moveTo>
                      <a:pt x="44" y="0"/>
                    </a:moveTo>
                    <a:lnTo>
                      <a:pt x="46" y="61"/>
                    </a:lnTo>
                    <a:lnTo>
                      <a:pt x="0" y="151"/>
                    </a:lnTo>
                    <a:lnTo>
                      <a:pt x="268" y="91"/>
                    </a:lnTo>
                    <a:lnTo>
                      <a:pt x="403" y="115"/>
                    </a:lnTo>
                    <a:lnTo>
                      <a:pt x="253" y="191"/>
                    </a:lnTo>
                    <a:lnTo>
                      <a:pt x="862" y="151"/>
                    </a:lnTo>
                    <a:lnTo>
                      <a:pt x="849" y="70"/>
                    </a:lnTo>
                    <a:lnTo>
                      <a:pt x="711" y="86"/>
                    </a:lnTo>
                    <a:lnTo>
                      <a:pt x="640" y="1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A3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24" name="Freeform 24">
                <a:extLst>
                  <a:ext uri="{FF2B5EF4-FFF2-40B4-BE49-F238E27FC236}">
                    <a16:creationId xmlns:a16="http://schemas.microsoft.com/office/drawing/2014/main" id="{CB20E3AB-667F-06A3-5DB9-A4A6533D5A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7" y="1665"/>
                <a:ext cx="201" cy="643"/>
              </a:xfrm>
              <a:custGeom>
                <a:avLst/>
                <a:gdLst>
                  <a:gd name="T0" fmla="*/ 0 w 403"/>
                  <a:gd name="T1" fmla="*/ 20 h 1284"/>
                  <a:gd name="T2" fmla="*/ 2 w 403"/>
                  <a:gd name="T3" fmla="*/ 19 h 1284"/>
                  <a:gd name="T4" fmla="*/ 5 w 403"/>
                  <a:gd name="T5" fmla="*/ 4 h 1284"/>
                  <a:gd name="T6" fmla="*/ 5 w 403"/>
                  <a:gd name="T7" fmla="*/ 0 h 1284"/>
                  <a:gd name="T8" fmla="*/ 6 w 403"/>
                  <a:gd name="T9" fmla="*/ 2 h 1284"/>
                  <a:gd name="T10" fmla="*/ 5 w 403"/>
                  <a:gd name="T11" fmla="*/ 9 h 1284"/>
                  <a:gd name="T12" fmla="*/ 4 w 403"/>
                  <a:gd name="T13" fmla="*/ 19 h 1284"/>
                  <a:gd name="T14" fmla="*/ 4 w 403"/>
                  <a:gd name="T15" fmla="*/ 20 h 1284"/>
                  <a:gd name="T16" fmla="*/ 1 w 403"/>
                  <a:gd name="T17" fmla="*/ 21 h 1284"/>
                  <a:gd name="T18" fmla="*/ 0 w 403"/>
                  <a:gd name="T19" fmla="*/ 20 h 1284"/>
                  <a:gd name="T20" fmla="*/ 0 w 403"/>
                  <a:gd name="T21" fmla="*/ 20 h 1284"/>
                  <a:gd name="T22" fmla="*/ 0 w 403"/>
                  <a:gd name="T23" fmla="*/ 20 h 1284"/>
                  <a:gd name="T24" fmla="*/ 0 w 403"/>
                  <a:gd name="T25" fmla="*/ 20 h 128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03" h="1284">
                    <a:moveTo>
                      <a:pt x="48" y="1226"/>
                    </a:moveTo>
                    <a:lnTo>
                      <a:pt x="161" y="1190"/>
                    </a:lnTo>
                    <a:lnTo>
                      <a:pt x="328" y="231"/>
                    </a:lnTo>
                    <a:lnTo>
                      <a:pt x="383" y="0"/>
                    </a:lnTo>
                    <a:lnTo>
                      <a:pt x="403" y="71"/>
                    </a:lnTo>
                    <a:lnTo>
                      <a:pt x="357" y="566"/>
                    </a:lnTo>
                    <a:lnTo>
                      <a:pt x="277" y="1180"/>
                    </a:lnTo>
                    <a:lnTo>
                      <a:pt x="260" y="1238"/>
                    </a:lnTo>
                    <a:lnTo>
                      <a:pt x="110" y="1284"/>
                    </a:lnTo>
                    <a:lnTo>
                      <a:pt x="0" y="1256"/>
                    </a:lnTo>
                    <a:lnTo>
                      <a:pt x="48" y="1226"/>
                    </a:lnTo>
                    <a:close/>
                  </a:path>
                </a:pathLst>
              </a:custGeom>
              <a:solidFill>
                <a:srgbClr val="A3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25" name="Freeform 25">
                <a:extLst>
                  <a:ext uri="{FF2B5EF4-FFF2-40B4-BE49-F238E27FC236}">
                    <a16:creationId xmlns:a16="http://schemas.microsoft.com/office/drawing/2014/main" id="{0FF272AD-8338-4687-F610-F54B95463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4" y="2188"/>
                <a:ext cx="384" cy="63"/>
              </a:xfrm>
              <a:custGeom>
                <a:avLst/>
                <a:gdLst>
                  <a:gd name="T0" fmla="*/ 0 w 767"/>
                  <a:gd name="T1" fmla="*/ 2 h 126"/>
                  <a:gd name="T2" fmla="*/ 1 w 767"/>
                  <a:gd name="T3" fmla="*/ 2 h 126"/>
                  <a:gd name="T4" fmla="*/ 2 w 767"/>
                  <a:gd name="T5" fmla="*/ 2 h 126"/>
                  <a:gd name="T6" fmla="*/ 12 w 767"/>
                  <a:gd name="T7" fmla="*/ 1 h 126"/>
                  <a:gd name="T8" fmla="*/ 12 w 767"/>
                  <a:gd name="T9" fmla="*/ 1 h 126"/>
                  <a:gd name="T10" fmla="*/ 8 w 767"/>
                  <a:gd name="T11" fmla="*/ 0 h 126"/>
                  <a:gd name="T12" fmla="*/ 0 w 767"/>
                  <a:gd name="T13" fmla="*/ 2 h 126"/>
                  <a:gd name="T14" fmla="*/ 0 w 767"/>
                  <a:gd name="T15" fmla="*/ 2 h 126"/>
                  <a:gd name="T16" fmla="*/ 0 w 767"/>
                  <a:gd name="T17" fmla="*/ 2 h 1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67" h="126">
                    <a:moveTo>
                      <a:pt x="0" y="68"/>
                    </a:moveTo>
                    <a:lnTo>
                      <a:pt x="22" y="126"/>
                    </a:lnTo>
                    <a:lnTo>
                      <a:pt x="76" y="100"/>
                    </a:lnTo>
                    <a:lnTo>
                      <a:pt x="767" y="39"/>
                    </a:lnTo>
                    <a:lnTo>
                      <a:pt x="767" y="7"/>
                    </a:lnTo>
                    <a:lnTo>
                      <a:pt x="463" y="0"/>
                    </a:lnTo>
                    <a:lnTo>
                      <a:pt x="0" y="68"/>
                    </a:lnTo>
                    <a:close/>
                  </a:path>
                </a:pathLst>
              </a:custGeom>
              <a:solidFill>
                <a:srgbClr val="A3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26" name="Freeform 26">
                <a:extLst>
                  <a:ext uri="{FF2B5EF4-FFF2-40B4-BE49-F238E27FC236}">
                    <a16:creationId xmlns:a16="http://schemas.microsoft.com/office/drawing/2014/main" id="{7BABF2F5-2D12-0DA1-5A28-875E09F8AC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595"/>
                <a:ext cx="594" cy="556"/>
              </a:xfrm>
              <a:custGeom>
                <a:avLst/>
                <a:gdLst>
                  <a:gd name="T0" fmla="*/ 4 w 1188"/>
                  <a:gd name="T1" fmla="*/ 18 h 1112"/>
                  <a:gd name="T2" fmla="*/ 1 w 1188"/>
                  <a:gd name="T3" fmla="*/ 8 h 1112"/>
                  <a:gd name="T4" fmla="*/ 0 w 1188"/>
                  <a:gd name="T5" fmla="*/ 6 h 1112"/>
                  <a:gd name="T6" fmla="*/ 1 w 1188"/>
                  <a:gd name="T7" fmla="*/ 5 h 1112"/>
                  <a:gd name="T8" fmla="*/ 3 w 1188"/>
                  <a:gd name="T9" fmla="*/ 4 h 1112"/>
                  <a:gd name="T10" fmla="*/ 9 w 1188"/>
                  <a:gd name="T11" fmla="*/ 2 h 1112"/>
                  <a:gd name="T12" fmla="*/ 17 w 1188"/>
                  <a:gd name="T13" fmla="*/ 1 h 1112"/>
                  <a:gd name="T14" fmla="*/ 19 w 1188"/>
                  <a:gd name="T15" fmla="*/ 0 h 1112"/>
                  <a:gd name="T16" fmla="*/ 19 w 1188"/>
                  <a:gd name="T17" fmla="*/ 1 h 1112"/>
                  <a:gd name="T18" fmla="*/ 19 w 1188"/>
                  <a:gd name="T19" fmla="*/ 6 h 1112"/>
                  <a:gd name="T20" fmla="*/ 17 w 1188"/>
                  <a:gd name="T21" fmla="*/ 3 h 1112"/>
                  <a:gd name="T22" fmla="*/ 15 w 1188"/>
                  <a:gd name="T23" fmla="*/ 2 h 1112"/>
                  <a:gd name="T24" fmla="*/ 11 w 1188"/>
                  <a:gd name="T25" fmla="*/ 2 h 1112"/>
                  <a:gd name="T26" fmla="*/ 4 w 1188"/>
                  <a:gd name="T27" fmla="*/ 5 h 1112"/>
                  <a:gd name="T28" fmla="*/ 2 w 1188"/>
                  <a:gd name="T29" fmla="*/ 6 h 1112"/>
                  <a:gd name="T30" fmla="*/ 2 w 1188"/>
                  <a:gd name="T31" fmla="*/ 10 h 1112"/>
                  <a:gd name="T32" fmla="*/ 4 w 1188"/>
                  <a:gd name="T33" fmla="*/ 15 h 1112"/>
                  <a:gd name="T34" fmla="*/ 4 w 1188"/>
                  <a:gd name="T35" fmla="*/ 17 h 1112"/>
                  <a:gd name="T36" fmla="*/ 4 w 1188"/>
                  <a:gd name="T37" fmla="*/ 18 h 1112"/>
                  <a:gd name="T38" fmla="*/ 4 w 1188"/>
                  <a:gd name="T39" fmla="*/ 18 h 1112"/>
                  <a:gd name="T40" fmla="*/ 4 w 1188"/>
                  <a:gd name="T41" fmla="*/ 18 h 1112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188" h="1112">
                    <a:moveTo>
                      <a:pt x="197" y="1112"/>
                    </a:moveTo>
                    <a:lnTo>
                      <a:pt x="15" y="489"/>
                    </a:lnTo>
                    <a:lnTo>
                      <a:pt x="0" y="338"/>
                    </a:lnTo>
                    <a:lnTo>
                      <a:pt x="25" y="272"/>
                    </a:lnTo>
                    <a:lnTo>
                      <a:pt x="130" y="207"/>
                    </a:lnTo>
                    <a:lnTo>
                      <a:pt x="574" y="86"/>
                    </a:lnTo>
                    <a:lnTo>
                      <a:pt x="1063" y="5"/>
                    </a:lnTo>
                    <a:lnTo>
                      <a:pt x="1168" y="0"/>
                    </a:lnTo>
                    <a:lnTo>
                      <a:pt x="1188" y="51"/>
                    </a:lnTo>
                    <a:lnTo>
                      <a:pt x="1153" y="323"/>
                    </a:lnTo>
                    <a:lnTo>
                      <a:pt x="1078" y="171"/>
                    </a:lnTo>
                    <a:lnTo>
                      <a:pt x="911" y="76"/>
                    </a:lnTo>
                    <a:lnTo>
                      <a:pt x="660" y="106"/>
                    </a:lnTo>
                    <a:lnTo>
                      <a:pt x="206" y="272"/>
                    </a:lnTo>
                    <a:lnTo>
                      <a:pt x="110" y="369"/>
                    </a:lnTo>
                    <a:lnTo>
                      <a:pt x="115" y="621"/>
                    </a:lnTo>
                    <a:lnTo>
                      <a:pt x="211" y="898"/>
                    </a:lnTo>
                    <a:lnTo>
                      <a:pt x="232" y="1039"/>
                    </a:lnTo>
                    <a:lnTo>
                      <a:pt x="197" y="1112"/>
                    </a:lnTo>
                    <a:close/>
                  </a:path>
                </a:pathLst>
              </a:custGeom>
              <a:solidFill>
                <a:srgbClr val="A3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27" name="Freeform 27">
                <a:extLst>
                  <a:ext uri="{FF2B5EF4-FFF2-40B4-BE49-F238E27FC236}">
                    <a16:creationId xmlns:a16="http://schemas.microsoft.com/office/drawing/2014/main" id="{839B1C3F-0245-4383-E4E5-32AD4EE6D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6" y="2427"/>
                <a:ext cx="256" cy="93"/>
              </a:xfrm>
              <a:custGeom>
                <a:avLst/>
                <a:gdLst>
                  <a:gd name="T0" fmla="*/ 0 w 511"/>
                  <a:gd name="T1" fmla="*/ 2 h 187"/>
                  <a:gd name="T2" fmla="*/ 1 w 511"/>
                  <a:gd name="T3" fmla="*/ 0 h 187"/>
                  <a:gd name="T4" fmla="*/ 8 w 511"/>
                  <a:gd name="T5" fmla="*/ 0 h 187"/>
                  <a:gd name="T6" fmla="*/ 8 w 511"/>
                  <a:gd name="T7" fmla="*/ 1 h 187"/>
                  <a:gd name="T8" fmla="*/ 8 w 511"/>
                  <a:gd name="T9" fmla="*/ 0 h 187"/>
                  <a:gd name="T10" fmla="*/ 2 w 511"/>
                  <a:gd name="T11" fmla="*/ 1 h 187"/>
                  <a:gd name="T12" fmla="*/ 1 w 511"/>
                  <a:gd name="T13" fmla="*/ 2 h 187"/>
                  <a:gd name="T14" fmla="*/ 0 w 511"/>
                  <a:gd name="T15" fmla="*/ 2 h 187"/>
                  <a:gd name="T16" fmla="*/ 0 w 511"/>
                  <a:gd name="T17" fmla="*/ 2 h 187"/>
                  <a:gd name="T18" fmla="*/ 0 w 511"/>
                  <a:gd name="T19" fmla="*/ 2 h 18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11" h="187">
                    <a:moveTo>
                      <a:pt x="0" y="179"/>
                    </a:moveTo>
                    <a:lnTo>
                      <a:pt x="40" y="0"/>
                    </a:lnTo>
                    <a:lnTo>
                      <a:pt x="511" y="19"/>
                    </a:lnTo>
                    <a:lnTo>
                      <a:pt x="494" y="107"/>
                    </a:lnTo>
                    <a:lnTo>
                      <a:pt x="469" y="56"/>
                    </a:lnTo>
                    <a:lnTo>
                      <a:pt x="116" y="76"/>
                    </a:lnTo>
                    <a:lnTo>
                      <a:pt x="51" y="187"/>
                    </a:lnTo>
                    <a:lnTo>
                      <a:pt x="0" y="179"/>
                    </a:lnTo>
                    <a:close/>
                  </a:path>
                </a:pathLst>
              </a:custGeom>
              <a:solidFill>
                <a:srgbClr val="A3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28" name="Freeform 28">
                <a:extLst>
                  <a:ext uri="{FF2B5EF4-FFF2-40B4-BE49-F238E27FC236}">
                    <a16:creationId xmlns:a16="http://schemas.microsoft.com/office/drawing/2014/main" id="{F1F2FD54-EF37-FE52-AA1E-25A8C9A4A7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2471"/>
                <a:ext cx="125" cy="56"/>
              </a:xfrm>
              <a:custGeom>
                <a:avLst/>
                <a:gdLst>
                  <a:gd name="T0" fmla="*/ 0 w 250"/>
                  <a:gd name="T1" fmla="*/ 1 h 113"/>
                  <a:gd name="T2" fmla="*/ 1 w 250"/>
                  <a:gd name="T3" fmla="*/ 1 h 113"/>
                  <a:gd name="T4" fmla="*/ 3 w 250"/>
                  <a:gd name="T5" fmla="*/ 1 h 113"/>
                  <a:gd name="T6" fmla="*/ 3 w 250"/>
                  <a:gd name="T7" fmla="*/ 1 h 113"/>
                  <a:gd name="T8" fmla="*/ 4 w 250"/>
                  <a:gd name="T9" fmla="*/ 0 h 113"/>
                  <a:gd name="T10" fmla="*/ 2 w 250"/>
                  <a:gd name="T11" fmla="*/ 0 h 113"/>
                  <a:gd name="T12" fmla="*/ 1 w 250"/>
                  <a:gd name="T13" fmla="*/ 0 h 113"/>
                  <a:gd name="T14" fmla="*/ 0 w 250"/>
                  <a:gd name="T15" fmla="*/ 1 h 113"/>
                  <a:gd name="T16" fmla="*/ 0 w 250"/>
                  <a:gd name="T17" fmla="*/ 1 h 113"/>
                  <a:gd name="T18" fmla="*/ 0 w 250"/>
                  <a:gd name="T19" fmla="*/ 1 h 11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50" h="113">
                    <a:moveTo>
                      <a:pt x="0" y="82"/>
                    </a:moveTo>
                    <a:lnTo>
                      <a:pt x="42" y="109"/>
                    </a:lnTo>
                    <a:lnTo>
                      <a:pt x="136" y="113"/>
                    </a:lnTo>
                    <a:lnTo>
                      <a:pt x="138" y="75"/>
                    </a:lnTo>
                    <a:lnTo>
                      <a:pt x="250" y="10"/>
                    </a:lnTo>
                    <a:lnTo>
                      <a:pt x="72" y="0"/>
                    </a:lnTo>
                    <a:lnTo>
                      <a:pt x="32" y="56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A3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29" name="Freeform 29">
                <a:extLst>
                  <a:ext uri="{FF2B5EF4-FFF2-40B4-BE49-F238E27FC236}">
                    <a16:creationId xmlns:a16="http://schemas.microsoft.com/office/drawing/2014/main" id="{CD3EBAAE-E883-D0DC-51C9-728DA13A75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6" y="2679"/>
                <a:ext cx="1033" cy="67"/>
              </a:xfrm>
              <a:custGeom>
                <a:avLst/>
                <a:gdLst>
                  <a:gd name="T0" fmla="*/ 1 w 2066"/>
                  <a:gd name="T1" fmla="*/ 2 h 133"/>
                  <a:gd name="T2" fmla="*/ 0 w 2066"/>
                  <a:gd name="T3" fmla="*/ 1 h 133"/>
                  <a:gd name="T4" fmla="*/ 3 w 2066"/>
                  <a:gd name="T5" fmla="*/ 0 h 133"/>
                  <a:gd name="T6" fmla="*/ 32 w 2066"/>
                  <a:gd name="T7" fmla="*/ 1 h 133"/>
                  <a:gd name="T8" fmla="*/ 33 w 2066"/>
                  <a:gd name="T9" fmla="*/ 2 h 133"/>
                  <a:gd name="T10" fmla="*/ 32 w 2066"/>
                  <a:gd name="T11" fmla="*/ 3 h 133"/>
                  <a:gd name="T12" fmla="*/ 16 w 2066"/>
                  <a:gd name="T13" fmla="*/ 2 h 133"/>
                  <a:gd name="T14" fmla="*/ 6 w 2066"/>
                  <a:gd name="T15" fmla="*/ 2 h 133"/>
                  <a:gd name="T16" fmla="*/ 2 w 2066"/>
                  <a:gd name="T17" fmla="*/ 2 h 133"/>
                  <a:gd name="T18" fmla="*/ 1 w 2066"/>
                  <a:gd name="T19" fmla="*/ 2 h 133"/>
                  <a:gd name="T20" fmla="*/ 1 w 2066"/>
                  <a:gd name="T21" fmla="*/ 2 h 133"/>
                  <a:gd name="T22" fmla="*/ 1 w 2066"/>
                  <a:gd name="T23" fmla="*/ 2 h 13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066" h="133">
                    <a:moveTo>
                      <a:pt x="51" y="87"/>
                    </a:moveTo>
                    <a:lnTo>
                      <a:pt x="0" y="30"/>
                    </a:lnTo>
                    <a:lnTo>
                      <a:pt x="151" y="0"/>
                    </a:lnTo>
                    <a:lnTo>
                      <a:pt x="2016" y="35"/>
                    </a:lnTo>
                    <a:lnTo>
                      <a:pt x="2066" y="74"/>
                    </a:lnTo>
                    <a:lnTo>
                      <a:pt x="1987" y="133"/>
                    </a:lnTo>
                    <a:lnTo>
                      <a:pt x="987" y="101"/>
                    </a:lnTo>
                    <a:lnTo>
                      <a:pt x="328" y="76"/>
                    </a:lnTo>
                    <a:lnTo>
                      <a:pt x="119" y="115"/>
                    </a:lnTo>
                    <a:lnTo>
                      <a:pt x="51" y="87"/>
                    </a:lnTo>
                    <a:close/>
                  </a:path>
                </a:pathLst>
              </a:custGeom>
              <a:solidFill>
                <a:srgbClr val="A3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30" name="Freeform 30">
                <a:extLst>
                  <a:ext uri="{FF2B5EF4-FFF2-40B4-BE49-F238E27FC236}">
                    <a16:creationId xmlns:a16="http://schemas.microsoft.com/office/drawing/2014/main" id="{CDD64CFF-511C-313E-4E11-D79824C474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8" y="2359"/>
                <a:ext cx="819" cy="66"/>
              </a:xfrm>
              <a:custGeom>
                <a:avLst/>
                <a:gdLst>
                  <a:gd name="T0" fmla="*/ 1 w 1637"/>
                  <a:gd name="T1" fmla="*/ 2 h 132"/>
                  <a:gd name="T2" fmla="*/ 3 w 1637"/>
                  <a:gd name="T3" fmla="*/ 2 h 132"/>
                  <a:gd name="T4" fmla="*/ 5 w 1637"/>
                  <a:gd name="T5" fmla="*/ 2 h 132"/>
                  <a:gd name="T6" fmla="*/ 8 w 1637"/>
                  <a:gd name="T7" fmla="*/ 1 h 132"/>
                  <a:gd name="T8" fmla="*/ 9 w 1637"/>
                  <a:gd name="T9" fmla="*/ 1 h 132"/>
                  <a:gd name="T10" fmla="*/ 11 w 1637"/>
                  <a:gd name="T11" fmla="*/ 1 h 132"/>
                  <a:gd name="T12" fmla="*/ 13 w 1637"/>
                  <a:gd name="T13" fmla="*/ 1 h 132"/>
                  <a:gd name="T14" fmla="*/ 18 w 1637"/>
                  <a:gd name="T15" fmla="*/ 0 h 132"/>
                  <a:gd name="T16" fmla="*/ 23 w 1637"/>
                  <a:gd name="T17" fmla="*/ 1 h 132"/>
                  <a:gd name="T18" fmla="*/ 24 w 1637"/>
                  <a:gd name="T19" fmla="*/ 1 h 132"/>
                  <a:gd name="T20" fmla="*/ 26 w 1637"/>
                  <a:gd name="T21" fmla="*/ 1 h 132"/>
                  <a:gd name="T22" fmla="*/ 26 w 1637"/>
                  <a:gd name="T23" fmla="*/ 1 h 132"/>
                  <a:gd name="T24" fmla="*/ 26 w 1637"/>
                  <a:gd name="T25" fmla="*/ 1 h 132"/>
                  <a:gd name="T26" fmla="*/ 26 w 1637"/>
                  <a:gd name="T27" fmla="*/ 1 h 132"/>
                  <a:gd name="T28" fmla="*/ 26 w 1637"/>
                  <a:gd name="T29" fmla="*/ 1 h 132"/>
                  <a:gd name="T30" fmla="*/ 24 w 1637"/>
                  <a:gd name="T31" fmla="*/ 1 h 132"/>
                  <a:gd name="T32" fmla="*/ 23 w 1637"/>
                  <a:gd name="T33" fmla="*/ 1 h 132"/>
                  <a:gd name="T34" fmla="*/ 18 w 1637"/>
                  <a:gd name="T35" fmla="*/ 1 h 132"/>
                  <a:gd name="T36" fmla="*/ 13 w 1637"/>
                  <a:gd name="T37" fmla="*/ 1 h 132"/>
                  <a:gd name="T38" fmla="*/ 11 w 1637"/>
                  <a:gd name="T39" fmla="*/ 2 h 132"/>
                  <a:gd name="T40" fmla="*/ 9 w 1637"/>
                  <a:gd name="T41" fmla="*/ 2 h 132"/>
                  <a:gd name="T42" fmla="*/ 8 w 1637"/>
                  <a:gd name="T43" fmla="*/ 2 h 132"/>
                  <a:gd name="T44" fmla="*/ 5 w 1637"/>
                  <a:gd name="T45" fmla="*/ 2 h 132"/>
                  <a:gd name="T46" fmla="*/ 1 w 1637"/>
                  <a:gd name="T47" fmla="*/ 3 h 132"/>
                  <a:gd name="T48" fmla="*/ 0 w 1637"/>
                  <a:gd name="T49" fmla="*/ 2 h 132"/>
                  <a:gd name="T50" fmla="*/ 1 w 1637"/>
                  <a:gd name="T51" fmla="*/ 2 h 132"/>
                  <a:gd name="T52" fmla="*/ 1 w 1637"/>
                  <a:gd name="T53" fmla="*/ 2 h 132"/>
                  <a:gd name="T54" fmla="*/ 1 w 1637"/>
                  <a:gd name="T55" fmla="*/ 2 h 132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1637" h="132">
                    <a:moveTo>
                      <a:pt x="10" y="111"/>
                    </a:moveTo>
                    <a:lnTo>
                      <a:pt x="151" y="96"/>
                    </a:lnTo>
                    <a:lnTo>
                      <a:pt x="292" y="82"/>
                    </a:lnTo>
                    <a:lnTo>
                      <a:pt x="476" y="62"/>
                    </a:lnTo>
                    <a:lnTo>
                      <a:pt x="562" y="45"/>
                    </a:lnTo>
                    <a:lnTo>
                      <a:pt x="659" y="25"/>
                    </a:lnTo>
                    <a:lnTo>
                      <a:pt x="825" y="13"/>
                    </a:lnTo>
                    <a:lnTo>
                      <a:pt x="1131" y="0"/>
                    </a:lnTo>
                    <a:lnTo>
                      <a:pt x="1437" y="4"/>
                    </a:lnTo>
                    <a:lnTo>
                      <a:pt x="1501" y="4"/>
                    </a:lnTo>
                    <a:lnTo>
                      <a:pt x="1616" y="11"/>
                    </a:lnTo>
                    <a:lnTo>
                      <a:pt x="1632" y="20"/>
                    </a:lnTo>
                    <a:lnTo>
                      <a:pt x="1637" y="38"/>
                    </a:lnTo>
                    <a:lnTo>
                      <a:pt x="1630" y="53"/>
                    </a:lnTo>
                    <a:lnTo>
                      <a:pt x="1611" y="58"/>
                    </a:lnTo>
                    <a:lnTo>
                      <a:pt x="1501" y="51"/>
                    </a:lnTo>
                    <a:lnTo>
                      <a:pt x="1437" y="51"/>
                    </a:lnTo>
                    <a:lnTo>
                      <a:pt x="1133" y="45"/>
                    </a:lnTo>
                    <a:lnTo>
                      <a:pt x="828" y="58"/>
                    </a:lnTo>
                    <a:lnTo>
                      <a:pt x="668" y="70"/>
                    </a:lnTo>
                    <a:lnTo>
                      <a:pt x="569" y="89"/>
                    </a:lnTo>
                    <a:lnTo>
                      <a:pt x="481" y="101"/>
                    </a:lnTo>
                    <a:lnTo>
                      <a:pt x="294" y="116"/>
                    </a:lnTo>
                    <a:lnTo>
                      <a:pt x="12" y="132"/>
                    </a:lnTo>
                    <a:lnTo>
                      <a:pt x="0" y="121"/>
                    </a:lnTo>
                    <a:lnTo>
                      <a:pt x="10" y="1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31" name="Freeform 31">
                <a:extLst>
                  <a:ext uri="{FF2B5EF4-FFF2-40B4-BE49-F238E27FC236}">
                    <a16:creationId xmlns:a16="http://schemas.microsoft.com/office/drawing/2014/main" id="{434B0A35-CC30-FB3A-FC7E-F39705E61F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4" y="2366"/>
                <a:ext cx="52" cy="251"/>
              </a:xfrm>
              <a:custGeom>
                <a:avLst/>
                <a:gdLst>
                  <a:gd name="T0" fmla="*/ 2 w 104"/>
                  <a:gd name="T1" fmla="*/ 1 h 500"/>
                  <a:gd name="T2" fmla="*/ 2 w 104"/>
                  <a:gd name="T3" fmla="*/ 3 h 500"/>
                  <a:gd name="T4" fmla="*/ 2 w 104"/>
                  <a:gd name="T5" fmla="*/ 5 h 500"/>
                  <a:gd name="T6" fmla="*/ 1 w 104"/>
                  <a:gd name="T7" fmla="*/ 7 h 500"/>
                  <a:gd name="T8" fmla="*/ 1 w 104"/>
                  <a:gd name="T9" fmla="*/ 8 h 500"/>
                  <a:gd name="T10" fmla="*/ 0 w 104"/>
                  <a:gd name="T11" fmla="*/ 7 h 500"/>
                  <a:gd name="T12" fmla="*/ 1 w 104"/>
                  <a:gd name="T13" fmla="*/ 6 h 500"/>
                  <a:gd name="T14" fmla="*/ 1 w 104"/>
                  <a:gd name="T15" fmla="*/ 5 h 500"/>
                  <a:gd name="T16" fmla="*/ 1 w 104"/>
                  <a:gd name="T17" fmla="*/ 1 h 500"/>
                  <a:gd name="T18" fmla="*/ 1 w 104"/>
                  <a:gd name="T19" fmla="*/ 1 h 500"/>
                  <a:gd name="T20" fmla="*/ 2 w 104"/>
                  <a:gd name="T21" fmla="*/ 0 h 500"/>
                  <a:gd name="T22" fmla="*/ 2 w 104"/>
                  <a:gd name="T23" fmla="*/ 1 h 500"/>
                  <a:gd name="T24" fmla="*/ 2 w 104"/>
                  <a:gd name="T25" fmla="*/ 1 h 50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04" h="500">
                    <a:moveTo>
                      <a:pt x="104" y="23"/>
                    </a:moveTo>
                    <a:lnTo>
                      <a:pt x="93" y="162"/>
                    </a:lnTo>
                    <a:lnTo>
                      <a:pt x="71" y="301"/>
                    </a:lnTo>
                    <a:lnTo>
                      <a:pt x="57" y="390"/>
                    </a:lnTo>
                    <a:lnTo>
                      <a:pt x="41" y="500"/>
                    </a:lnTo>
                    <a:lnTo>
                      <a:pt x="0" y="429"/>
                    </a:lnTo>
                    <a:lnTo>
                      <a:pt x="12" y="370"/>
                    </a:lnTo>
                    <a:lnTo>
                      <a:pt x="33" y="295"/>
                    </a:lnTo>
                    <a:lnTo>
                      <a:pt x="56" y="23"/>
                    </a:lnTo>
                    <a:lnTo>
                      <a:pt x="64" y="5"/>
                    </a:lnTo>
                    <a:lnTo>
                      <a:pt x="80" y="0"/>
                    </a:lnTo>
                    <a:lnTo>
                      <a:pt x="104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32" name="Freeform 32">
                <a:extLst>
                  <a:ext uri="{FF2B5EF4-FFF2-40B4-BE49-F238E27FC236}">
                    <a16:creationId xmlns:a16="http://schemas.microsoft.com/office/drawing/2014/main" id="{D9CEB3A3-F1F6-FE23-9FFE-B178DBF382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0" y="2434"/>
                <a:ext cx="24" cy="84"/>
              </a:xfrm>
              <a:custGeom>
                <a:avLst/>
                <a:gdLst>
                  <a:gd name="T0" fmla="*/ 1 w 47"/>
                  <a:gd name="T1" fmla="*/ 0 h 169"/>
                  <a:gd name="T2" fmla="*/ 1 w 47"/>
                  <a:gd name="T3" fmla="*/ 1 h 169"/>
                  <a:gd name="T4" fmla="*/ 1 w 47"/>
                  <a:gd name="T5" fmla="*/ 2 h 169"/>
                  <a:gd name="T6" fmla="*/ 1 w 47"/>
                  <a:gd name="T7" fmla="*/ 2 h 169"/>
                  <a:gd name="T8" fmla="*/ 1 w 47"/>
                  <a:gd name="T9" fmla="*/ 2 h 169"/>
                  <a:gd name="T10" fmla="*/ 0 w 47"/>
                  <a:gd name="T11" fmla="*/ 0 h 169"/>
                  <a:gd name="T12" fmla="*/ 1 w 47"/>
                  <a:gd name="T13" fmla="*/ 0 h 169"/>
                  <a:gd name="T14" fmla="*/ 1 w 47"/>
                  <a:gd name="T15" fmla="*/ 0 h 169"/>
                  <a:gd name="T16" fmla="*/ 1 w 47"/>
                  <a:gd name="T17" fmla="*/ 0 h 169"/>
                  <a:gd name="T18" fmla="*/ 1 w 47"/>
                  <a:gd name="T19" fmla="*/ 0 h 169"/>
                  <a:gd name="T20" fmla="*/ 1 w 47"/>
                  <a:gd name="T21" fmla="*/ 0 h 169"/>
                  <a:gd name="T22" fmla="*/ 1 w 47"/>
                  <a:gd name="T23" fmla="*/ 0 h 16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7" h="169">
                    <a:moveTo>
                      <a:pt x="47" y="20"/>
                    </a:moveTo>
                    <a:lnTo>
                      <a:pt x="34" y="65"/>
                    </a:lnTo>
                    <a:lnTo>
                      <a:pt x="22" y="160"/>
                    </a:lnTo>
                    <a:lnTo>
                      <a:pt x="12" y="169"/>
                    </a:lnTo>
                    <a:lnTo>
                      <a:pt x="3" y="158"/>
                    </a:lnTo>
                    <a:lnTo>
                      <a:pt x="0" y="62"/>
                    </a:lnTo>
                    <a:lnTo>
                      <a:pt x="18" y="9"/>
                    </a:lnTo>
                    <a:lnTo>
                      <a:pt x="27" y="0"/>
                    </a:lnTo>
                    <a:lnTo>
                      <a:pt x="38" y="0"/>
                    </a:lnTo>
                    <a:lnTo>
                      <a:pt x="47" y="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33" name="Freeform 33">
                <a:extLst>
                  <a:ext uri="{FF2B5EF4-FFF2-40B4-BE49-F238E27FC236}">
                    <a16:creationId xmlns:a16="http://schemas.microsoft.com/office/drawing/2014/main" id="{0527B353-8C1D-BB73-9169-58CEA7BC38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0" y="2422"/>
                <a:ext cx="256" cy="22"/>
              </a:xfrm>
              <a:custGeom>
                <a:avLst/>
                <a:gdLst>
                  <a:gd name="T0" fmla="*/ 1 w 512"/>
                  <a:gd name="T1" fmla="*/ 1 h 43"/>
                  <a:gd name="T2" fmla="*/ 3 w 512"/>
                  <a:gd name="T3" fmla="*/ 0 h 43"/>
                  <a:gd name="T4" fmla="*/ 6 w 512"/>
                  <a:gd name="T5" fmla="*/ 1 h 43"/>
                  <a:gd name="T6" fmla="*/ 8 w 512"/>
                  <a:gd name="T7" fmla="*/ 1 h 43"/>
                  <a:gd name="T8" fmla="*/ 8 w 512"/>
                  <a:gd name="T9" fmla="*/ 1 h 43"/>
                  <a:gd name="T10" fmla="*/ 8 w 512"/>
                  <a:gd name="T11" fmla="*/ 1 h 43"/>
                  <a:gd name="T12" fmla="*/ 6 w 512"/>
                  <a:gd name="T13" fmla="*/ 1 h 43"/>
                  <a:gd name="T14" fmla="*/ 3 w 512"/>
                  <a:gd name="T15" fmla="*/ 1 h 43"/>
                  <a:gd name="T16" fmla="*/ 1 w 512"/>
                  <a:gd name="T17" fmla="*/ 1 h 43"/>
                  <a:gd name="T18" fmla="*/ 0 w 512"/>
                  <a:gd name="T19" fmla="*/ 1 h 43"/>
                  <a:gd name="T20" fmla="*/ 1 w 512"/>
                  <a:gd name="T21" fmla="*/ 1 h 43"/>
                  <a:gd name="T22" fmla="*/ 1 w 512"/>
                  <a:gd name="T23" fmla="*/ 1 h 43"/>
                  <a:gd name="T24" fmla="*/ 1 w 512"/>
                  <a:gd name="T25" fmla="*/ 1 h 43"/>
                  <a:gd name="T26" fmla="*/ 1 w 512"/>
                  <a:gd name="T27" fmla="*/ 1 h 4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512" h="43">
                    <a:moveTo>
                      <a:pt x="14" y="13"/>
                    </a:moveTo>
                    <a:lnTo>
                      <a:pt x="183" y="0"/>
                    </a:lnTo>
                    <a:lnTo>
                      <a:pt x="351" y="5"/>
                    </a:lnTo>
                    <a:lnTo>
                      <a:pt x="503" y="24"/>
                    </a:lnTo>
                    <a:lnTo>
                      <a:pt x="512" y="34"/>
                    </a:lnTo>
                    <a:lnTo>
                      <a:pt x="502" y="43"/>
                    </a:lnTo>
                    <a:lnTo>
                      <a:pt x="350" y="43"/>
                    </a:lnTo>
                    <a:lnTo>
                      <a:pt x="184" y="34"/>
                    </a:lnTo>
                    <a:lnTo>
                      <a:pt x="19" y="43"/>
                    </a:lnTo>
                    <a:lnTo>
                      <a:pt x="0" y="31"/>
                    </a:lnTo>
                    <a:lnTo>
                      <a:pt x="3" y="19"/>
                    </a:lnTo>
                    <a:lnTo>
                      <a:pt x="14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34" name="Freeform 34">
                <a:extLst>
                  <a:ext uri="{FF2B5EF4-FFF2-40B4-BE49-F238E27FC236}">
                    <a16:creationId xmlns:a16="http://schemas.microsoft.com/office/drawing/2014/main" id="{DF0D13EA-0BA5-7362-C206-022FBF0037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8" y="2468"/>
                <a:ext cx="145" cy="42"/>
              </a:xfrm>
              <a:custGeom>
                <a:avLst/>
                <a:gdLst>
                  <a:gd name="T0" fmla="*/ 1 w 290"/>
                  <a:gd name="T1" fmla="*/ 1 h 84"/>
                  <a:gd name="T2" fmla="*/ 1 w 290"/>
                  <a:gd name="T3" fmla="*/ 1 h 84"/>
                  <a:gd name="T4" fmla="*/ 1 w 290"/>
                  <a:gd name="T5" fmla="*/ 1 h 84"/>
                  <a:gd name="T6" fmla="*/ 1 w 290"/>
                  <a:gd name="T7" fmla="*/ 1 h 84"/>
                  <a:gd name="T8" fmla="*/ 2 w 290"/>
                  <a:gd name="T9" fmla="*/ 1 h 84"/>
                  <a:gd name="T10" fmla="*/ 2 w 290"/>
                  <a:gd name="T11" fmla="*/ 1 h 84"/>
                  <a:gd name="T12" fmla="*/ 3 w 290"/>
                  <a:gd name="T13" fmla="*/ 0 h 84"/>
                  <a:gd name="T14" fmla="*/ 4 w 290"/>
                  <a:gd name="T15" fmla="*/ 0 h 84"/>
                  <a:gd name="T16" fmla="*/ 5 w 290"/>
                  <a:gd name="T17" fmla="*/ 1 h 84"/>
                  <a:gd name="T18" fmla="*/ 5 w 290"/>
                  <a:gd name="T19" fmla="*/ 1 h 84"/>
                  <a:gd name="T20" fmla="*/ 5 w 290"/>
                  <a:gd name="T21" fmla="*/ 1 h 84"/>
                  <a:gd name="T22" fmla="*/ 4 w 290"/>
                  <a:gd name="T23" fmla="*/ 1 h 84"/>
                  <a:gd name="T24" fmla="*/ 3 w 290"/>
                  <a:gd name="T25" fmla="*/ 1 h 84"/>
                  <a:gd name="T26" fmla="*/ 2 w 290"/>
                  <a:gd name="T27" fmla="*/ 1 h 84"/>
                  <a:gd name="T28" fmla="*/ 2 w 290"/>
                  <a:gd name="T29" fmla="*/ 1 h 84"/>
                  <a:gd name="T30" fmla="*/ 1 w 290"/>
                  <a:gd name="T31" fmla="*/ 2 h 84"/>
                  <a:gd name="T32" fmla="*/ 1 w 290"/>
                  <a:gd name="T33" fmla="*/ 2 h 84"/>
                  <a:gd name="T34" fmla="*/ 0 w 290"/>
                  <a:gd name="T35" fmla="*/ 2 h 84"/>
                  <a:gd name="T36" fmla="*/ 1 w 290"/>
                  <a:gd name="T37" fmla="*/ 1 h 84"/>
                  <a:gd name="T38" fmla="*/ 1 w 290"/>
                  <a:gd name="T39" fmla="*/ 1 h 84"/>
                  <a:gd name="T40" fmla="*/ 1 w 290"/>
                  <a:gd name="T41" fmla="*/ 1 h 84"/>
                  <a:gd name="T42" fmla="*/ 1 w 290"/>
                  <a:gd name="T43" fmla="*/ 1 h 84"/>
                  <a:gd name="T44" fmla="*/ 1 w 290"/>
                  <a:gd name="T45" fmla="*/ 1 h 8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90" h="84">
                    <a:moveTo>
                      <a:pt x="26" y="21"/>
                    </a:moveTo>
                    <a:lnTo>
                      <a:pt x="20" y="61"/>
                    </a:lnTo>
                    <a:lnTo>
                      <a:pt x="48" y="47"/>
                    </a:lnTo>
                    <a:lnTo>
                      <a:pt x="62" y="21"/>
                    </a:lnTo>
                    <a:lnTo>
                      <a:pt x="67" y="7"/>
                    </a:lnTo>
                    <a:lnTo>
                      <a:pt x="81" y="2"/>
                    </a:lnTo>
                    <a:lnTo>
                      <a:pt x="130" y="0"/>
                    </a:lnTo>
                    <a:lnTo>
                      <a:pt x="229" y="0"/>
                    </a:lnTo>
                    <a:lnTo>
                      <a:pt x="280" y="12"/>
                    </a:lnTo>
                    <a:lnTo>
                      <a:pt x="290" y="21"/>
                    </a:lnTo>
                    <a:lnTo>
                      <a:pt x="280" y="30"/>
                    </a:lnTo>
                    <a:lnTo>
                      <a:pt x="229" y="45"/>
                    </a:lnTo>
                    <a:lnTo>
                      <a:pt x="130" y="45"/>
                    </a:lnTo>
                    <a:lnTo>
                      <a:pt x="96" y="44"/>
                    </a:lnTo>
                    <a:lnTo>
                      <a:pt x="82" y="61"/>
                    </a:lnTo>
                    <a:lnTo>
                      <a:pt x="60" y="74"/>
                    </a:lnTo>
                    <a:lnTo>
                      <a:pt x="10" y="84"/>
                    </a:lnTo>
                    <a:lnTo>
                      <a:pt x="0" y="75"/>
                    </a:lnTo>
                    <a:lnTo>
                      <a:pt x="8" y="13"/>
                    </a:lnTo>
                    <a:lnTo>
                      <a:pt x="21" y="8"/>
                    </a:lnTo>
                    <a:lnTo>
                      <a:pt x="26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35" name="Freeform 35">
                <a:extLst>
                  <a:ext uri="{FF2B5EF4-FFF2-40B4-BE49-F238E27FC236}">
                    <a16:creationId xmlns:a16="http://schemas.microsoft.com/office/drawing/2014/main" id="{D409AFFE-B06F-EEB3-658D-F5E62170C8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8" y="2493"/>
                <a:ext cx="782" cy="55"/>
              </a:xfrm>
              <a:custGeom>
                <a:avLst/>
                <a:gdLst>
                  <a:gd name="T0" fmla="*/ 1 w 1564"/>
                  <a:gd name="T1" fmla="*/ 0 h 110"/>
                  <a:gd name="T2" fmla="*/ 7 w 1564"/>
                  <a:gd name="T3" fmla="*/ 1 h 110"/>
                  <a:gd name="T4" fmla="*/ 18 w 1564"/>
                  <a:gd name="T5" fmla="*/ 1 h 110"/>
                  <a:gd name="T6" fmla="*/ 22 w 1564"/>
                  <a:gd name="T7" fmla="*/ 1 h 110"/>
                  <a:gd name="T8" fmla="*/ 25 w 1564"/>
                  <a:gd name="T9" fmla="*/ 1 h 110"/>
                  <a:gd name="T10" fmla="*/ 25 w 1564"/>
                  <a:gd name="T11" fmla="*/ 2 h 110"/>
                  <a:gd name="T12" fmla="*/ 25 w 1564"/>
                  <a:gd name="T13" fmla="*/ 2 h 110"/>
                  <a:gd name="T14" fmla="*/ 25 w 1564"/>
                  <a:gd name="T15" fmla="*/ 2 h 110"/>
                  <a:gd name="T16" fmla="*/ 25 w 1564"/>
                  <a:gd name="T17" fmla="*/ 2 h 110"/>
                  <a:gd name="T18" fmla="*/ 22 w 1564"/>
                  <a:gd name="T19" fmla="*/ 2 h 110"/>
                  <a:gd name="T20" fmla="*/ 18 w 1564"/>
                  <a:gd name="T21" fmla="*/ 2 h 110"/>
                  <a:gd name="T22" fmla="*/ 7 w 1564"/>
                  <a:gd name="T23" fmla="*/ 1 h 110"/>
                  <a:gd name="T24" fmla="*/ 4 w 1564"/>
                  <a:gd name="T25" fmla="*/ 1 h 110"/>
                  <a:gd name="T26" fmla="*/ 1 w 1564"/>
                  <a:gd name="T27" fmla="*/ 1 h 110"/>
                  <a:gd name="T28" fmla="*/ 0 w 1564"/>
                  <a:gd name="T29" fmla="*/ 1 h 110"/>
                  <a:gd name="T30" fmla="*/ 1 w 1564"/>
                  <a:gd name="T31" fmla="*/ 0 h 110"/>
                  <a:gd name="T32" fmla="*/ 1 w 1564"/>
                  <a:gd name="T33" fmla="*/ 0 h 110"/>
                  <a:gd name="T34" fmla="*/ 1 w 1564"/>
                  <a:gd name="T35" fmla="*/ 0 h 11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564" h="110">
                    <a:moveTo>
                      <a:pt x="10" y="0"/>
                    </a:moveTo>
                    <a:lnTo>
                      <a:pt x="397" y="13"/>
                    </a:lnTo>
                    <a:lnTo>
                      <a:pt x="1136" y="43"/>
                    </a:lnTo>
                    <a:lnTo>
                      <a:pt x="1350" y="51"/>
                    </a:lnTo>
                    <a:lnTo>
                      <a:pt x="1541" y="63"/>
                    </a:lnTo>
                    <a:lnTo>
                      <a:pt x="1559" y="70"/>
                    </a:lnTo>
                    <a:lnTo>
                      <a:pt x="1564" y="86"/>
                    </a:lnTo>
                    <a:lnTo>
                      <a:pt x="1559" y="103"/>
                    </a:lnTo>
                    <a:lnTo>
                      <a:pt x="1541" y="110"/>
                    </a:lnTo>
                    <a:lnTo>
                      <a:pt x="1346" y="98"/>
                    </a:lnTo>
                    <a:lnTo>
                      <a:pt x="1132" y="90"/>
                    </a:lnTo>
                    <a:lnTo>
                      <a:pt x="394" y="47"/>
                    </a:lnTo>
                    <a:lnTo>
                      <a:pt x="202" y="29"/>
                    </a:lnTo>
                    <a:lnTo>
                      <a:pt x="10" y="19"/>
                    </a:lnTo>
                    <a:lnTo>
                      <a:pt x="0" y="9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36" name="Freeform 36">
                <a:extLst>
                  <a:ext uri="{FF2B5EF4-FFF2-40B4-BE49-F238E27FC236}">
                    <a16:creationId xmlns:a16="http://schemas.microsoft.com/office/drawing/2014/main" id="{62F243CF-67B2-D753-D3AC-1CF35CCC8E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2" y="2660"/>
                <a:ext cx="712" cy="42"/>
              </a:xfrm>
              <a:custGeom>
                <a:avLst/>
                <a:gdLst>
                  <a:gd name="T0" fmla="*/ 1 w 1424"/>
                  <a:gd name="T1" fmla="*/ 0 h 85"/>
                  <a:gd name="T2" fmla="*/ 5 w 1424"/>
                  <a:gd name="T3" fmla="*/ 0 h 85"/>
                  <a:gd name="T4" fmla="*/ 11 w 1424"/>
                  <a:gd name="T5" fmla="*/ 0 h 85"/>
                  <a:gd name="T6" fmla="*/ 15 w 1424"/>
                  <a:gd name="T7" fmla="*/ 0 h 85"/>
                  <a:gd name="T8" fmla="*/ 18 w 1424"/>
                  <a:gd name="T9" fmla="*/ 0 h 85"/>
                  <a:gd name="T10" fmla="*/ 20 w 1424"/>
                  <a:gd name="T11" fmla="*/ 0 h 85"/>
                  <a:gd name="T12" fmla="*/ 23 w 1424"/>
                  <a:gd name="T13" fmla="*/ 0 h 85"/>
                  <a:gd name="T14" fmla="*/ 23 w 1424"/>
                  <a:gd name="T15" fmla="*/ 1 h 85"/>
                  <a:gd name="T16" fmla="*/ 23 w 1424"/>
                  <a:gd name="T17" fmla="*/ 1 h 85"/>
                  <a:gd name="T18" fmla="*/ 20 w 1424"/>
                  <a:gd name="T19" fmla="*/ 1 h 85"/>
                  <a:gd name="T20" fmla="*/ 18 w 1424"/>
                  <a:gd name="T21" fmla="*/ 1 h 85"/>
                  <a:gd name="T22" fmla="*/ 11 w 1424"/>
                  <a:gd name="T23" fmla="*/ 1 h 85"/>
                  <a:gd name="T24" fmla="*/ 8 w 1424"/>
                  <a:gd name="T25" fmla="*/ 0 h 85"/>
                  <a:gd name="T26" fmla="*/ 5 w 1424"/>
                  <a:gd name="T27" fmla="*/ 0 h 85"/>
                  <a:gd name="T28" fmla="*/ 1 w 1424"/>
                  <a:gd name="T29" fmla="*/ 0 h 85"/>
                  <a:gd name="T30" fmla="*/ 0 w 1424"/>
                  <a:gd name="T31" fmla="*/ 0 h 85"/>
                  <a:gd name="T32" fmla="*/ 1 w 1424"/>
                  <a:gd name="T33" fmla="*/ 0 h 85"/>
                  <a:gd name="T34" fmla="*/ 1 w 1424"/>
                  <a:gd name="T35" fmla="*/ 0 h 85"/>
                  <a:gd name="T36" fmla="*/ 1 w 1424"/>
                  <a:gd name="T37" fmla="*/ 0 h 85"/>
                  <a:gd name="T38" fmla="*/ 1 w 1424"/>
                  <a:gd name="T39" fmla="*/ 0 h 8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424" h="85">
                    <a:moveTo>
                      <a:pt x="15" y="4"/>
                    </a:moveTo>
                    <a:lnTo>
                      <a:pt x="273" y="0"/>
                    </a:lnTo>
                    <a:lnTo>
                      <a:pt x="698" y="15"/>
                    </a:lnTo>
                    <a:lnTo>
                      <a:pt x="897" y="27"/>
                    </a:lnTo>
                    <a:lnTo>
                      <a:pt x="1123" y="37"/>
                    </a:lnTo>
                    <a:lnTo>
                      <a:pt x="1270" y="47"/>
                    </a:lnTo>
                    <a:lnTo>
                      <a:pt x="1415" y="55"/>
                    </a:lnTo>
                    <a:lnTo>
                      <a:pt x="1424" y="64"/>
                    </a:lnTo>
                    <a:lnTo>
                      <a:pt x="1415" y="74"/>
                    </a:lnTo>
                    <a:lnTo>
                      <a:pt x="1268" y="80"/>
                    </a:lnTo>
                    <a:lnTo>
                      <a:pt x="1121" y="85"/>
                    </a:lnTo>
                    <a:lnTo>
                      <a:pt x="697" y="64"/>
                    </a:lnTo>
                    <a:lnTo>
                      <a:pt x="498" y="53"/>
                    </a:lnTo>
                    <a:lnTo>
                      <a:pt x="273" y="50"/>
                    </a:lnTo>
                    <a:lnTo>
                      <a:pt x="17" y="37"/>
                    </a:lnTo>
                    <a:lnTo>
                      <a:pt x="0" y="21"/>
                    </a:lnTo>
                    <a:lnTo>
                      <a:pt x="4" y="9"/>
                    </a:lnTo>
                    <a:lnTo>
                      <a:pt x="1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37" name="Freeform 37">
                <a:extLst>
                  <a:ext uri="{FF2B5EF4-FFF2-40B4-BE49-F238E27FC236}">
                    <a16:creationId xmlns:a16="http://schemas.microsoft.com/office/drawing/2014/main" id="{E6848AA7-82BF-6134-2B50-04AB1D2BED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1" y="2539"/>
                <a:ext cx="95" cy="141"/>
              </a:xfrm>
              <a:custGeom>
                <a:avLst/>
                <a:gdLst>
                  <a:gd name="T0" fmla="*/ 1 w 190"/>
                  <a:gd name="T1" fmla="*/ 1 h 281"/>
                  <a:gd name="T2" fmla="*/ 1 w 190"/>
                  <a:gd name="T3" fmla="*/ 1 h 281"/>
                  <a:gd name="T4" fmla="*/ 1 w 190"/>
                  <a:gd name="T5" fmla="*/ 2 h 281"/>
                  <a:gd name="T6" fmla="*/ 2 w 190"/>
                  <a:gd name="T7" fmla="*/ 2 h 281"/>
                  <a:gd name="T8" fmla="*/ 2 w 190"/>
                  <a:gd name="T9" fmla="*/ 3 h 281"/>
                  <a:gd name="T10" fmla="*/ 3 w 190"/>
                  <a:gd name="T11" fmla="*/ 5 h 281"/>
                  <a:gd name="T12" fmla="*/ 3 w 190"/>
                  <a:gd name="T13" fmla="*/ 5 h 281"/>
                  <a:gd name="T14" fmla="*/ 3 w 190"/>
                  <a:gd name="T15" fmla="*/ 5 h 281"/>
                  <a:gd name="T16" fmla="*/ 3 w 190"/>
                  <a:gd name="T17" fmla="*/ 5 h 281"/>
                  <a:gd name="T18" fmla="*/ 3 w 190"/>
                  <a:gd name="T19" fmla="*/ 4 h 281"/>
                  <a:gd name="T20" fmla="*/ 2 w 190"/>
                  <a:gd name="T21" fmla="*/ 4 h 281"/>
                  <a:gd name="T22" fmla="*/ 2 w 190"/>
                  <a:gd name="T23" fmla="*/ 3 h 281"/>
                  <a:gd name="T24" fmla="*/ 1 w 190"/>
                  <a:gd name="T25" fmla="*/ 2 h 281"/>
                  <a:gd name="T26" fmla="*/ 0 w 190"/>
                  <a:gd name="T27" fmla="*/ 1 h 281"/>
                  <a:gd name="T28" fmla="*/ 1 w 190"/>
                  <a:gd name="T29" fmla="*/ 0 h 281"/>
                  <a:gd name="T30" fmla="*/ 1 w 190"/>
                  <a:gd name="T31" fmla="*/ 1 h 281"/>
                  <a:gd name="T32" fmla="*/ 1 w 190"/>
                  <a:gd name="T33" fmla="*/ 1 h 281"/>
                  <a:gd name="T34" fmla="*/ 1 w 190"/>
                  <a:gd name="T35" fmla="*/ 1 h 28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90" h="281">
                    <a:moveTo>
                      <a:pt x="16" y="5"/>
                    </a:moveTo>
                    <a:lnTo>
                      <a:pt x="35" y="45"/>
                    </a:lnTo>
                    <a:lnTo>
                      <a:pt x="54" y="79"/>
                    </a:lnTo>
                    <a:lnTo>
                      <a:pt x="77" y="112"/>
                    </a:lnTo>
                    <a:lnTo>
                      <a:pt x="106" y="148"/>
                    </a:lnTo>
                    <a:lnTo>
                      <a:pt x="190" y="259"/>
                    </a:lnTo>
                    <a:lnTo>
                      <a:pt x="185" y="276"/>
                    </a:lnTo>
                    <a:lnTo>
                      <a:pt x="171" y="281"/>
                    </a:lnTo>
                    <a:lnTo>
                      <a:pt x="149" y="262"/>
                    </a:lnTo>
                    <a:lnTo>
                      <a:pt x="142" y="233"/>
                    </a:lnTo>
                    <a:lnTo>
                      <a:pt x="125" y="210"/>
                    </a:lnTo>
                    <a:lnTo>
                      <a:pt x="82" y="167"/>
                    </a:lnTo>
                    <a:lnTo>
                      <a:pt x="34" y="93"/>
                    </a:lnTo>
                    <a:lnTo>
                      <a:pt x="0" y="12"/>
                    </a:lnTo>
                    <a:lnTo>
                      <a:pt x="5" y="0"/>
                    </a:lnTo>
                    <a:lnTo>
                      <a:pt x="1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38" name="Freeform 38">
                <a:extLst>
                  <a:ext uri="{FF2B5EF4-FFF2-40B4-BE49-F238E27FC236}">
                    <a16:creationId xmlns:a16="http://schemas.microsoft.com/office/drawing/2014/main" id="{B61A1D43-39AA-76CA-D583-2DE40596E0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5" y="2693"/>
                <a:ext cx="54" cy="54"/>
              </a:xfrm>
              <a:custGeom>
                <a:avLst/>
                <a:gdLst>
                  <a:gd name="T0" fmla="*/ 1 w 109"/>
                  <a:gd name="T1" fmla="*/ 1 h 108"/>
                  <a:gd name="T2" fmla="*/ 1 w 109"/>
                  <a:gd name="T3" fmla="*/ 1 h 108"/>
                  <a:gd name="T4" fmla="*/ 1 w 109"/>
                  <a:gd name="T5" fmla="*/ 1 h 108"/>
                  <a:gd name="T6" fmla="*/ 0 w 109"/>
                  <a:gd name="T7" fmla="*/ 2 h 108"/>
                  <a:gd name="T8" fmla="*/ 0 w 109"/>
                  <a:gd name="T9" fmla="*/ 2 h 108"/>
                  <a:gd name="T10" fmla="*/ 0 w 109"/>
                  <a:gd name="T11" fmla="*/ 2 h 108"/>
                  <a:gd name="T12" fmla="*/ 0 w 109"/>
                  <a:gd name="T13" fmla="*/ 2 h 108"/>
                  <a:gd name="T14" fmla="*/ 1 w 109"/>
                  <a:gd name="T15" fmla="*/ 1 h 108"/>
                  <a:gd name="T16" fmla="*/ 1 w 109"/>
                  <a:gd name="T17" fmla="*/ 0 h 108"/>
                  <a:gd name="T18" fmla="*/ 1 w 109"/>
                  <a:gd name="T19" fmla="*/ 1 h 108"/>
                  <a:gd name="T20" fmla="*/ 1 w 109"/>
                  <a:gd name="T21" fmla="*/ 1 h 108"/>
                  <a:gd name="T22" fmla="*/ 1 w 109"/>
                  <a:gd name="T23" fmla="*/ 1 h 10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09" h="108">
                    <a:moveTo>
                      <a:pt x="109" y="14"/>
                    </a:moveTo>
                    <a:lnTo>
                      <a:pt x="90" y="41"/>
                    </a:lnTo>
                    <a:lnTo>
                      <a:pt x="71" y="64"/>
                    </a:lnTo>
                    <a:lnTo>
                      <a:pt x="28" y="108"/>
                    </a:lnTo>
                    <a:lnTo>
                      <a:pt x="4" y="108"/>
                    </a:lnTo>
                    <a:lnTo>
                      <a:pt x="0" y="98"/>
                    </a:lnTo>
                    <a:lnTo>
                      <a:pt x="4" y="85"/>
                    </a:lnTo>
                    <a:lnTo>
                      <a:pt x="93" y="3"/>
                    </a:lnTo>
                    <a:lnTo>
                      <a:pt x="107" y="0"/>
                    </a:lnTo>
                    <a:lnTo>
                      <a:pt x="109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39" name="Freeform 39">
                <a:extLst>
                  <a:ext uri="{FF2B5EF4-FFF2-40B4-BE49-F238E27FC236}">
                    <a16:creationId xmlns:a16="http://schemas.microsoft.com/office/drawing/2014/main" id="{9BF537DD-BE51-A2F6-FFAE-682222F063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3" y="2713"/>
                <a:ext cx="999" cy="41"/>
              </a:xfrm>
              <a:custGeom>
                <a:avLst/>
                <a:gdLst>
                  <a:gd name="T0" fmla="*/ 0 w 2000"/>
                  <a:gd name="T1" fmla="*/ 1 h 81"/>
                  <a:gd name="T2" fmla="*/ 1 w 2000"/>
                  <a:gd name="T3" fmla="*/ 1 h 81"/>
                  <a:gd name="T4" fmla="*/ 3 w 2000"/>
                  <a:gd name="T5" fmla="*/ 1 h 81"/>
                  <a:gd name="T6" fmla="*/ 4 w 2000"/>
                  <a:gd name="T7" fmla="*/ 1 h 81"/>
                  <a:gd name="T8" fmla="*/ 7 w 2000"/>
                  <a:gd name="T9" fmla="*/ 0 h 81"/>
                  <a:gd name="T10" fmla="*/ 8 w 2000"/>
                  <a:gd name="T11" fmla="*/ 0 h 81"/>
                  <a:gd name="T12" fmla="*/ 19 w 2000"/>
                  <a:gd name="T13" fmla="*/ 1 h 81"/>
                  <a:gd name="T14" fmla="*/ 20 w 2000"/>
                  <a:gd name="T15" fmla="*/ 1 h 81"/>
                  <a:gd name="T16" fmla="*/ 21 w 2000"/>
                  <a:gd name="T17" fmla="*/ 1 h 81"/>
                  <a:gd name="T18" fmla="*/ 23 w 2000"/>
                  <a:gd name="T19" fmla="*/ 1 h 81"/>
                  <a:gd name="T20" fmla="*/ 24 w 2000"/>
                  <a:gd name="T21" fmla="*/ 1 h 81"/>
                  <a:gd name="T22" fmla="*/ 30 w 2000"/>
                  <a:gd name="T23" fmla="*/ 1 h 81"/>
                  <a:gd name="T24" fmla="*/ 31 w 2000"/>
                  <a:gd name="T25" fmla="*/ 1 h 81"/>
                  <a:gd name="T26" fmla="*/ 30 w 2000"/>
                  <a:gd name="T27" fmla="*/ 2 h 81"/>
                  <a:gd name="T28" fmla="*/ 30 w 2000"/>
                  <a:gd name="T29" fmla="*/ 2 h 81"/>
                  <a:gd name="T30" fmla="*/ 27 w 2000"/>
                  <a:gd name="T31" fmla="*/ 2 h 81"/>
                  <a:gd name="T32" fmla="*/ 24 w 2000"/>
                  <a:gd name="T33" fmla="*/ 1 h 81"/>
                  <a:gd name="T34" fmla="*/ 23 w 2000"/>
                  <a:gd name="T35" fmla="*/ 1 h 81"/>
                  <a:gd name="T36" fmla="*/ 21 w 2000"/>
                  <a:gd name="T37" fmla="*/ 1 h 81"/>
                  <a:gd name="T38" fmla="*/ 20 w 2000"/>
                  <a:gd name="T39" fmla="*/ 1 h 81"/>
                  <a:gd name="T40" fmla="*/ 19 w 2000"/>
                  <a:gd name="T41" fmla="*/ 1 h 81"/>
                  <a:gd name="T42" fmla="*/ 8 w 2000"/>
                  <a:gd name="T43" fmla="*/ 1 h 81"/>
                  <a:gd name="T44" fmla="*/ 7 w 2000"/>
                  <a:gd name="T45" fmla="*/ 1 h 81"/>
                  <a:gd name="T46" fmla="*/ 4 w 2000"/>
                  <a:gd name="T47" fmla="*/ 1 h 81"/>
                  <a:gd name="T48" fmla="*/ 2 w 2000"/>
                  <a:gd name="T49" fmla="*/ 1 h 81"/>
                  <a:gd name="T50" fmla="*/ 0 w 2000"/>
                  <a:gd name="T51" fmla="*/ 1 h 81"/>
                  <a:gd name="T52" fmla="*/ 0 w 2000"/>
                  <a:gd name="T53" fmla="*/ 1 h 81"/>
                  <a:gd name="T54" fmla="*/ 0 w 2000"/>
                  <a:gd name="T55" fmla="*/ 1 h 81"/>
                  <a:gd name="T56" fmla="*/ 0 w 2000"/>
                  <a:gd name="T57" fmla="*/ 1 h 81"/>
                  <a:gd name="T58" fmla="*/ 0 w 2000"/>
                  <a:gd name="T59" fmla="*/ 1 h 81"/>
                  <a:gd name="T60" fmla="*/ 0 w 2000"/>
                  <a:gd name="T61" fmla="*/ 1 h 81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2000" h="81">
                    <a:moveTo>
                      <a:pt x="17" y="14"/>
                    </a:moveTo>
                    <a:lnTo>
                      <a:pt x="127" y="23"/>
                    </a:lnTo>
                    <a:lnTo>
                      <a:pt x="215" y="10"/>
                    </a:lnTo>
                    <a:lnTo>
                      <a:pt x="293" y="2"/>
                    </a:lnTo>
                    <a:lnTo>
                      <a:pt x="459" y="0"/>
                    </a:lnTo>
                    <a:lnTo>
                      <a:pt x="528" y="0"/>
                    </a:lnTo>
                    <a:lnTo>
                      <a:pt x="1261" y="14"/>
                    </a:lnTo>
                    <a:lnTo>
                      <a:pt x="1322" y="15"/>
                    </a:lnTo>
                    <a:lnTo>
                      <a:pt x="1353" y="16"/>
                    </a:lnTo>
                    <a:lnTo>
                      <a:pt x="1533" y="21"/>
                    </a:lnTo>
                    <a:lnTo>
                      <a:pt x="1564" y="27"/>
                    </a:lnTo>
                    <a:lnTo>
                      <a:pt x="1951" y="40"/>
                    </a:lnTo>
                    <a:lnTo>
                      <a:pt x="2000" y="40"/>
                    </a:lnTo>
                    <a:lnTo>
                      <a:pt x="1982" y="75"/>
                    </a:lnTo>
                    <a:lnTo>
                      <a:pt x="1951" y="81"/>
                    </a:lnTo>
                    <a:lnTo>
                      <a:pt x="1756" y="71"/>
                    </a:lnTo>
                    <a:lnTo>
                      <a:pt x="1562" y="61"/>
                    </a:lnTo>
                    <a:lnTo>
                      <a:pt x="1531" y="59"/>
                    </a:lnTo>
                    <a:lnTo>
                      <a:pt x="1351" y="54"/>
                    </a:lnTo>
                    <a:lnTo>
                      <a:pt x="1320" y="49"/>
                    </a:lnTo>
                    <a:lnTo>
                      <a:pt x="1261" y="52"/>
                    </a:lnTo>
                    <a:lnTo>
                      <a:pt x="528" y="37"/>
                    </a:lnTo>
                    <a:lnTo>
                      <a:pt x="459" y="37"/>
                    </a:lnTo>
                    <a:lnTo>
                      <a:pt x="294" y="30"/>
                    </a:lnTo>
                    <a:lnTo>
                      <a:pt x="129" y="42"/>
                    </a:lnTo>
                    <a:lnTo>
                      <a:pt x="11" y="42"/>
                    </a:lnTo>
                    <a:lnTo>
                      <a:pt x="0" y="25"/>
                    </a:lnTo>
                    <a:lnTo>
                      <a:pt x="5" y="16"/>
                    </a:lnTo>
                    <a:lnTo>
                      <a:pt x="17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40" name="Freeform 40">
                <a:extLst>
                  <a:ext uri="{FF2B5EF4-FFF2-40B4-BE49-F238E27FC236}">
                    <a16:creationId xmlns:a16="http://schemas.microsoft.com/office/drawing/2014/main" id="{A59EF2B5-2981-02AE-042E-1DAB0904DA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1" y="2546"/>
                <a:ext cx="533" cy="56"/>
              </a:xfrm>
              <a:custGeom>
                <a:avLst/>
                <a:gdLst>
                  <a:gd name="T0" fmla="*/ 1 w 1066"/>
                  <a:gd name="T1" fmla="*/ 0 h 111"/>
                  <a:gd name="T2" fmla="*/ 5 w 1066"/>
                  <a:gd name="T3" fmla="*/ 1 h 111"/>
                  <a:gd name="T4" fmla="*/ 7 w 1066"/>
                  <a:gd name="T5" fmla="*/ 1 h 111"/>
                  <a:gd name="T6" fmla="*/ 9 w 1066"/>
                  <a:gd name="T7" fmla="*/ 1 h 111"/>
                  <a:gd name="T8" fmla="*/ 14 w 1066"/>
                  <a:gd name="T9" fmla="*/ 2 h 111"/>
                  <a:gd name="T10" fmla="*/ 16 w 1066"/>
                  <a:gd name="T11" fmla="*/ 2 h 111"/>
                  <a:gd name="T12" fmla="*/ 17 w 1066"/>
                  <a:gd name="T13" fmla="*/ 2 h 111"/>
                  <a:gd name="T14" fmla="*/ 17 w 1066"/>
                  <a:gd name="T15" fmla="*/ 2 h 111"/>
                  <a:gd name="T16" fmla="*/ 17 w 1066"/>
                  <a:gd name="T17" fmla="*/ 2 h 111"/>
                  <a:gd name="T18" fmla="*/ 14 w 1066"/>
                  <a:gd name="T19" fmla="*/ 2 h 111"/>
                  <a:gd name="T20" fmla="*/ 5 w 1066"/>
                  <a:gd name="T21" fmla="*/ 1 h 111"/>
                  <a:gd name="T22" fmla="*/ 1 w 1066"/>
                  <a:gd name="T23" fmla="*/ 1 h 111"/>
                  <a:gd name="T24" fmla="*/ 0 w 1066"/>
                  <a:gd name="T25" fmla="*/ 1 h 111"/>
                  <a:gd name="T26" fmla="*/ 1 w 1066"/>
                  <a:gd name="T27" fmla="*/ 1 h 111"/>
                  <a:gd name="T28" fmla="*/ 1 w 1066"/>
                  <a:gd name="T29" fmla="*/ 0 h 111"/>
                  <a:gd name="T30" fmla="*/ 1 w 1066"/>
                  <a:gd name="T31" fmla="*/ 0 h 111"/>
                  <a:gd name="T32" fmla="*/ 1 w 1066"/>
                  <a:gd name="T33" fmla="*/ 0 h 11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066" h="111">
                    <a:moveTo>
                      <a:pt x="19" y="0"/>
                    </a:moveTo>
                    <a:lnTo>
                      <a:pt x="267" y="10"/>
                    </a:lnTo>
                    <a:lnTo>
                      <a:pt x="429" y="26"/>
                    </a:lnTo>
                    <a:lnTo>
                      <a:pt x="571" y="39"/>
                    </a:lnTo>
                    <a:lnTo>
                      <a:pt x="876" y="65"/>
                    </a:lnTo>
                    <a:lnTo>
                      <a:pt x="966" y="79"/>
                    </a:lnTo>
                    <a:lnTo>
                      <a:pt x="1057" y="91"/>
                    </a:lnTo>
                    <a:lnTo>
                      <a:pt x="1066" y="101"/>
                    </a:lnTo>
                    <a:lnTo>
                      <a:pt x="1057" y="110"/>
                    </a:lnTo>
                    <a:lnTo>
                      <a:pt x="872" y="111"/>
                    </a:lnTo>
                    <a:lnTo>
                      <a:pt x="261" y="54"/>
                    </a:lnTo>
                    <a:lnTo>
                      <a:pt x="16" y="34"/>
                    </a:lnTo>
                    <a:lnTo>
                      <a:pt x="0" y="15"/>
                    </a:lnTo>
                    <a:lnTo>
                      <a:pt x="7" y="2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41" name="Freeform 41">
                <a:extLst>
                  <a:ext uri="{FF2B5EF4-FFF2-40B4-BE49-F238E27FC236}">
                    <a16:creationId xmlns:a16="http://schemas.microsoft.com/office/drawing/2014/main" id="{A1F63A95-8D53-83A5-06D2-C8542A27A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4" y="2597"/>
                <a:ext cx="388" cy="41"/>
              </a:xfrm>
              <a:custGeom>
                <a:avLst/>
                <a:gdLst>
                  <a:gd name="T0" fmla="*/ 1 w 776"/>
                  <a:gd name="T1" fmla="*/ 0 h 82"/>
                  <a:gd name="T2" fmla="*/ 4 w 776"/>
                  <a:gd name="T3" fmla="*/ 1 h 82"/>
                  <a:gd name="T4" fmla="*/ 7 w 776"/>
                  <a:gd name="T5" fmla="*/ 1 h 82"/>
                  <a:gd name="T6" fmla="*/ 10 w 776"/>
                  <a:gd name="T7" fmla="*/ 1 h 82"/>
                  <a:gd name="T8" fmla="*/ 11 w 776"/>
                  <a:gd name="T9" fmla="*/ 1 h 82"/>
                  <a:gd name="T10" fmla="*/ 12 w 776"/>
                  <a:gd name="T11" fmla="*/ 1 h 82"/>
                  <a:gd name="T12" fmla="*/ 13 w 776"/>
                  <a:gd name="T13" fmla="*/ 2 h 82"/>
                  <a:gd name="T14" fmla="*/ 12 w 776"/>
                  <a:gd name="T15" fmla="*/ 2 h 82"/>
                  <a:gd name="T16" fmla="*/ 7 w 776"/>
                  <a:gd name="T17" fmla="*/ 1 h 82"/>
                  <a:gd name="T18" fmla="*/ 4 w 776"/>
                  <a:gd name="T19" fmla="*/ 1 h 82"/>
                  <a:gd name="T20" fmla="*/ 2 w 776"/>
                  <a:gd name="T21" fmla="*/ 1 h 82"/>
                  <a:gd name="T22" fmla="*/ 1 w 776"/>
                  <a:gd name="T23" fmla="*/ 1 h 82"/>
                  <a:gd name="T24" fmla="*/ 0 w 776"/>
                  <a:gd name="T25" fmla="*/ 1 h 82"/>
                  <a:gd name="T26" fmla="*/ 1 w 776"/>
                  <a:gd name="T27" fmla="*/ 0 h 82"/>
                  <a:gd name="T28" fmla="*/ 1 w 776"/>
                  <a:gd name="T29" fmla="*/ 0 h 82"/>
                  <a:gd name="T30" fmla="*/ 1 w 776"/>
                  <a:gd name="T31" fmla="*/ 0 h 8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776" h="82">
                    <a:moveTo>
                      <a:pt x="10" y="0"/>
                    </a:moveTo>
                    <a:lnTo>
                      <a:pt x="245" y="10"/>
                    </a:lnTo>
                    <a:lnTo>
                      <a:pt x="388" y="21"/>
                    </a:lnTo>
                    <a:lnTo>
                      <a:pt x="578" y="40"/>
                    </a:lnTo>
                    <a:lnTo>
                      <a:pt x="665" y="53"/>
                    </a:lnTo>
                    <a:lnTo>
                      <a:pt x="767" y="64"/>
                    </a:lnTo>
                    <a:lnTo>
                      <a:pt x="776" y="75"/>
                    </a:lnTo>
                    <a:lnTo>
                      <a:pt x="766" y="82"/>
                    </a:lnTo>
                    <a:lnTo>
                      <a:pt x="387" y="62"/>
                    </a:lnTo>
                    <a:lnTo>
                      <a:pt x="241" y="51"/>
                    </a:lnTo>
                    <a:lnTo>
                      <a:pt x="126" y="30"/>
                    </a:lnTo>
                    <a:lnTo>
                      <a:pt x="10" y="19"/>
                    </a:lnTo>
                    <a:lnTo>
                      <a:pt x="0" y="9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42" name="Freeform 42">
                <a:extLst>
                  <a:ext uri="{FF2B5EF4-FFF2-40B4-BE49-F238E27FC236}">
                    <a16:creationId xmlns:a16="http://schemas.microsoft.com/office/drawing/2014/main" id="{6657B2D6-BF80-4FD0-E4F9-0FA7AD26FF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9" y="2585"/>
                <a:ext cx="117" cy="23"/>
              </a:xfrm>
              <a:custGeom>
                <a:avLst/>
                <a:gdLst>
                  <a:gd name="T0" fmla="*/ 1 w 234"/>
                  <a:gd name="T1" fmla="*/ 0 h 45"/>
                  <a:gd name="T2" fmla="*/ 4 w 234"/>
                  <a:gd name="T3" fmla="*/ 1 h 45"/>
                  <a:gd name="T4" fmla="*/ 4 w 234"/>
                  <a:gd name="T5" fmla="*/ 1 h 45"/>
                  <a:gd name="T6" fmla="*/ 4 w 234"/>
                  <a:gd name="T7" fmla="*/ 1 h 45"/>
                  <a:gd name="T8" fmla="*/ 4 w 234"/>
                  <a:gd name="T9" fmla="*/ 1 h 45"/>
                  <a:gd name="T10" fmla="*/ 2 w 234"/>
                  <a:gd name="T11" fmla="*/ 1 h 45"/>
                  <a:gd name="T12" fmla="*/ 1 w 234"/>
                  <a:gd name="T13" fmla="*/ 1 h 45"/>
                  <a:gd name="T14" fmla="*/ 0 w 234"/>
                  <a:gd name="T15" fmla="*/ 1 h 45"/>
                  <a:gd name="T16" fmla="*/ 1 w 234"/>
                  <a:gd name="T17" fmla="*/ 0 h 45"/>
                  <a:gd name="T18" fmla="*/ 1 w 234"/>
                  <a:gd name="T19" fmla="*/ 0 h 45"/>
                  <a:gd name="T20" fmla="*/ 1 w 234"/>
                  <a:gd name="T21" fmla="*/ 0 h 4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34" h="45">
                    <a:moveTo>
                      <a:pt x="10" y="0"/>
                    </a:moveTo>
                    <a:lnTo>
                      <a:pt x="214" y="5"/>
                    </a:lnTo>
                    <a:lnTo>
                      <a:pt x="234" y="25"/>
                    </a:lnTo>
                    <a:lnTo>
                      <a:pt x="229" y="39"/>
                    </a:lnTo>
                    <a:lnTo>
                      <a:pt x="214" y="45"/>
                    </a:lnTo>
                    <a:lnTo>
                      <a:pt x="110" y="35"/>
                    </a:lnTo>
                    <a:lnTo>
                      <a:pt x="7" y="19"/>
                    </a:lnTo>
                    <a:lnTo>
                      <a:pt x="0" y="9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43" name="Freeform 43">
                <a:extLst>
                  <a:ext uri="{FF2B5EF4-FFF2-40B4-BE49-F238E27FC236}">
                    <a16:creationId xmlns:a16="http://schemas.microsoft.com/office/drawing/2014/main" id="{5983FDCF-8714-23C4-AF8A-261A953798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5" y="2615"/>
                <a:ext cx="119" cy="20"/>
              </a:xfrm>
              <a:custGeom>
                <a:avLst/>
                <a:gdLst>
                  <a:gd name="T0" fmla="*/ 1 w 238"/>
                  <a:gd name="T1" fmla="*/ 0 h 41"/>
                  <a:gd name="T2" fmla="*/ 2 w 238"/>
                  <a:gd name="T3" fmla="*/ 0 h 41"/>
                  <a:gd name="T4" fmla="*/ 4 w 238"/>
                  <a:gd name="T5" fmla="*/ 0 h 41"/>
                  <a:gd name="T6" fmla="*/ 4 w 238"/>
                  <a:gd name="T7" fmla="*/ 0 h 41"/>
                  <a:gd name="T8" fmla="*/ 4 w 238"/>
                  <a:gd name="T9" fmla="*/ 0 h 41"/>
                  <a:gd name="T10" fmla="*/ 4 w 238"/>
                  <a:gd name="T11" fmla="*/ 0 h 41"/>
                  <a:gd name="T12" fmla="*/ 2 w 238"/>
                  <a:gd name="T13" fmla="*/ 0 h 41"/>
                  <a:gd name="T14" fmla="*/ 1 w 238"/>
                  <a:gd name="T15" fmla="*/ 0 h 41"/>
                  <a:gd name="T16" fmla="*/ 0 w 238"/>
                  <a:gd name="T17" fmla="*/ 0 h 41"/>
                  <a:gd name="T18" fmla="*/ 1 w 238"/>
                  <a:gd name="T19" fmla="*/ 0 h 41"/>
                  <a:gd name="T20" fmla="*/ 1 w 238"/>
                  <a:gd name="T21" fmla="*/ 0 h 41"/>
                  <a:gd name="T22" fmla="*/ 1 w 238"/>
                  <a:gd name="T23" fmla="*/ 0 h 4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38" h="41">
                    <a:moveTo>
                      <a:pt x="10" y="13"/>
                    </a:moveTo>
                    <a:lnTo>
                      <a:pt x="113" y="12"/>
                    </a:lnTo>
                    <a:lnTo>
                      <a:pt x="216" y="0"/>
                    </a:lnTo>
                    <a:lnTo>
                      <a:pt x="238" y="19"/>
                    </a:lnTo>
                    <a:lnTo>
                      <a:pt x="234" y="33"/>
                    </a:lnTo>
                    <a:lnTo>
                      <a:pt x="220" y="41"/>
                    </a:lnTo>
                    <a:lnTo>
                      <a:pt x="114" y="41"/>
                    </a:lnTo>
                    <a:lnTo>
                      <a:pt x="7" y="32"/>
                    </a:lnTo>
                    <a:lnTo>
                      <a:pt x="0" y="22"/>
                    </a:lnTo>
                    <a:lnTo>
                      <a:pt x="10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44" name="Freeform 44">
                <a:extLst>
                  <a:ext uri="{FF2B5EF4-FFF2-40B4-BE49-F238E27FC236}">
                    <a16:creationId xmlns:a16="http://schemas.microsoft.com/office/drawing/2014/main" id="{B7A901EF-D060-3545-C763-E56745A020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5" y="2650"/>
                <a:ext cx="137" cy="24"/>
              </a:xfrm>
              <a:custGeom>
                <a:avLst/>
                <a:gdLst>
                  <a:gd name="T0" fmla="*/ 1 w 274"/>
                  <a:gd name="T1" fmla="*/ 1 h 48"/>
                  <a:gd name="T2" fmla="*/ 4 w 274"/>
                  <a:gd name="T3" fmla="*/ 1 h 48"/>
                  <a:gd name="T4" fmla="*/ 5 w 274"/>
                  <a:gd name="T5" fmla="*/ 0 h 48"/>
                  <a:gd name="T6" fmla="*/ 5 w 274"/>
                  <a:gd name="T7" fmla="*/ 1 h 48"/>
                  <a:gd name="T8" fmla="*/ 5 w 274"/>
                  <a:gd name="T9" fmla="*/ 1 h 48"/>
                  <a:gd name="T10" fmla="*/ 4 w 274"/>
                  <a:gd name="T11" fmla="*/ 1 h 48"/>
                  <a:gd name="T12" fmla="*/ 4 w 274"/>
                  <a:gd name="T13" fmla="*/ 1 h 48"/>
                  <a:gd name="T14" fmla="*/ 2 w 274"/>
                  <a:gd name="T15" fmla="*/ 1 h 48"/>
                  <a:gd name="T16" fmla="*/ 1 w 274"/>
                  <a:gd name="T17" fmla="*/ 1 h 48"/>
                  <a:gd name="T18" fmla="*/ 0 w 274"/>
                  <a:gd name="T19" fmla="*/ 1 h 48"/>
                  <a:gd name="T20" fmla="*/ 1 w 274"/>
                  <a:gd name="T21" fmla="*/ 1 h 48"/>
                  <a:gd name="T22" fmla="*/ 1 w 274"/>
                  <a:gd name="T23" fmla="*/ 1 h 48"/>
                  <a:gd name="T24" fmla="*/ 1 w 274"/>
                  <a:gd name="T25" fmla="*/ 1 h 48"/>
                  <a:gd name="T26" fmla="*/ 1 w 274"/>
                  <a:gd name="T27" fmla="*/ 1 h 4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74" h="48">
                    <a:moveTo>
                      <a:pt x="17" y="11"/>
                    </a:moveTo>
                    <a:lnTo>
                      <a:pt x="218" y="9"/>
                    </a:lnTo>
                    <a:lnTo>
                      <a:pt x="262" y="0"/>
                    </a:lnTo>
                    <a:lnTo>
                      <a:pt x="274" y="6"/>
                    </a:lnTo>
                    <a:lnTo>
                      <a:pt x="269" y="18"/>
                    </a:lnTo>
                    <a:lnTo>
                      <a:pt x="247" y="32"/>
                    </a:lnTo>
                    <a:lnTo>
                      <a:pt x="224" y="46"/>
                    </a:lnTo>
                    <a:lnTo>
                      <a:pt x="120" y="48"/>
                    </a:lnTo>
                    <a:lnTo>
                      <a:pt x="17" y="44"/>
                    </a:lnTo>
                    <a:lnTo>
                      <a:pt x="0" y="28"/>
                    </a:lnTo>
                    <a:lnTo>
                      <a:pt x="4" y="16"/>
                    </a:lnTo>
                    <a:lnTo>
                      <a:pt x="17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45" name="Freeform 45">
                <a:extLst>
                  <a:ext uri="{FF2B5EF4-FFF2-40B4-BE49-F238E27FC236}">
                    <a16:creationId xmlns:a16="http://schemas.microsoft.com/office/drawing/2014/main" id="{FB00CEE6-14A5-46D6-F356-A4CF02490D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2" y="1497"/>
                <a:ext cx="728" cy="198"/>
              </a:xfrm>
              <a:custGeom>
                <a:avLst/>
                <a:gdLst>
                  <a:gd name="T0" fmla="*/ 1 w 1456"/>
                  <a:gd name="T1" fmla="*/ 6 h 396"/>
                  <a:gd name="T2" fmla="*/ 1 w 1456"/>
                  <a:gd name="T3" fmla="*/ 6 h 396"/>
                  <a:gd name="T4" fmla="*/ 2 w 1456"/>
                  <a:gd name="T5" fmla="*/ 5 h 396"/>
                  <a:gd name="T6" fmla="*/ 4 w 1456"/>
                  <a:gd name="T7" fmla="*/ 5 h 396"/>
                  <a:gd name="T8" fmla="*/ 5 w 1456"/>
                  <a:gd name="T9" fmla="*/ 4 h 396"/>
                  <a:gd name="T10" fmla="*/ 7 w 1456"/>
                  <a:gd name="T11" fmla="*/ 3 h 396"/>
                  <a:gd name="T12" fmla="*/ 8 w 1456"/>
                  <a:gd name="T13" fmla="*/ 3 h 396"/>
                  <a:gd name="T14" fmla="*/ 9 w 1456"/>
                  <a:gd name="T15" fmla="*/ 3 h 396"/>
                  <a:gd name="T16" fmla="*/ 10 w 1456"/>
                  <a:gd name="T17" fmla="*/ 2 h 396"/>
                  <a:gd name="T18" fmla="*/ 12 w 1456"/>
                  <a:gd name="T19" fmla="*/ 2 h 396"/>
                  <a:gd name="T20" fmla="*/ 13 w 1456"/>
                  <a:gd name="T21" fmla="*/ 2 h 396"/>
                  <a:gd name="T22" fmla="*/ 15 w 1456"/>
                  <a:gd name="T23" fmla="*/ 1 h 396"/>
                  <a:gd name="T24" fmla="*/ 17 w 1456"/>
                  <a:gd name="T25" fmla="*/ 1 h 396"/>
                  <a:gd name="T26" fmla="*/ 19 w 1456"/>
                  <a:gd name="T27" fmla="*/ 1 h 396"/>
                  <a:gd name="T28" fmla="*/ 23 w 1456"/>
                  <a:gd name="T29" fmla="*/ 0 h 396"/>
                  <a:gd name="T30" fmla="*/ 23 w 1456"/>
                  <a:gd name="T31" fmla="*/ 1 h 396"/>
                  <a:gd name="T32" fmla="*/ 23 w 1456"/>
                  <a:gd name="T33" fmla="*/ 1 h 396"/>
                  <a:gd name="T34" fmla="*/ 19 w 1456"/>
                  <a:gd name="T35" fmla="*/ 1 h 396"/>
                  <a:gd name="T36" fmla="*/ 17 w 1456"/>
                  <a:gd name="T37" fmla="*/ 1 h 396"/>
                  <a:gd name="T38" fmla="*/ 15 w 1456"/>
                  <a:gd name="T39" fmla="*/ 2 h 396"/>
                  <a:gd name="T40" fmla="*/ 14 w 1456"/>
                  <a:gd name="T41" fmla="*/ 2 h 396"/>
                  <a:gd name="T42" fmla="*/ 12 w 1456"/>
                  <a:gd name="T43" fmla="*/ 3 h 396"/>
                  <a:gd name="T44" fmla="*/ 10 w 1456"/>
                  <a:gd name="T45" fmla="*/ 3 h 396"/>
                  <a:gd name="T46" fmla="*/ 8 w 1456"/>
                  <a:gd name="T47" fmla="*/ 4 h 396"/>
                  <a:gd name="T48" fmla="*/ 7 w 1456"/>
                  <a:gd name="T49" fmla="*/ 4 h 396"/>
                  <a:gd name="T50" fmla="*/ 5 w 1456"/>
                  <a:gd name="T51" fmla="*/ 5 h 396"/>
                  <a:gd name="T52" fmla="*/ 4 w 1456"/>
                  <a:gd name="T53" fmla="*/ 5 h 396"/>
                  <a:gd name="T54" fmla="*/ 2 w 1456"/>
                  <a:gd name="T55" fmla="*/ 6 h 396"/>
                  <a:gd name="T56" fmla="*/ 2 w 1456"/>
                  <a:gd name="T57" fmla="*/ 6 h 396"/>
                  <a:gd name="T58" fmla="*/ 1 w 1456"/>
                  <a:gd name="T59" fmla="*/ 7 h 396"/>
                  <a:gd name="T60" fmla="*/ 0 w 1456"/>
                  <a:gd name="T61" fmla="*/ 7 h 396"/>
                  <a:gd name="T62" fmla="*/ 1 w 1456"/>
                  <a:gd name="T63" fmla="*/ 6 h 396"/>
                  <a:gd name="T64" fmla="*/ 1 w 1456"/>
                  <a:gd name="T65" fmla="*/ 6 h 39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456" h="396">
                    <a:moveTo>
                      <a:pt x="3" y="380"/>
                    </a:moveTo>
                    <a:lnTo>
                      <a:pt x="55" y="343"/>
                    </a:lnTo>
                    <a:lnTo>
                      <a:pt x="104" y="311"/>
                    </a:lnTo>
                    <a:lnTo>
                      <a:pt x="199" y="262"/>
                    </a:lnTo>
                    <a:lnTo>
                      <a:pt x="301" y="223"/>
                    </a:lnTo>
                    <a:lnTo>
                      <a:pt x="419" y="188"/>
                    </a:lnTo>
                    <a:lnTo>
                      <a:pt x="498" y="166"/>
                    </a:lnTo>
                    <a:lnTo>
                      <a:pt x="567" y="143"/>
                    </a:lnTo>
                    <a:lnTo>
                      <a:pt x="636" y="121"/>
                    </a:lnTo>
                    <a:lnTo>
                      <a:pt x="716" y="104"/>
                    </a:lnTo>
                    <a:lnTo>
                      <a:pt x="830" y="76"/>
                    </a:lnTo>
                    <a:lnTo>
                      <a:pt x="947" y="43"/>
                    </a:lnTo>
                    <a:lnTo>
                      <a:pt x="1077" y="17"/>
                    </a:lnTo>
                    <a:lnTo>
                      <a:pt x="1194" y="5"/>
                    </a:lnTo>
                    <a:lnTo>
                      <a:pt x="1446" y="0"/>
                    </a:lnTo>
                    <a:lnTo>
                      <a:pt x="1456" y="10"/>
                    </a:lnTo>
                    <a:lnTo>
                      <a:pt x="1446" y="20"/>
                    </a:lnTo>
                    <a:lnTo>
                      <a:pt x="1200" y="39"/>
                    </a:lnTo>
                    <a:lnTo>
                      <a:pt x="1086" y="63"/>
                    </a:lnTo>
                    <a:lnTo>
                      <a:pt x="958" y="93"/>
                    </a:lnTo>
                    <a:lnTo>
                      <a:pt x="842" y="125"/>
                    </a:lnTo>
                    <a:lnTo>
                      <a:pt x="725" y="152"/>
                    </a:lnTo>
                    <a:lnTo>
                      <a:pt x="578" y="191"/>
                    </a:lnTo>
                    <a:lnTo>
                      <a:pt x="510" y="213"/>
                    </a:lnTo>
                    <a:lnTo>
                      <a:pt x="430" y="235"/>
                    </a:lnTo>
                    <a:lnTo>
                      <a:pt x="313" y="264"/>
                    </a:lnTo>
                    <a:lnTo>
                      <a:pt x="212" y="294"/>
                    </a:lnTo>
                    <a:lnTo>
                      <a:pt x="114" y="334"/>
                    </a:lnTo>
                    <a:lnTo>
                      <a:pt x="66" y="362"/>
                    </a:lnTo>
                    <a:lnTo>
                      <a:pt x="14" y="396"/>
                    </a:lnTo>
                    <a:lnTo>
                      <a:pt x="0" y="394"/>
                    </a:lnTo>
                    <a:lnTo>
                      <a:pt x="3" y="3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46" name="Freeform 46">
                <a:extLst>
                  <a:ext uri="{FF2B5EF4-FFF2-40B4-BE49-F238E27FC236}">
                    <a16:creationId xmlns:a16="http://schemas.microsoft.com/office/drawing/2014/main" id="{7806FFEE-293D-9D19-A0FF-A4E539CB6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4" y="1513"/>
                <a:ext cx="75" cy="112"/>
              </a:xfrm>
              <a:custGeom>
                <a:avLst/>
                <a:gdLst>
                  <a:gd name="T0" fmla="*/ 1 w 149"/>
                  <a:gd name="T1" fmla="*/ 0 h 226"/>
                  <a:gd name="T2" fmla="*/ 1 w 149"/>
                  <a:gd name="T3" fmla="*/ 0 h 226"/>
                  <a:gd name="T4" fmla="*/ 2 w 149"/>
                  <a:gd name="T5" fmla="*/ 1 h 226"/>
                  <a:gd name="T6" fmla="*/ 3 w 149"/>
                  <a:gd name="T7" fmla="*/ 3 h 226"/>
                  <a:gd name="T8" fmla="*/ 3 w 149"/>
                  <a:gd name="T9" fmla="*/ 3 h 226"/>
                  <a:gd name="T10" fmla="*/ 3 w 149"/>
                  <a:gd name="T11" fmla="*/ 3 h 226"/>
                  <a:gd name="T12" fmla="*/ 2 w 149"/>
                  <a:gd name="T13" fmla="*/ 3 h 226"/>
                  <a:gd name="T14" fmla="*/ 2 w 149"/>
                  <a:gd name="T15" fmla="*/ 3 h 226"/>
                  <a:gd name="T16" fmla="*/ 2 w 149"/>
                  <a:gd name="T17" fmla="*/ 2 h 226"/>
                  <a:gd name="T18" fmla="*/ 1 w 149"/>
                  <a:gd name="T19" fmla="*/ 1 h 226"/>
                  <a:gd name="T20" fmla="*/ 1 w 149"/>
                  <a:gd name="T21" fmla="*/ 0 h 226"/>
                  <a:gd name="T22" fmla="*/ 1 w 149"/>
                  <a:gd name="T23" fmla="*/ 0 h 226"/>
                  <a:gd name="T24" fmla="*/ 1 w 149"/>
                  <a:gd name="T25" fmla="*/ 0 h 226"/>
                  <a:gd name="T26" fmla="*/ 0 w 149"/>
                  <a:gd name="T27" fmla="*/ 0 h 226"/>
                  <a:gd name="T28" fmla="*/ 1 w 149"/>
                  <a:gd name="T29" fmla="*/ 0 h 226"/>
                  <a:gd name="T30" fmla="*/ 1 w 149"/>
                  <a:gd name="T31" fmla="*/ 0 h 226"/>
                  <a:gd name="T32" fmla="*/ 1 w 149"/>
                  <a:gd name="T33" fmla="*/ 0 h 226"/>
                  <a:gd name="T34" fmla="*/ 1 w 149"/>
                  <a:gd name="T35" fmla="*/ 0 h 22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49" h="226">
                    <a:moveTo>
                      <a:pt x="16" y="0"/>
                    </a:moveTo>
                    <a:lnTo>
                      <a:pt x="61" y="46"/>
                    </a:lnTo>
                    <a:lnTo>
                      <a:pt x="96" y="89"/>
                    </a:lnTo>
                    <a:lnTo>
                      <a:pt x="149" y="194"/>
                    </a:lnTo>
                    <a:lnTo>
                      <a:pt x="148" y="214"/>
                    </a:lnTo>
                    <a:lnTo>
                      <a:pt x="134" y="226"/>
                    </a:lnTo>
                    <a:lnTo>
                      <a:pt x="115" y="226"/>
                    </a:lnTo>
                    <a:lnTo>
                      <a:pt x="102" y="211"/>
                    </a:lnTo>
                    <a:lnTo>
                      <a:pt x="82" y="155"/>
                    </a:lnTo>
                    <a:lnTo>
                      <a:pt x="64" y="106"/>
                    </a:lnTo>
                    <a:lnTo>
                      <a:pt x="39" y="60"/>
                    </a:lnTo>
                    <a:lnTo>
                      <a:pt x="23" y="37"/>
                    </a:lnTo>
                    <a:lnTo>
                      <a:pt x="2" y="14"/>
                    </a:lnTo>
                    <a:lnTo>
                      <a:pt x="0" y="7"/>
                    </a:lnTo>
                    <a:lnTo>
                      <a:pt x="2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47" name="Freeform 47">
                <a:extLst>
                  <a:ext uri="{FF2B5EF4-FFF2-40B4-BE49-F238E27FC236}">
                    <a16:creationId xmlns:a16="http://schemas.microsoft.com/office/drawing/2014/main" id="{87E73A0F-FE9F-FD53-384A-675866694D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5" y="1609"/>
                <a:ext cx="126" cy="661"/>
              </a:xfrm>
              <a:custGeom>
                <a:avLst/>
                <a:gdLst>
                  <a:gd name="T0" fmla="*/ 4 w 252"/>
                  <a:gd name="T1" fmla="*/ 1 h 1321"/>
                  <a:gd name="T2" fmla="*/ 4 w 252"/>
                  <a:gd name="T3" fmla="*/ 6 h 1321"/>
                  <a:gd name="T4" fmla="*/ 4 w 252"/>
                  <a:gd name="T5" fmla="*/ 7 h 1321"/>
                  <a:gd name="T6" fmla="*/ 3 w 252"/>
                  <a:gd name="T7" fmla="*/ 9 h 1321"/>
                  <a:gd name="T8" fmla="*/ 3 w 252"/>
                  <a:gd name="T9" fmla="*/ 10 h 1321"/>
                  <a:gd name="T10" fmla="*/ 3 w 252"/>
                  <a:gd name="T11" fmla="*/ 11 h 1321"/>
                  <a:gd name="T12" fmla="*/ 2 w 252"/>
                  <a:gd name="T13" fmla="*/ 13 h 1321"/>
                  <a:gd name="T14" fmla="*/ 2 w 252"/>
                  <a:gd name="T15" fmla="*/ 17 h 1321"/>
                  <a:gd name="T16" fmla="*/ 1 w 252"/>
                  <a:gd name="T17" fmla="*/ 21 h 1321"/>
                  <a:gd name="T18" fmla="*/ 1 w 252"/>
                  <a:gd name="T19" fmla="*/ 21 h 1321"/>
                  <a:gd name="T20" fmla="*/ 1 w 252"/>
                  <a:gd name="T21" fmla="*/ 21 h 1321"/>
                  <a:gd name="T22" fmla="*/ 0 w 252"/>
                  <a:gd name="T23" fmla="*/ 21 h 1321"/>
                  <a:gd name="T24" fmla="*/ 1 w 252"/>
                  <a:gd name="T25" fmla="*/ 19 h 1321"/>
                  <a:gd name="T26" fmla="*/ 1 w 252"/>
                  <a:gd name="T27" fmla="*/ 17 h 1321"/>
                  <a:gd name="T28" fmla="*/ 1 w 252"/>
                  <a:gd name="T29" fmla="*/ 15 h 1321"/>
                  <a:gd name="T30" fmla="*/ 2 w 252"/>
                  <a:gd name="T31" fmla="*/ 13 h 1321"/>
                  <a:gd name="T32" fmla="*/ 2 w 252"/>
                  <a:gd name="T33" fmla="*/ 11 h 1321"/>
                  <a:gd name="T34" fmla="*/ 2 w 252"/>
                  <a:gd name="T35" fmla="*/ 10 h 1321"/>
                  <a:gd name="T36" fmla="*/ 3 w 252"/>
                  <a:gd name="T37" fmla="*/ 8 h 1321"/>
                  <a:gd name="T38" fmla="*/ 3 w 252"/>
                  <a:gd name="T39" fmla="*/ 6 h 1321"/>
                  <a:gd name="T40" fmla="*/ 4 w 252"/>
                  <a:gd name="T41" fmla="*/ 1 h 1321"/>
                  <a:gd name="T42" fmla="*/ 4 w 252"/>
                  <a:gd name="T43" fmla="*/ 1 h 1321"/>
                  <a:gd name="T44" fmla="*/ 4 w 252"/>
                  <a:gd name="T45" fmla="*/ 0 h 1321"/>
                  <a:gd name="T46" fmla="*/ 4 w 252"/>
                  <a:gd name="T47" fmla="*/ 1 h 1321"/>
                  <a:gd name="T48" fmla="*/ 4 w 252"/>
                  <a:gd name="T49" fmla="*/ 1 h 1321"/>
                  <a:gd name="T50" fmla="*/ 4 w 252"/>
                  <a:gd name="T51" fmla="*/ 1 h 1321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52" h="1321">
                    <a:moveTo>
                      <a:pt x="252" y="24"/>
                    </a:moveTo>
                    <a:lnTo>
                      <a:pt x="213" y="328"/>
                    </a:lnTo>
                    <a:lnTo>
                      <a:pt x="195" y="424"/>
                    </a:lnTo>
                    <a:lnTo>
                      <a:pt x="176" y="519"/>
                    </a:lnTo>
                    <a:lnTo>
                      <a:pt x="160" y="598"/>
                    </a:lnTo>
                    <a:lnTo>
                      <a:pt x="146" y="669"/>
                    </a:lnTo>
                    <a:lnTo>
                      <a:pt x="119" y="799"/>
                    </a:lnTo>
                    <a:lnTo>
                      <a:pt x="78" y="1083"/>
                    </a:lnTo>
                    <a:lnTo>
                      <a:pt x="49" y="1297"/>
                    </a:lnTo>
                    <a:lnTo>
                      <a:pt x="40" y="1316"/>
                    </a:lnTo>
                    <a:lnTo>
                      <a:pt x="23" y="1321"/>
                    </a:lnTo>
                    <a:lnTo>
                      <a:pt x="0" y="1296"/>
                    </a:lnTo>
                    <a:lnTo>
                      <a:pt x="13" y="1187"/>
                    </a:lnTo>
                    <a:lnTo>
                      <a:pt x="30" y="1078"/>
                    </a:lnTo>
                    <a:lnTo>
                      <a:pt x="49" y="926"/>
                    </a:lnTo>
                    <a:lnTo>
                      <a:pt x="73" y="793"/>
                    </a:lnTo>
                    <a:lnTo>
                      <a:pt x="103" y="661"/>
                    </a:lnTo>
                    <a:lnTo>
                      <a:pt x="118" y="590"/>
                    </a:lnTo>
                    <a:lnTo>
                      <a:pt x="134" y="512"/>
                    </a:lnTo>
                    <a:lnTo>
                      <a:pt x="174" y="322"/>
                    </a:lnTo>
                    <a:lnTo>
                      <a:pt x="210" y="16"/>
                    </a:lnTo>
                    <a:lnTo>
                      <a:pt x="219" y="2"/>
                    </a:lnTo>
                    <a:lnTo>
                      <a:pt x="234" y="0"/>
                    </a:lnTo>
                    <a:lnTo>
                      <a:pt x="252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48" name="Freeform 48">
                <a:extLst>
                  <a:ext uri="{FF2B5EF4-FFF2-40B4-BE49-F238E27FC236}">
                    <a16:creationId xmlns:a16="http://schemas.microsoft.com/office/drawing/2014/main" id="{C17AF7E1-3F86-9E05-E16A-2E17C7D527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2" y="1556"/>
                <a:ext cx="81" cy="598"/>
              </a:xfrm>
              <a:custGeom>
                <a:avLst/>
                <a:gdLst>
                  <a:gd name="T0" fmla="*/ 3 w 162"/>
                  <a:gd name="T1" fmla="*/ 0 h 1197"/>
                  <a:gd name="T2" fmla="*/ 3 w 162"/>
                  <a:gd name="T3" fmla="*/ 2 h 1197"/>
                  <a:gd name="T4" fmla="*/ 3 w 162"/>
                  <a:gd name="T5" fmla="*/ 3 h 1197"/>
                  <a:gd name="T6" fmla="*/ 3 w 162"/>
                  <a:gd name="T7" fmla="*/ 6 h 1197"/>
                  <a:gd name="T8" fmla="*/ 3 w 162"/>
                  <a:gd name="T9" fmla="*/ 9 h 1197"/>
                  <a:gd name="T10" fmla="*/ 2 w 162"/>
                  <a:gd name="T11" fmla="*/ 11 h 1197"/>
                  <a:gd name="T12" fmla="*/ 2 w 162"/>
                  <a:gd name="T13" fmla="*/ 14 h 1197"/>
                  <a:gd name="T14" fmla="*/ 2 w 162"/>
                  <a:gd name="T15" fmla="*/ 15 h 1197"/>
                  <a:gd name="T16" fmla="*/ 1 w 162"/>
                  <a:gd name="T17" fmla="*/ 16 h 1197"/>
                  <a:gd name="T18" fmla="*/ 1 w 162"/>
                  <a:gd name="T19" fmla="*/ 18 h 1197"/>
                  <a:gd name="T20" fmla="*/ 1 w 162"/>
                  <a:gd name="T21" fmla="*/ 18 h 1197"/>
                  <a:gd name="T22" fmla="*/ 0 w 162"/>
                  <a:gd name="T23" fmla="*/ 18 h 1197"/>
                  <a:gd name="T24" fmla="*/ 1 w 162"/>
                  <a:gd name="T25" fmla="*/ 13 h 1197"/>
                  <a:gd name="T26" fmla="*/ 2 w 162"/>
                  <a:gd name="T27" fmla="*/ 9 h 1197"/>
                  <a:gd name="T28" fmla="*/ 2 w 162"/>
                  <a:gd name="T29" fmla="*/ 6 h 1197"/>
                  <a:gd name="T30" fmla="*/ 2 w 162"/>
                  <a:gd name="T31" fmla="*/ 3 h 1197"/>
                  <a:gd name="T32" fmla="*/ 2 w 162"/>
                  <a:gd name="T33" fmla="*/ 2 h 1197"/>
                  <a:gd name="T34" fmla="*/ 3 w 162"/>
                  <a:gd name="T35" fmla="*/ 0 h 1197"/>
                  <a:gd name="T36" fmla="*/ 3 w 162"/>
                  <a:gd name="T37" fmla="*/ 0 h 1197"/>
                  <a:gd name="T38" fmla="*/ 3 w 162"/>
                  <a:gd name="T39" fmla="*/ 0 h 1197"/>
                  <a:gd name="T40" fmla="*/ 3 w 162"/>
                  <a:gd name="T41" fmla="*/ 0 h 1197"/>
                  <a:gd name="T42" fmla="*/ 3 w 162"/>
                  <a:gd name="T43" fmla="*/ 0 h 1197"/>
                  <a:gd name="T44" fmla="*/ 3 w 162"/>
                  <a:gd name="T45" fmla="*/ 0 h 1197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62" h="1197">
                    <a:moveTo>
                      <a:pt x="162" y="16"/>
                    </a:moveTo>
                    <a:lnTo>
                      <a:pt x="161" y="164"/>
                    </a:lnTo>
                    <a:lnTo>
                      <a:pt x="155" y="221"/>
                    </a:lnTo>
                    <a:lnTo>
                      <a:pt x="144" y="405"/>
                    </a:lnTo>
                    <a:lnTo>
                      <a:pt x="136" y="589"/>
                    </a:lnTo>
                    <a:lnTo>
                      <a:pt x="113" y="746"/>
                    </a:lnTo>
                    <a:lnTo>
                      <a:pt x="86" y="904"/>
                    </a:lnTo>
                    <a:lnTo>
                      <a:pt x="70" y="980"/>
                    </a:lnTo>
                    <a:lnTo>
                      <a:pt x="52" y="1046"/>
                    </a:lnTo>
                    <a:lnTo>
                      <a:pt x="19" y="1188"/>
                    </a:lnTo>
                    <a:lnTo>
                      <a:pt x="8" y="1197"/>
                    </a:lnTo>
                    <a:lnTo>
                      <a:pt x="0" y="1184"/>
                    </a:lnTo>
                    <a:lnTo>
                      <a:pt x="35" y="895"/>
                    </a:lnTo>
                    <a:lnTo>
                      <a:pt x="85" y="585"/>
                    </a:lnTo>
                    <a:lnTo>
                      <a:pt x="98" y="402"/>
                    </a:lnTo>
                    <a:lnTo>
                      <a:pt x="109" y="219"/>
                    </a:lnTo>
                    <a:lnTo>
                      <a:pt x="113" y="164"/>
                    </a:lnTo>
                    <a:lnTo>
                      <a:pt x="129" y="17"/>
                    </a:lnTo>
                    <a:lnTo>
                      <a:pt x="133" y="5"/>
                    </a:lnTo>
                    <a:lnTo>
                      <a:pt x="144" y="0"/>
                    </a:lnTo>
                    <a:lnTo>
                      <a:pt x="162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49" name="Freeform 49">
                <a:extLst>
                  <a:ext uri="{FF2B5EF4-FFF2-40B4-BE49-F238E27FC236}">
                    <a16:creationId xmlns:a16="http://schemas.microsoft.com/office/drawing/2014/main" id="{F529904C-4F0B-E279-7312-84CD45DF0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1" y="1712"/>
                <a:ext cx="140" cy="557"/>
              </a:xfrm>
              <a:custGeom>
                <a:avLst/>
                <a:gdLst>
                  <a:gd name="T0" fmla="*/ 1 w 280"/>
                  <a:gd name="T1" fmla="*/ 0 h 1115"/>
                  <a:gd name="T2" fmla="*/ 1 w 280"/>
                  <a:gd name="T3" fmla="*/ 2 h 1115"/>
                  <a:gd name="T4" fmla="*/ 1 w 280"/>
                  <a:gd name="T5" fmla="*/ 3 h 1115"/>
                  <a:gd name="T6" fmla="*/ 2 w 280"/>
                  <a:gd name="T7" fmla="*/ 4 h 1115"/>
                  <a:gd name="T8" fmla="*/ 2 w 280"/>
                  <a:gd name="T9" fmla="*/ 5 h 1115"/>
                  <a:gd name="T10" fmla="*/ 2 w 280"/>
                  <a:gd name="T11" fmla="*/ 6 h 1115"/>
                  <a:gd name="T12" fmla="*/ 2 w 280"/>
                  <a:gd name="T13" fmla="*/ 7 h 1115"/>
                  <a:gd name="T14" fmla="*/ 3 w 280"/>
                  <a:gd name="T15" fmla="*/ 8 h 1115"/>
                  <a:gd name="T16" fmla="*/ 4 w 280"/>
                  <a:gd name="T17" fmla="*/ 13 h 1115"/>
                  <a:gd name="T18" fmla="*/ 5 w 280"/>
                  <a:gd name="T19" fmla="*/ 16 h 1115"/>
                  <a:gd name="T20" fmla="*/ 5 w 280"/>
                  <a:gd name="T21" fmla="*/ 17 h 1115"/>
                  <a:gd name="T22" fmla="*/ 5 w 280"/>
                  <a:gd name="T23" fmla="*/ 17 h 1115"/>
                  <a:gd name="T24" fmla="*/ 4 w 280"/>
                  <a:gd name="T25" fmla="*/ 17 h 1115"/>
                  <a:gd name="T26" fmla="*/ 4 w 280"/>
                  <a:gd name="T27" fmla="*/ 17 h 1115"/>
                  <a:gd name="T28" fmla="*/ 4 w 280"/>
                  <a:gd name="T29" fmla="*/ 16 h 1115"/>
                  <a:gd name="T30" fmla="*/ 4 w 280"/>
                  <a:gd name="T31" fmla="*/ 15 h 1115"/>
                  <a:gd name="T32" fmla="*/ 4 w 280"/>
                  <a:gd name="T33" fmla="*/ 14 h 1115"/>
                  <a:gd name="T34" fmla="*/ 3 w 280"/>
                  <a:gd name="T35" fmla="*/ 13 h 1115"/>
                  <a:gd name="T36" fmla="*/ 2 w 280"/>
                  <a:gd name="T37" fmla="*/ 8 h 1115"/>
                  <a:gd name="T38" fmla="*/ 2 w 280"/>
                  <a:gd name="T39" fmla="*/ 7 h 1115"/>
                  <a:gd name="T40" fmla="*/ 2 w 280"/>
                  <a:gd name="T41" fmla="*/ 6 h 1115"/>
                  <a:gd name="T42" fmla="*/ 1 w 280"/>
                  <a:gd name="T43" fmla="*/ 4 h 1115"/>
                  <a:gd name="T44" fmla="*/ 0 w 280"/>
                  <a:gd name="T45" fmla="*/ 0 h 1115"/>
                  <a:gd name="T46" fmla="*/ 1 w 280"/>
                  <a:gd name="T47" fmla="*/ 0 h 1115"/>
                  <a:gd name="T48" fmla="*/ 1 w 280"/>
                  <a:gd name="T49" fmla="*/ 0 h 1115"/>
                  <a:gd name="T50" fmla="*/ 1 w 280"/>
                  <a:gd name="T51" fmla="*/ 0 h 1115"/>
                  <a:gd name="T52" fmla="*/ 1 w 280"/>
                  <a:gd name="T53" fmla="*/ 0 h 1115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280" h="1115">
                    <a:moveTo>
                      <a:pt x="20" y="9"/>
                    </a:moveTo>
                    <a:lnTo>
                      <a:pt x="37" y="156"/>
                    </a:lnTo>
                    <a:lnTo>
                      <a:pt x="50" y="221"/>
                    </a:lnTo>
                    <a:lnTo>
                      <a:pt x="65" y="283"/>
                    </a:lnTo>
                    <a:lnTo>
                      <a:pt x="84" y="345"/>
                    </a:lnTo>
                    <a:lnTo>
                      <a:pt x="104" y="409"/>
                    </a:lnTo>
                    <a:lnTo>
                      <a:pt x="126" y="476"/>
                    </a:lnTo>
                    <a:lnTo>
                      <a:pt x="150" y="550"/>
                    </a:lnTo>
                    <a:lnTo>
                      <a:pt x="222" y="854"/>
                    </a:lnTo>
                    <a:lnTo>
                      <a:pt x="278" y="1077"/>
                    </a:lnTo>
                    <a:lnTo>
                      <a:pt x="280" y="1092"/>
                    </a:lnTo>
                    <a:lnTo>
                      <a:pt x="271" y="1115"/>
                    </a:lnTo>
                    <a:lnTo>
                      <a:pt x="250" y="1107"/>
                    </a:lnTo>
                    <a:lnTo>
                      <a:pt x="236" y="1089"/>
                    </a:lnTo>
                    <a:lnTo>
                      <a:pt x="226" y="1029"/>
                    </a:lnTo>
                    <a:lnTo>
                      <a:pt x="213" y="975"/>
                    </a:lnTo>
                    <a:lnTo>
                      <a:pt x="199" y="924"/>
                    </a:lnTo>
                    <a:lnTo>
                      <a:pt x="181" y="865"/>
                    </a:lnTo>
                    <a:lnTo>
                      <a:pt x="119" y="560"/>
                    </a:lnTo>
                    <a:lnTo>
                      <a:pt x="95" y="485"/>
                    </a:lnTo>
                    <a:lnTo>
                      <a:pt x="75" y="416"/>
                    </a:lnTo>
                    <a:lnTo>
                      <a:pt x="41" y="289"/>
                    </a:lnTo>
                    <a:lnTo>
                      <a:pt x="0" y="10"/>
                    </a:lnTo>
                    <a:lnTo>
                      <a:pt x="9" y="0"/>
                    </a:lnTo>
                    <a:lnTo>
                      <a:pt x="20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50" name="Freeform 50">
                <a:extLst>
                  <a:ext uri="{FF2B5EF4-FFF2-40B4-BE49-F238E27FC236}">
                    <a16:creationId xmlns:a16="http://schemas.microsoft.com/office/drawing/2014/main" id="{7B537B1F-09C8-F23B-19EF-D77AAB6342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5" y="2272"/>
                <a:ext cx="458" cy="29"/>
              </a:xfrm>
              <a:custGeom>
                <a:avLst/>
                <a:gdLst>
                  <a:gd name="T0" fmla="*/ 1 w 916"/>
                  <a:gd name="T1" fmla="*/ 1 h 58"/>
                  <a:gd name="T2" fmla="*/ 3 w 916"/>
                  <a:gd name="T3" fmla="*/ 1 h 58"/>
                  <a:gd name="T4" fmla="*/ 4 w 916"/>
                  <a:gd name="T5" fmla="*/ 0 h 58"/>
                  <a:gd name="T6" fmla="*/ 14 w 916"/>
                  <a:gd name="T7" fmla="*/ 1 h 58"/>
                  <a:gd name="T8" fmla="*/ 15 w 916"/>
                  <a:gd name="T9" fmla="*/ 1 h 58"/>
                  <a:gd name="T10" fmla="*/ 15 w 916"/>
                  <a:gd name="T11" fmla="*/ 1 h 58"/>
                  <a:gd name="T12" fmla="*/ 15 w 916"/>
                  <a:gd name="T13" fmla="*/ 1 h 58"/>
                  <a:gd name="T14" fmla="*/ 14 w 916"/>
                  <a:gd name="T15" fmla="*/ 1 h 58"/>
                  <a:gd name="T16" fmla="*/ 9 w 916"/>
                  <a:gd name="T17" fmla="*/ 1 h 58"/>
                  <a:gd name="T18" fmla="*/ 4 w 916"/>
                  <a:gd name="T19" fmla="*/ 1 h 58"/>
                  <a:gd name="T20" fmla="*/ 3 w 916"/>
                  <a:gd name="T21" fmla="*/ 1 h 58"/>
                  <a:gd name="T22" fmla="*/ 1 w 916"/>
                  <a:gd name="T23" fmla="*/ 1 h 58"/>
                  <a:gd name="T24" fmla="*/ 0 w 916"/>
                  <a:gd name="T25" fmla="*/ 1 h 58"/>
                  <a:gd name="T26" fmla="*/ 1 w 916"/>
                  <a:gd name="T27" fmla="*/ 1 h 58"/>
                  <a:gd name="T28" fmla="*/ 1 w 916"/>
                  <a:gd name="T29" fmla="*/ 1 h 58"/>
                  <a:gd name="T30" fmla="*/ 1 w 916"/>
                  <a:gd name="T31" fmla="*/ 1 h 5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916" h="58">
                    <a:moveTo>
                      <a:pt x="11" y="6"/>
                    </a:moveTo>
                    <a:lnTo>
                      <a:pt x="132" y="10"/>
                    </a:lnTo>
                    <a:lnTo>
                      <a:pt x="253" y="0"/>
                    </a:lnTo>
                    <a:lnTo>
                      <a:pt x="891" y="8"/>
                    </a:lnTo>
                    <a:lnTo>
                      <a:pt x="910" y="15"/>
                    </a:lnTo>
                    <a:lnTo>
                      <a:pt x="916" y="33"/>
                    </a:lnTo>
                    <a:lnTo>
                      <a:pt x="910" y="51"/>
                    </a:lnTo>
                    <a:lnTo>
                      <a:pt x="891" y="58"/>
                    </a:lnTo>
                    <a:lnTo>
                      <a:pt x="573" y="51"/>
                    </a:lnTo>
                    <a:lnTo>
                      <a:pt x="253" y="43"/>
                    </a:lnTo>
                    <a:lnTo>
                      <a:pt x="129" y="42"/>
                    </a:lnTo>
                    <a:lnTo>
                      <a:pt x="8" y="27"/>
                    </a:lnTo>
                    <a:lnTo>
                      <a:pt x="0" y="14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51" name="Freeform 51">
                <a:extLst>
                  <a:ext uri="{FF2B5EF4-FFF2-40B4-BE49-F238E27FC236}">
                    <a16:creationId xmlns:a16="http://schemas.microsoft.com/office/drawing/2014/main" id="{A79D4208-F631-0952-57EF-BF5F10205B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2273"/>
                <a:ext cx="86" cy="32"/>
              </a:xfrm>
              <a:custGeom>
                <a:avLst/>
                <a:gdLst>
                  <a:gd name="T0" fmla="*/ 0 w 174"/>
                  <a:gd name="T1" fmla="*/ 1 h 63"/>
                  <a:gd name="T2" fmla="*/ 1 w 174"/>
                  <a:gd name="T3" fmla="*/ 1 h 63"/>
                  <a:gd name="T4" fmla="*/ 2 w 174"/>
                  <a:gd name="T5" fmla="*/ 0 h 63"/>
                  <a:gd name="T6" fmla="*/ 2 w 174"/>
                  <a:gd name="T7" fmla="*/ 1 h 63"/>
                  <a:gd name="T8" fmla="*/ 2 w 174"/>
                  <a:gd name="T9" fmla="*/ 1 h 63"/>
                  <a:gd name="T10" fmla="*/ 1 w 174"/>
                  <a:gd name="T11" fmla="*/ 1 h 63"/>
                  <a:gd name="T12" fmla="*/ 1 w 174"/>
                  <a:gd name="T13" fmla="*/ 1 h 63"/>
                  <a:gd name="T14" fmla="*/ 0 w 174"/>
                  <a:gd name="T15" fmla="*/ 1 h 63"/>
                  <a:gd name="T16" fmla="*/ 0 w 174"/>
                  <a:gd name="T17" fmla="*/ 1 h 63"/>
                  <a:gd name="T18" fmla="*/ 0 w 174"/>
                  <a:gd name="T19" fmla="*/ 1 h 63"/>
                  <a:gd name="T20" fmla="*/ 0 w 174"/>
                  <a:gd name="T21" fmla="*/ 1 h 63"/>
                  <a:gd name="T22" fmla="*/ 0 w 174"/>
                  <a:gd name="T23" fmla="*/ 1 h 63"/>
                  <a:gd name="T24" fmla="*/ 0 w 174"/>
                  <a:gd name="T25" fmla="*/ 1 h 6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74" h="63">
                    <a:moveTo>
                      <a:pt x="18" y="26"/>
                    </a:moveTo>
                    <a:lnTo>
                      <a:pt x="69" y="16"/>
                    </a:lnTo>
                    <a:lnTo>
                      <a:pt x="161" y="0"/>
                    </a:lnTo>
                    <a:lnTo>
                      <a:pt x="174" y="5"/>
                    </a:lnTo>
                    <a:lnTo>
                      <a:pt x="167" y="19"/>
                    </a:lnTo>
                    <a:lnTo>
                      <a:pt x="123" y="39"/>
                    </a:lnTo>
                    <a:lnTo>
                      <a:pt x="80" y="60"/>
                    </a:lnTo>
                    <a:lnTo>
                      <a:pt x="18" y="63"/>
                    </a:lnTo>
                    <a:lnTo>
                      <a:pt x="0" y="45"/>
                    </a:lnTo>
                    <a:lnTo>
                      <a:pt x="4" y="33"/>
                    </a:lnTo>
                    <a:lnTo>
                      <a:pt x="18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52" name="Freeform 52">
                <a:extLst>
                  <a:ext uri="{FF2B5EF4-FFF2-40B4-BE49-F238E27FC236}">
                    <a16:creationId xmlns:a16="http://schemas.microsoft.com/office/drawing/2014/main" id="{0AA188CF-542E-EC8C-F2A7-83574FA09F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1" y="2280"/>
                <a:ext cx="70" cy="94"/>
              </a:xfrm>
              <a:custGeom>
                <a:avLst/>
                <a:gdLst>
                  <a:gd name="T0" fmla="*/ 2 w 139"/>
                  <a:gd name="T1" fmla="*/ 0 h 189"/>
                  <a:gd name="T2" fmla="*/ 3 w 139"/>
                  <a:gd name="T3" fmla="*/ 1 h 189"/>
                  <a:gd name="T4" fmla="*/ 3 w 139"/>
                  <a:gd name="T5" fmla="*/ 1 h 189"/>
                  <a:gd name="T6" fmla="*/ 2 w 139"/>
                  <a:gd name="T7" fmla="*/ 1 h 189"/>
                  <a:gd name="T8" fmla="*/ 2 w 139"/>
                  <a:gd name="T9" fmla="*/ 2 h 189"/>
                  <a:gd name="T10" fmla="*/ 1 w 139"/>
                  <a:gd name="T11" fmla="*/ 2 h 189"/>
                  <a:gd name="T12" fmla="*/ 1 w 139"/>
                  <a:gd name="T13" fmla="*/ 2 h 189"/>
                  <a:gd name="T14" fmla="*/ 0 w 139"/>
                  <a:gd name="T15" fmla="*/ 2 h 189"/>
                  <a:gd name="T16" fmla="*/ 1 w 139"/>
                  <a:gd name="T17" fmla="*/ 2 h 189"/>
                  <a:gd name="T18" fmla="*/ 1 w 139"/>
                  <a:gd name="T19" fmla="*/ 2 h 189"/>
                  <a:gd name="T20" fmla="*/ 2 w 139"/>
                  <a:gd name="T21" fmla="*/ 1 h 189"/>
                  <a:gd name="T22" fmla="*/ 2 w 139"/>
                  <a:gd name="T23" fmla="*/ 0 h 189"/>
                  <a:gd name="T24" fmla="*/ 2 w 139"/>
                  <a:gd name="T25" fmla="*/ 0 h 189"/>
                  <a:gd name="T26" fmla="*/ 2 w 139"/>
                  <a:gd name="T27" fmla="*/ 0 h 189"/>
                  <a:gd name="T28" fmla="*/ 2 w 139"/>
                  <a:gd name="T29" fmla="*/ 0 h 189"/>
                  <a:gd name="T30" fmla="*/ 2 w 139"/>
                  <a:gd name="T31" fmla="*/ 0 h 189"/>
                  <a:gd name="T32" fmla="*/ 2 w 139"/>
                  <a:gd name="T33" fmla="*/ 0 h 18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39" h="189">
                    <a:moveTo>
                      <a:pt x="112" y="13"/>
                    </a:moveTo>
                    <a:lnTo>
                      <a:pt x="139" y="66"/>
                    </a:lnTo>
                    <a:lnTo>
                      <a:pt x="138" y="83"/>
                    </a:lnTo>
                    <a:lnTo>
                      <a:pt x="116" y="123"/>
                    </a:lnTo>
                    <a:lnTo>
                      <a:pt x="88" y="151"/>
                    </a:lnTo>
                    <a:lnTo>
                      <a:pt x="53" y="171"/>
                    </a:lnTo>
                    <a:lnTo>
                      <a:pt x="13" y="189"/>
                    </a:lnTo>
                    <a:lnTo>
                      <a:pt x="0" y="184"/>
                    </a:lnTo>
                    <a:lnTo>
                      <a:pt x="5" y="171"/>
                    </a:lnTo>
                    <a:lnTo>
                      <a:pt x="55" y="132"/>
                    </a:lnTo>
                    <a:lnTo>
                      <a:pt x="86" y="74"/>
                    </a:lnTo>
                    <a:lnTo>
                      <a:pt x="68" y="32"/>
                    </a:lnTo>
                    <a:lnTo>
                      <a:pt x="68" y="13"/>
                    </a:lnTo>
                    <a:lnTo>
                      <a:pt x="81" y="0"/>
                    </a:lnTo>
                    <a:lnTo>
                      <a:pt x="112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53" name="Freeform 53">
                <a:extLst>
                  <a:ext uri="{FF2B5EF4-FFF2-40B4-BE49-F238E27FC236}">
                    <a16:creationId xmlns:a16="http://schemas.microsoft.com/office/drawing/2014/main" id="{302B1D1F-30C9-2439-3F53-56F7C7EBBB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1" y="2366"/>
                <a:ext cx="34" cy="43"/>
              </a:xfrm>
              <a:custGeom>
                <a:avLst/>
                <a:gdLst>
                  <a:gd name="T0" fmla="*/ 1 w 67"/>
                  <a:gd name="T1" fmla="*/ 2 h 86"/>
                  <a:gd name="T2" fmla="*/ 0 w 67"/>
                  <a:gd name="T3" fmla="*/ 1 h 86"/>
                  <a:gd name="T4" fmla="*/ 1 w 67"/>
                  <a:gd name="T5" fmla="*/ 1 h 86"/>
                  <a:gd name="T6" fmla="*/ 1 w 67"/>
                  <a:gd name="T7" fmla="*/ 1 h 86"/>
                  <a:gd name="T8" fmla="*/ 1 w 67"/>
                  <a:gd name="T9" fmla="*/ 0 h 86"/>
                  <a:gd name="T10" fmla="*/ 2 w 67"/>
                  <a:gd name="T11" fmla="*/ 1 h 86"/>
                  <a:gd name="T12" fmla="*/ 1 w 67"/>
                  <a:gd name="T13" fmla="*/ 1 h 86"/>
                  <a:gd name="T14" fmla="*/ 1 w 67"/>
                  <a:gd name="T15" fmla="*/ 1 h 86"/>
                  <a:gd name="T16" fmla="*/ 1 w 67"/>
                  <a:gd name="T17" fmla="*/ 2 h 86"/>
                  <a:gd name="T18" fmla="*/ 1 w 67"/>
                  <a:gd name="T19" fmla="*/ 2 h 86"/>
                  <a:gd name="T20" fmla="*/ 1 w 67"/>
                  <a:gd name="T21" fmla="*/ 2 h 86"/>
                  <a:gd name="T22" fmla="*/ 1 w 67"/>
                  <a:gd name="T23" fmla="*/ 2 h 86"/>
                  <a:gd name="T24" fmla="*/ 1 w 67"/>
                  <a:gd name="T25" fmla="*/ 2 h 8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7" h="86">
                    <a:moveTo>
                      <a:pt x="19" y="81"/>
                    </a:moveTo>
                    <a:lnTo>
                      <a:pt x="0" y="53"/>
                    </a:lnTo>
                    <a:lnTo>
                      <a:pt x="2" y="38"/>
                    </a:lnTo>
                    <a:lnTo>
                      <a:pt x="25" y="16"/>
                    </a:lnTo>
                    <a:lnTo>
                      <a:pt x="52" y="0"/>
                    </a:lnTo>
                    <a:lnTo>
                      <a:pt x="67" y="4"/>
                    </a:lnTo>
                    <a:lnTo>
                      <a:pt x="63" y="19"/>
                    </a:lnTo>
                    <a:lnTo>
                      <a:pt x="35" y="50"/>
                    </a:lnTo>
                    <a:lnTo>
                      <a:pt x="40" y="69"/>
                    </a:lnTo>
                    <a:lnTo>
                      <a:pt x="35" y="86"/>
                    </a:lnTo>
                    <a:lnTo>
                      <a:pt x="19" y="8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54" name="Freeform 54">
                <a:extLst>
                  <a:ext uri="{FF2B5EF4-FFF2-40B4-BE49-F238E27FC236}">
                    <a16:creationId xmlns:a16="http://schemas.microsoft.com/office/drawing/2014/main" id="{868123C1-B38A-9F9D-D76B-03064BF591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3" y="2278"/>
                <a:ext cx="102" cy="62"/>
              </a:xfrm>
              <a:custGeom>
                <a:avLst/>
                <a:gdLst>
                  <a:gd name="T0" fmla="*/ 1 w 203"/>
                  <a:gd name="T1" fmla="*/ 0 h 125"/>
                  <a:gd name="T2" fmla="*/ 1 w 203"/>
                  <a:gd name="T3" fmla="*/ 0 h 125"/>
                  <a:gd name="T4" fmla="*/ 1 w 203"/>
                  <a:gd name="T5" fmla="*/ 0 h 125"/>
                  <a:gd name="T6" fmla="*/ 2 w 203"/>
                  <a:gd name="T7" fmla="*/ 1 h 125"/>
                  <a:gd name="T8" fmla="*/ 2 w 203"/>
                  <a:gd name="T9" fmla="*/ 1 h 125"/>
                  <a:gd name="T10" fmla="*/ 3 w 203"/>
                  <a:gd name="T11" fmla="*/ 1 h 125"/>
                  <a:gd name="T12" fmla="*/ 4 w 203"/>
                  <a:gd name="T13" fmla="*/ 1 h 125"/>
                  <a:gd name="T14" fmla="*/ 4 w 203"/>
                  <a:gd name="T15" fmla="*/ 1 h 125"/>
                  <a:gd name="T16" fmla="*/ 3 w 203"/>
                  <a:gd name="T17" fmla="*/ 1 h 125"/>
                  <a:gd name="T18" fmla="*/ 2 w 203"/>
                  <a:gd name="T19" fmla="*/ 1 h 125"/>
                  <a:gd name="T20" fmla="*/ 1 w 203"/>
                  <a:gd name="T21" fmla="*/ 1 h 125"/>
                  <a:gd name="T22" fmla="*/ 0 w 203"/>
                  <a:gd name="T23" fmla="*/ 0 h 125"/>
                  <a:gd name="T24" fmla="*/ 1 w 203"/>
                  <a:gd name="T25" fmla="*/ 0 h 125"/>
                  <a:gd name="T26" fmla="*/ 1 w 203"/>
                  <a:gd name="T27" fmla="*/ 0 h 125"/>
                  <a:gd name="T28" fmla="*/ 1 w 203"/>
                  <a:gd name="T29" fmla="*/ 0 h 125"/>
                  <a:gd name="T30" fmla="*/ 1 w 203"/>
                  <a:gd name="T31" fmla="*/ 0 h 125"/>
                  <a:gd name="T32" fmla="*/ 1 w 203"/>
                  <a:gd name="T33" fmla="*/ 0 h 12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03" h="125">
                    <a:moveTo>
                      <a:pt x="44" y="19"/>
                    </a:moveTo>
                    <a:lnTo>
                      <a:pt x="50" y="42"/>
                    </a:lnTo>
                    <a:lnTo>
                      <a:pt x="63" y="59"/>
                    </a:lnTo>
                    <a:lnTo>
                      <a:pt x="81" y="71"/>
                    </a:lnTo>
                    <a:lnTo>
                      <a:pt x="101" y="83"/>
                    </a:lnTo>
                    <a:lnTo>
                      <a:pt x="191" y="85"/>
                    </a:lnTo>
                    <a:lnTo>
                      <a:pt x="203" y="94"/>
                    </a:lnTo>
                    <a:lnTo>
                      <a:pt x="195" y="104"/>
                    </a:lnTo>
                    <a:lnTo>
                      <a:pt x="143" y="117"/>
                    </a:lnTo>
                    <a:lnTo>
                      <a:pt x="92" y="125"/>
                    </a:lnTo>
                    <a:lnTo>
                      <a:pt x="31" y="87"/>
                    </a:lnTo>
                    <a:lnTo>
                      <a:pt x="0" y="25"/>
                    </a:lnTo>
                    <a:lnTo>
                      <a:pt x="5" y="7"/>
                    </a:lnTo>
                    <a:lnTo>
                      <a:pt x="20" y="0"/>
                    </a:lnTo>
                    <a:lnTo>
                      <a:pt x="44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55" name="Freeform 55">
                <a:extLst>
                  <a:ext uri="{FF2B5EF4-FFF2-40B4-BE49-F238E27FC236}">
                    <a16:creationId xmlns:a16="http://schemas.microsoft.com/office/drawing/2014/main" id="{02ED58FD-B9FD-D939-B2FA-EC98084624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9" y="2323"/>
                <a:ext cx="16" cy="56"/>
              </a:xfrm>
              <a:custGeom>
                <a:avLst/>
                <a:gdLst>
                  <a:gd name="T0" fmla="*/ 0 w 33"/>
                  <a:gd name="T1" fmla="*/ 1 h 111"/>
                  <a:gd name="T2" fmla="*/ 0 w 33"/>
                  <a:gd name="T3" fmla="*/ 1 h 111"/>
                  <a:gd name="T4" fmla="*/ 0 w 33"/>
                  <a:gd name="T5" fmla="*/ 2 h 111"/>
                  <a:gd name="T6" fmla="*/ 0 w 33"/>
                  <a:gd name="T7" fmla="*/ 2 h 111"/>
                  <a:gd name="T8" fmla="*/ 0 w 33"/>
                  <a:gd name="T9" fmla="*/ 2 h 111"/>
                  <a:gd name="T10" fmla="*/ 0 w 33"/>
                  <a:gd name="T11" fmla="*/ 1 h 111"/>
                  <a:gd name="T12" fmla="*/ 0 w 33"/>
                  <a:gd name="T13" fmla="*/ 1 h 111"/>
                  <a:gd name="T14" fmla="*/ 0 w 33"/>
                  <a:gd name="T15" fmla="*/ 0 h 111"/>
                  <a:gd name="T16" fmla="*/ 0 w 33"/>
                  <a:gd name="T17" fmla="*/ 1 h 111"/>
                  <a:gd name="T18" fmla="*/ 0 w 33"/>
                  <a:gd name="T19" fmla="*/ 1 h 111"/>
                  <a:gd name="T20" fmla="*/ 0 w 33"/>
                  <a:gd name="T21" fmla="*/ 1 h 11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3" h="111">
                    <a:moveTo>
                      <a:pt x="30" y="11"/>
                    </a:moveTo>
                    <a:lnTo>
                      <a:pt x="33" y="47"/>
                    </a:lnTo>
                    <a:lnTo>
                      <a:pt x="27" y="101"/>
                    </a:lnTo>
                    <a:lnTo>
                      <a:pt x="17" y="111"/>
                    </a:lnTo>
                    <a:lnTo>
                      <a:pt x="7" y="101"/>
                    </a:lnTo>
                    <a:lnTo>
                      <a:pt x="0" y="47"/>
                    </a:lnTo>
                    <a:lnTo>
                      <a:pt x="4" y="11"/>
                    </a:lnTo>
                    <a:lnTo>
                      <a:pt x="17" y="0"/>
                    </a:lnTo>
                    <a:lnTo>
                      <a:pt x="30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56" name="Freeform 56">
                <a:extLst>
                  <a:ext uri="{FF2B5EF4-FFF2-40B4-BE49-F238E27FC236}">
                    <a16:creationId xmlns:a16="http://schemas.microsoft.com/office/drawing/2014/main" id="{77549AD4-8F39-D39E-F04C-3FD3301466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2" y="2208"/>
                <a:ext cx="23" cy="47"/>
              </a:xfrm>
              <a:custGeom>
                <a:avLst/>
                <a:gdLst>
                  <a:gd name="T0" fmla="*/ 1 w 44"/>
                  <a:gd name="T1" fmla="*/ 1 h 94"/>
                  <a:gd name="T2" fmla="*/ 1 w 44"/>
                  <a:gd name="T3" fmla="*/ 2 h 94"/>
                  <a:gd name="T4" fmla="*/ 1 w 44"/>
                  <a:gd name="T5" fmla="*/ 2 h 94"/>
                  <a:gd name="T6" fmla="*/ 1 w 44"/>
                  <a:gd name="T7" fmla="*/ 2 h 94"/>
                  <a:gd name="T8" fmla="*/ 0 w 44"/>
                  <a:gd name="T9" fmla="*/ 1 h 94"/>
                  <a:gd name="T10" fmla="*/ 1 w 44"/>
                  <a:gd name="T11" fmla="*/ 1 h 94"/>
                  <a:gd name="T12" fmla="*/ 1 w 44"/>
                  <a:gd name="T13" fmla="*/ 0 h 94"/>
                  <a:gd name="T14" fmla="*/ 1 w 44"/>
                  <a:gd name="T15" fmla="*/ 1 h 94"/>
                  <a:gd name="T16" fmla="*/ 1 w 44"/>
                  <a:gd name="T17" fmla="*/ 1 h 94"/>
                  <a:gd name="T18" fmla="*/ 1 w 44"/>
                  <a:gd name="T19" fmla="*/ 1 h 9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4" h="94">
                    <a:moveTo>
                      <a:pt x="34" y="18"/>
                    </a:moveTo>
                    <a:lnTo>
                      <a:pt x="44" y="81"/>
                    </a:lnTo>
                    <a:lnTo>
                      <a:pt x="38" y="94"/>
                    </a:lnTo>
                    <a:lnTo>
                      <a:pt x="25" y="89"/>
                    </a:lnTo>
                    <a:lnTo>
                      <a:pt x="0" y="20"/>
                    </a:lnTo>
                    <a:lnTo>
                      <a:pt x="4" y="5"/>
                    </a:lnTo>
                    <a:lnTo>
                      <a:pt x="14" y="0"/>
                    </a:lnTo>
                    <a:lnTo>
                      <a:pt x="34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57" name="Freeform 57">
                <a:extLst>
                  <a:ext uri="{FF2B5EF4-FFF2-40B4-BE49-F238E27FC236}">
                    <a16:creationId xmlns:a16="http://schemas.microsoft.com/office/drawing/2014/main" id="{CEC1AB68-2D6E-3E14-35C4-716E79F9B6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4" y="2180"/>
                <a:ext cx="405" cy="39"/>
              </a:xfrm>
              <a:custGeom>
                <a:avLst/>
                <a:gdLst>
                  <a:gd name="T0" fmla="*/ 1 w 808"/>
                  <a:gd name="T1" fmla="*/ 0 h 80"/>
                  <a:gd name="T2" fmla="*/ 2 w 808"/>
                  <a:gd name="T3" fmla="*/ 0 h 80"/>
                  <a:gd name="T4" fmla="*/ 7 w 808"/>
                  <a:gd name="T5" fmla="*/ 0 h 80"/>
                  <a:gd name="T6" fmla="*/ 10 w 808"/>
                  <a:gd name="T7" fmla="*/ 0 h 80"/>
                  <a:gd name="T8" fmla="*/ 13 w 808"/>
                  <a:gd name="T9" fmla="*/ 0 h 80"/>
                  <a:gd name="T10" fmla="*/ 13 w 808"/>
                  <a:gd name="T11" fmla="*/ 0 h 80"/>
                  <a:gd name="T12" fmla="*/ 13 w 808"/>
                  <a:gd name="T13" fmla="*/ 0 h 80"/>
                  <a:gd name="T14" fmla="*/ 7 w 808"/>
                  <a:gd name="T15" fmla="*/ 0 h 80"/>
                  <a:gd name="T16" fmla="*/ 2 w 808"/>
                  <a:gd name="T17" fmla="*/ 1 h 80"/>
                  <a:gd name="T18" fmla="*/ 1 w 808"/>
                  <a:gd name="T19" fmla="*/ 1 h 80"/>
                  <a:gd name="T20" fmla="*/ 0 w 808"/>
                  <a:gd name="T21" fmla="*/ 1 h 80"/>
                  <a:gd name="T22" fmla="*/ 1 w 808"/>
                  <a:gd name="T23" fmla="*/ 0 h 80"/>
                  <a:gd name="T24" fmla="*/ 1 w 808"/>
                  <a:gd name="T25" fmla="*/ 0 h 80"/>
                  <a:gd name="T26" fmla="*/ 1 w 808"/>
                  <a:gd name="T27" fmla="*/ 0 h 8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808" h="80">
                    <a:moveTo>
                      <a:pt x="1" y="58"/>
                    </a:moveTo>
                    <a:lnTo>
                      <a:pt x="81" y="50"/>
                    </a:lnTo>
                    <a:lnTo>
                      <a:pt x="410" y="13"/>
                    </a:lnTo>
                    <a:lnTo>
                      <a:pt x="605" y="0"/>
                    </a:lnTo>
                    <a:lnTo>
                      <a:pt x="799" y="4"/>
                    </a:lnTo>
                    <a:lnTo>
                      <a:pt x="808" y="14"/>
                    </a:lnTo>
                    <a:lnTo>
                      <a:pt x="799" y="24"/>
                    </a:lnTo>
                    <a:lnTo>
                      <a:pt x="395" y="47"/>
                    </a:lnTo>
                    <a:lnTo>
                      <a:pt x="82" y="76"/>
                    </a:lnTo>
                    <a:lnTo>
                      <a:pt x="16" y="80"/>
                    </a:lnTo>
                    <a:lnTo>
                      <a:pt x="0" y="71"/>
                    </a:lnTo>
                    <a:lnTo>
                      <a:pt x="1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58" name="Freeform 58">
                <a:extLst>
                  <a:ext uri="{FF2B5EF4-FFF2-40B4-BE49-F238E27FC236}">
                    <a16:creationId xmlns:a16="http://schemas.microsoft.com/office/drawing/2014/main" id="{A40EB404-BFAC-D1D5-1F35-CAC0413D86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7" y="2181"/>
                <a:ext cx="16" cy="54"/>
              </a:xfrm>
              <a:custGeom>
                <a:avLst/>
                <a:gdLst>
                  <a:gd name="T0" fmla="*/ 1 w 32"/>
                  <a:gd name="T1" fmla="*/ 1 h 106"/>
                  <a:gd name="T2" fmla="*/ 1 w 32"/>
                  <a:gd name="T3" fmla="*/ 2 h 106"/>
                  <a:gd name="T4" fmla="*/ 1 w 32"/>
                  <a:gd name="T5" fmla="*/ 2 h 106"/>
                  <a:gd name="T6" fmla="*/ 1 w 32"/>
                  <a:gd name="T7" fmla="*/ 2 h 106"/>
                  <a:gd name="T8" fmla="*/ 0 w 32"/>
                  <a:gd name="T9" fmla="*/ 1 h 106"/>
                  <a:gd name="T10" fmla="*/ 1 w 32"/>
                  <a:gd name="T11" fmla="*/ 1 h 106"/>
                  <a:gd name="T12" fmla="*/ 1 w 32"/>
                  <a:gd name="T13" fmla="*/ 0 h 106"/>
                  <a:gd name="T14" fmla="*/ 1 w 32"/>
                  <a:gd name="T15" fmla="*/ 1 h 106"/>
                  <a:gd name="T16" fmla="*/ 1 w 32"/>
                  <a:gd name="T17" fmla="*/ 1 h 106"/>
                  <a:gd name="T18" fmla="*/ 1 w 32"/>
                  <a:gd name="T19" fmla="*/ 1 h 10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2" h="106">
                    <a:moveTo>
                      <a:pt x="32" y="16"/>
                    </a:moveTo>
                    <a:lnTo>
                      <a:pt x="26" y="97"/>
                    </a:lnTo>
                    <a:lnTo>
                      <a:pt x="15" y="106"/>
                    </a:lnTo>
                    <a:lnTo>
                      <a:pt x="5" y="97"/>
                    </a:lnTo>
                    <a:lnTo>
                      <a:pt x="0" y="16"/>
                    </a:lnTo>
                    <a:lnTo>
                      <a:pt x="5" y="4"/>
                    </a:lnTo>
                    <a:lnTo>
                      <a:pt x="15" y="0"/>
                    </a:lnTo>
                    <a:lnTo>
                      <a:pt x="32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59" name="Freeform 59">
                <a:extLst>
                  <a:ext uri="{FF2B5EF4-FFF2-40B4-BE49-F238E27FC236}">
                    <a16:creationId xmlns:a16="http://schemas.microsoft.com/office/drawing/2014/main" id="{0DEC2AD3-986B-4118-C44A-E9E24DCE9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2202"/>
                <a:ext cx="15" cy="41"/>
              </a:xfrm>
              <a:custGeom>
                <a:avLst/>
                <a:gdLst>
                  <a:gd name="T0" fmla="*/ 0 w 31"/>
                  <a:gd name="T1" fmla="*/ 1 h 81"/>
                  <a:gd name="T2" fmla="*/ 0 w 31"/>
                  <a:gd name="T3" fmla="*/ 2 h 81"/>
                  <a:gd name="T4" fmla="*/ 0 w 31"/>
                  <a:gd name="T5" fmla="*/ 2 h 81"/>
                  <a:gd name="T6" fmla="*/ 0 w 31"/>
                  <a:gd name="T7" fmla="*/ 2 h 81"/>
                  <a:gd name="T8" fmla="*/ 0 w 31"/>
                  <a:gd name="T9" fmla="*/ 1 h 81"/>
                  <a:gd name="T10" fmla="*/ 0 w 31"/>
                  <a:gd name="T11" fmla="*/ 1 h 81"/>
                  <a:gd name="T12" fmla="*/ 0 w 31"/>
                  <a:gd name="T13" fmla="*/ 0 h 81"/>
                  <a:gd name="T14" fmla="*/ 0 w 31"/>
                  <a:gd name="T15" fmla="*/ 1 h 81"/>
                  <a:gd name="T16" fmla="*/ 0 w 31"/>
                  <a:gd name="T17" fmla="*/ 1 h 81"/>
                  <a:gd name="T18" fmla="*/ 0 w 31"/>
                  <a:gd name="T19" fmla="*/ 1 h 8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1" h="81">
                    <a:moveTo>
                      <a:pt x="31" y="15"/>
                    </a:moveTo>
                    <a:lnTo>
                      <a:pt x="26" y="72"/>
                    </a:lnTo>
                    <a:lnTo>
                      <a:pt x="15" y="81"/>
                    </a:lnTo>
                    <a:lnTo>
                      <a:pt x="7" y="69"/>
                    </a:lnTo>
                    <a:lnTo>
                      <a:pt x="0" y="15"/>
                    </a:lnTo>
                    <a:lnTo>
                      <a:pt x="5" y="4"/>
                    </a:lnTo>
                    <a:lnTo>
                      <a:pt x="15" y="0"/>
                    </a:lnTo>
                    <a:lnTo>
                      <a:pt x="31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60" name="Freeform 60">
                <a:extLst>
                  <a:ext uri="{FF2B5EF4-FFF2-40B4-BE49-F238E27FC236}">
                    <a16:creationId xmlns:a16="http://schemas.microsoft.com/office/drawing/2014/main" id="{56B978F2-B7A2-142A-6A3F-35F1520BF7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8" y="2202"/>
                <a:ext cx="19" cy="40"/>
              </a:xfrm>
              <a:custGeom>
                <a:avLst/>
                <a:gdLst>
                  <a:gd name="T0" fmla="*/ 1 w 38"/>
                  <a:gd name="T1" fmla="*/ 0 h 81"/>
                  <a:gd name="T2" fmla="*/ 1 w 38"/>
                  <a:gd name="T3" fmla="*/ 1 h 81"/>
                  <a:gd name="T4" fmla="*/ 1 w 38"/>
                  <a:gd name="T5" fmla="*/ 1 h 81"/>
                  <a:gd name="T6" fmla="*/ 1 w 38"/>
                  <a:gd name="T7" fmla="*/ 1 h 81"/>
                  <a:gd name="T8" fmla="*/ 0 w 38"/>
                  <a:gd name="T9" fmla="*/ 0 h 81"/>
                  <a:gd name="T10" fmla="*/ 1 w 38"/>
                  <a:gd name="T11" fmla="*/ 0 h 81"/>
                  <a:gd name="T12" fmla="*/ 1 w 38"/>
                  <a:gd name="T13" fmla="*/ 0 h 81"/>
                  <a:gd name="T14" fmla="*/ 1 w 38"/>
                  <a:gd name="T15" fmla="*/ 0 h 81"/>
                  <a:gd name="T16" fmla="*/ 1 w 38"/>
                  <a:gd name="T17" fmla="*/ 0 h 81"/>
                  <a:gd name="T18" fmla="*/ 1 w 38"/>
                  <a:gd name="T19" fmla="*/ 0 h 8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8" h="81">
                    <a:moveTo>
                      <a:pt x="38" y="11"/>
                    </a:moveTo>
                    <a:lnTo>
                      <a:pt x="32" y="64"/>
                    </a:lnTo>
                    <a:lnTo>
                      <a:pt x="22" y="81"/>
                    </a:lnTo>
                    <a:lnTo>
                      <a:pt x="12" y="68"/>
                    </a:lnTo>
                    <a:lnTo>
                      <a:pt x="0" y="10"/>
                    </a:lnTo>
                    <a:lnTo>
                      <a:pt x="7" y="1"/>
                    </a:lnTo>
                    <a:lnTo>
                      <a:pt x="19" y="0"/>
                    </a:lnTo>
                    <a:lnTo>
                      <a:pt x="38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61" name="Freeform 61">
                <a:extLst>
                  <a:ext uri="{FF2B5EF4-FFF2-40B4-BE49-F238E27FC236}">
                    <a16:creationId xmlns:a16="http://schemas.microsoft.com/office/drawing/2014/main" id="{2E844FA4-088F-3C32-234E-DB02EC68DB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2199"/>
                <a:ext cx="17" cy="43"/>
              </a:xfrm>
              <a:custGeom>
                <a:avLst/>
                <a:gdLst>
                  <a:gd name="T0" fmla="*/ 0 w 36"/>
                  <a:gd name="T1" fmla="*/ 1 h 85"/>
                  <a:gd name="T2" fmla="*/ 0 w 36"/>
                  <a:gd name="T3" fmla="*/ 2 h 85"/>
                  <a:gd name="T4" fmla="*/ 0 w 36"/>
                  <a:gd name="T5" fmla="*/ 2 h 85"/>
                  <a:gd name="T6" fmla="*/ 0 w 36"/>
                  <a:gd name="T7" fmla="*/ 2 h 85"/>
                  <a:gd name="T8" fmla="*/ 0 w 36"/>
                  <a:gd name="T9" fmla="*/ 1 h 85"/>
                  <a:gd name="T10" fmla="*/ 0 w 36"/>
                  <a:gd name="T11" fmla="*/ 1 h 85"/>
                  <a:gd name="T12" fmla="*/ 0 w 36"/>
                  <a:gd name="T13" fmla="*/ 0 h 85"/>
                  <a:gd name="T14" fmla="*/ 0 w 36"/>
                  <a:gd name="T15" fmla="*/ 1 h 85"/>
                  <a:gd name="T16" fmla="*/ 0 w 36"/>
                  <a:gd name="T17" fmla="*/ 1 h 85"/>
                  <a:gd name="T18" fmla="*/ 0 w 36"/>
                  <a:gd name="T19" fmla="*/ 1 h 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6" h="85">
                    <a:moveTo>
                      <a:pt x="36" y="17"/>
                    </a:moveTo>
                    <a:lnTo>
                      <a:pt x="32" y="70"/>
                    </a:lnTo>
                    <a:lnTo>
                      <a:pt x="21" y="85"/>
                    </a:lnTo>
                    <a:lnTo>
                      <a:pt x="8" y="73"/>
                    </a:lnTo>
                    <a:lnTo>
                      <a:pt x="0" y="17"/>
                    </a:lnTo>
                    <a:lnTo>
                      <a:pt x="5" y="6"/>
                    </a:lnTo>
                    <a:lnTo>
                      <a:pt x="18" y="0"/>
                    </a:lnTo>
                    <a:lnTo>
                      <a:pt x="36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62" name="Freeform 62">
                <a:extLst>
                  <a:ext uri="{FF2B5EF4-FFF2-40B4-BE49-F238E27FC236}">
                    <a16:creationId xmlns:a16="http://schemas.microsoft.com/office/drawing/2014/main" id="{7B7BEF53-054C-9838-1D93-25BC3EBA18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5" y="2204"/>
                <a:ext cx="19" cy="45"/>
              </a:xfrm>
              <a:custGeom>
                <a:avLst/>
                <a:gdLst>
                  <a:gd name="T0" fmla="*/ 1 w 38"/>
                  <a:gd name="T1" fmla="*/ 0 h 91"/>
                  <a:gd name="T2" fmla="*/ 1 w 38"/>
                  <a:gd name="T3" fmla="*/ 0 h 91"/>
                  <a:gd name="T4" fmla="*/ 1 w 38"/>
                  <a:gd name="T5" fmla="*/ 1 h 91"/>
                  <a:gd name="T6" fmla="*/ 1 w 38"/>
                  <a:gd name="T7" fmla="*/ 1 h 91"/>
                  <a:gd name="T8" fmla="*/ 1 w 38"/>
                  <a:gd name="T9" fmla="*/ 1 h 91"/>
                  <a:gd name="T10" fmla="*/ 1 w 38"/>
                  <a:gd name="T11" fmla="*/ 0 h 91"/>
                  <a:gd name="T12" fmla="*/ 0 w 38"/>
                  <a:gd name="T13" fmla="*/ 0 h 91"/>
                  <a:gd name="T14" fmla="*/ 1 w 38"/>
                  <a:gd name="T15" fmla="*/ 0 h 91"/>
                  <a:gd name="T16" fmla="*/ 1 w 38"/>
                  <a:gd name="T17" fmla="*/ 0 h 91"/>
                  <a:gd name="T18" fmla="*/ 1 w 38"/>
                  <a:gd name="T19" fmla="*/ 0 h 91"/>
                  <a:gd name="T20" fmla="*/ 1 w 38"/>
                  <a:gd name="T21" fmla="*/ 0 h 91"/>
                  <a:gd name="T22" fmla="*/ 1 w 38"/>
                  <a:gd name="T23" fmla="*/ 0 h 9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8" h="91">
                    <a:moveTo>
                      <a:pt x="38" y="14"/>
                    </a:moveTo>
                    <a:lnTo>
                      <a:pt x="36" y="40"/>
                    </a:lnTo>
                    <a:lnTo>
                      <a:pt x="36" y="81"/>
                    </a:lnTo>
                    <a:lnTo>
                      <a:pt x="26" y="91"/>
                    </a:lnTo>
                    <a:lnTo>
                      <a:pt x="15" y="81"/>
                    </a:lnTo>
                    <a:lnTo>
                      <a:pt x="5" y="42"/>
                    </a:lnTo>
                    <a:lnTo>
                      <a:pt x="0" y="13"/>
                    </a:lnTo>
                    <a:lnTo>
                      <a:pt x="5" y="3"/>
                    </a:lnTo>
                    <a:lnTo>
                      <a:pt x="19" y="0"/>
                    </a:lnTo>
                    <a:lnTo>
                      <a:pt x="38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63" name="Freeform 63">
                <a:extLst>
                  <a:ext uri="{FF2B5EF4-FFF2-40B4-BE49-F238E27FC236}">
                    <a16:creationId xmlns:a16="http://schemas.microsoft.com/office/drawing/2014/main" id="{E232D63A-5C19-C74A-88C3-5B94A8F36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7" y="1636"/>
                <a:ext cx="146" cy="62"/>
              </a:xfrm>
              <a:custGeom>
                <a:avLst/>
                <a:gdLst>
                  <a:gd name="T0" fmla="*/ 1 w 291"/>
                  <a:gd name="T1" fmla="*/ 0 h 123"/>
                  <a:gd name="T2" fmla="*/ 3 w 291"/>
                  <a:gd name="T3" fmla="*/ 1 h 123"/>
                  <a:gd name="T4" fmla="*/ 4 w 291"/>
                  <a:gd name="T5" fmla="*/ 1 h 123"/>
                  <a:gd name="T6" fmla="*/ 5 w 291"/>
                  <a:gd name="T7" fmla="*/ 2 h 123"/>
                  <a:gd name="T8" fmla="*/ 5 w 291"/>
                  <a:gd name="T9" fmla="*/ 2 h 123"/>
                  <a:gd name="T10" fmla="*/ 5 w 291"/>
                  <a:gd name="T11" fmla="*/ 2 h 123"/>
                  <a:gd name="T12" fmla="*/ 5 w 291"/>
                  <a:gd name="T13" fmla="*/ 2 h 123"/>
                  <a:gd name="T14" fmla="*/ 4 w 291"/>
                  <a:gd name="T15" fmla="*/ 2 h 123"/>
                  <a:gd name="T16" fmla="*/ 4 w 291"/>
                  <a:gd name="T17" fmla="*/ 2 h 123"/>
                  <a:gd name="T18" fmla="*/ 4 w 291"/>
                  <a:gd name="T19" fmla="*/ 2 h 123"/>
                  <a:gd name="T20" fmla="*/ 4 w 291"/>
                  <a:gd name="T21" fmla="*/ 1 h 123"/>
                  <a:gd name="T22" fmla="*/ 3 w 291"/>
                  <a:gd name="T23" fmla="*/ 1 h 123"/>
                  <a:gd name="T24" fmla="*/ 3 w 291"/>
                  <a:gd name="T25" fmla="*/ 1 h 123"/>
                  <a:gd name="T26" fmla="*/ 1 w 291"/>
                  <a:gd name="T27" fmla="*/ 1 h 123"/>
                  <a:gd name="T28" fmla="*/ 0 w 291"/>
                  <a:gd name="T29" fmla="*/ 1 h 123"/>
                  <a:gd name="T30" fmla="*/ 1 w 291"/>
                  <a:gd name="T31" fmla="*/ 0 h 123"/>
                  <a:gd name="T32" fmla="*/ 1 w 291"/>
                  <a:gd name="T33" fmla="*/ 0 h 123"/>
                  <a:gd name="T34" fmla="*/ 1 w 291"/>
                  <a:gd name="T35" fmla="*/ 0 h 12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91" h="123">
                    <a:moveTo>
                      <a:pt x="11" y="0"/>
                    </a:moveTo>
                    <a:lnTo>
                      <a:pt x="163" y="7"/>
                    </a:lnTo>
                    <a:lnTo>
                      <a:pt x="228" y="30"/>
                    </a:lnTo>
                    <a:lnTo>
                      <a:pt x="280" y="78"/>
                    </a:lnTo>
                    <a:lnTo>
                      <a:pt x="288" y="93"/>
                    </a:lnTo>
                    <a:lnTo>
                      <a:pt x="291" y="111"/>
                    </a:lnTo>
                    <a:lnTo>
                      <a:pt x="281" y="123"/>
                    </a:lnTo>
                    <a:lnTo>
                      <a:pt x="251" y="116"/>
                    </a:lnTo>
                    <a:lnTo>
                      <a:pt x="241" y="103"/>
                    </a:lnTo>
                    <a:lnTo>
                      <a:pt x="220" y="78"/>
                    </a:lnTo>
                    <a:lnTo>
                      <a:pt x="196" y="57"/>
                    </a:lnTo>
                    <a:lnTo>
                      <a:pt x="170" y="43"/>
                    </a:lnTo>
                    <a:lnTo>
                      <a:pt x="142" y="33"/>
                    </a:lnTo>
                    <a:lnTo>
                      <a:pt x="11" y="21"/>
                    </a:lnTo>
                    <a:lnTo>
                      <a:pt x="0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64" name="Freeform 64">
                <a:extLst>
                  <a:ext uri="{FF2B5EF4-FFF2-40B4-BE49-F238E27FC236}">
                    <a16:creationId xmlns:a16="http://schemas.microsoft.com/office/drawing/2014/main" id="{40B2CF0F-A063-E5A4-E1CC-2DADAC22BE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3" y="1826"/>
                <a:ext cx="116" cy="331"/>
              </a:xfrm>
              <a:custGeom>
                <a:avLst/>
                <a:gdLst>
                  <a:gd name="T0" fmla="*/ 0 w 233"/>
                  <a:gd name="T1" fmla="*/ 1 h 662"/>
                  <a:gd name="T2" fmla="*/ 0 w 233"/>
                  <a:gd name="T3" fmla="*/ 2 h 662"/>
                  <a:gd name="T4" fmla="*/ 1 w 233"/>
                  <a:gd name="T5" fmla="*/ 3 h 662"/>
                  <a:gd name="T6" fmla="*/ 1 w 233"/>
                  <a:gd name="T7" fmla="*/ 4 h 662"/>
                  <a:gd name="T8" fmla="*/ 2 w 233"/>
                  <a:gd name="T9" fmla="*/ 7 h 662"/>
                  <a:gd name="T10" fmla="*/ 3 w 233"/>
                  <a:gd name="T11" fmla="*/ 8 h 662"/>
                  <a:gd name="T12" fmla="*/ 3 w 233"/>
                  <a:gd name="T13" fmla="*/ 10 h 662"/>
                  <a:gd name="T14" fmla="*/ 3 w 233"/>
                  <a:gd name="T15" fmla="*/ 11 h 662"/>
                  <a:gd name="T16" fmla="*/ 3 w 233"/>
                  <a:gd name="T17" fmla="*/ 11 h 662"/>
                  <a:gd name="T18" fmla="*/ 3 w 233"/>
                  <a:gd name="T19" fmla="*/ 11 h 662"/>
                  <a:gd name="T20" fmla="*/ 2 w 233"/>
                  <a:gd name="T21" fmla="*/ 11 h 662"/>
                  <a:gd name="T22" fmla="*/ 2 w 233"/>
                  <a:gd name="T23" fmla="*/ 9 h 662"/>
                  <a:gd name="T24" fmla="*/ 1 w 233"/>
                  <a:gd name="T25" fmla="*/ 7 h 662"/>
                  <a:gd name="T26" fmla="*/ 0 w 233"/>
                  <a:gd name="T27" fmla="*/ 3 h 662"/>
                  <a:gd name="T28" fmla="*/ 0 w 233"/>
                  <a:gd name="T29" fmla="*/ 2 h 662"/>
                  <a:gd name="T30" fmla="*/ 0 w 233"/>
                  <a:gd name="T31" fmla="*/ 1 h 662"/>
                  <a:gd name="T32" fmla="*/ 0 w 233"/>
                  <a:gd name="T33" fmla="*/ 1 h 662"/>
                  <a:gd name="T34" fmla="*/ 0 w 233"/>
                  <a:gd name="T35" fmla="*/ 0 h 662"/>
                  <a:gd name="T36" fmla="*/ 0 w 233"/>
                  <a:gd name="T37" fmla="*/ 1 h 662"/>
                  <a:gd name="T38" fmla="*/ 0 w 233"/>
                  <a:gd name="T39" fmla="*/ 1 h 66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33" h="662">
                    <a:moveTo>
                      <a:pt x="44" y="21"/>
                    </a:moveTo>
                    <a:lnTo>
                      <a:pt x="53" y="102"/>
                    </a:lnTo>
                    <a:lnTo>
                      <a:pt x="67" y="184"/>
                    </a:lnTo>
                    <a:lnTo>
                      <a:pt x="93" y="245"/>
                    </a:lnTo>
                    <a:lnTo>
                      <a:pt x="157" y="403"/>
                    </a:lnTo>
                    <a:lnTo>
                      <a:pt x="192" y="508"/>
                    </a:lnTo>
                    <a:lnTo>
                      <a:pt x="233" y="629"/>
                    </a:lnTo>
                    <a:lnTo>
                      <a:pt x="231" y="650"/>
                    </a:lnTo>
                    <a:lnTo>
                      <a:pt x="215" y="662"/>
                    </a:lnTo>
                    <a:lnTo>
                      <a:pt x="196" y="662"/>
                    </a:lnTo>
                    <a:lnTo>
                      <a:pt x="182" y="645"/>
                    </a:lnTo>
                    <a:lnTo>
                      <a:pt x="145" y="524"/>
                    </a:lnTo>
                    <a:lnTo>
                      <a:pt x="120" y="415"/>
                    </a:lnTo>
                    <a:lnTo>
                      <a:pt x="46" y="189"/>
                    </a:lnTo>
                    <a:lnTo>
                      <a:pt x="20" y="106"/>
                    </a:lnTo>
                    <a:lnTo>
                      <a:pt x="0" y="22"/>
                    </a:lnTo>
                    <a:lnTo>
                      <a:pt x="6" y="5"/>
                    </a:lnTo>
                    <a:lnTo>
                      <a:pt x="21" y="0"/>
                    </a:lnTo>
                    <a:lnTo>
                      <a:pt x="44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65" name="Freeform 65">
                <a:extLst>
                  <a:ext uri="{FF2B5EF4-FFF2-40B4-BE49-F238E27FC236}">
                    <a16:creationId xmlns:a16="http://schemas.microsoft.com/office/drawing/2014/main" id="{980D571A-A8BB-0ED3-8098-E64703C9BD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8" y="2109"/>
                <a:ext cx="416" cy="60"/>
              </a:xfrm>
              <a:custGeom>
                <a:avLst/>
                <a:gdLst>
                  <a:gd name="T0" fmla="*/ 1 w 831"/>
                  <a:gd name="T1" fmla="*/ 1 h 122"/>
                  <a:gd name="T2" fmla="*/ 3 w 831"/>
                  <a:gd name="T3" fmla="*/ 1 h 122"/>
                  <a:gd name="T4" fmla="*/ 5 w 831"/>
                  <a:gd name="T5" fmla="*/ 0 h 122"/>
                  <a:gd name="T6" fmla="*/ 9 w 831"/>
                  <a:gd name="T7" fmla="*/ 0 h 122"/>
                  <a:gd name="T8" fmla="*/ 11 w 831"/>
                  <a:gd name="T9" fmla="*/ 0 h 122"/>
                  <a:gd name="T10" fmla="*/ 13 w 831"/>
                  <a:gd name="T11" fmla="*/ 0 h 122"/>
                  <a:gd name="T12" fmla="*/ 13 w 831"/>
                  <a:gd name="T13" fmla="*/ 0 h 122"/>
                  <a:gd name="T14" fmla="*/ 13 w 831"/>
                  <a:gd name="T15" fmla="*/ 0 h 122"/>
                  <a:gd name="T16" fmla="*/ 13 w 831"/>
                  <a:gd name="T17" fmla="*/ 0 h 122"/>
                  <a:gd name="T18" fmla="*/ 13 w 831"/>
                  <a:gd name="T19" fmla="*/ 0 h 122"/>
                  <a:gd name="T20" fmla="*/ 9 w 831"/>
                  <a:gd name="T21" fmla="*/ 1 h 122"/>
                  <a:gd name="T22" fmla="*/ 8 w 831"/>
                  <a:gd name="T23" fmla="*/ 1 h 122"/>
                  <a:gd name="T24" fmla="*/ 6 w 831"/>
                  <a:gd name="T25" fmla="*/ 1 h 122"/>
                  <a:gd name="T26" fmla="*/ 0 w 831"/>
                  <a:gd name="T27" fmla="*/ 1 h 122"/>
                  <a:gd name="T28" fmla="*/ 1 w 831"/>
                  <a:gd name="T29" fmla="*/ 1 h 122"/>
                  <a:gd name="T30" fmla="*/ 1 w 831"/>
                  <a:gd name="T31" fmla="*/ 1 h 122"/>
                  <a:gd name="T32" fmla="*/ 1 w 831"/>
                  <a:gd name="T33" fmla="*/ 1 h 122"/>
                  <a:gd name="T34" fmla="*/ 1 w 831"/>
                  <a:gd name="T35" fmla="*/ 1 h 12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831" h="122">
                    <a:moveTo>
                      <a:pt x="26" y="89"/>
                    </a:moveTo>
                    <a:lnTo>
                      <a:pt x="176" y="69"/>
                    </a:lnTo>
                    <a:lnTo>
                      <a:pt x="318" y="56"/>
                    </a:lnTo>
                    <a:lnTo>
                      <a:pt x="562" y="23"/>
                    </a:lnTo>
                    <a:lnTo>
                      <a:pt x="676" y="8"/>
                    </a:lnTo>
                    <a:lnTo>
                      <a:pt x="805" y="0"/>
                    </a:lnTo>
                    <a:lnTo>
                      <a:pt x="825" y="9"/>
                    </a:lnTo>
                    <a:lnTo>
                      <a:pt x="831" y="26"/>
                    </a:lnTo>
                    <a:lnTo>
                      <a:pt x="825" y="43"/>
                    </a:lnTo>
                    <a:lnTo>
                      <a:pt x="805" y="51"/>
                    </a:lnTo>
                    <a:lnTo>
                      <a:pt x="564" y="70"/>
                    </a:lnTo>
                    <a:lnTo>
                      <a:pt x="451" y="86"/>
                    </a:lnTo>
                    <a:lnTo>
                      <a:pt x="322" y="99"/>
                    </a:lnTo>
                    <a:lnTo>
                      <a:pt x="0" y="122"/>
                    </a:lnTo>
                    <a:lnTo>
                      <a:pt x="3" y="108"/>
                    </a:lnTo>
                    <a:lnTo>
                      <a:pt x="26" y="8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66" name="Freeform 66">
                <a:extLst>
                  <a:ext uri="{FF2B5EF4-FFF2-40B4-BE49-F238E27FC236}">
                    <a16:creationId xmlns:a16="http://schemas.microsoft.com/office/drawing/2014/main" id="{9092959B-DF67-D3A7-476A-28D4A2C3E2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1620"/>
                <a:ext cx="87" cy="515"/>
              </a:xfrm>
              <a:custGeom>
                <a:avLst/>
                <a:gdLst>
                  <a:gd name="T0" fmla="*/ 3 w 172"/>
                  <a:gd name="T1" fmla="*/ 1 h 1030"/>
                  <a:gd name="T2" fmla="*/ 3 w 172"/>
                  <a:gd name="T3" fmla="*/ 2 h 1030"/>
                  <a:gd name="T4" fmla="*/ 3 w 172"/>
                  <a:gd name="T5" fmla="*/ 5 h 1030"/>
                  <a:gd name="T6" fmla="*/ 3 w 172"/>
                  <a:gd name="T7" fmla="*/ 7 h 1030"/>
                  <a:gd name="T8" fmla="*/ 2 w 172"/>
                  <a:gd name="T9" fmla="*/ 9 h 1030"/>
                  <a:gd name="T10" fmla="*/ 2 w 172"/>
                  <a:gd name="T11" fmla="*/ 11 h 1030"/>
                  <a:gd name="T12" fmla="*/ 2 w 172"/>
                  <a:gd name="T13" fmla="*/ 14 h 1030"/>
                  <a:gd name="T14" fmla="*/ 2 w 172"/>
                  <a:gd name="T15" fmla="*/ 15 h 1030"/>
                  <a:gd name="T16" fmla="*/ 1 w 172"/>
                  <a:gd name="T17" fmla="*/ 16 h 1030"/>
                  <a:gd name="T18" fmla="*/ 1 w 172"/>
                  <a:gd name="T19" fmla="*/ 17 h 1030"/>
                  <a:gd name="T20" fmla="*/ 1 w 172"/>
                  <a:gd name="T21" fmla="*/ 17 h 1030"/>
                  <a:gd name="T22" fmla="*/ 0 w 172"/>
                  <a:gd name="T23" fmla="*/ 16 h 1030"/>
                  <a:gd name="T24" fmla="*/ 1 w 172"/>
                  <a:gd name="T25" fmla="*/ 14 h 1030"/>
                  <a:gd name="T26" fmla="*/ 1 w 172"/>
                  <a:gd name="T27" fmla="*/ 11 h 1030"/>
                  <a:gd name="T28" fmla="*/ 1 w 172"/>
                  <a:gd name="T29" fmla="*/ 10 h 1030"/>
                  <a:gd name="T30" fmla="*/ 2 w 172"/>
                  <a:gd name="T31" fmla="*/ 9 h 1030"/>
                  <a:gd name="T32" fmla="*/ 2 w 172"/>
                  <a:gd name="T33" fmla="*/ 7 h 1030"/>
                  <a:gd name="T34" fmla="*/ 3 w 172"/>
                  <a:gd name="T35" fmla="*/ 2 h 1030"/>
                  <a:gd name="T36" fmla="*/ 2 w 172"/>
                  <a:gd name="T37" fmla="*/ 1 h 1030"/>
                  <a:gd name="T38" fmla="*/ 3 w 172"/>
                  <a:gd name="T39" fmla="*/ 1 h 1030"/>
                  <a:gd name="T40" fmla="*/ 3 w 172"/>
                  <a:gd name="T41" fmla="*/ 1 h 1030"/>
                  <a:gd name="T42" fmla="*/ 3 w 172"/>
                  <a:gd name="T43" fmla="*/ 0 h 1030"/>
                  <a:gd name="T44" fmla="*/ 3 w 172"/>
                  <a:gd name="T45" fmla="*/ 1 h 1030"/>
                  <a:gd name="T46" fmla="*/ 3 w 172"/>
                  <a:gd name="T47" fmla="*/ 1 h 1030"/>
                  <a:gd name="T48" fmla="*/ 3 w 172"/>
                  <a:gd name="T49" fmla="*/ 1 h 103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72" h="1030">
                    <a:moveTo>
                      <a:pt x="162" y="14"/>
                    </a:moveTo>
                    <a:lnTo>
                      <a:pt x="172" y="111"/>
                    </a:lnTo>
                    <a:lnTo>
                      <a:pt x="165" y="265"/>
                    </a:lnTo>
                    <a:lnTo>
                      <a:pt x="146" y="398"/>
                    </a:lnTo>
                    <a:lnTo>
                      <a:pt x="120" y="531"/>
                    </a:lnTo>
                    <a:lnTo>
                      <a:pt x="92" y="687"/>
                    </a:lnTo>
                    <a:lnTo>
                      <a:pt x="72" y="852"/>
                    </a:lnTo>
                    <a:lnTo>
                      <a:pt x="65" y="930"/>
                    </a:lnTo>
                    <a:lnTo>
                      <a:pt x="51" y="1009"/>
                    </a:lnTo>
                    <a:lnTo>
                      <a:pt x="40" y="1026"/>
                    </a:lnTo>
                    <a:lnTo>
                      <a:pt x="21" y="1030"/>
                    </a:lnTo>
                    <a:lnTo>
                      <a:pt x="0" y="1001"/>
                    </a:lnTo>
                    <a:lnTo>
                      <a:pt x="18" y="849"/>
                    </a:lnTo>
                    <a:lnTo>
                      <a:pt x="40" y="678"/>
                    </a:lnTo>
                    <a:lnTo>
                      <a:pt x="56" y="597"/>
                    </a:lnTo>
                    <a:lnTo>
                      <a:pt x="71" y="524"/>
                    </a:lnTo>
                    <a:lnTo>
                      <a:pt x="101" y="389"/>
                    </a:lnTo>
                    <a:lnTo>
                      <a:pt x="134" y="101"/>
                    </a:lnTo>
                    <a:lnTo>
                      <a:pt x="123" y="44"/>
                    </a:lnTo>
                    <a:lnTo>
                      <a:pt x="129" y="21"/>
                    </a:lnTo>
                    <a:lnTo>
                      <a:pt x="143" y="4"/>
                    </a:lnTo>
                    <a:lnTo>
                      <a:pt x="156" y="0"/>
                    </a:lnTo>
                    <a:lnTo>
                      <a:pt x="162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67" name="Freeform 67">
                <a:extLst>
                  <a:ext uri="{FF2B5EF4-FFF2-40B4-BE49-F238E27FC236}">
                    <a16:creationId xmlns:a16="http://schemas.microsoft.com/office/drawing/2014/main" id="{512FF649-CC47-73BB-A4DD-ABF65C22D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2" y="1615"/>
                <a:ext cx="568" cy="155"/>
              </a:xfrm>
              <a:custGeom>
                <a:avLst/>
                <a:gdLst>
                  <a:gd name="T0" fmla="*/ 17 w 1137"/>
                  <a:gd name="T1" fmla="*/ 0 h 312"/>
                  <a:gd name="T2" fmla="*/ 15 w 1137"/>
                  <a:gd name="T3" fmla="*/ 0 h 312"/>
                  <a:gd name="T4" fmla="*/ 13 w 1137"/>
                  <a:gd name="T5" fmla="*/ 0 h 312"/>
                  <a:gd name="T6" fmla="*/ 9 w 1137"/>
                  <a:gd name="T7" fmla="*/ 1 h 312"/>
                  <a:gd name="T8" fmla="*/ 7 w 1137"/>
                  <a:gd name="T9" fmla="*/ 2 h 312"/>
                  <a:gd name="T10" fmla="*/ 5 w 1137"/>
                  <a:gd name="T11" fmla="*/ 2 h 312"/>
                  <a:gd name="T12" fmla="*/ 3 w 1137"/>
                  <a:gd name="T13" fmla="*/ 3 h 312"/>
                  <a:gd name="T14" fmla="*/ 2 w 1137"/>
                  <a:gd name="T15" fmla="*/ 3 h 312"/>
                  <a:gd name="T16" fmla="*/ 1 w 1137"/>
                  <a:gd name="T17" fmla="*/ 3 h 312"/>
                  <a:gd name="T18" fmla="*/ 0 w 1137"/>
                  <a:gd name="T19" fmla="*/ 4 h 312"/>
                  <a:gd name="T20" fmla="*/ 0 w 1137"/>
                  <a:gd name="T21" fmla="*/ 4 h 312"/>
                  <a:gd name="T22" fmla="*/ 0 w 1137"/>
                  <a:gd name="T23" fmla="*/ 4 h 312"/>
                  <a:gd name="T24" fmla="*/ 0 w 1137"/>
                  <a:gd name="T25" fmla="*/ 4 h 312"/>
                  <a:gd name="T26" fmla="*/ 0 w 1137"/>
                  <a:gd name="T27" fmla="*/ 4 h 312"/>
                  <a:gd name="T28" fmla="*/ 0 w 1137"/>
                  <a:gd name="T29" fmla="*/ 3 h 312"/>
                  <a:gd name="T30" fmla="*/ 1 w 1137"/>
                  <a:gd name="T31" fmla="*/ 3 h 312"/>
                  <a:gd name="T32" fmla="*/ 2 w 1137"/>
                  <a:gd name="T33" fmla="*/ 2 h 312"/>
                  <a:gd name="T34" fmla="*/ 3 w 1137"/>
                  <a:gd name="T35" fmla="*/ 2 h 312"/>
                  <a:gd name="T36" fmla="*/ 5 w 1137"/>
                  <a:gd name="T37" fmla="*/ 2 h 312"/>
                  <a:gd name="T38" fmla="*/ 7 w 1137"/>
                  <a:gd name="T39" fmla="*/ 1 h 312"/>
                  <a:gd name="T40" fmla="*/ 9 w 1137"/>
                  <a:gd name="T41" fmla="*/ 0 h 312"/>
                  <a:gd name="T42" fmla="*/ 13 w 1137"/>
                  <a:gd name="T43" fmla="*/ 0 h 312"/>
                  <a:gd name="T44" fmla="*/ 15 w 1137"/>
                  <a:gd name="T45" fmla="*/ 0 h 312"/>
                  <a:gd name="T46" fmla="*/ 17 w 1137"/>
                  <a:gd name="T47" fmla="*/ 0 h 312"/>
                  <a:gd name="T48" fmla="*/ 17 w 1137"/>
                  <a:gd name="T49" fmla="*/ 0 h 312"/>
                  <a:gd name="T50" fmla="*/ 17 w 1137"/>
                  <a:gd name="T51" fmla="*/ 0 h 312"/>
                  <a:gd name="T52" fmla="*/ 17 w 1137"/>
                  <a:gd name="T53" fmla="*/ 0 h 31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137" h="312">
                    <a:moveTo>
                      <a:pt x="1128" y="21"/>
                    </a:moveTo>
                    <a:lnTo>
                      <a:pt x="989" y="41"/>
                    </a:lnTo>
                    <a:lnTo>
                      <a:pt x="867" y="57"/>
                    </a:lnTo>
                    <a:lnTo>
                      <a:pt x="609" y="97"/>
                    </a:lnTo>
                    <a:lnTo>
                      <a:pt x="470" y="132"/>
                    </a:lnTo>
                    <a:lnTo>
                      <a:pt x="336" y="174"/>
                    </a:lnTo>
                    <a:lnTo>
                      <a:pt x="250" y="197"/>
                    </a:lnTo>
                    <a:lnTo>
                      <a:pt x="175" y="219"/>
                    </a:lnTo>
                    <a:lnTo>
                      <a:pt x="107" y="252"/>
                    </a:lnTo>
                    <a:lnTo>
                      <a:pt x="38" y="304"/>
                    </a:lnTo>
                    <a:lnTo>
                      <a:pt x="22" y="312"/>
                    </a:lnTo>
                    <a:lnTo>
                      <a:pt x="7" y="304"/>
                    </a:lnTo>
                    <a:lnTo>
                      <a:pt x="0" y="290"/>
                    </a:lnTo>
                    <a:lnTo>
                      <a:pt x="7" y="274"/>
                    </a:lnTo>
                    <a:lnTo>
                      <a:pt x="43" y="242"/>
                    </a:lnTo>
                    <a:lnTo>
                      <a:pt x="79" y="217"/>
                    </a:lnTo>
                    <a:lnTo>
                      <a:pt x="152" y="181"/>
                    </a:lnTo>
                    <a:lnTo>
                      <a:pt x="232" y="156"/>
                    </a:lnTo>
                    <a:lnTo>
                      <a:pt x="323" y="132"/>
                    </a:lnTo>
                    <a:lnTo>
                      <a:pt x="460" y="90"/>
                    </a:lnTo>
                    <a:lnTo>
                      <a:pt x="600" y="56"/>
                    </a:lnTo>
                    <a:lnTo>
                      <a:pt x="856" y="14"/>
                    </a:lnTo>
                    <a:lnTo>
                      <a:pt x="979" y="4"/>
                    </a:lnTo>
                    <a:lnTo>
                      <a:pt x="1124" y="0"/>
                    </a:lnTo>
                    <a:lnTo>
                      <a:pt x="1137" y="9"/>
                    </a:lnTo>
                    <a:lnTo>
                      <a:pt x="1128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68" name="Freeform 68">
                <a:extLst>
                  <a:ext uri="{FF2B5EF4-FFF2-40B4-BE49-F238E27FC236}">
                    <a16:creationId xmlns:a16="http://schemas.microsoft.com/office/drawing/2014/main" id="{9CC02678-F891-DBFA-A687-1A78329EAF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9" y="1660"/>
                <a:ext cx="232" cy="261"/>
              </a:xfrm>
              <a:custGeom>
                <a:avLst/>
                <a:gdLst>
                  <a:gd name="T0" fmla="*/ 0 w 465"/>
                  <a:gd name="T1" fmla="*/ 9 h 520"/>
                  <a:gd name="T2" fmla="*/ 0 w 465"/>
                  <a:gd name="T3" fmla="*/ 5 h 520"/>
                  <a:gd name="T4" fmla="*/ 0 w 465"/>
                  <a:gd name="T5" fmla="*/ 5 h 520"/>
                  <a:gd name="T6" fmla="*/ 0 w 465"/>
                  <a:gd name="T7" fmla="*/ 4 h 520"/>
                  <a:gd name="T8" fmla="*/ 0 w 465"/>
                  <a:gd name="T9" fmla="*/ 3 h 520"/>
                  <a:gd name="T10" fmla="*/ 1 w 465"/>
                  <a:gd name="T11" fmla="*/ 3 h 520"/>
                  <a:gd name="T12" fmla="*/ 2 w 465"/>
                  <a:gd name="T13" fmla="*/ 2 h 520"/>
                  <a:gd name="T14" fmla="*/ 3 w 465"/>
                  <a:gd name="T15" fmla="*/ 1 h 520"/>
                  <a:gd name="T16" fmla="*/ 4 w 465"/>
                  <a:gd name="T17" fmla="*/ 1 h 520"/>
                  <a:gd name="T18" fmla="*/ 5 w 465"/>
                  <a:gd name="T19" fmla="*/ 1 h 520"/>
                  <a:gd name="T20" fmla="*/ 7 w 465"/>
                  <a:gd name="T21" fmla="*/ 0 h 520"/>
                  <a:gd name="T22" fmla="*/ 7 w 465"/>
                  <a:gd name="T23" fmla="*/ 1 h 520"/>
                  <a:gd name="T24" fmla="*/ 7 w 465"/>
                  <a:gd name="T25" fmla="*/ 1 h 520"/>
                  <a:gd name="T26" fmla="*/ 5 w 465"/>
                  <a:gd name="T27" fmla="*/ 1 h 520"/>
                  <a:gd name="T28" fmla="*/ 4 w 465"/>
                  <a:gd name="T29" fmla="*/ 2 h 520"/>
                  <a:gd name="T30" fmla="*/ 3 w 465"/>
                  <a:gd name="T31" fmla="*/ 2 h 520"/>
                  <a:gd name="T32" fmla="*/ 2 w 465"/>
                  <a:gd name="T33" fmla="*/ 3 h 520"/>
                  <a:gd name="T34" fmla="*/ 1 w 465"/>
                  <a:gd name="T35" fmla="*/ 3 h 520"/>
                  <a:gd name="T36" fmla="*/ 1 w 465"/>
                  <a:gd name="T37" fmla="*/ 4 h 520"/>
                  <a:gd name="T38" fmla="*/ 0 w 465"/>
                  <a:gd name="T39" fmla="*/ 4 h 520"/>
                  <a:gd name="T40" fmla="*/ 0 w 465"/>
                  <a:gd name="T41" fmla="*/ 6 h 520"/>
                  <a:gd name="T42" fmla="*/ 0 w 465"/>
                  <a:gd name="T43" fmla="*/ 7 h 520"/>
                  <a:gd name="T44" fmla="*/ 0 w 465"/>
                  <a:gd name="T45" fmla="*/ 8 h 520"/>
                  <a:gd name="T46" fmla="*/ 0 w 465"/>
                  <a:gd name="T47" fmla="*/ 9 h 520"/>
                  <a:gd name="T48" fmla="*/ 0 w 465"/>
                  <a:gd name="T49" fmla="*/ 9 h 520"/>
                  <a:gd name="T50" fmla="*/ 0 w 465"/>
                  <a:gd name="T51" fmla="*/ 9 h 52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465" h="520">
                    <a:moveTo>
                      <a:pt x="30" y="513"/>
                    </a:moveTo>
                    <a:lnTo>
                      <a:pt x="0" y="306"/>
                    </a:lnTo>
                    <a:lnTo>
                      <a:pt x="5" y="260"/>
                    </a:lnTo>
                    <a:lnTo>
                      <a:pt x="19" y="215"/>
                    </a:lnTo>
                    <a:lnTo>
                      <a:pt x="42" y="173"/>
                    </a:lnTo>
                    <a:lnTo>
                      <a:pt x="75" y="131"/>
                    </a:lnTo>
                    <a:lnTo>
                      <a:pt x="142" y="92"/>
                    </a:lnTo>
                    <a:lnTo>
                      <a:pt x="222" y="62"/>
                    </a:lnTo>
                    <a:lnTo>
                      <a:pt x="294" y="40"/>
                    </a:lnTo>
                    <a:lnTo>
                      <a:pt x="367" y="21"/>
                    </a:lnTo>
                    <a:lnTo>
                      <a:pt x="452" y="0"/>
                    </a:lnTo>
                    <a:lnTo>
                      <a:pt x="465" y="6"/>
                    </a:lnTo>
                    <a:lnTo>
                      <a:pt x="459" y="19"/>
                    </a:lnTo>
                    <a:lnTo>
                      <a:pt x="376" y="45"/>
                    </a:lnTo>
                    <a:lnTo>
                      <a:pt x="308" y="73"/>
                    </a:lnTo>
                    <a:lnTo>
                      <a:pt x="239" y="103"/>
                    </a:lnTo>
                    <a:lnTo>
                      <a:pt x="162" y="138"/>
                    </a:lnTo>
                    <a:lnTo>
                      <a:pt x="110" y="168"/>
                    </a:lnTo>
                    <a:lnTo>
                      <a:pt x="78" y="206"/>
                    </a:lnTo>
                    <a:lnTo>
                      <a:pt x="56" y="244"/>
                    </a:lnTo>
                    <a:lnTo>
                      <a:pt x="33" y="325"/>
                    </a:lnTo>
                    <a:lnTo>
                      <a:pt x="34" y="411"/>
                    </a:lnTo>
                    <a:lnTo>
                      <a:pt x="50" y="507"/>
                    </a:lnTo>
                    <a:lnTo>
                      <a:pt x="43" y="520"/>
                    </a:lnTo>
                    <a:lnTo>
                      <a:pt x="30" y="5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69" name="Freeform 69">
                <a:extLst>
                  <a:ext uri="{FF2B5EF4-FFF2-40B4-BE49-F238E27FC236}">
                    <a16:creationId xmlns:a16="http://schemas.microsoft.com/office/drawing/2014/main" id="{5265067F-6D66-951E-E88B-AE3F5A19AD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2" y="2414"/>
                <a:ext cx="21" cy="87"/>
              </a:xfrm>
              <a:custGeom>
                <a:avLst/>
                <a:gdLst>
                  <a:gd name="T0" fmla="*/ 1 w 42"/>
                  <a:gd name="T1" fmla="*/ 0 h 175"/>
                  <a:gd name="T2" fmla="*/ 1 w 42"/>
                  <a:gd name="T3" fmla="*/ 1 h 175"/>
                  <a:gd name="T4" fmla="*/ 1 w 42"/>
                  <a:gd name="T5" fmla="*/ 2 h 175"/>
                  <a:gd name="T6" fmla="*/ 1 w 42"/>
                  <a:gd name="T7" fmla="*/ 2 h 175"/>
                  <a:gd name="T8" fmla="*/ 0 w 42"/>
                  <a:gd name="T9" fmla="*/ 0 h 175"/>
                  <a:gd name="T10" fmla="*/ 1 w 42"/>
                  <a:gd name="T11" fmla="*/ 0 h 175"/>
                  <a:gd name="T12" fmla="*/ 1 w 42"/>
                  <a:gd name="T13" fmla="*/ 0 h 175"/>
                  <a:gd name="T14" fmla="*/ 1 w 42"/>
                  <a:gd name="T15" fmla="*/ 0 h 175"/>
                  <a:gd name="T16" fmla="*/ 1 w 42"/>
                  <a:gd name="T17" fmla="*/ 0 h 17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2" h="175">
                    <a:moveTo>
                      <a:pt x="29" y="57"/>
                    </a:moveTo>
                    <a:lnTo>
                      <a:pt x="29" y="92"/>
                    </a:lnTo>
                    <a:lnTo>
                      <a:pt x="42" y="175"/>
                    </a:lnTo>
                    <a:lnTo>
                      <a:pt x="1" y="175"/>
                    </a:lnTo>
                    <a:lnTo>
                      <a:pt x="0" y="6"/>
                    </a:lnTo>
                    <a:lnTo>
                      <a:pt x="27" y="0"/>
                    </a:lnTo>
                    <a:lnTo>
                      <a:pt x="35" y="16"/>
                    </a:lnTo>
                    <a:lnTo>
                      <a:pt x="29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127" name="Oval 70">
              <a:extLst>
                <a:ext uri="{FF2B5EF4-FFF2-40B4-BE49-F238E27FC236}">
                  <a16:creationId xmlns:a16="http://schemas.microsoft.com/office/drawing/2014/main" id="{09D6B474-3AB9-2255-2EE3-F881ECBD8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0" y="904"/>
              <a:ext cx="850" cy="6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2000">
                  <a:latin typeface="굴림" panose="020B0600000101010101" pitchFamily="50" charset="-127"/>
                  <a:ea typeface="굴림" panose="020B0600000101010101" pitchFamily="50" charset="-127"/>
                </a:rPr>
                <a:t>라우터</a:t>
              </a:r>
            </a:p>
          </p:txBody>
        </p:sp>
        <p:sp>
          <p:nvSpPr>
            <p:cNvPr id="5128" name="Line 71">
              <a:extLst>
                <a:ext uri="{FF2B5EF4-FFF2-40B4-BE49-F238E27FC236}">
                  <a16:creationId xmlns:a16="http://schemas.microsoft.com/office/drawing/2014/main" id="{8E43EE6C-2653-66AA-BFAB-B2E4587B06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1248"/>
              <a:ext cx="6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29" name="Line 72">
              <a:extLst>
                <a:ext uri="{FF2B5EF4-FFF2-40B4-BE49-F238E27FC236}">
                  <a16:creationId xmlns:a16="http://schemas.microsoft.com/office/drawing/2014/main" id="{D406BDB3-360D-1730-EE19-D38E6A651B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0" y="158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5130" name="Group 73">
              <a:extLst>
                <a:ext uri="{FF2B5EF4-FFF2-40B4-BE49-F238E27FC236}">
                  <a16:creationId xmlns:a16="http://schemas.microsoft.com/office/drawing/2014/main" id="{9E77F416-EAE5-74EB-8D90-ED8F687569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1776"/>
              <a:ext cx="4140" cy="1200"/>
              <a:chOff x="1152" y="1296"/>
              <a:chExt cx="2976" cy="1392"/>
            </a:xfrm>
          </p:grpSpPr>
          <p:sp>
            <p:nvSpPr>
              <p:cNvPr id="5204" name="AutoShape 74">
                <a:extLst>
                  <a:ext uri="{FF2B5EF4-FFF2-40B4-BE49-F238E27FC236}">
                    <a16:creationId xmlns:a16="http://schemas.microsoft.com/office/drawing/2014/main" id="{3FB79196-6D41-9A3F-1385-C38D10E28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296"/>
                <a:ext cx="2976" cy="1392"/>
              </a:xfrm>
              <a:prstGeom prst="cloudCallout">
                <a:avLst>
                  <a:gd name="adj1" fmla="val 1611"/>
                  <a:gd name="adj2" fmla="val -1509"/>
                </a:avLst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ko-KR" sz="200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5205" name="Oval 75">
                <a:extLst>
                  <a:ext uri="{FF2B5EF4-FFF2-40B4-BE49-F238E27FC236}">
                    <a16:creationId xmlns:a16="http://schemas.microsoft.com/office/drawing/2014/main" id="{B9BABBD4-4DB0-8E97-8744-85FD5C581D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1440"/>
                <a:ext cx="1296" cy="72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sp>
          <p:nvSpPr>
            <p:cNvPr id="5131" name="Rectangle 76">
              <a:extLst>
                <a:ext uri="{FF2B5EF4-FFF2-40B4-BE49-F238E27FC236}">
                  <a16:creationId xmlns:a16="http://schemas.microsoft.com/office/drawing/2014/main" id="{D62B405B-34DD-44AC-F728-4A4B73667B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3648"/>
              <a:ext cx="1380" cy="5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2000">
                  <a:latin typeface="굴림" panose="020B0600000101010101" pitchFamily="50" charset="-127"/>
                  <a:ea typeface="굴림" panose="020B0600000101010101" pitchFamily="50" charset="-127"/>
                </a:rPr>
                <a:t>종단 시스템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000">
                  <a:latin typeface="굴림" panose="020B0600000101010101" pitchFamily="50" charset="-127"/>
                  <a:ea typeface="굴림" panose="020B0600000101010101" pitchFamily="50" charset="-127"/>
                </a:rPr>
                <a:t>(PC, PDA, ...)</a:t>
              </a:r>
            </a:p>
          </p:txBody>
        </p:sp>
        <p:grpSp>
          <p:nvGrpSpPr>
            <p:cNvPr id="5132" name="Group 77">
              <a:extLst>
                <a:ext uri="{FF2B5EF4-FFF2-40B4-BE49-F238E27FC236}">
                  <a16:creationId xmlns:a16="http://schemas.microsoft.com/office/drawing/2014/main" id="{905388D0-B5AC-8D54-45D5-4428A09F96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00" y="2880"/>
              <a:ext cx="1020" cy="759"/>
              <a:chOff x="2366" y="1497"/>
              <a:chExt cx="1391" cy="1374"/>
            </a:xfrm>
          </p:grpSpPr>
          <p:sp>
            <p:nvSpPr>
              <p:cNvPr id="5140" name="Freeform 78">
                <a:extLst>
                  <a:ext uri="{FF2B5EF4-FFF2-40B4-BE49-F238E27FC236}">
                    <a16:creationId xmlns:a16="http://schemas.microsoft.com/office/drawing/2014/main" id="{2167B99E-01E8-775E-2A86-430169EC7E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8" y="1530"/>
                <a:ext cx="768" cy="760"/>
              </a:xfrm>
              <a:custGeom>
                <a:avLst/>
                <a:gdLst>
                  <a:gd name="T0" fmla="*/ 3 w 1537"/>
                  <a:gd name="T1" fmla="*/ 24 h 1520"/>
                  <a:gd name="T2" fmla="*/ 2 w 1537"/>
                  <a:gd name="T3" fmla="*/ 21 h 1520"/>
                  <a:gd name="T4" fmla="*/ 0 w 1537"/>
                  <a:gd name="T5" fmla="*/ 8 h 1520"/>
                  <a:gd name="T6" fmla="*/ 0 w 1537"/>
                  <a:gd name="T7" fmla="*/ 6 h 1520"/>
                  <a:gd name="T8" fmla="*/ 0 w 1537"/>
                  <a:gd name="T9" fmla="*/ 5 h 1520"/>
                  <a:gd name="T10" fmla="*/ 3 w 1537"/>
                  <a:gd name="T11" fmla="*/ 4 h 1520"/>
                  <a:gd name="T12" fmla="*/ 7 w 1537"/>
                  <a:gd name="T13" fmla="*/ 3 h 1520"/>
                  <a:gd name="T14" fmla="*/ 14 w 1537"/>
                  <a:gd name="T15" fmla="*/ 1 h 1520"/>
                  <a:gd name="T16" fmla="*/ 19 w 1537"/>
                  <a:gd name="T17" fmla="*/ 0 h 1520"/>
                  <a:gd name="T18" fmla="*/ 21 w 1537"/>
                  <a:gd name="T19" fmla="*/ 0 h 1520"/>
                  <a:gd name="T20" fmla="*/ 21 w 1537"/>
                  <a:gd name="T21" fmla="*/ 1 h 1520"/>
                  <a:gd name="T22" fmla="*/ 21 w 1537"/>
                  <a:gd name="T23" fmla="*/ 3 h 1520"/>
                  <a:gd name="T24" fmla="*/ 21 w 1537"/>
                  <a:gd name="T25" fmla="*/ 7 h 1520"/>
                  <a:gd name="T26" fmla="*/ 21 w 1537"/>
                  <a:gd name="T27" fmla="*/ 12 h 1520"/>
                  <a:gd name="T28" fmla="*/ 22 w 1537"/>
                  <a:gd name="T29" fmla="*/ 2 h 1520"/>
                  <a:gd name="T30" fmla="*/ 23 w 1537"/>
                  <a:gd name="T31" fmla="*/ 1 h 1520"/>
                  <a:gd name="T32" fmla="*/ 23 w 1537"/>
                  <a:gd name="T33" fmla="*/ 3 h 1520"/>
                  <a:gd name="T34" fmla="*/ 24 w 1537"/>
                  <a:gd name="T35" fmla="*/ 4 h 1520"/>
                  <a:gd name="T36" fmla="*/ 22 w 1537"/>
                  <a:gd name="T37" fmla="*/ 13 h 1520"/>
                  <a:gd name="T38" fmla="*/ 21 w 1537"/>
                  <a:gd name="T39" fmla="*/ 23 h 1520"/>
                  <a:gd name="T40" fmla="*/ 20 w 1537"/>
                  <a:gd name="T41" fmla="*/ 24 h 1520"/>
                  <a:gd name="T42" fmla="*/ 16 w 1537"/>
                  <a:gd name="T43" fmla="*/ 24 h 1520"/>
                  <a:gd name="T44" fmla="*/ 5 w 1537"/>
                  <a:gd name="T45" fmla="*/ 24 h 1520"/>
                  <a:gd name="T46" fmla="*/ 4 w 1537"/>
                  <a:gd name="T47" fmla="*/ 24 h 1520"/>
                  <a:gd name="T48" fmla="*/ 3 w 1537"/>
                  <a:gd name="T49" fmla="*/ 24 h 1520"/>
                  <a:gd name="T50" fmla="*/ 3 w 1537"/>
                  <a:gd name="T51" fmla="*/ 24 h 1520"/>
                  <a:gd name="T52" fmla="*/ 3 w 1537"/>
                  <a:gd name="T53" fmla="*/ 24 h 152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537" h="1520">
                    <a:moveTo>
                      <a:pt x="222" y="1483"/>
                    </a:moveTo>
                    <a:lnTo>
                      <a:pt x="161" y="1336"/>
                    </a:lnTo>
                    <a:lnTo>
                      <a:pt x="0" y="458"/>
                    </a:lnTo>
                    <a:lnTo>
                      <a:pt x="5" y="357"/>
                    </a:lnTo>
                    <a:lnTo>
                      <a:pt x="61" y="311"/>
                    </a:lnTo>
                    <a:lnTo>
                      <a:pt x="217" y="245"/>
                    </a:lnTo>
                    <a:lnTo>
                      <a:pt x="459" y="186"/>
                    </a:lnTo>
                    <a:lnTo>
                      <a:pt x="958" y="59"/>
                    </a:lnTo>
                    <a:lnTo>
                      <a:pt x="1229" y="0"/>
                    </a:lnTo>
                    <a:lnTo>
                      <a:pt x="1351" y="0"/>
                    </a:lnTo>
                    <a:lnTo>
                      <a:pt x="1376" y="8"/>
                    </a:lnTo>
                    <a:lnTo>
                      <a:pt x="1376" y="160"/>
                    </a:lnTo>
                    <a:lnTo>
                      <a:pt x="1351" y="397"/>
                    </a:lnTo>
                    <a:lnTo>
                      <a:pt x="1361" y="730"/>
                    </a:lnTo>
                    <a:lnTo>
                      <a:pt x="1452" y="73"/>
                    </a:lnTo>
                    <a:lnTo>
                      <a:pt x="1482" y="64"/>
                    </a:lnTo>
                    <a:lnTo>
                      <a:pt x="1517" y="145"/>
                    </a:lnTo>
                    <a:lnTo>
                      <a:pt x="1537" y="250"/>
                    </a:lnTo>
                    <a:lnTo>
                      <a:pt x="1471" y="791"/>
                    </a:lnTo>
                    <a:lnTo>
                      <a:pt x="1382" y="1471"/>
                    </a:lnTo>
                    <a:lnTo>
                      <a:pt x="1316" y="1504"/>
                    </a:lnTo>
                    <a:lnTo>
                      <a:pt x="1077" y="1520"/>
                    </a:lnTo>
                    <a:lnTo>
                      <a:pt x="342" y="1512"/>
                    </a:lnTo>
                    <a:lnTo>
                      <a:pt x="269" y="1495"/>
                    </a:lnTo>
                    <a:lnTo>
                      <a:pt x="222" y="1483"/>
                    </a:lnTo>
                    <a:close/>
                  </a:path>
                </a:pathLst>
              </a:custGeom>
              <a:solidFill>
                <a:srgbClr val="E8DC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41" name="Freeform 79">
                <a:extLst>
                  <a:ext uri="{FF2B5EF4-FFF2-40B4-BE49-F238E27FC236}">
                    <a16:creationId xmlns:a16="http://schemas.microsoft.com/office/drawing/2014/main" id="{DE87332C-6775-1175-FFB3-8D9C1B8D5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1" y="1636"/>
                <a:ext cx="535" cy="537"/>
              </a:xfrm>
              <a:custGeom>
                <a:avLst/>
                <a:gdLst>
                  <a:gd name="T0" fmla="*/ 1 w 1069"/>
                  <a:gd name="T1" fmla="*/ 10 h 1074"/>
                  <a:gd name="T2" fmla="*/ 1 w 1069"/>
                  <a:gd name="T3" fmla="*/ 8 h 1074"/>
                  <a:gd name="T4" fmla="*/ 0 w 1069"/>
                  <a:gd name="T5" fmla="*/ 7 h 1074"/>
                  <a:gd name="T6" fmla="*/ 1 w 1069"/>
                  <a:gd name="T7" fmla="*/ 4 h 1074"/>
                  <a:gd name="T8" fmla="*/ 3 w 1069"/>
                  <a:gd name="T9" fmla="*/ 3 h 1074"/>
                  <a:gd name="T10" fmla="*/ 12 w 1069"/>
                  <a:gd name="T11" fmla="*/ 0 h 1074"/>
                  <a:gd name="T12" fmla="*/ 15 w 1069"/>
                  <a:gd name="T13" fmla="*/ 1 h 1074"/>
                  <a:gd name="T14" fmla="*/ 17 w 1069"/>
                  <a:gd name="T15" fmla="*/ 2 h 1074"/>
                  <a:gd name="T16" fmla="*/ 17 w 1069"/>
                  <a:gd name="T17" fmla="*/ 5 h 1074"/>
                  <a:gd name="T18" fmla="*/ 15 w 1069"/>
                  <a:gd name="T19" fmla="*/ 16 h 1074"/>
                  <a:gd name="T20" fmla="*/ 3 w 1069"/>
                  <a:gd name="T21" fmla="*/ 17 h 1074"/>
                  <a:gd name="T22" fmla="*/ 2 w 1069"/>
                  <a:gd name="T23" fmla="*/ 16 h 1074"/>
                  <a:gd name="T24" fmla="*/ 1 w 1069"/>
                  <a:gd name="T25" fmla="*/ 10 h 1074"/>
                  <a:gd name="T26" fmla="*/ 1 w 1069"/>
                  <a:gd name="T27" fmla="*/ 10 h 1074"/>
                  <a:gd name="T28" fmla="*/ 1 w 1069"/>
                  <a:gd name="T29" fmla="*/ 10 h 107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69" h="1074">
                    <a:moveTo>
                      <a:pt x="30" y="623"/>
                    </a:moveTo>
                    <a:lnTo>
                      <a:pt x="14" y="500"/>
                    </a:lnTo>
                    <a:lnTo>
                      <a:pt x="0" y="388"/>
                    </a:lnTo>
                    <a:lnTo>
                      <a:pt x="43" y="196"/>
                    </a:lnTo>
                    <a:lnTo>
                      <a:pt x="168" y="148"/>
                    </a:lnTo>
                    <a:lnTo>
                      <a:pt x="732" y="0"/>
                    </a:lnTo>
                    <a:lnTo>
                      <a:pt x="905" y="4"/>
                    </a:lnTo>
                    <a:lnTo>
                      <a:pt x="1034" y="94"/>
                    </a:lnTo>
                    <a:lnTo>
                      <a:pt x="1069" y="274"/>
                    </a:lnTo>
                    <a:lnTo>
                      <a:pt x="951" y="977"/>
                    </a:lnTo>
                    <a:lnTo>
                      <a:pt x="156" y="1074"/>
                    </a:lnTo>
                    <a:lnTo>
                      <a:pt x="116" y="1012"/>
                    </a:lnTo>
                    <a:lnTo>
                      <a:pt x="30" y="623"/>
                    </a:lnTo>
                    <a:close/>
                  </a:path>
                </a:pathLst>
              </a:custGeom>
              <a:solidFill>
                <a:srgbClr val="A5B8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42" name="Freeform 80">
                <a:extLst>
                  <a:ext uri="{FF2B5EF4-FFF2-40B4-BE49-F238E27FC236}">
                    <a16:creationId xmlns:a16="http://schemas.microsoft.com/office/drawing/2014/main" id="{78AFAB86-64CA-CF02-97E5-79161EDA4D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1" y="2323"/>
                <a:ext cx="473" cy="89"/>
              </a:xfrm>
              <a:custGeom>
                <a:avLst/>
                <a:gdLst>
                  <a:gd name="T0" fmla="*/ 0 w 945"/>
                  <a:gd name="T1" fmla="*/ 3 h 177"/>
                  <a:gd name="T2" fmla="*/ 1 w 945"/>
                  <a:gd name="T3" fmla="*/ 2 h 177"/>
                  <a:gd name="T4" fmla="*/ 4 w 945"/>
                  <a:gd name="T5" fmla="*/ 2 h 177"/>
                  <a:gd name="T6" fmla="*/ 10 w 945"/>
                  <a:gd name="T7" fmla="*/ 1 h 177"/>
                  <a:gd name="T8" fmla="*/ 13 w 945"/>
                  <a:gd name="T9" fmla="*/ 1 h 177"/>
                  <a:gd name="T10" fmla="*/ 15 w 945"/>
                  <a:gd name="T11" fmla="*/ 0 h 177"/>
                  <a:gd name="T12" fmla="*/ 15 w 945"/>
                  <a:gd name="T13" fmla="*/ 2 h 177"/>
                  <a:gd name="T14" fmla="*/ 9 w 945"/>
                  <a:gd name="T15" fmla="*/ 2 h 177"/>
                  <a:gd name="T16" fmla="*/ 4 w 945"/>
                  <a:gd name="T17" fmla="*/ 3 h 177"/>
                  <a:gd name="T18" fmla="*/ 1 w 945"/>
                  <a:gd name="T19" fmla="*/ 3 h 177"/>
                  <a:gd name="T20" fmla="*/ 0 w 945"/>
                  <a:gd name="T21" fmla="*/ 3 h 177"/>
                  <a:gd name="T22" fmla="*/ 0 w 945"/>
                  <a:gd name="T23" fmla="*/ 3 h 177"/>
                  <a:gd name="T24" fmla="*/ 0 w 945"/>
                  <a:gd name="T25" fmla="*/ 3 h 17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45" h="177">
                    <a:moveTo>
                      <a:pt x="0" y="152"/>
                    </a:moveTo>
                    <a:lnTo>
                      <a:pt x="30" y="116"/>
                    </a:lnTo>
                    <a:lnTo>
                      <a:pt x="221" y="67"/>
                    </a:lnTo>
                    <a:lnTo>
                      <a:pt x="580" y="6"/>
                    </a:lnTo>
                    <a:lnTo>
                      <a:pt x="807" y="16"/>
                    </a:lnTo>
                    <a:lnTo>
                      <a:pt x="945" y="0"/>
                    </a:lnTo>
                    <a:lnTo>
                      <a:pt x="922" y="106"/>
                    </a:lnTo>
                    <a:lnTo>
                      <a:pt x="544" y="111"/>
                    </a:lnTo>
                    <a:lnTo>
                      <a:pt x="206" y="136"/>
                    </a:lnTo>
                    <a:lnTo>
                      <a:pt x="40" y="177"/>
                    </a:lnTo>
                    <a:lnTo>
                      <a:pt x="0" y="152"/>
                    </a:lnTo>
                    <a:close/>
                  </a:path>
                </a:pathLst>
              </a:custGeom>
              <a:solidFill>
                <a:srgbClr val="E8DC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43" name="Freeform 81">
                <a:extLst>
                  <a:ext uri="{FF2B5EF4-FFF2-40B4-BE49-F238E27FC236}">
                    <a16:creationId xmlns:a16="http://schemas.microsoft.com/office/drawing/2014/main" id="{4F3476A4-D9B6-7F1B-2445-BA5FACB502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3" y="1722"/>
                <a:ext cx="193" cy="170"/>
              </a:xfrm>
              <a:custGeom>
                <a:avLst/>
                <a:gdLst>
                  <a:gd name="T0" fmla="*/ 4 w 388"/>
                  <a:gd name="T1" fmla="*/ 0 h 341"/>
                  <a:gd name="T2" fmla="*/ 2 w 388"/>
                  <a:gd name="T3" fmla="*/ 0 h 341"/>
                  <a:gd name="T4" fmla="*/ 1 w 388"/>
                  <a:gd name="T5" fmla="*/ 1 h 341"/>
                  <a:gd name="T6" fmla="*/ 0 w 388"/>
                  <a:gd name="T7" fmla="*/ 2 h 341"/>
                  <a:gd name="T8" fmla="*/ 0 w 388"/>
                  <a:gd name="T9" fmla="*/ 3 h 341"/>
                  <a:gd name="T10" fmla="*/ 0 w 388"/>
                  <a:gd name="T11" fmla="*/ 5 h 341"/>
                  <a:gd name="T12" fmla="*/ 1 w 388"/>
                  <a:gd name="T13" fmla="*/ 3 h 341"/>
                  <a:gd name="T14" fmla="*/ 3 w 388"/>
                  <a:gd name="T15" fmla="*/ 1 h 341"/>
                  <a:gd name="T16" fmla="*/ 6 w 388"/>
                  <a:gd name="T17" fmla="*/ 0 h 341"/>
                  <a:gd name="T18" fmla="*/ 4 w 388"/>
                  <a:gd name="T19" fmla="*/ 0 h 341"/>
                  <a:gd name="T20" fmla="*/ 4 w 388"/>
                  <a:gd name="T21" fmla="*/ 0 h 341"/>
                  <a:gd name="T22" fmla="*/ 4 w 388"/>
                  <a:gd name="T23" fmla="*/ 0 h 34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88" h="341">
                    <a:moveTo>
                      <a:pt x="266" y="12"/>
                    </a:moveTo>
                    <a:lnTo>
                      <a:pt x="160" y="40"/>
                    </a:lnTo>
                    <a:lnTo>
                      <a:pt x="66" y="87"/>
                    </a:lnTo>
                    <a:lnTo>
                      <a:pt x="23" y="146"/>
                    </a:lnTo>
                    <a:lnTo>
                      <a:pt x="0" y="212"/>
                    </a:lnTo>
                    <a:lnTo>
                      <a:pt x="34" y="341"/>
                    </a:lnTo>
                    <a:lnTo>
                      <a:pt x="109" y="208"/>
                    </a:lnTo>
                    <a:lnTo>
                      <a:pt x="216" y="87"/>
                    </a:lnTo>
                    <a:lnTo>
                      <a:pt x="388" y="0"/>
                    </a:lnTo>
                    <a:lnTo>
                      <a:pt x="266" y="12"/>
                    </a:lnTo>
                    <a:close/>
                  </a:path>
                </a:pathLst>
              </a:custGeom>
              <a:solidFill>
                <a:srgbClr val="DBE5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44" name="Freeform 82">
                <a:extLst>
                  <a:ext uri="{FF2B5EF4-FFF2-40B4-BE49-F238E27FC236}">
                    <a16:creationId xmlns:a16="http://schemas.microsoft.com/office/drawing/2014/main" id="{31572A50-20C1-BBCC-7858-3F7FEFCA0D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1931"/>
                <a:ext cx="122" cy="161"/>
              </a:xfrm>
              <a:custGeom>
                <a:avLst/>
                <a:gdLst>
                  <a:gd name="T0" fmla="*/ 3 w 243"/>
                  <a:gd name="T1" fmla="*/ 1 h 321"/>
                  <a:gd name="T2" fmla="*/ 3 w 243"/>
                  <a:gd name="T3" fmla="*/ 3 h 321"/>
                  <a:gd name="T4" fmla="*/ 0 w 243"/>
                  <a:gd name="T5" fmla="*/ 5 h 321"/>
                  <a:gd name="T6" fmla="*/ 2 w 243"/>
                  <a:gd name="T7" fmla="*/ 6 h 321"/>
                  <a:gd name="T8" fmla="*/ 3 w 243"/>
                  <a:gd name="T9" fmla="*/ 5 h 321"/>
                  <a:gd name="T10" fmla="*/ 4 w 243"/>
                  <a:gd name="T11" fmla="*/ 3 h 321"/>
                  <a:gd name="T12" fmla="*/ 4 w 243"/>
                  <a:gd name="T13" fmla="*/ 0 h 321"/>
                  <a:gd name="T14" fmla="*/ 3 w 243"/>
                  <a:gd name="T15" fmla="*/ 1 h 321"/>
                  <a:gd name="T16" fmla="*/ 3 w 243"/>
                  <a:gd name="T17" fmla="*/ 1 h 321"/>
                  <a:gd name="T18" fmla="*/ 3 w 243"/>
                  <a:gd name="T19" fmla="*/ 1 h 32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43" h="321">
                    <a:moveTo>
                      <a:pt x="187" y="43"/>
                    </a:moveTo>
                    <a:lnTo>
                      <a:pt x="133" y="166"/>
                    </a:lnTo>
                    <a:lnTo>
                      <a:pt x="0" y="302"/>
                    </a:lnTo>
                    <a:lnTo>
                      <a:pt x="101" y="321"/>
                    </a:lnTo>
                    <a:lnTo>
                      <a:pt x="187" y="278"/>
                    </a:lnTo>
                    <a:lnTo>
                      <a:pt x="215" y="173"/>
                    </a:lnTo>
                    <a:lnTo>
                      <a:pt x="243" y="0"/>
                    </a:lnTo>
                    <a:lnTo>
                      <a:pt x="187" y="43"/>
                    </a:lnTo>
                    <a:close/>
                  </a:path>
                </a:pathLst>
              </a:custGeom>
              <a:solidFill>
                <a:srgbClr val="6D76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45" name="Freeform 83">
                <a:extLst>
                  <a:ext uri="{FF2B5EF4-FFF2-40B4-BE49-F238E27FC236}">
                    <a16:creationId xmlns:a16="http://schemas.microsoft.com/office/drawing/2014/main" id="{CC1D85B5-E5A9-6389-993C-4AF2031453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9" y="2580"/>
                <a:ext cx="289" cy="205"/>
              </a:xfrm>
              <a:custGeom>
                <a:avLst/>
                <a:gdLst>
                  <a:gd name="T0" fmla="*/ 1 w 578"/>
                  <a:gd name="T1" fmla="*/ 3 h 410"/>
                  <a:gd name="T2" fmla="*/ 2 w 578"/>
                  <a:gd name="T3" fmla="*/ 1 h 410"/>
                  <a:gd name="T4" fmla="*/ 3 w 578"/>
                  <a:gd name="T5" fmla="*/ 1 h 410"/>
                  <a:gd name="T6" fmla="*/ 5 w 578"/>
                  <a:gd name="T7" fmla="*/ 0 h 410"/>
                  <a:gd name="T8" fmla="*/ 6 w 578"/>
                  <a:gd name="T9" fmla="*/ 1 h 410"/>
                  <a:gd name="T10" fmla="*/ 7 w 578"/>
                  <a:gd name="T11" fmla="*/ 2 h 410"/>
                  <a:gd name="T12" fmla="*/ 8 w 578"/>
                  <a:gd name="T13" fmla="*/ 2 h 410"/>
                  <a:gd name="T14" fmla="*/ 9 w 578"/>
                  <a:gd name="T15" fmla="*/ 3 h 410"/>
                  <a:gd name="T16" fmla="*/ 9 w 578"/>
                  <a:gd name="T17" fmla="*/ 4 h 410"/>
                  <a:gd name="T18" fmla="*/ 10 w 578"/>
                  <a:gd name="T19" fmla="*/ 5 h 410"/>
                  <a:gd name="T20" fmla="*/ 8 w 578"/>
                  <a:gd name="T21" fmla="*/ 7 h 410"/>
                  <a:gd name="T22" fmla="*/ 5 w 578"/>
                  <a:gd name="T23" fmla="*/ 7 h 410"/>
                  <a:gd name="T24" fmla="*/ 3 w 578"/>
                  <a:gd name="T25" fmla="*/ 5 h 410"/>
                  <a:gd name="T26" fmla="*/ 1 w 578"/>
                  <a:gd name="T27" fmla="*/ 5 h 410"/>
                  <a:gd name="T28" fmla="*/ 0 w 578"/>
                  <a:gd name="T29" fmla="*/ 4 h 410"/>
                  <a:gd name="T30" fmla="*/ 1 w 578"/>
                  <a:gd name="T31" fmla="*/ 3 h 410"/>
                  <a:gd name="T32" fmla="*/ 1 w 578"/>
                  <a:gd name="T33" fmla="*/ 3 h 410"/>
                  <a:gd name="T34" fmla="*/ 1 w 578"/>
                  <a:gd name="T35" fmla="*/ 3 h 41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578" h="410">
                    <a:moveTo>
                      <a:pt x="15" y="131"/>
                    </a:moveTo>
                    <a:lnTo>
                      <a:pt x="91" y="50"/>
                    </a:lnTo>
                    <a:lnTo>
                      <a:pt x="170" y="10"/>
                    </a:lnTo>
                    <a:lnTo>
                      <a:pt x="260" y="0"/>
                    </a:lnTo>
                    <a:lnTo>
                      <a:pt x="333" y="25"/>
                    </a:lnTo>
                    <a:lnTo>
                      <a:pt x="443" y="76"/>
                    </a:lnTo>
                    <a:lnTo>
                      <a:pt x="497" y="115"/>
                    </a:lnTo>
                    <a:lnTo>
                      <a:pt x="537" y="172"/>
                    </a:lnTo>
                    <a:lnTo>
                      <a:pt x="571" y="238"/>
                    </a:lnTo>
                    <a:lnTo>
                      <a:pt x="578" y="296"/>
                    </a:lnTo>
                    <a:lnTo>
                      <a:pt x="503" y="392"/>
                    </a:lnTo>
                    <a:lnTo>
                      <a:pt x="319" y="410"/>
                    </a:lnTo>
                    <a:lnTo>
                      <a:pt x="182" y="311"/>
                    </a:lnTo>
                    <a:lnTo>
                      <a:pt x="61" y="311"/>
                    </a:lnTo>
                    <a:lnTo>
                      <a:pt x="0" y="226"/>
                    </a:lnTo>
                    <a:lnTo>
                      <a:pt x="15" y="13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46" name="Freeform 84">
                <a:extLst>
                  <a:ext uri="{FF2B5EF4-FFF2-40B4-BE49-F238E27FC236}">
                    <a16:creationId xmlns:a16="http://schemas.microsoft.com/office/drawing/2014/main" id="{ADAFCE11-C93B-24D6-D82D-CBEAC4314C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9" y="2617"/>
                <a:ext cx="295" cy="179"/>
              </a:xfrm>
              <a:custGeom>
                <a:avLst/>
                <a:gdLst>
                  <a:gd name="T0" fmla="*/ 1 w 589"/>
                  <a:gd name="T1" fmla="*/ 1 h 358"/>
                  <a:gd name="T2" fmla="*/ 2 w 589"/>
                  <a:gd name="T3" fmla="*/ 0 h 358"/>
                  <a:gd name="T4" fmla="*/ 4 w 589"/>
                  <a:gd name="T5" fmla="*/ 0 h 358"/>
                  <a:gd name="T6" fmla="*/ 5 w 589"/>
                  <a:gd name="T7" fmla="*/ 1 h 358"/>
                  <a:gd name="T8" fmla="*/ 3 w 589"/>
                  <a:gd name="T9" fmla="*/ 2 h 358"/>
                  <a:gd name="T10" fmla="*/ 5 w 589"/>
                  <a:gd name="T11" fmla="*/ 1 h 358"/>
                  <a:gd name="T12" fmla="*/ 7 w 589"/>
                  <a:gd name="T13" fmla="*/ 1 h 358"/>
                  <a:gd name="T14" fmla="*/ 8 w 589"/>
                  <a:gd name="T15" fmla="*/ 1 h 358"/>
                  <a:gd name="T16" fmla="*/ 8 w 589"/>
                  <a:gd name="T17" fmla="*/ 2 h 358"/>
                  <a:gd name="T18" fmla="*/ 7 w 589"/>
                  <a:gd name="T19" fmla="*/ 2 h 358"/>
                  <a:gd name="T20" fmla="*/ 6 w 589"/>
                  <a:gd name="T21" fmla="*/ 3 h 358"/>
                  <a:gd name="T22" fmla="*/ 6 w 589"/>
                  <a:gd name="T23" fmla="*/ 4 h 358"/>
                  <a:gd name="T24" fmla="*/ 8 w 589"/>
                  <a:gd name="T25" fmla="*/ 3 h 358"/>
                  <a:gd name="T26" fmla="*/ 9 w 589"/>
                  <a:gd name="T27" fmla="*/ 2 h 358"/>
                  <a:gd name="T28" fmla="*/ 10 w 589"/>
                  <a:gd name="T29" fmla="*/ 3 h 358"/>
                  <a:gd name="T30" fmla="*/ 10 w 589"/>
                  <a:gd name="T31" fmla="*/ 4 h 358"/>
                  <a:gd name="T32" fmla="*/ 8 w 589"/>
                  <a:gd name="T33" fmla="*/ 6 h 358"/>
                  <a:gd name="T34" fmla="*/ 7 w 589"/>
                  <a:gd name="T35" fmla="*/ 6 h 358"/>
                  <a:gd name="T36" fmla="*/ 5 w 589"/>
                  <a:gd name="T37" fmla="*/ 6 h 358"/>
                  <a:gd name="T38" fmla="*/ 4 w 589"/>
                  <a:gd name="T39" fmla="*/ 5 h 358"/>
                  <a:gd name="T40" fmla="*/ 2 w 589"/>
                  <a:gd name="T41" fmla="*/ 5 h 358"/>
                  <a:gd name="T42" fmla="*/ 1 w 589"/>
                  <a:gd name="T43" fmla="*/ 4 h 358"/>
                  <a:gd name="T44" fmla="*/ 0 w 589"/>
                  <a:gd name="T45" fmla="*/ 2 h 358"/>
                  <a:gd name="T46" fmla="*/ 1 w 589"/>
                  <a:gd name="T47" fmla="*/ 1 h 358"/>
                  <a:gd name="T48" fmla="*/ 1 w 589"/>
                  <a:gd name="T49" fmla="*/ 1 h 358"/>
                  <a:gd name="T50" fmla="*/ 1 w 589"/>
                  <a:gd name="T51" fmla="*/ 1 h 35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589" h="358">
                    <a:moveTo>
                      <a:pt x="32" y="37"/>
                    </a:moveTo>
                    <a:lnTo>
                      <a:pt x="82" y="0"/>
                    </a:lnTo>
                    <a:lnTo>
                      <a:pt x="193" y="0"/>
                    </a:lnTo>
                    <a:lnTo>
                      <a:pt x="260" y="19"/>
                    </a:lnTo>
                    <a:lnTo>
                      <a:pt x="182" y="116"/>
                    </a:lnTo>
                    <a:lnTo>
                      <a:pt x="298" y="56"/>
                    </a:lnTo>
                    <a:lnTo>
                      <a:pt x="389" y="23"/>
                    </a:lnTo>
                    <a:lnTo>
                      <a:pt x="460" y="55"/>
                    </a:lnTo>
                    <a:lnTo>
                      <a:pt x="492" y="93"/>
                    </a:lnTo>
                    <a:lnTo>
                      <a:pt x="429" y="111"/>
                    </a:lnTo>
                    <a:lnTo>
                      <a:pt x="359" y="154"/>
                    </a:lnTo>
                    <a:lnTo>
                      <a:pt x="353" y="233"/>
                    </a:lnTo>
                    <a:lnTo>
                      <a:pt x="473" y="133"/>
                    </a:lnTo>
                    <a:lnTo>
                      <a:pt x="523" y="125"/>
                    </a:lnTo>
                    <a:lnTo>
                      <a:pt x="580" y="163"/>
                    </a:lnTo>
                    <a:lnTo>
                      <a:pt x="589" y="220"/>
                    </a:lnTo>
                    <a:lnTo>
                      <a:pt x="454" y="340"/>
                    </a:lnTo>
                    <a:lnTo>
                      <a:pt x="385" y="358"/>
                    </a:lnTo>
                    <a:lnTo>
                      <a:pt x="291" y="345"/>
                    </a:lnTo>
                    <a:lnTo>
                      <a:pt x="217" y="265"/>
                    </a:lnTo>
                    <a:lnTo>
                      <a:pt x="65" y="269"/>
                    </a:lnTo>
                    <a:lnTo>
                      <a:pt x="20" y="214"/>
                    </a:lnTo>
                    <a:lnTo>
                      <a:pt x="0" y="92"/>
                    </a:lnTo>
                    <a:lnTo>
                      <a:pt x="32" y="37"/>
                    </a:lnTo>
                    <a:close/>
                  </a:path>
                </a:pathLst>
              </a:custGeom>
              <a:solidFill>
                <a:srgbClr val="E8DC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47" name="Freeform 85">
                <a:extLst>
                  <a:ext uri="{FF2B5EF4-FFF2-40B4-BE49-F238E27FC236}">
                    <a16:creationId xmlns:a16="http://schemas.microsoft.com/office/drawing/2014/main" id="{0DA8B883-D9DF-021E-EE54-364DF2426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2699"/>
                <a:ext cx="278" cy="97"/>
              </a:xfrm>
              <a:custGeom>
                <a:avLst/>
                <a:gdLst>
                  <a:gd name="T0" fmla="*/ 0 w 558"/>
                  <a:gd name="T1" fmla="*/ 1 h 194"/>
                  <a:gd name="T2" fmla="*/ 1 w 558"/>
                  <a:gd name="T3" fmla="*/ 1 h 194"/>
                  <a:gd name="T4" fmla="*/ 1 w 558"/>
                  <a:gd name="T5" fmla="*/ 1 h 194"/>
                  <a:gd name="T6" fmla="*/ 2 w 558"/>
                  <a:gd name="T7" fmla="*/ 1 h 194"/>
                  <a:gd name="T8" fmla="*/ 3 w 558"/>
                  <a:gd name="T9" fmla="*/ 1 h 194"/>
                  <a:gd name="T10" fmla="*/ 3 w 558"/>
                  <a:gd name="T11" fmla="*/ 1 h 194"/>
                  <a:gd name="T12" fmla="*/ 4 w 558"/>
                  <a:gd name="T13" fmla="*/ 2 h 194"/>
                  <a:gd name="T14" fmla="*/ 5 w 558"/>
                  <a:gd name="T15" fmla="*/ 2 h 194"/>
                  <a:gd name="T16" fmla="*/ 6 w 558"/>
                  <a:gd name="T17" fmla="*/ 1 h 194"/>
                  <a:gd name="T18" fmla="*/ 7 w 558"/>
                  <a:gd name="T19" fmla="*/ 1 h 194"/>
                  <a:gd name="T20" fmla="*/ 8 w 558"/>
                  <a:gd name="T21" fmla="*/ 0 h 194"/>
                  <a:gd name="T22" fmla="*/ 8 w 558"/>
                  <a:gd name="T23" fmla="*/ 1 h 194"/>
                  <a:gd name="T24" fmla="*/ 8 w 558"/>
                  <a:gd name="T25" fmla="*/ 1 h 194"/>
                  <a:gd name="T26" fmla="*/ 8 w 558"/>
                  <a:gd name="T27" fmla="*/ 2 h 194"/>
                  <a:gd name="T28" fmla="*/ 6 w 558"/>
                  <a:gd name="T29" fmla="*/ 3 h 194"/>
                  <a:gd name="T30" fmla="*/ 5 w 558"/>
                  <a:gd name="T31" fmla="*/ 4 h 194"/>
                  <a:gd name="T32" fmla="*/ 4 w 558"/>
                  <a:gd name="T33" fmla="*/ 3 h 194"/>
                  <a:gd name="T34" fmla="*/ 3 w 558"/>
                  <a:gd name="T35" fmla="*/ 2 h 194"/>
                  <a:gd name="T36" fmla="*/ 1 w 558"/>
                  <a:gd name="T37" fmla="*/ 2 h 194"/>
                  <a:gd name="T38" fmla="*/ 0 w 558"/>
                  <a:gd name="T39" fmla="*/ 2 h 194"/>
                  <a:gd name="T40" fmla="*/ 0 w 558"/>
                  <a:gd name="T41" fmla="*/ 1 h 194"/>
                  <a:gd name="T42" fmla="*/ 0 w 558"/>
                  <a:gd name="T43" fmla="*/ 1 h 194"/>
                  <a:gd name="T44" fmla="*/ 0 w 558"/>
                  <a:gd name="T45" fmla="*/ 1 h 19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558" h="194">
                    <a:moveTo>
                      <a:pt x="0" y="16"/>
                    </a:moveTo>
                    <a:lnTo>
                      <a:pt x="71" y="48"/>
                    </a:lnTo>
                    <a:lnTo>
                      <a:pt x="127" y="30"/>
                    </a:lnTo>
                    <a:lnTo>
                      <a:pt x="178" y="14"/>
                    </a:lnTo>
                    <a:lnTo>
                      <a:pt x="228" y="23"/>
                    </a:lnTo>
                    <a:lnTo>
                      <a:pt x="255" y="49"/>
                    </a:lnTo>
                    <a:lnTo>
                      <a:pt x="275" y="82"/>
                    </a:lnTo>
                    <a:lnTo>
                      <a:pt x="341" y="119"/>
                    </a:lnTo>
                    <a:lnTo>
                      <a:pt x="388" y="59"/>
                    </a:lnTo>
                    <a:lnTo>
                      <a:pt x="454" y="18"/>
                    </a:lnTo>
                    <a:lnTo>
                      <a:pt x="514" y="0"/>
                    </a:lnTo>
                    <a:lnTo>
                      <a:pt x="553" y="31"/>
                    </a:lnTo>
                    <a:lnTo>
                      <a:pt x="558" y="63"/>
                    </a:lnTo>
                    <a:lnTo>
                      <a:pt x="515" y="125"/>
                    </a:lnTo>
                    <a:lnTo>
                      <a:pt x="443" y="176"/>
                    </a:lnTo>
                    <a:lnTo>
                      <a:pt x="374" y="194"/>
                    </a:lnTo>
                    <a:lnTo>
                      <a:pt x="271" y="178"/>
                    </a:lnTo>
                    <a:lnTo>
                      <a:pt x="193" y="109"/>
                    </a:lnTo>
                    <a:lnTo>
                      <a:pt x="75" y="102"/>
                    </a:lnTo>
                    <a:lnTo>
                      <a:pt x="16" y="73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A3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48" name="Freeform 86">
                <a:extLst>
                  <a:ext uri="{FF2B5EF4-FFF2-40B4-BE49-F238E27FC236}">
                    <a16:creationId xmlns:a16="http://schemas.microsoft.com/office/drawing/2014/main" id="{D0038BD4-8861-CBBF-84A1-C8B54E2C6C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" y="2631"/>
                <a:ext cx="69" cy="42"/>
              </a:xfrm>
              <a:custGeom>
                <a:avLst/>
                <a:gdLst>
                  <a:gd name="T0" fmla="*/ 0 w 139"/>
                  <a:gd name="T1" fmla="*/ 0 h 84"/>
                  <a:gd name="T2" fmla="*/ 1 w 139"/>
                  <a:gd name="T3" fmla="*/ 1 h 84"/>
                  <a:gd name="T4" fmla="*/ 1 w 139"/>
                  <a:gd name="T5" fmla="*/ 1 h 84"/>
                  <a:gd name="T6" fmla="*/ 2 w 139"/>
                  <a:gd name="T7" fmla="*/ 2 h 84"/>
                  <a:gd name="T8" fmla="*/ 2 w 139"/>
                  <a:gd name="T9" fmla="*/ 2 h 84"/>
                  <a:gd name="T10" fmla="*/ 2 w 139"/>
                  <a:gd name="T11" fmla="*/ 2 h 84"/>
                  <a:gd name="T12" fmla="*/ 1 w 139"/>
                  <a:gd name="T13" fmla="*/ 2 h 84"/>
                  <a:gd name="T14" fmla="*/ 1 w 139"/>
                  <a:gd name="T15" fmla="*/ 1 h 84"/>
                  <a:gd name="T16" fmla="*/ 0 w 139"/>
                  <a:gd name="T17" fmla="*/ 1 h 84"/>
                  <a:gd name="T18" fmla="*/ 0 w 139"/>
                  <a:gd name="T19" fmla="*/ 1 h 84"/>
                  <a:gd name="T20" fmla="*/ 0 w 139"/>
                  <a:gd name="T21" fmla="*/ 0 h 84"/>
                  <a:gd name="T22" fmla="*/ 0 w 139"/>
                  <a:gd name="T23" fmla="*/ 0 h 84"/>
                  <a:gd name="T24" fmla="*/ 0 w 139"/>
                  <a:gd name="T25" fmla="*/ 0 h 8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39" h="84">
                    <a:moveTo>
                      <a:pt x="23" y="0"/>
                    </a:moveTo>
                    <a:lnTo>
                      <a:pt x="84" y="26"/>
                    </a:lnTo>
                    <a:lnTo>
                      <a:pt x="111" y="48"/>
                    </a:lnTo>
                    <a:lnTo>
                      <a:pt x="137" y="72"/>
                    </a:lnTo>
                    <a:lnTo>
                      <a:pt x="139" y="83"/>
                    </a:lnTo>
                    <a:lnTo>
                      <a:pt x="128" y="84"/>
                    </a:lnTo>
                    <a:lnTo>
                      <a:pt x="100" y="65"/>
                    </a:lnTo>
                    <a:lnTo>
                      <a:pt x="68" y="51"/>
                    </a:lnTo>
                    <a:lnTo>
                      <a:pt x="0" y="37"/>
                    </a:lnTo>
                    <a:lnTo>
                      <a:pt x="0" y="18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49" name="Freeform 87">
                <a:extLst>
                  <a:ext uri="{FF2B5EF4-FFF2-40B4-BE49-F238E27FC236}">
                    <a16:creationId xmlns:a16="http://schemas.microsoft.com/office/drawing/2014/main" id="{7888DE0B-C96B-ADED-FE7B-8EC0903A14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0" y="2657"/>
                <a:ext cx="77" cy="133"/>
              </a:xfrm>
              <a:custGeom>
                <a:avLst/>
                <a:gdLst>
                  <a:gd name="T0" fmla="*/ 2 w 153"/>
                  <a:gd name="T1" fmla="*/ 1 h 266"/>
                  <a:gd name="T2" fmla="*/ 2 w 153"/>
                  <a:gd name="T3" fmla="*/ 1 h 266"/>
                  <a:gd name="T4" fmla="*/ 3 w 153"/>
                  <a:gd name="T5" fmla="*/ 2 h 266"/>
                  <a:gd name="T6" fmla="*/ 3 w 153"/>
                  <a:gd name="T7" fmla="*/ 3 h 266"/>
                  <a:gd name="T8" fmla="*/ 2 w 153"/>
                  <a:gd name="T9" fmla="*/ 4 h 266"/>
                  <a:gd name="T10" fmla="*/ 1 w 153"/>
                  <a:gd name="T11" fmla="*/ 4 h 266"/>
                  <a:gd name="T12" fmla="*/ 1 w 153"/>
                  <a:gd name="T13" fmla="*/ 5 h 266"/>
                  <a:gd name="T14" fmla="*/ 0 w 153"/>
                  <a:gd name="T15" fmla="*/ 4 h 266"/>
                  <a:gd name="T16" fmla="*/ 2 w 153"/>
                  <a:gd name="T17" fmla="*/ 4 h 266"/>
                  <a:gd name="T18" fmla="*/ 2 w 153"/>
                  <a:gd name="T19" fmla="*/ 3 h 266"/>
                  <a:gd name="T20" fmla="*/ 2 w 153"/>
                  <a:gd name="T21" fmla="*/ 2 h 266"/>
                  <a:gd name="T22" fmla="*/ 2 w 153"/>
                  <a:gd name="T23" fmla="*/ 1 h 266"/>
                  <a:gd name="T24" fmla="*/ 2 w 153"/>
                  <a:gd name="T25" fmla="*/ 1 h 266"/>
                  <a:gd name="T26" fmla="*/ 2 w 153"/>
                  <a:gd name="T27" fmla="*/ 0 h 266"/>
                  <a:gd name="T28" fmla="*/ 2 w 153"/>
                  <a:gd name="T29" fmla="*/ 1 h 266"/>
                  <a:gd name="T30" fmla="*/ 2 w 153"/>
                  <a:gd name="T31" fmla="*/ 1 h 266"/>
                  <a:gd name="T32" fmla="*/ 2 w 153"/>
                  <a:gd name="T33" fmla="*/ 1 h 26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53" h="266">
                    <a:moveTo>
                      <a:pt x="93" y="1"/>
                    </a:moveTo>
                    <a:lnTo>
                      <a:pt x="118" y="34"/>
                    </a:lnTo>
                    <a:lnTo>
                      <a:pt x="153" y="80"/>
                    </a:lnTo>
                    <a:lnTo>
                      <a:pt x="153" y="146"/>
                    </a:lnTo>
                    <a:lnTo>
                      <a:pt x="107" y="214"/>
                    </a:lnTo>
                    <a:lnTo>
                      <a:pt x="48" y="243"/>
                    </a:lnTo>
                    <a:lnTo>
                      <a:pt x="8" y="266"/>
                    </a:lnTo>
                    <a:lnTo>
                      <a:pt x="0" y="254"/>
                    </a:lnTo>
                    <a:lnTo>
                      <a:pt x="67" y="199"/>
                    </a:lnTo>
                    <a:lnTo>
                      <a:pt x="121" y="132"/>
                    </a:lnTo>
                    <a:lnTo>
                      <a:pt x="114" y="67"/>
                    </a:lnTo>
                    <a:lnTo>
                      <a:pt x="100" y="38"/>
                    </a:lnTo>
                    <a:lnTo>
                      <a:pt x="81" y="10"/>
                    </a:lnTo>
                    <a:lnTo>
                      <a:pt x="83" y="0"/>
                    </a:lnTo>
                    <a:lnTo>
                      <a:pt x="9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50" name="Freeform 88">
                <a:extLst>
                  <a:ext uri="{FF2B5EF4-FFF2-40B4-BE49-F238E27FC236}">
                    <a16:creationId xmlns:a16="http://schemas.microsoft.com/office/drawing/2014/main" id="{FE93D302-49C8-7636-AEA5-B052609548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9" y="2578"/>
                <a:ext cx="250" cy="217"/>
              </a:xfrm>
              <a:custGeom>
                <a:avLst/>
                <a:gdLst>
                  <a:gd name="T0" fmla="*/ 8 w 500"/>
                  <a:gd name="T1" fmla="*/ 2 h 433"/>
                  <a:gd name="T2" fmla="*/ 7 w 500"/>
                  <a:gd name="T3" fmla="*/ 2 h 433"/>
                  <a:gd name="T4" fmla="*/ 7 w 500"/>
                  <a:gd name="T5" fmla="*/ 2 h 433"/>
                  <a:gd name="T6" fmla="*/ 7 w 500"/>
                  <a:gd name="T7" fmla="*/ 1 h 433"/>
                  <a:gd name="T8" fmla="*/ 6 w 500"/>
                  <a:gd name="T9" fmla="*/ 1 h 433"/>
                  <a:gd name="T10" fmla="*/ 6 w 500"/>
                  <a:gd name="T11" fmla="*/ 1 h 433"/>
                  <a:gd name="T12" fmla="*/ 5 w 500"/>
                  <a:gd name="T13" fmla="*/ 1 h 433"/>
                  <a:gd name="T14" fmla="*/ 3 w 500"/>
                  <a:gd name="T15" fmla="*/ 1 h 433"/>
                  <a:gd name="T16" fmla="*/ 2 w 500"/>
                  <a:gd name="T17" fmla="*/ 2 h 433"/>
                  <a:gd name="T18" fmla="*/ 2 w 500"/>
                  <a:gd name="T19" fmla="*/ 2 h 433"/>
                  <a:gd name="T20" fmla="*/ 1 w 500"/>
                  <a:gd name="T21" fmla="*/ 3 h 433"/>
                  <a:gd name="T22" fmla="*/ 1 w 500"/>
                  <a:gd name="T23" fmla="*/ 3 h 433"/>
                  <a:gd name="T24" fmla="*/ 1 w 500"/>
                  <a:gd name="T25" fmla="*/ 4 h 433"/>
                  <a:gd name="T26" fmla="*/ 1 w 500"/>
                  <a:gd name="T27" fmla="*/ 5 h 433"/>
                  <a:gd name="T28" fmla="*/ 2 w 500"/>
                  <a:gd name="T29" fmla="*/ 5 h 433"/>
                  <a:gd name="T30" fmla="*/ 2 w 500"/>
                  <a:gd name="T31" fmla="*/ 5 h 433"/>
                  <a:gd name="T32" fmla="*/ 4 w 500"/>
                  <a:gd name="T33" fmla="*/ 5 h 433"/>
                  <a:gd name="T34" fmla="*/ 4 w 500"/>
                  <a:gd name="T35" fmla="*/ 6 h 433"/>
                  <a:gd name="T36" fmla="*/ 5 w 500"/>
                  <a:gd name="T37" fmla="*/ 6 h 433"/>
                  <a:gd name="T38" fmla="*/ 5 w 500"/>
                  <a:gd name="T39" fmla="*/ 7 h 433"/>
                  <a:gd name="T40" fmla="*/ 6 w 500"/>
                  <a:gd name="T41" fmla="*/ 7 h 433"/>
                  <a:gd name="T42" fmla="*/ 7 w 500"/>
                  <a:gd name="T43" fmla="*/ 7 h 433"/>
                  <a:gd name="T44" fmla="*/ 7 w 500"/>
                  <a:gd name="T45" fmla="*/ 7 h 433"/>
                  <a:gd name="T46" fmla="*/ 6 w 500"/>
                  <a:gd name="T47" fmla="*/ 7 h 433"/>
                  <a:gd name="T48" fmla="*/ 4 w 500"/>
                  <a:gd name="T49" fmla="*/ 7 h 433"/>
                  <a:gd name="T50" fmla="*/ 4 w 500"/>
                  <a:gd name="T51" fmla="*/ 6 h 433"/>
                  <a:gd name="T52" fmla="*/ 3 w 500"/>
                  <a:gd name="T53" fmla="*/ 6 h 433"/>
                  <a:gd name="T54" fmla="*/ 2 w 500"/>
                  <a:gd name="T55" fmla="*/ 6 h 433"/>
                  <a:gd name="T56" fmla="*/ 1 w 500"/>
                  <a:gd name="T57" fmla="*/ 6 h 433"/>
                  <a:gd name="T58" fmla="*/ 1 w 500"/>
                  <a:gd name="T59" fmla="*/ 5 h 433"/>
                  <a:gd name="T60" fmla="*/ 1 w 500"/>
                  <a:gd name="T61" fmla="*/ 4 h 433"/>
                  <a:gd name="T62" fmla="*/ 0 w 500"/>
                  <a:gd name="T63" fmla="*/ 3 h 433"/>
                  <a:gd name="T64" fmla="*/ 1 w 500"/>
                  <a:gd name="T65" fmla="*/ 2 h 433"/>
                  <a:gd name="T66" fmla="*/ 1 w 500"/>
                  <a:gd name="T67" fmla="*/ 2 h 433"/>
                  <a:gd name="T68" fmla="*/ 1 w 500"/>
                  <a:gd name="T69" fmla="*/ 2 h 433"/>
                  <a:gd name="T70" fmla="*/ 2 w 500"/>
                  <a:gd name="T71" fmla="*/ 1 h 433"/>
                  <a:gd name="T72" fmla="*/ 3 w 500"/>
                  <a:gd name="T73" fmla="*/ 1 h 433"/>
                  <a:gd name="T74" fmla="*/ 4 w 500"/>
                  <a:gd name="T75" fmla="*/ 1 h 433"/>
                  <a:gd name="T76" fmla="*/ 5 w 500"/>
                  <a:gd name="T77" fmla="*/ 0 h 433"/>
                  <a:gd name="T78" fmla="*/ 7 w 500"/>
                  <a:gd name="T79" fmla="*/ 1 h 433"/>
                  <a:gd name="T80" fmla="*/ 8 w 500"/>
                  <a:gd name="T81" fmla="*/ 2 h 433"/>
                  <a:gd name="T82" fmla="*/ 8 w 500"/>
                  <a:gd name="T83" fmla="*/ 2 h 433"/>
                  <a:gd name="T84" fmla="*/ 8 w 500"/>
                  <a:gd name="T85" fmla="*/ 2 h 433"/>
                  <a:gd name="T86" fmla="*/ 8 w 500"/>
                  <a:gd name="T87" fmla="*/ 2 h 433"/>
                  <a:gd name="T88" fmla="*/ 8 w 500"/>
                  <a:gd name="T89" fmla="*/ 2 h 433"/>
                  <a:gd name="T90" fmla="*/ 8 w 500"/>
                  <a:gd name="T91" fmla="*/ 2 h 433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500" h="433">
                    <a:moveTo>
                      <a:pt x="490" y="111"/>
                    </a:moveTo>
                    <a:lnTo>
                      <a:pt x="448" y="80"/>
                    </a:lnTo>
                    <a:lnTo>
                      <a:pt x="429" y="66"/>
                    </a:lnTo>
                    <a:lnTo>
                      <a:pt x="405" y="53"/>
                    </a:lnTo>
                    <a:lnTo>
                      <a:pt x="372" y="40"/>
                    </a:lnTo>
                    <a:lnTo>
                      <a:pt x="342" y="32"/>
                    </a:lnTo>
                    <a:lnTo>
                      <a:pt x="281" y="24"/>
                    </a:lnTo>
                    <a:lnTo>
                      <a:pt x="154" y="48"/>
                    </a:lnTo>
                    <a:lnTo>
                      <a:pt x="117" y="66"/>
                    </a:lnTo>
                    <a:lnTo>
                      <a:pt x="85" y="94"/>
                    </a:lnTo>
                    <a:lnTo>
                      <a:pt x="47" y="134"/>
                    </a:lnTo>
                    <a:lnTo>
                      <a:pt x="30" y="189"/>
                    </a:lnTo>
                    <a:lnTo>
                      <a:pt x="31" y="233"/>
                    </a:lnTo>
                    <a:lnTo>
                      <a:pt x="43" y="273"/>
                    </a:lnTo>
                    <a:lnTo>
                      <a:pt x="66" y="305"/>
                    </a:lnTo>
                    <a:lnTo>
                      <a:pt x="101" y="317"/>
                    </a:lnTo>
                    <a:lnTo>
                      <a:pt x="200" y="318"/>
                    </a:lnTo>
                    <a:lnTo>
                      <a:pt x="243" y="330"/>
                    </a:lnTo>
                    <a:lnTo>
                      <a:pt x="280" y="362"/>
                    </a:lnTo>
                    <a:lnTo>
                      <a:pt x="311" y="389"/>
                    </a:lnTo>
                    <a:lnTo>
                      <a:pt x="343" y="405"/>
                    </a:lnTo>
                    <a:lnTo>
                      <a:pt x="418" y="418"/>
                    </a:lnTo>
                    <a:lnTo>
                      <a:pt x="418" y="433"/>
                    </a:lnTo>
                    <a:lnTo>
                      <a:pt x="329" y="428"/>
                    </a:lnTo>
                    <a:lnTo>
                      <a:pt x="254" y="386"/>
                    </a:lnTo>
                    <a:lnTo>
                      <a:pt x="223" y="361"/>
                    </a:lnTo>
                    <a:lnTo>
                      <a:pt x="186" y="351"/>
                    </a:lnTo>
                    <a:lnTo>
                      <a:pt x="101" y="351"/>
                    </a:lnTo>
                    <a:lnTo>
                      <a:pt x="53" y="336"/>
                    </a:lnTo>
                    <a:lnTo>
                      <a:pt x="21" y="296"/>
                    </a:lnTo>
                    <a:lnTo>
                      <a:pt x="3" y="243"/>
                    </a:lnTo>
                    <a:lnTo>
                      <a:pt x="0" y="186"/>
                    </a:lnTo>
                    <a:lnTo>
                      <a:pt x="17" y="120"/>
                    </a:lnTo>
                    <a:lnTo>
                      <a:pt x="35" y="95"/>
                    </a:lnTo>
                    <a:lnTo>
                      <a:pt x="60" y="70"/>
                    </a:lnTo>
                    <a:lnTo>
                      <a:pt x="101" y="39"/>
                    </a:lnTo>
                    <a:lnTo>
                      <a:pt x="147" y="19"/>
                    </a:lnTo>
                    <a:lnTo>
                      <a:pt x="216" y="2"/>
                    </a:lnTo>
                    <a:lnTo>
                      <a:pt x="299" y="0"/>
                    </a:lnTo>
                    <a:lnTo>
                      <a:pt x="394" y="25"/>
                    </a:lnTo>
                    <a:lnTo>
                      <a:pt x="456" y="66"/>
                    </a:lnTo>
                    <a:lnTo>
                      <a:pt x="498" y="99"/>
                    </a:lnTo>
                    <a:lnTo>
                      <a:pt x="500" y="109"/>
                    </a:lnTo>
                    <a:lnTo>
                      <a:pt x="490" y="1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51" name="Freeform 89">
                <a:extLst>
                  <a:ext uri="{FF2B5EF4-FFF2-40B4-BE49-F238E27FC236}">
                    <a16:creationId xmlns:a16="http://schemas.microsoft.com/office/drawing/2014/main" id="{94AFDD11-4A93-EA2D-EE4C-8D1A5DFB85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2" y="2678"/>
                <a:ext cx="72" cy="94"/>
              </a:xfrm>
              <a:custGeom>
                <a:avLst/>
                <a:gdLst>
                  <a:gd name="T0" fmla="*/ 3 w 143"/>
                  <a:gd name="T1" fmla="*/ 1 h 187"/>
                  <a:gd name="T2" fmla="*/ 1 w 143"/>
                  <a:gd name="T3" fmla="*/ 2 h 187"/>
                  <a:gd name="T4" fmla="*/ 1 w 143"/>
                  <a:gd name="T5" fmla="*/ 3 h 187"/>
                  <a:gd name="T6" fmla="*/ 1 w 143"/>
                  <a:gd name="T7" fmla="*/ 3 h 187"/>
                  <a:gd name="T8" fmla="*/ 1 w 143"/>
                  <a:gd name="T9" fmla="*/ 3 h 187"/>
                  <a:gd name="T10" fmla="*/ 1 w 143"/>
                  <a:gd name="T11" fmla="*/ 3 h 187"/>
                  <a:gd name="T12" fmla="*/ 0 w 143"/>
                  <a:gd name="T13" fmla="*/ 3 h 187"/>
                  <a:gd name="T14" fmla="*/ 1 w 143"/>
                  <a:gd name="T15" fmla="*/ 2 h 187"/>
                  <a:gd name="T16" fmla="*/ 1 w 143"/>
                  <a:gd name="T17" fmla="*/ 2 h 187"/>
                  <a:gd name="T18" fmla="*/ 1 w 143"/>
                  <a:gd name="T19" fmla="*/ 1 h 187"/>
                  <a:gd name="T20" fmla="*/ 2 w 143"/>
                  <a:gd name="T21" fmla="*/ 1 h 187"/>
                  <a:gd name="T22" fmla="*/ 2 w 143"/>
                  <a:gd name="T23" fmla="*/ 1 h 187"/>
                  <a:gd name="T24" fmla="*/ 3 w 143"/>
                  <a:gd name="T25" fmla="*/ 0 h 187"/>
                  <a:gd name="T26" fmla="*/ 3 w 143"/>
                  <a:gd name="T27" fmla="*/ 1 h 187"/>
                  <a:gd name="T28" fmla="*/ 3 w 143"/>
                  <a:gd name="T29" fmla="*/ 1 h 187"/>
                  <a:gd name="T30" fmla="*/ 3 w 143"/>
                  <a:gd name="T31" fmla="*/ 1 h 187"/>
                  <a:gd name="T32" fmla="*/ 3 w 143"/>
                  <a:gd name="T33" fmla="*/ 1 h 1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43" h="187">
                    <a:moveTo>
                      <a:pt x="140" y="13"/>
                    </a:moveTo>
                    <a:lnTo>
                      <a:pt x="53" y="95"/>
                    </a:lnTo>
                    <a:lnTo>
                      <a:pt x="30" y="153"/>
                    </a:lnTo>
                    <a:lnTo>
                      <a:pt x="32" y="179"/>
                    </a:lnTo>
                    <a:lnTo>
                      <a:pt x="28" y="187"/>
                    </a:lnTo>
                    <a:lnTo>
                      <a:pt x="18" y="184"/>
                    </a:lnTo>
                    <a:lnTo>
                      <a:pt x="0" y="153"/>
                    </a:lnTo>
                    <a:lnTo>
                      <a:pt x="11" y="114"/>
                    </a:lnTo>
                    <a:lnTo>
                      <a:pt x="28" y="77"/>
                    </a:lnTo>
                    <a:lnTo>
                      <a:pt x="52" y="53"/>
                    </a:lnTo>
                    <a:lnTo>
                      <a:pt x="77" y="35"/>
                    </a:lnTo>
                    <a:lnTo>
                      <a:pt x="104" y="19"/>
                    </a:lnTo>
                    <a:lnTo>
                      <a:pt x="132" y="0"/>
                    </a:lnTo>
                    <a:lnTo>
                      <a:pt x="143" y="3"/>
                    </a:lnTo>
                    <a:lnTo>
                      <a:pt x="140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52" name="Freeform 90">
                <a:extLst>
                  <a:ext uri="{FF2B5EF4-FFF2-40B4-BE49-F238E27FC236}">
                    <a16:creationId xmlns:a16="http://schemas.microsoft.com/office/drawing/2014/main" id="{52D1CA74-ABE7-6367-DA80-CD1624FBF3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0" y="2608"/>
                <a:ext cx="111" cy="67"/>
              </a:xfrm>
              <a:custGeom>
                <a:avLst/>
                <a:gdLst>
                  <a:gd name="T0" fmla="*/ 4 w 222"/>
                  <a:gd name="T1" fmla="*/ 1 h 133"/>
                  <a:gd name="T2" fmla="*/ 2 w 222"/>
                  <a:gd name="T3" fmla="*/ 2 h 133"/>
                  <a:gd name="T4" fmla="*/ 1 w 222"/>
                  <a:gd name="T5" fmla="*/ 2 h 133"/>
                  <a:gd name="T6" fmla="*/ 1 w 222"/>
                  <a:gd name="T7" fmla="*/ 3 h 133"/>
                  <a:gd name="T8" fmla="*/ 1 w 222"/>
                  <a:gd name="T9" fmla="*/ 3 h 133"/>
                  <a:gd name="T10" fmla="*/ 0 w 222"/>
                  <a:gd name="T11" fmla="*/ 2 h 133"/>
                  <a:gd name="T12" fmla="*/ 1 w 222"/>
                  <a:gd name="T13" fmla="*/ 2 h 133"/>
                  <a:gd name="T14" fmla="*/ 2 w 222"/>
                  <a:gd name="T15" fmla="*/ 1 h 133"/>
                  <a:gd name="T16" fmla="*/ 2 w 222"/>
                  <a:gd name="T17" fmla="*/ 1 h 133"/>
                  <a:gd name="T18" fmla="*/ 3 w 222"/>
                  <a:gd name="T19" fmla="*/ 1 h 133"/>
                  <a:gd name="T20" fmla="*/ 4 w 222"/>
                  <a:gd name="T21" fmla="*/ 0 h 133"/>
                  <a:gd name="T22" fmla="*/ 4 w 222"/>
                  <a:gd name="T23" fmla="*/ 1 h 133"/>
                  <a:gd name="T24" fmla="*/ 4 w 222"/>
                  <a:gd name="T25" fmla="*/ 1 h 133"/>
                  <a:gd name="T26" fmla="*/ 4 w 222"/>
                  <a:gd name="T27" fmla="*/ 1 h 133"/>
                  <a:gd name="T28" fmla="*/ 4 w 222"/>
                  <a:gd name="T29" fmla="*/ 1 h 13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22" h="133">
                    <a:moveTo>
                      <a:pt x="217" y="14"/>
                    </a:moveTo>
                    <a:lnTo>
                      <a:pt x="94" y="68"/>
                    </a:lnTo>
                    <a:lnTo>
                      <a:pt x="43" y="107"/>
                    </a:lnTo>
                    <a:lnTo>
                      <a:pt x="19" y="131"/>
                    </a:lnTo>
                    <a:lnTo>
                      <a:pt x="1" y="133"/>
                    </a:lnTo>
                    <a:lnTo>
                      <a:pt x="0" y="114"/>
                    </a:lnTo>
                    <a:lnTo>
                      <a:pt x="22" y="85"/>
                    </a:lnTo>
                    <a:lnTo>
                      <a:pt x="77" y="41"/>
                    </a:lnTo>
                    <a:lnTo>
                      <a:pt x="110" y="25"/>
                    </a:lnTo>
                    <a:lnTo>
                      <a:pt x="143" y="16"/>
                    </a:lnTo>
                    <a:lnTo>
                      <a:pt x="213" y="0"/>
                    </a:lnTo>
                    <a:lnTo>
                      <a:pt x="222" y="5"/>
                    </a:lnTo>
                    <a:lnTo>
                      <a:pt x="217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53" name="Freeform 91">
                <a:extLst>
                  <a:ext uri="{FF2B5EF4-FFF2-40B4-BE49-F238E27FC236}">
                    <a16:creationId xmlns:a16="http://schemas.microsoft.com/office/drawing/2014/main" id="{410C0CEE-A779-0F60-2C80-872815361E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6" y="2594"/>
                <a:ext cx="74" cy="18"/>
              </a:xfrm>
              <a:custGeom>
                <a:avLst/>
                <a:gdLst>
                  <a:gd name="T0" fmla="*/ 1 w 147"/>
                  <a:gd name="T1" fmla="*/ 1 h 35"/>
                  <a:gd name="T2" fmla="*/ 1 w 147"/>
                  <a:gd name="T3" fmla="*/ 0 h 35"/>
                  <a:gd name="T4" fmla="*/ 2 w 147"/>
                  <a:gd name="T5" fmla="*/ 0 h 35"/>
                  <a:gd name="T6" fmla="*/ 3 w 147"/>
                  <a:gd name="T7" fmla="*/ 1 h 35"/>
                  <a:gd name="T8" fmla="*/ 3 w 147"/>
                  <a:gd name="T9" fmla="*/ 1 h 35"/>
                  <a:gd name="T10" fmla="*/ 3 w 147"/>
                  <a:gd name="T11" fmla="*/ 1 h 35"/>
                  <a:gd name="T12" fmla="*/ 2 w 147"/>
                  <a:gd name="T13" fmla="*/ 1 h 35"/>
                  <a:gd name="T14" fmla="*/ 1 w 147"/>
                  <a:gd name="T15" fmla="*/ 1 h 35"/>
                  <a:gd name="T16" fmla="*/ 1 w 147"/>
                  <a:gd name="T17" fmla="*/ 1 h 35"/>
                  <a:gd name="T18" fmla="*/ 0 w 147"/>
                  <a:gd name="T19" fmla="*/ 1 h 35"/>
                  <a:gd name="T20" fmla="*/ 1 w 147"/>
                  <a:gd name="T21" fmla="*/ 1 h 35"/>
                  <a:gd name="T22" fmla="*/ 1 w 147"/>
                  <a:gd name="T23" fmla="*/ 1 h 35"/>
                  <a:gd name="T24" fmla="*/ 1 w 147"/>
                  <a:gd name="T25" fmla="*/ 1 h 3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47" h="35">
                    <a:moveTo>
                      <a:pt x="9" y="1"/>
                    </a:moveTo>
                    <a:lnTo>
                      <a:pt x="28" y="0"/>
                    </a:lnTo>
                    <a:lnTo>
                      <a:pt x="89" y="0"/>
                    </a:lnTo>
                    <a:lnTo>
                      <a:pt x="143" y="21"/>
                    </a:lnTo>
                    <a:lnTo>
                      <a:pt x="147" y="31"/>
                    </a:lnTo>
                    <a:lnTo>
                      <a:pt x="138" y="35"/>
                    </a:lnTo>
                    <a:lnTo>
                      <a:pt x="86" y="24"/>
                    </a:lnTo>
                    <a:lnTo>
                      <a:pt x="28" y="24"/>
                    </a:lnTo>
                    <a:lnTo>
                      <a:pt x="9" y="21"/>
                    </a:lnTo>
                    <a:lnTo>
                      <a:pt x="0" y="11"/>
                    </a:lnTo>
                    <a:lnTo>
                      <a:pt x="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54" name="Freeform 92">
                <a:extLst>
                  <a:ext uri="{FF2B5EF4-FFF2-40B4-BE49-F238E27FC236}">
                    <a16:creationId xmlns:a16="http://schemas.microsoft.com/office/drawing/2014/main" id="{585700E6-E236-9E72-6CA7-17AC0B40C0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4" y="2712"/>
                <a:ext cx="346" cy="159"/>
              </a:xfrm>
              <a:custGeom>
                <a:avLst/>
                <a:gdLst>
                  <a:gd name="T0" fmla="*/ 1 w 690"/>
                  <a:gd name="T1" fmla="*/ 0 h 319"/>
                  <a:gd name="T2" fmla="*/ 1 w 690"/>
                  <a:gd name="T3" fmla="*/ 0 h 319"/>
                  <a:gd name="T4" fmla="*/ 2 w 690"/>
                  <a:gd name="T5" fmla="*/ 0 h 319"/>
                  <a:gd name="T6" fmla="*/ 3 w 690"/>
                  <a:gd name="T7" fmla="*/ 1 h 319"/>
                  <a:gd name="T8" fmla="*/ 3 w 690"/>
                  <a:gd name="T9" fmla="*/ 2 h 319"/>
                  <a:gd name="T10" fmla="*/ 4 w 690"/>
                  <a:gd name="T11" fmla="*/ 3 h 319"/>
                  <a:gd name="T12" fmla="*/ 5 w 690"/>
                  <a:gd name="T13" fmla="*/ 4 h 319"/>
                  <a:gd name="T14" fmla="*/ 7 w 690"/>
                  <a:gd name="T15" fmla="*/ 4 h 319"/>
                  <a:gd name="T16" fmla="*/ 9 w 690"/>
                  <a:gd name="T17" fmla="*/ 4 h 319"/>
                  <a:gd name="T18" fmla="*/ 10 w 690"/>
                  <a:gd name="T19" fmla="*/ 3 h 319"/>
                  <a:gd name="T20" fmla="*/ 11 w 690"/>
                  <a:gd name="T21" fmla="*/ 2 h 319"/>
                  <a:gd name="T22" fmla="*/ 11 w 690"/>
                  <a:gd name="T23" fmla="*/ 1 h 319"/>
                  <a:gd name="T24" fmla="*/ 10 w 690"/>
                  <a:gd name="T25" fmla="*/ 0 h 319"/>
                  <a:gd name="T26" fmla="*/ 10 w 690"/>
                  <a:gd name="T27" fmla="*/ 0 h 319"/>
                  <a:gd name="T28" fmla="*/ 10 w 690"/>
                  <a:gd name="T29" fmla="*/ 0 h 319"/>
                  <a:gd name="T30" fmla="*/ 11 w 690"/>
                  <a:gd name="T31" fmla="*/ 0 h 319"/>
                  <a:gd name="T32" fmla="*/ 11 w 690"/>
                  <a:gd name="T33" fmla="*/ 1 h 319"/>
                  <a:gd name="T34" fmla="*/ 11 w 690"/>
                  <a:gd name="T35" fmla="*/ 2 h 319"/>
                  <a:gd name="T36" fmla="*/ 11 w 690"/>
                  <a:gd name="T37" fmla="*/ 3 h 319"/>
                  <a:gd name="T38" fmla="*/ 10 w 690"/>
                  <a:gd name="T39" fmla="*/ 4 h 319"/>
                  <a:gd name="T40" fmla="*/ 9 w 690"/>
                  <a:gd name="T41" fmla="*/ 4 h 319"/>
                  <a:gd name="T42" fmla="*/ 8 w 690"/>
                  <a:gd name="T43" fmla="*/ 4 h 319"/>
                  <a:gd name="T44" fmla="*/ 7 w 690"/>
                  <a:gd name="T45" fmla="*/ 4 h 319"/>
                  <a:gd name="T46" fmla="*/ 5 w 690"/>
                  <a:gd name="T47" fmla="*/ 4 h 319"/>
                  <a:gd name="T48" fmla="*/ 3 w 690"/>
                  <a:gd name="T49" fmla="*/ 3 h 319"/>
                  <a:gd name="T50" fmla="*/ 2 w 690"/>
                  <a:gd name="T51" fmla="*/ 2 h 319"/>
                  <a:gd name="T52" fmla="*/ 2 w 690"/>
                  <a:gd name="T53" fmla="*/ 2 h 319"/>
                  <a:gd name="T54" fmla="*/ 2 w 690"/>
                  <a:gd name="T55" fmla="*/ 1 h 319"/>
                  <a:gd name="T56" fmla="*/ 1 w 690"/>
                  <a:gd name="T57" fmla="*/ 0 h 319"/>
                  <a:gd name="T58" fmla="*/ 0 w 690"/>
                  <a:gd name="T59" fmla="*/ 0 h 319"/>
                  <a:gd name="T60" fmla="*/ 1 w 690"/>
                  <a:gd name="T61" fmla="*/ 0 h 319"/>
                  <a:gd name="T62" fmla="*/ 1 w 690"/>
                  <a:gd name="T63" fmla="*/ 0 h 319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690" h="319">
                    <a:moveTo>
                      <a:pt x="16" y="0"/>
                    </a:moveTo>
                    <a:lnTo>
                      <a:pt x="63" y="23"/>
                    </a:lnTo>
                    <a:lnTo>
                      <a:pt x="106" y="57"/>
                    </a:lnTo>
                    <a:lnTo>
                      <a:pt x="140" y="108"/>
                    </a:lnTo>
                    <a:lnTo>
                      <a:pt x="161" y="176"/>
                    </a:lnTo>
                    <a:lnTo>
                      <a:pt x="218" y="227"/>
                    </a:lnTo>
                    <a:lnTo>
                      <a:pt x="282" y="256"/>
                    </a:lnTo>
                    <a:lnTo>
                      <a:pt x="411" y="281"/>
                    </a:lnTo>
                    <a:lnTo>
                      <a:pt x="527" y="262"/>
                    </a:lnTo>
                    <a:lnTo>
                      <a:pt x="623" y="215"/>
                    </a:lnTo>
                    <a:lnTo>
                      <a:pt x="657" y="169"/>
                    </a:lnTo>
                    <a:lnTo>
                      <a:pt x="662" y="120"/>
                    </a:lnTo>
                    <a:lnTo>
                      <a:pt x="602" y="63"/>
                    </a:lnTo>
                    <a:lnTo>
                      <a:pt x="605" y="43"/>
                    </a:lnTo>
                    <a:lnTo>
                      <a:pt x="619" y="37"/>
                    </a:lnTo>
                    <a:lnTo>
                      <a:pt x="666" y="62"/>
                    </a:lnTo>
                    <a:lnTo>
                      <a:pt x="689" y="109"/>
                    </a:lnTo>
                    <a:lnTo>
                      <a:pt x="690" y="169"/>
                    </a:lnTo>
                    <a:lnTo>
                      <a:pt x="651" y="237"/>
                    </a:lnTo>
                    <a:lnTo>
                      <a:pt x="600" y="281"/>
                    </a:lnTo>
                    <a:lnTo>
                      <a:pt x="526" y="304"/>
                    </a:lnTo>
                    <a:lnTo>
                      <a:pt x="451" y="316"/>
                    </a:lnTo>
                    <a:lnTo>
                      <a:pt x="389" y="319"/>
                    </a:lnTo>
                    <a:lnTo>
                      <a:pt x="291" y="302"/>
                    </a:lnTo>
                    <a:lnTo>
                      <a:pt x="172" y="248"/>
                    </a:lnTo>
                    <a:lnTo>
                      <a:pt x="126" y="188"/>
                    </a:lnTo>
                    <a:lnTo>
                      <a:pt x="107" y="141"/>
                    </a:lnTo>
                    <a:lnTo>
                      <a:pt x="83" y="93"/>
                    </a:lnTo>
                    <a:lnTo>
                      <a:pt x="49" y="50"/>
                    </a:lnTo>
                    <a:lnTo>
                      <a:pt x="0" y="15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55" name="Freeform 93">
                <a:extLst>
                  <a:ext uri="{FF2B5EF4-FFF2-40B4-BE49-F238E27FC236}">
                    <a16:creationId xmlns:a16="http://schemas.microsoft.com/office/drawing/2014/main" id="{07393D9C-B9FA-A8B9-DE90-EE978AFD5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6" y="2520"/>
                <a:ext cx="1035" cy="223"/>
              </a:xfrm>
              <a:custGeom>
                <a:avLst/>
                <a:gdLst>
                  <a:gd name="T0" fmla="*/ 5 w 2072"/>
                  <a:gd name="T1" fmla="*/ 0 h 445"/>
                  <a:gd name="T2" fmla="*/ 4 w 2072"/>
                  <a:gd name="T3" fmla="*/ 1 h 445"/>
                  <a:gd name="T4" fmla="*/ 1 w 2072"/>
                  <a:gd name="T5" fmla="*/ 5 h 445"/>
                  <a:gd name="T6" fmla="*/ 0 w 2072"/>
                  <a:gd name="T7" fmla="*/ 6 h 445"/>
                  <a:gd name="T8" fmla="*/ 0 w 2072"/>
                  <a:gd name="T9" fmla="*/ 7 h 445"/>
                  <a:gd name="T10" fmla="*/ 7 w 2072"/>
                  <a:gd name="T11" fmla="*/ 7 h 445"/>
                  <a:gd name="T12" fmla="*/ 30 w 2072"/>
                  <a:gd name="T13" fmla="*/ 7 h 445"/>
                  <a:gd name="T14" fmla="*/ 32 w 2072"/>
                  <a:gd name="T15" fmla="*/ 6 h 445"/>
                  <a:gd name="T16" fmla="*/ 27 w 2072"/>
                  <a:gd name="T17" fmla="*/ 6 h 445"/>
                  <a:gd name="T18" fmla="*/ 31 w 2072"/>
                  <a:gd name="T19" fmla="*/ 5 h 445"/>
                  <a:gd name="T20" fmla="*/ 30 w 2072"/>
                  <a:gd name="T21" fmla="*/ 4 h 445"/>
                  <a:gd name="T22" fmla="*/ 28 w 2072"/>
                  <a:gd name="T23" fmla="*/ 2 h 445"/>
                  <a:gd name="T24" fmla="*/ 16 w 2072"/>
                  <a:gd name="T25" fmla="*/ 1 h 445"/>
                  <a:gd name="T26" fmla="*/ 6 w 2072"/>
                  <a:gd name="T27" fmla="*/ 1 h 445"/>
                  <a:gd name="T28" fmla="*/ 5 w 2072"/>
                  <a:gd name="T29" fmla="*/ 0 h 445"/>
                  <a:gd name="T30" fmla="*/ 5 w 2072"/>
                  <a:gd name="T31" fmla="*/ 0 h 445"/>
                  <a:gd name="T32" fmla="*/ 5 w 2072"/>
                  <a:gd name="T33" fmla="*/ 0 h 44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072" h="445">
                    <a:moveTo>
                      <a:pt x="323" y="0"/>
                    </a:moveTo>
                    <a:lnTo>
                      <a:pt x="264" y="35"/>
                    </a:lnTo>
                    <a:lnTo>
                      <a:pt x="69" y="287"/>
                    </a:lnTo>
                    <a:lnTo>
                      <a:pt x="0" y="323"/>
                    </a:lnTo>
                    <a:lnTo>
                      <a:pt x="60" y="416"/>
                    </a:lnTo>
                    <a:lnTo>
                      <a:pt x="506" y="394"/>
                    </a:lnTo>
                    <a:lnTo>
                      <a:pt x="1931" y="445"/>
                    </a:lnTo>
                    <a:lnTo>
                      <a:pt x="2072" y="373"/>
                    </a:lnTo>
                    <a:lnTo>
                      <a:pt x="1750" y="338"/>
                    </a:lnTo>
                    <a:lnTo>
                      <a:pt x="2012" y="318"/>
                    </a:lnTo>
                    <a:lnTo>
                      <a:pt x="1952" y="238"/>
                    </a:lnTo>
                    <a:lnTo>
                      <a:pt x="1846" y="91"/>
                    </a:lnTo>
                    <a:lnTo>
                      <a:pt x="1065" y="50"/>
                    </a:lnTo>
                    <a:lnTo>
                      <a:pt x="399" y="5"/>
                    </a:lnTo>
                    <a:lnTo>
                      <a:pt x="323" y="0"/>
                    </a:lnTo>
                    <a:close/>
                  </a:path>
                </a:pathLst>
              </a:custGeom>
              <a:solidFill>
                <a:srgbClr val="E8DC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56" name="Freeform 94">
                <a:extLst>
                  <a:ext uri="{FF2B5EF4-FFF2-40B4-BE49-F238E27FC236}">
                    <a16:creationId xmlns:a16="http://schemas.microsoft.com/office/drawing/2014/main" id="{68C3EE73-A588-7C96-BD3B-5478B48D0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0" y="2391"/>
                <a:ext cx="794" cy="218"/>
              </a:xfrm>
              <a:custGeom>
                <a:avLst/>
                <a:gdLst>
                  <a:gd name="T0" fmla="*/ 0 w 1588"/>
                  <a:gd name="T1" fmla="*/ 4 h 436"/>
                  <a:gd name="T2" fmla="*/ 1 w 1588"/>
                  <a:gd name="T3" fmla="*/ 2 h 436"/>
                  <a:gd name="T4" fmla="*/ 3 w 1588"/>
                  <a:gd name="T5" fmla="*/ 2 h 436"/>
                  <a:gd name="T6" fmla="*/ 11 w 1588"/>
                  <a:gd name="T7" fmla="*/ 1 h 436"/>
                  <a:gd name="T8" fmla="*/ 15 w 1588"/>
                  <a:gd name="T9" fmla="*/ 1 h 436"/>
                  <a:gd name="T10" fmla="*/ 22 w 1588"/>
                  <a:gd name="T11" fmla="*/ 1 h 436"/>
                  <a:gd name="T12" fmla="*/ 25 w 1588"/>
                  <a:gd name="T13" fmla="*/ 1 h 436"/>
                  <a:gd name="T14" fmla="*/ 25 w 1588"/>
                  <a:gd name="T15" fmla="*/ 0 h 436"/>
                  <a:gd name="T16" fmla="*/ 25 w 1588"/>
                  <a:gd name="T17" fmla="*/ 7 h 436"/>
                  <a:gd name="T18" fmla="*/ 24 w 1588"/>
                  <a:gd name="T19" fmla="*/ 5 h 436"/>
                  <a:gd name="T20" fmla="*/ 0 w 1588"/>
                  <a:gd name="T21" fmla="*/ 4 h 436"/>
                  <a:gd name="T22" fmla="*/ 0 w 1588"/>
                  <a:gd name="T23" fmla="*/ 4 h 436"/>
                  <a:gd name="T24" fmla="*/ 0 w 1588"/>
                  <a:gd name="T25" fmla="*/ 4 h 4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588" h="436">
                    <a:moveTo>
                      <a:pt x="0" y="223"/>
                    </a:moveTo>
                    <a:lnTo>
                      <a:pt x="11" y="103"/>
                    </a:lnTo>
                    <a:lnTo>
                      <a:pt x="136" y="98"/>
                    </a:lnTo>
                    <a:lnTo>
                      <a:pt x="686" y="52"/>
                    </a:lnTo>
                    <a:lnTo>
                      <a:pt x="913" y="27"/>
                    </a:lnTo>
                    <a:lnTo>
                      <a:pt x="1377" y="22"/>
                    </a:lnTo>
                    <a:lnTo>
                      <a:pt x="1537" y="17"/>
                    </a:lnTo>
                    <a:lnTo>
                      <a:pt x="1588" y="0"/>
                    </a:lnTo>
                    <a:lnTo>
                      <a:pt x="1558" y="436"/>
                    </a:lnTo>
                    <a:lnTo>
                      <a:pt x="1478" y="302"/>
                    </a:lnTo>
                    <a:lnTo>
                      <a:pt x="0" y="223"/>
                    </a:lnTo>
                    <a:close/>
                  </a:path>
                </a:pathLst>
              </a:custGeom>
              <a:solidFill>
                <a:srgbClr val="E8DC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57" name="Freeform 95">
                <a:extLst>
                  <a:ext uri="{FF2B5EF4-FFF2-40B4-BE49-F238E27FC236}">
                    <a16:creationId xmlns:a16="http://schemas.microsoft.com/office/drawing/2014/main" id="{55AA4841-AA3C-3CD3-B336-0CD53EAC52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2289"/>
                <a:ext cx="431" cy="95"/>
              </a:xfrm>
              <a:custGeom>
                <a:avLst/>
                <a:gdLst>
                  <a:gd name="T0" fmla="*/ 1 w 862"/>
                  <a:gd name="T1" fmla="*/ 0 h 191"/>
                  <a:gd name="T2" fmla="*/ 1 w 862"/>
                  <a:gd name="T3" fmla="*/ 0 h 191"/>
                  <a:gd name="T4" fmla="*/ 0 w 862"/>
                  <a:gd name="T5" fmla="*/ 2 h 191"/>
                  <a:gd name="T6" fmla="*/ 5 w 862"/>
                  <a:gd name="T7" fmla="*/ 1 h 191"/>
                  <a:gd name="T8" fmla="*/ 7 w 862"/>
                  <a:gd name="T9" fmla="*/ 1 h 191"/>
                  <a:gd name="T10" fmla="*/ 4 w 862"/>
                  <a:gd name="T11" fmla="*/ 2 h 191"/>
                  <a:gd name="T12" fmla="*/ 14 w 862"/>
                  <a:gd name="T13" fmla="*/ 2 h 191"/>
                  <a:gd name="T14" fmla="*/ 14 w 862"/>
                  <a:gd name="T15" fmla="*/ 1 h 191"/>
                  <a:gd name="T16" fmla="*/ 12 w 862"/>
                  <a:gd name="T17" fmla="*/ 1 h 191"/>
                  <a:gd name="T18" fmla="*/ 10 w 862"/>
                  <a:gd name="T19" fmla="*/ 0 h 191"/>
                  <a:gd name="T20" fmla="*/ 1 w 862"/>
                  <a:gd name="T21" fmla="*/ 0 h 191"/>
                  <a:gd name="T22" fmla="*/ 1 w 862"/>
                  <a:gd name="T23" fmla="*/ 0 h 191"/>
                  <a:gd name="T24" fmla="*/ 1 w 862"/>
                  <a:gd name="T25" fmla="*/ 0 h 19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62" h="191">
                    <a:moveTo>
                      <a:pt x="44" y="0"/>
                    </a:moveTo>
                    <a:lnTo>
                      <a:pt x="46" y="61"/>
                    </a:lnTo>
                    <a:lnTo>
                      <a:pt x="0" y="151"/>
                    </a:lnTo>
                    <a:lnTo>
                      <a:pt x="268" y="91"/>
                    </a:lnTo>
                    <a:lnTo>
                      <a:pt x="403" y="115"/>
                    </a:lnTo>
                    <a:lnTo>
                      <a:pt x="253" y="191"/>
                    </a:lnTo>
                    <a:lnTo>
                      <a:pt x="862" y="151"/>
                    </a:lnTo>
                    <a:lnTo>
                      <a:pt x="849" y="70"/>
                    </a:lnTo>
                    <a:lnTo>
                      <a:pt x="711" y="86"/>
                    </a:lnTo>
                    <a:lnTo>
                      <a:pt x="640" y="1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A3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58" name="Freeform 96">
                <a:extLst>
                  <a:ext uri="{FF2B5EF4-FFF2-40B4-BE49-F238E27FC236}">
                    <a16:creationId xmlns:a16="http://schemas.microsoft.com/office/drawing/2014/main" id="{A1E76A80-D537-3F65-A886-3EDA59D923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7" y="1665"/>
                <a:ext cx="201" cy="643"/>
              </a:xfrm>
              <a:custGeom>
                <a:avLst/>
                <a:gdLst>
                  <a:gd name="T0" fmla="*/ 0 w 403"/>
                  <a:gd name="T1" fmla="*/ 20 h 1284"/>
                  <a:gd name="T2" fmla="*/ 2 w 403"/>
                  <a:gd name="T3" fmla="*/ 19 h 1284"/>
                  <a:gd name="T4" fmla="*/ 5 w 403"/>
                  <a:gd name="T5" fmla="*/ 4 h 1284"/>
                  <a:gd name="T6" fmla="*/ 5 w 403"/>
                  <a:gd name="T7" fmla="*/ 0 h 1284"/>
                  <a:gd name="T8" fmla="*/ 6 w 403"/>
                  <a:gd name="T9" fmla="*/ 2 h 1284"/>
                  <a:gd name="T10" fmla="*/ 5 w 403"/>
                  <a:gd name="T11" fmla="*/ 9 h 1284"/>
                  <a:gd name="T12" fmla="*/ 4 w 403"/>
                  <a:gd name="T13" fmla="*/ 19 h 1284"/>
                  <a:gd name="T14" fmla="*/ 4 w 403"/>
                  <a:gd name="T15" fmla="*/ 20 h 1284"/>
                  <a:gd name="T16" fmla="*/ 1 w 403"/>
                  <a:gd name="T17" fmla="*/ 21 h 1284"/>
                  <a:gd name="T18" fmla="*/ 0 w 403"/>
                  <a:gd name="T19" fmla="*/ 20 h 1284"/>
                  <a:gd name="T20" fmla="*/ 0 w 403"/>
                  <a:gd name="T21" fmla="*/ 20 h 1284"/>
                  <a:gd name="T22" fmla="*/ 0 w 403"/>
                  <a:gd name="T23" fmla="*/ 20 h 1284"/>
                  <a:gd name="T24" fmla="*/ 0 w 403"/>
                  <a:gd name="T25" fmla="*/ 20 h 128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03" h="1284">
                    <a:moveTo>
                      <a:pt x="48" y="1226"/>
                    </a:moveTo>
                    <a:lnTo>
                      <a:pt x="161" y="1190"/>
                    </a:lnTo>
                    <a:lnTo>
                      <a:pt x="328" y="231"/>
                    </a:lnTo>
                    <a:lnTo>
                      <a:pt x="383" y="0"/>
                    </a:lnTo>
                    <a:lnTo>
                      <a:pt x="403" y="71"/>
                    </a:lnTo>
                    <a:lnTo>
                      <a:pt x="357" y="566"/>
                    </a:lnTo>
                    <a:lnTo>
                      <a:pt x="277" y="1180"/>
                    </a:lnTo>
                    <a:lnTo>
                      <a:pt x="260" y="1238"/>
                    </a:lnTo>
                    <a:lnTo>
                      <a:pt x="110" y="1284"/>
                    </a:lnTo>
                    <a:lnTo>
                      <a:pt x="0" y="1256"/>
                    </a:lnTo>
                    <a:lnTo>
                      <a:pt x="48" y="1226"/>
                    </a:lnTo>
                    <a:close/>
                  </a:path>
                </a:pathLst>
              </a:custGeom>
              <a:solidFill>
                <a:srgbClr val="A3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59" name="Freeform 97">
                <a:extLst>
                  <a:ext uri="{FF2B5EF4-FFF2-40B4-BE49-F238E27FC236}">
                    <a16:creationId xmlns:a16="http://schemas.microsoft.com/office/drawing/2014/main" id="{5617E206-CBCE-6B9B-726C-EF27ECE759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4" y="2188"/>
                <a:ext cx="384" cy="63"/>
              </a:xfrm>
              <a:custGeom>
                <a:avLst/>
                <a:gdLst>
                  <a:gd name="T0" fmla="*/ 0 w 767"/>
                  <a:gd name="T1" fmla="*/ 2 h 126"/>
                  <a:gd name="T2" fmla="*/ 1 w 767"/>
                  <a:gd name="T3" fmla="*/ 2 h 126"/>
                  <a:gd name="T4" fmla="*/ 2 w 767"/>
                  <a:gd name="T5" fmla="*/ 2 h 126"/>
                  <a:gd name="T6" fmla="*/ 12 w 767"/>
                  <a:gd name="T7" fmla="*/ 1 h 126"/>
                  <a:gd name="T8" fmla="*/ 12 w 767"/>
                  <a:gd name="T9" fmla="*/ 1 h 126"/>
                  <a:gd name="T10" fmla="*/ 8 w 767"/>
                  <a:gd name="T11" fmla="*/ 0 h 126"/>
                  <a:gd name="T12" fmla="*/ 0 w 767"/>
                  <a:gd name="T13" fmla="*/ 2 h 126"/>
                  <a:gd name="T14" fmla="*/ 0 w 767"/>
                  <a:gd name="T15" fmla="*/ 2 h 126"/>
                  <a:gd name="T16" fmla="*/ 0 w 767"/>
                  <a:gd name="T17" fmla="*/ 2 h 1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67" h="126">
                    <a:moveTo>
                      <a:pt x="0" y="68"/>
                    </a:moveTo>
                    <a:lnTo>
                      <a:pt x="22" y="126"/>
                    </a:lnTo>
                    <a:lnTo>
                      <a:pt x="76" y="100"/>
                    </a:lnTo>
                    <a:lnTo>
                      <a:pt x="767" y="39"/>
                    </a:lnTo>
                    <a:lnTo>
                      <a:pt x="767" y="7"/>
                    </a:lnTo>
                    <a:lnTo>
                      <a:pt x="463" y="0"/>
                    </a:lnTo>
                    <a:lnTo>
                      <a:pt x="0" y="68"/>
                    </a:lnTo>
                    <a:close/>
                  </a:path>
                </a:pathLst>
              </a:custGeom>
              <a:solidFill>
                <a:srgbClr val="A3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60" name="Freeform 98">
                <a:extLst>
                  <a:ext uri="{FF2B5EF4-FFF2-40B4-BE49-F238E27FC236}">
                    <a16:creationId xmlns:a16="http://schemas.microsoft.com/office/drawing/2014/main" id="{47D09900-0126-AC1B-50BC-9D93F88124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1595"/>
                <a:ext cx="594" cy="556"/>
              </a:xfrm>
              <a:custGeom>
                <a:avLst/>
                <a:gdLst>
                  <a:gd name="T0" fmla="*/ 4 w 1188"/>
                  <a:gd name="T1" fmla="*/ 18 h 1112"/>
                  <a:gd name="T2" fmla="*/ 1 w 1188"/>
                  <a:gd name="T3" fmla="*/ 8 h 1112"/>
                  <a:gd name="T4" fmla="*/ 0 w 1188"/>
                  <a:gd name="T5" fmla="*/ 6 h 1112"/>
                  <a:gd name="T6" fmla="*/ 1 w 1188"/>
                  <a:gd name="T7" fmla="*/ 5 h 1112"/>
                  <a:gd name="T8" fmla="*/ 3 w 1188"/>
                  <a:gd name="T9" fmla="*/ 4 h 1112"/>
                  <a:gd name="T10" fmla="*/ 9 w 1188"/>
                  <a:gd name="T11" fmla="*/ 2 h 1112"/>
                  <a:gd name="T12" fmla="*/ 17 w 1188"/>
                  <a:gd name="T13" fmla="*/ 1 h 1112"/>
                  <a:gd name="T14" fmla="*/ 19 w 1188"/>
                  <a:gd name="T15" fmla="*/ 0 h 1112"/>
                  <a:gd name="T16" fmla="*/ 19 w 1188"/>
                  <a:gd name="T17" fmla="*/ 1 h 1112"/>
                  <a:gd name="T18" fmla="*/ 19 w 1188"/>
                  <a:gd name="T19" fmla="*/ 6 h 1112"/>
                  <a:gd name="T20" fmla="*/ 17 w 1188"/>
                  <a:gd name="T21" fmla="*/ 3 h 1112"/>
                  <a:gd name="T22" fmla="*/ 15 w 1188"/>
                  <a:gd name="T23" fmla="*/ 2 h 1112"/>
                  <a:gd name="T24" fmla="*/ 11 w 1188"/>
                  <a:gd name="T25" fmla="*/ 2 h 1112"/>
                  <a:gd name="T26" fmla="*/ 4 w 1188"/>
                  <a:gd name="T27" fmla="*/ 5 h 1112"/>
                  <a:gd name="T28" fmla="*/ 2 w 1188"/>
                  <a:gd name="T29" fmla="*/ 6 h 1112"/>
                  <a:gd name="T30" fmla="*/ 2 w 1188"/>
                  <a:gd name="T31" fmla="*/ 10 h 1112"/>
                  <a:gd name="T32" fmla="*/ 4 w 1188"/>
                  <a:gd name="T33" fmla="*/ 15 h 1112"/>
                  <a:gd name="T34" fmla="*/ 4 w 1188"/>
                  <a:gd name="T35" fmla="*/ 17 h 1112"/>
                  <a:gd name="T36" fmla="*/ 4 w 1188"/>
                  <a:gd name="T37" fmla="*/ 18 h 1112"/>
                  <a:gd name="T38" fmla="*/ 4 w 1188"/>
                  <a:gd name="T39" fmla="*/ 18 h 1112"/>
                  <a:gd name="T40" fmla="*/ 4 w 1188"/>
                  <a:gd name="T41" fmla="*/ 18 h 1112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188" h="1112">
                    <a:moveTo>
                      <a:pt x="197" y="1112"/>
                    </a:moveTo>
                    <a:lnTo>
                      <a:pt x="15" y="489"/>
                    </a:lnTo>
                    <a:lnTo>
                      <a:pt x="0" y="338"/>
                    </a:lnTo>
                    <a:lnTo>
                      <a:pt x="25" y="272"/>
                    </a:lnTo>
                    <a:lnTo>
                      <a:pt x="130" y="207"/>
                    </a:lnTo>
                    <a:lnTo>
                      <a:pt x="574" y="86"/>
                    </a:lnTo>
                    <a:lnTo>
                      <a:pt x="1063" y="5"/>
                    </a:lnTo>
                    <a:lnTo>
                      <a:pt x="1168" y="0"/>
                    </a:lnTo>
                    <a:lnTo>
                      <a:pt x="1188" y="51"/>
                    </a:lnTo>
                    <a:lnTo>
                      <a:pt x="1153" y="323"/>
                    </a:lnTo>
                    <a:lnTo>
                      <a:pt x="1078" y="171"/>
                    </a:lnTo>
                    <a:lnTo>
                      <a:pt x="911" y="76"/>
                    </a:lnTo>
                    <a:lnTo>
                      <a:pt x="660" y="106"/>
                    </a:lnTo>
                    <a:lnTo>
                      <a:pt x="206" y="272"/>
                    </a:lnTo>
                    <a:lnTo>
                      <a:pt x="110" y="369"/>
                    </a:lnTo>
                    <a:lnTo>
                      <a:pt x="115" y="621"/>
                    </a:lnTo>
                    <a:lnTo>
                      <a:pt x="211" y="898"/>
                    </a:lnTo>
                    <a:lnTo>
                      <a:pt x="232" y="1039"/>
                    </a:lnTo>
                    <a:lnTo>
                      <a:pt x="197" y="1112"/>
                    </a:lnTo>
                    <a:close/>
                  </a:path>
                </a:pathLst>
              </a:custGeom>
              <a:solidFill>
                <a:srgbClr val="A3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61" name="Freeform 99">
                <a:extLst>
                  <a:ext uri="{FF2B5EF4-FFF2-40B4-BE49-F238E27FC236}">
                    <a16:creationId xmlns:a16="http://schemas.microsoft.com/office/drawing/2014/main" id="{94A8FDAA-051E-AC9A-6BE6-F42425F0C5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6" y="2427"/>
                <a:ext cx="256" cy="93"/>
              </a:xfrm>
              <a:custGeom>
                <a:avLst/>
                <a:gdLst>
                  <a:gd name="T0" fmla="*/ 0 w 511"/>
                  <a:gd name="T1" fmla="*/ 2 h 187"/>
                  <a:gd name="T2" fmla="*/ 1 w 511"/>
                  <a:gd name="T3" fmla="*/ 0 h 187"/>
                  <a:gd name="T4" fmla="*/ 8 w 511"/>
                  <a:gd name="T5" fmla="*/ 0 h 187"/>
                  <a:gd name="T6" fmla="*/ 8 w 511"/>
                  <a:gd name="T7" fmla="*/ 1 h 187"/>
                  <a:gd name="T8" fmla="*/ 8 w 511"/>
                  <a:gd name="T9" fmla="*/ 0 h 187"/>
                  <a:gd name="T10" fmla="*/ 2 w 511"/>
                  <a:gd name="T11" fmla="*/ 1 h 187"/>
                  <a:gd name="T12" fmla="*/ 1 w 511"/>
                  <a:gd name="T13" fmla="*/ 2 h 187"/>
                  <a:gd name="T14" fmla="*/ 0 w 511"/>
                  <a:gd name="T15" fmla="*/ 2 h 187"/>
                  <a:gd name="T16" fmla="*/ 0 w 511"/>
                  <a:gd name="T17" fmla="*/ 2 h 187"/>
                  <a:gd name="T18" fmla="*/ 0 w 511"/>
                  <a:gd name="T19" fmla="*/ 2 h 18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11" h="187">
                    <a:moveTo>
                      <a:pt x="0" y="179"/>
                    </a:moveTo>
                    <a:lnTo>
                      <a:pt x="40" y="0"/>
                    </a:lnTo>
                    <a:lnTo>
                      <a:pt x="511" y="19"/>
                    </a:lnTo>
                    <a:lnTo>
                      <a:pt x="494" y="107"/>
                    </a:lnTo>
                    <a:lnTo>
                      <a:pt x="469" y="56"/>
                    </a:lnTo>
                    <a:lnTo>
                      <a:pt x="116" y="76"/>
                    </a:lnTo>
                    <a:lnTo>
                      <a:pt x="51" y="187"/>
                    </a:lnTo>
                    <a:lnTo>
                      <a:pt x="0" y="179"/>
                    </a:lnTo>
                    <a:close/>
                  </a:path>
                </a:pathLst>
              </a:custGeom>
              <a:solidFill>
                <a:srgbClr val="A3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62" name="Freeform 100">
                <a:extLst>
                  <a:ext uri="{FF2B5EF4-FFF2-40B4-BE49-F238E27FC236}">
                    <a16:creationId xmlns:a16="http://schemas.microsoft.com/office/drawing/2014/main" id="{EFF98D6F-90D9-E5DB-6448-875522DD7D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2471"/>
                <a:ext cx="125" cy="56"/>
              </a:xfrm>
              <a:custGeom>
                <a:avLst/>
                <a:gdLst>
                  <a:gd name="T0" fmla="*/ 0 w 250"/>
                  <a:gd name="T1" fmla="*/ 1 h 113"/>
                  <a:gd name="T2" fmla="*/ 1 w 250"/>
                  <a:gd name="T3" fmla="*/ 1 h 113"/>
                  <a:gd name="T4" fmla="*/ 3 w 250"/>
                  <a:gd name="T5" fmla="*/ 1 h 113"/>
                  <a:gd name="T6" fmla="*/ 3 w 250"/>
                  <a:gd name="T7" fmla="*/ 1 h 113"/>
                  <a:gd name="T8" fmla="*/ 4 w 250"/>
                  <a:gd name="T9" fmla="*/ 0 h 113"/>
                  <a:gd name="T10" fmla="*/ 2 w 250"/>
                  <a:gd name="T11" fmla="*/ 0 h 113"/>
                  <a:gd name="T12" fmla="*/ 1 w 250"/>
                  <a:gd name="T13" fmla="*/ 0 h 113"/>
                  <a:gd name="T14" fmla="*/ 0 w 250"/>
                  <a:gd name="T15" fmla="*/ 1 h 113"/>
                  <a:gd name="T16" fmla="*/ 0 w 250"/>
                  <a:gd name="T17" fmla="*/ 1 h 113"/>
                  <a:gd name="T18" fmla="*/ 0 w 250"/>
                  <a:gd name="T19" fmla="*/ 1 h 11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50" h="113">
                    <a:moveTo>
                      <a:pt x="0" y="82"/>
                    </a:moveTo>
                    <a:lnTo>
                      <a:pt x="42" y="109"/>
                    </a:lnTo>
                    <a:lnTo>
                      <a:pt x="136" y="113"/>
                    </a:lnTo>
                    <a:lnTo>
                      <a:pt x="138" y="75"/>
                    </a:lnTo>
                    <a:lnTo>
                      <a:pt x="250" y="10"/>
                    </a:lnTo>
                    <a:lnTo>
                      <a:pt x="72" y="0"/>
                    </a:lnTo>
                    <a:lnTo>
                      <a:pt x="32" y="56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A3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63" name="Freeform 101">
                <a:extLst>
                  <a:ext uri="{FF2B5EF4-FFF2-40B4-BE49-F238E27FC236}">
                    <a16:creationId xmlns:a16="http://schemas.microsoft.com/office/drawing/2014/main" id="{0477D7A8-0BA8-9518-57FD-A4BB30E9B9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6" y="2679"/>
                <a:ext cx="1033" cy="67"/>
              </a:xfrm>
              <a:custGeom>
                <a:avLst/>
                <a:gdLst>
                  <a:gd name="T0" fmla="*/ 1 w 2066"/>
                  <a:gd name="T1" fmla="*/ 2 h 133"/>
                  <a:gd name="T2" fmla="*/ 0 w 2066"/>
                  <a:gd name="T3" fmla="*/ 1 h 133"/>
                  <a:gd name="T4" fmla="*/ 3 w 2066"/>
                  <a:gd name="T5" fmla="*/ 0 h 133"/>
                  <a:gd name="T6" fmla="*/ 32 w 2066"/>
                  <a:gd name="T7" fmla="*/ 1 h 133"/>
                  <a:gd name="T8" fmla="*/ 33 w 2066"/>
                  <a:gd name="T9" fmla="*/ 2 h 133"/>
                  <a:gd name="T10" fmla="*/ 32 w 2066"/>
                  <a:gd name="T11" fmla="*/ 3 h 133"/>
                  <a:gd name="T12" fmla="*/ 16 w 2066"/>
                  <a:gd name="T13" fmla="*/ 2 h 133"/>
                  <a:gd name="T14" fmla="*/ 6 w 2066"/>
                  <a:gd name="T15" fmla="*/ 2 h 133"/>
                  <a:gd name="T16" fmla="*/ 2 w 2066"/>
                  <a:gd name="T17" fmla="*/ 2 h 133"/>
                  <a:gd name="T18" fmla="*/ 1 w 2066"/>
                  <a:gd name="T19" fmla="*/ 2 h 133"/>
                  <a:gd name="T20" fmla="*/ 1 w 2066"/>
                  <a:gd name="T21" fmla="*/ 2 h 133"/>
                  <a:gd name="T22" fmla="*/ 1 w 2066"/>
                  <a:gd name="T23" fmla="*/ 2 h 13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066" h="133">
                    <a:moveTo>
                      <a:pt x="51" y="87"/>
                    </a:moveTo>
                    <a:lnTo>
                      <a:pt x="0" y="30"/>
                    </a:lnTo>
                    <a:lnTo>
                      <a:pt x="151" y="0"/>
                    </a:lnTo>
                    <a:lnTo>
                      <a:pt x="2016" y="35"/>
                    </a:lnTo>
                    <a:lnTo>
                      <a:pt x="2066" y="74"/>
                    </a:lnTo>
                    <a:lnTo>
                      <a:pt x="1987" y="133"/>
                    </a:lnTo>
                    <a:lnTo>
                      <a:pt x="987" y="101"/>
                    </a:lnTo>
                    <a:lnTo>
                      <a:pt x="328" y="76"/>
                    </a:lnTo>
                    <a:lnTo>
                      <a:pt x="119" y="115"/>
                    </a:lnTo>
                    <a:lnTo>
                      <a:pt x="51" y="87"/>
                    </a:lnTo>
                    <a:close/>
                  </a:path>
                </a:pathLst>
              </a:custGeom>
              <a:solidFill>
                <a:srgbClr val="A3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64" name="Freeform 102">
                <a:extLst>
                  <a:ext uri="{FF2B5EF4-FFF2-40B4-BE49-F238E27FC236}">
                    <a16:creationId xmlns:a16="http://schemas.microsoft.com/office/drawing/2014/main" id="{F3CF0BE4-F33B-9D30-D376-C595C08123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8" y="2359"/>
                <a:ext cx="819" cy="66"/>
              </a:xfrm>
              <a:custGeom>
                <a:avLst/>
                <a:gdLst>
                  <a:gd name="T0" fmla="*/ 1 w 1637"/>
                  <a:gd name="T1" fmla="*/ 2 h 132"/>
                  <a:gd name="T2" fmla="*/ 3 w 1637"/>
                  <a:gd name="T3" fmla="*/ 2 h 132"/>
                  <a:gd name="T4" fmla="*/ 5 w 1637"/>
                  <a:gd name="T5" fmla="*/ 2 h 132"/>
                  <a:gd name="T6" fmla="*/ 8 w 1637"/>
                  <a:gd name="T7" fmla="*/ 1 h 132"/>
                  <a:gd name="T8" fmla="*/ 9 w 1637"/>
                  <a:gd name="T9" fmla="*/ 1 h 132"/>
                  <a:gd name="T10" fmla="*/ 11 w 1637"/>
                  <a:gd name="T11" fmla="*/ 1 h 132"/>
                  <a:gd name="T12" fmla="*/ 13 w 1637"/>
                  <a:gd name="T13" fmla="*/ 1 h 132"/>
                  <a:gd name="T14" fmla="*/ 18 w 1637"/>
                  <a:gd name="T15" fmla="*/ 0 h 132"/>
                  <a:gd name="T16" fmla="*/ 23 w 1637"/>
                  <a:gd name="T17" fmla="*/ 1 h 132"/>
                  <a:gd name="T18" fmla="*/ 24 w 1637"/>
                  <a:gd name="T19" fmla="*/ 1 h 132"/>
                  <a:gd name="T20" fmla="*/ 26 w 1637"/>
                  <a:gd name="T21" fmla="*/ 1 h 132"/>
                  <a:gd name="T22" fmla="*/ 26 w 1637"/>
                  <a:gd name="T23" fmla="*/ 1 h 132"/>
                  <a:gd name="T24" fmla="*/ 26 w 1637"/>
                  <a:gd name="T25" fmla="*/ 1 h 132"/>
                  <a:gd name="T26" fmla="*/ 26 w 1637"/>
                  <a:gd name="T27" fmla="*/ 1 h 132"/>
                  <a:gd name="T28" fmla="*/ 26 w 1637"/>
                  <a:gd name="T29" fmla="*/ 1 h 132"/>
                  <a:gd name="T30" fmla="*/ 24 w 1637"/>
                  <a:gd name="T31" fmla="*/ 1 h 132"/>
                  <a:gd name="T32" fmla="*/ 23 w 1637"/>
                  <a:gd name="T33" fmla="*/ 1 h 132"/>
                  <a:gd name="T34" fmla="*/ 18 w 1637"/>
                  <a:gd name="T35" fmla="*/ 1 h 132"/>
                  <a:gd name="T36" fmla="*/ 13 w 1637"/>
                  <a:gd name="T37" fmla="*/ 1 h 132"/>
                  <a:gd name="T38" fmla="*/ 11 w 1637"/>
                  <a:gd name="T39" fmla="*/ 2 h 132"/>
                  <a:gd name="T40" fmla="*/ 9 w 1637"/>
                  <a:gd name="T41" fmla="*/ 2 h 132"/>
                  <a:gd name="T42" fmla="*/ 8 w 1637"/>
                  <a:gd name="T43" fmla="*/ 2 h 132"/>
                  <a:gd name="T44" fmla="*/ 5 w 1637"/>
                  <a:gd name="T45" fmla="*/ 2 h 132"/>
                  <a:gd name="T46" fmla="*/ 1 w 1637"/>
                  <a:gd name="T47" fmla="*/ 3 h 132"/>
                  <a:gd name="T48" fmla="*/ 0 w 1637"/>
                  <a:gd name="T49" fmla="*/ 2 h 132"/>
                  <a:gd name="T50" fmla="*/ 1 w 1637"/>
                  <a:gd name="T51" fmla="*/ 2 h 132"/>
                  <a:gd name="T52" fmla="*/ 1 w 1637"/>
                  <a:gd name="T53" fmla="*/ 2 h 132"/>
                  <a:gd name="T54" fmla="*/ 1 w 1637"/>
                  <a:gd name="T55" fmla="*/ 2 h 132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1637" h="132">
                    <a:moveTo>
                      <a:pt x="10" y="111"/>
                    </a:moveTo>
                    <a:lnTo>
                      <a:pt x="151" y="96"/>
                    </a:lnTo>
                    <a:lnTo>
                      <a:pt x="292" y="82"/>
                    </a:lnTo>
                    <a:lnTo>
                      <a:pt x="476" y="62"/>
                    </a:lnTo>
                    <a:lnTo>
                      <a:pt x="562" y="45"/>
                    </a:lnTo>
                    <a:lnTo>
                      <a:pt x="659" y="25"/>
                    </a:lnTo>
                    <a:lnTo>
                      <a:pt x="825" y="13"/>
                    </a:lnTo>
                    <a:lnTo>
                      <a:pt x="1131" y="0"/>
                    </a:lnTo>
                    <a:lnTo>
                      <a:pt x="1437" y="4"/>
                    </a:lnTo>
                    <a:lnTo>
                      <a:pt x="1501" y="4"/>
                    </a:lnTo>
                    <a:lnTo>
                      <a:pt x="1616" y="11"/>
                    </a:lnTo>
                    <a:lnTo>
                      <a:pt x="1632" y="20"/>
                    </a:lnTo>
                    <a:lnTo>
                      <a:pt x="1637" y="38"/>
                    </a:lnTo>
                    <a:lnTo>
                      <a:pt x="1630" y="53"/>
                    </a:lnTo>
                    <a:lnTo>
                      <a:pt x="1611" y="58"/>
                    </a:lnTo>
                    <a:lnTo>
                      <a:pt x="1501" y="51"/>
                    </a:lnTo>
                    <a:lnTo>
                      <a:pt x="1437" y="51"/>
                    </a:lnTo>
                    <a:lnTo>
                      <a:pt x="1133" y="45"/>
                    </a:lnTo>
                    <a:lnTo>
                      <a:pt x="828" y="58"/>
                    </a:lnTo>
                    <a:lnTo>
                      <a:pt x="668" y="70"/>
                    </a:lnTo>
                    <a:lnTo>
                      <a:pt x="569" y="89"/>
                    </a:lnTo>
                    <a:lnTo>
                      <a:pt x="481" y="101"/>
                    </a:lnTo>
                    <a:lnTo>
                      <a:pt x="294" y="116"/>
                    </a:lnTo>
                    <a:lnTo>
                      <a:pt x="12" y="132"/>
                    </a:lnTo>
                    <a:lnTo>
                      <a:pt x="0" y="121"/>
                    </a:lnTo>
                    <a:lnTo>
                      <a:pt x="10" y="1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65" name="Freeform 103">
                <a:extLst>
                  <a:ext uri="{FF2B5EF4-FFF2-40B4-BE49-F238E27FC236}">
                    <a16:creationId xmlns:a16="http://schemas.microsoft.com/office/drawing/2014/main" id="{F0157339-3197-F902-6EBD-ECD03DC494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4" y="2366"/>
                <a:ext cx="52" cy="251"/>
              </a:xfrm>
              <a:custGeom>
                <a:avLst/>
                <a:gdLst>
                  <a:gd name="T0" fmla="*/ 2 w 104"/>
                  <a:gd name="T1" fmla="*/ 1 h 500"/>
                  <a:gd name="T2" fmla="*/ 2 w 104"/>
                  <a:gd name="T3" fmla="*/ 3 h 500"/>
                  <a:gd name="T4" fmla="*/ 2 w 104"/>
                  <a:gd name="T5" fmla="*/ 5 h 500"/>
                  <a:gd name="T6" fmla="*/ 1 w 104"/>
                  <a:gd name="T7" fmla="*/ 7 h 500"/>
                  <a:gd name="T8" fmla="*/ 1 w 104"/>
                  <a:gd name="T9" fmla="*/ 8 h 500"/>
                  <a:gd name="T10" fmla="*/ 0 w 104"/>
                  <a:gd name="T11" fmla="*/ 7 h 500"/>
                  <a:gd name="T12" fmla="*/ 1 w 104"/>
                  <a:gd name="T13" fmla="*/ 6 h 500"/>
                  <a:gd name="T14" fmla="*/ 1 w 104"/>
                  <a:gd name="T15" fmla="*/ 5 h 500"/>
                  <a:gd name="T16" fmla="*/ 1 w 104"/>
                  <a:gd name="T17" fmla="*/ 1 h 500"/>
                  <a:gd name="T18" fmla="*/ 1 w 104"/>
                  <a:gd name="T19" fmla="*/ 1 h 500"/>
                  <a:gd name="T20" fmla="*/ 2 w 104"/>
                  <a:gd name="T21" fmla="*/ 0 h 500"/>
                  <a:gd name="T22" fmla="*/ 2 w 104"/>
                  <a:gd name="T23" fmla="*/ 1 h 500"/>
                  <a:gd name="T24" fmla="*/ 2 w 104"/>
                  <a:gd name="T25" fmla="*/ 1 h 50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04" h="500">
                    <a:moveTo>
                      <a:pt x="104" y="23"/>
                    </a:moveTo>
                    <a:lnTo>
                      <a:pt x="93" y="162"/>
                    </a:lnTo>
                    <a:lnTo>
                      <a:pt x="71" y="301"/>
                    </a:lnTo>
                    <a:lnTo>
                      <a:pt x="57" y="390"/>
                    </a:lnTo>
                    <a:lnTo>
                      <a:pt x="41" y="500"/>
                    </a:lnTo>
                    <a:lnTo>
                      <a:pt x="0" y="429"/>
                    </a:lnTo>
                    <a:lnTo>
                      <a:pt x="12" y="370"/>
                    </a:lnTo>
                    <a:lnTo>
                      <a:pt x="33" y="295"/>
                    </a:lnTo>
                    <a:lnTo>
                      <a:pt x="56" y="23"/>
                    </a:lnTo>
                    <a:lnTo>
                      <a:pt x="64" y="5"/>
                    </a:lnTo>
                    <a:lnTo>
                      <a:pt x="80" y="0"/>
                    </a:lnTo>
                    <a:lnTo>
                      <a:pt x="104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66" name="Freeform 104">
                <a:extLst>
                  <a:ext uri="{FF2B5EF4-FFF2-40B4-BE49-F238E27FC236}">
                    <a16:creationId xmlns:a16="http://schemas.microsoft.com/office/drawing/2014/main" id="{FDFBF29E-93CB-09F0-8019-F82415D8DC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0" y="2434"/>
                <a:ext cx="24" cy="84"/>
              </a:xfrm>
              <a:custGeom>
                <a:avLst/>
                <a:gdLst>
                  <a:gd name="T0" fmla="*/ 1 w 47"/>
                  <a:gd name="T1" fmla="*/ 0 h 169"/>
                  <a:gd name="T2" fmla="*/ 1 w 47"/>
                  <a:gd name="T3" fmla="*/ 1 h 169"/>
                  <a:gd name="T4" fmla="*/ 1 w 47"/>
                  <a:gd name="T5" fmla="*/ 2 h 169"/>
                  <a:gd name="T6" fmla="*/ 1 w 47"/>
                  <a:gd name="T7" fmla="*/ 2 h 169"/>
                  <a:gd name="T8" fmla="*/ 1 w 47"/>
                  <a:gd name="T9" fmla="*/ 2 h 169"/>
                  <a:gd name="T10" fmla="*/ 0 w 47"/>
                  <a:gd name="T11" fmla="*/ 0 h 169"/>
                  <a:gd name="T12" fmla="*/ 1 w 47"/>
                  <a:gd name="T13" fmla="*/ 0 h 169"/>
                  <a:gd name="T14" fmla="*/ 1 w 47"/>
                  <a:gd name="T15" fmla="*/ 0 h 169"/>
                  <a:gd name="T16" fmla="*/ 1 w 47"/>
                  <a:gd name="T17" fmla="*/ 0 h 169"/>
                  <a:gd name="T18" fmla="*/ 1 w 47"/>
                  <a:gd name="T19" fmla="*/ 0 h 169"/>
                  <a:gd name="T20" fmla="*/ 1 w 47"/>
                  <a:gd name="T21" fmla="*/ 0 h 169"/>
                  <a:gd name="T22" fmla="*/ 1 w 47"/>
                  <a:gd name="T23" fmla="*/ 0 h 16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7" h="169">
                    <a:moveTo>
                      <a:pt x="47" y="20"/>
                    </a:moveTo>
                    <a:lnTo>
                      <a:pt x="34" y="65"/>
                    </a:lnTo>
                    <a:lnTo>
                      <a:pt x="22" y="160"/>
                    </a:lnTo>
                    <a:lnTo>
                      <a:pt x="12" y="169"/>
                    </a:lnTo>
                    <a:lnTo>
                      <a:pt x="3" y="158"/>
                    </a:lnTo>
                    <a:lnTo>
                      <a:pt x="0" y="62"/>
                    </a:lnTo>
                    <a:lnTo>
                      <a:pt x="18" y="9"/>
                    </a:lnTo>
                    <a:lnTo>
                      <a:pt x="27" y="0"/>
                    </a:lnTo>
                    <a:lnTo>
                      <a:pt x="38" y="0"/>
                    </a:lnTo>
                    <a:lnTo>
                      <a:pt x="47" y="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67" name="Freeform 105">
                <a:extLst>
                  <a:ext uri="{FF2B5EF4-FFF2-40B4-BE49-F238E27FC236}">
                    <a16:creationId xmlns:a16="http://schemas.microsoft.com/office/drawing/2014/main" id="{CE099060-32F4-ACFF-3D77-EABDD10B6B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0" y="2422"/>
                <a:ext cx="256" cy="22"/>
              </a:xfrm>
              <a:custGeom>
                <a:avLst/>
                <a:gdLst>
                  <a:gd name="T0" fmla="*/ 1 w 512"/>
                  <a:gd name="T1" fmla="*/ 1 h 43"/>
                  <a:gd name="T2" fmla="*/ 3 w 512"/>
                  <a:gd name="T3" fmla="*/ 0 h 43"/>
                  <a:gd name="T4" fmla="*/ 6 w 512"/>
                  <a:gd name="T5" fmla="*/ 1 h 43"/>
                  <a:gd name="T6" fmla="*/ 8 w 512"/>
                  <a:gd name="T7" fmla="*/ 1 h 43"/>
                  <a:gd name="T8" fmla="*/ 8 w 512"/>
                  <a:gd name="T9" fmla="*/ 1 h 43"/>
                  <a:gd name="T10" fmla="*/ 8 w 512"/>
                  <a:gd name="T11" fmla="*/ 1 h 43"/>
                  <a:gd name="T12" fmla="*/ 6 w 512"/>
                  <a:gd name="T13" fmla="*/ 1 h 43"/>
                  <a:gd name="T14" fmla="*/ 3 w 512"/>
                  <a:gd name="T15" fmla="*/ 1 h 43"/>
                  <a:gd name="T16" fmla="*/ 1 w 512"/>
                  <a:gd name="T17" fmla="*/ 1 h 43"/>
                  <a:gd name="T18" fmla="*/ 0 w 512"/>
                  <a:gd name="T19" fmla="*/ 1 h 43"/>
                  <a:gd name="T20" fmla="*/ 1 w 512"/>
                  <a:gd name="T21" fmla="*/ 1 h 43"/>
                  <a:gd name="T22" fmla="*/ 1 w 512"/>
                  <a:gd name="T23" fmla="*/ 1 h 43"/>
                  <a:gd name="T24" fmla="*/ 1 w 512"/>
                  <a:gd name="T25" fmla="*/ 1 h 43"/>
                  <a:gd name="T26" fmla="*/ 1 w 512"/>
                  <a:gd name="T27" fmla="*/ 1 h 4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512" h="43">
                    <a:moveTo>
                      <a:pt x="14" y="13"/>
                    </a:moveTo>
                    <a:lnTo>
                      <a:pt x="183" y="0"/>
                    </a:lnTo>
                    <a:lnTo>
                      <a:pt x="351" y="5"/>
                    </a:lnTo>
                    <a:lnTo>
                      <a:pt x="503" y="24"/>
                    </a:lnTo>
                    <a:lnTo>
                      <a:pt x="512" y="34"/>
                    </a:lnTo>
                    <a:lnTo>
                      <a:pt x="502" y="43"/>
                    </a:lnTo>
                    <a:lnTo>
                      <a:pt x="350" y="43"/>
                    </a:lnTo>
                    <a:lnTo>
                      <a:pt x="184" y="34"/>
                    </a:lnTo>
                    <a:lnTo>
                      <a:pt x="19" y="43"/>
                    </a:lnTo>
                    <a:lnTo>
                      <a:pt x="0" y="31"/>
                    </a:lnTo>
                    <a:lnTo>
                      <a:pt x="3" y="19"/>
                    </a:lnTo>
                    <a:lnTo>
                      <a:pt x="14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68" name="Freeform 106">
                <a:extLst>
                  <a:ext uri="{FF2B5EF4-FFF2-40B4-BE49-F238E27FC236}">
                    <a16:creationId xmlns:a16="http://schemas.microsoft.com/office/drawing/2014/main" id="{91806CCF-C5CE-A5DC-BC6B-244A18E234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8" y="2468"/>
                <a:ext cx="145" cy="42"/>
              </a:xfrm>
              <a:custGeom>
                <a:avLst/>
                <a:gdLst>
                  <a:gd name="T0" fmla="*/ 1 w 290"/>
                  <a:gd name="T1" fmla="*/ 1 h 84"/>
                  <a:gd name="T2" fmla="*/ 1 w 290"/>
                  <a:gd name="T3" fmla="*/ 1 h 84"/>
                  <a:gd name="T4" fmla="*/ 1 w 290"/>
                  <a:gd name="T5" fmla="*/ 1 h 84"/>
                  <a:gd name="T6" fmla="*/ 1 w 290"/>
                  <a:gd name="T7" fmla="*/ 1 h 84"/>
                  <a:gd name="T8" fmla="*/ 2 w 290"/>
                  <a:gd name="T9" fmla="*/ 1 h 84"/>
                  <a:gd name="T10" fmla="*/ 2 w 290"/>
                  <a:gd name="T11" fmla="*/ 1 h 84"/>
                  <a:gd name="T12" fmla="*/ 3 w 290"/>
                  <a:gd name="T13" fmla="*/ 0 h 84"/>
                  <a:gd name="T14" fmla="*/ 4 w 290"/>
                  <a:gd name="T15" fmla="*/ 0 h 84"/>
                  <a:gd name="T16" fmla="*/ 5 w 290"/>
                  <a:gd name="T17" fmla="*/ 1 h 84"/>
                  <a:gd name="T18" fmla="*/ 5 w 290"/>
                  <a:gd name="T19" fmla="*/ 1 h 84"/>
                  <a:gd name="T20" fmla="*/ 5 w 290"/>
                  <a:gd name="T21" fmla="*/ 1 h 84"/>
                  <a:gd name="T22" fmla="*/ 4 w 290"/>
                  <a:gd name="T23" fmla="*/ 1 h 84"/>
                  <a:gd name="T24" fmla="*/ 3 w 290"/>
                  <a:gd name="T25" fmla="*/ 1 h 84"/>
                  <a:gd name="T26" fmla="*/ 2 w 290"/>
                  <a:gd name="T27" fmla="*/ 1 h 84"/>
                  <a:gd name="T28" fmla="*/ 2 w 290"/>
                  <a:gd name="T29" fmla="*/ 1 h 84"/>
                  <a:gd name="T30" fmla="*/ 1 w 290"/>
                  <a:gd name="T31" fmla="*/ 2 h 84"/>
                  <a:gd name="T32" fmla="*/ 1 w 290"/>
                  <a:gd name="T33" fmla="*/ 2 h 84"/>
                  <a:gd name="T34" fmla="*/ 0 w 290"/>
                  <a:gd name="T35" fmla="*/ 2 h 84"/>
                  <a:gd name="T36" fmla="*/ 1 w 290"/>
                  <a:gd name="T37" fmla="*/ 1 h 84"/>
                  <a:gd name="T38" fmla="*/ 1 w 290"/>
                  <a:gd name="T39" fmla="*/ 1 h 84"/>
                  <a:gd name="T40" fmla="*/ 1 w 290"/>
                  <a:gd name="T41" fmla="*/ 1 h 84"/>
                  <a:gd name="T42" fmla="*/ 1 w 290"/>
                  <a:gd name="T43" fmla="*/ 1 h 84"/>
                  <a:gd name="T44" fmla="*/ 1 w 290"/>
                  <a:gd name="T45" fmla="*/ 1 h 8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90" h="84">
                    <a:moveTo>
                      <a:pt x="26" y="21"/>
                    </a:moveTo>
                    <a:lnTo>
                      <a:pt x="20" y="61"/>
                    </a:lnTo>
                    <a:lnTo>
                      <a:pt x="48" y="47"/>
                    </a:lnTo>
                    <a:lnTo>
                      <a:pt x="62" y="21"/>
                    </a:lnTo>
                    <a:lnTo>
                      <a:pt x="67" y="7"/>
                    </a:lnTo>
                    <a:lnTo>
                      <a:pt x="81" y="2"/>
                    </a:lnTo>
                    <a:lnTo>
                      <a:pt x="130" y="0"/>
                    </a:lnTo>
                    <a:lnTo>
                      <a:pt x="229" y="0"/>
                    </a:lnTo>
                    <a:lnTo>
                      <a:pt x="280" y="12"/>
                    </a:lnTo>
                    <a:lnTo>
                      <a:pt x="290" y="21"/>
                    </a:lnTo>
                    <a:lnTo>
                      <a:pt x="280" y="30"/>
                    </a:lnTo>
                    <a:lnTo>
                      <a:pt x="229" y="45"/>
                    </a:lnTo>
                    <a:lnTo>
                      <a:pt x="130" y="45"/>
                    </a:lnTo>
                    <a:lnTo>
                      <a:pt x="96" y="44"/>
                    </a:lnTo>
                    <a:lnTo>
                      <a:pt x="82" y="61"/>
                    </a:lnTo>
                    <a:lnTo>
                      <a:pt x="60" y="74"/>
                    </a:lnTo>
                    <a:lnTo>
                      <a:pt x="10" y="84"/>
                    </a:lnTo>
                    <a:lnTo>
                      <a:pt x="0" y="75"/>
                    </a:lnTo>
                    <a:lnTo>
                      <a:pt x="8" y="13"/>
                    </a:lnTo>
                    <a:lnTo>
                      <a:pt x="21" y="8"/>
                    </a:lnTo>
                    <a:lnTo>
                      <a:pt x="26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69" name="Freeform 107">
                <a:extLst>
                  <a:ext uri="{FF2B5EF4-FFF2-40B4-BE49-F238E27FC236}">
                    <a16:creationId xmlns:a16="http://schemas.microsoft.com/office/drawing/2014/main" id="{E4924075-06BE-6596-87F8-30AB9C38C9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8" y="2493"/>
                <a:ext cx="782" cy="55"/>
              </a:xfrm>
              <a:custGeom>
                <a:avLst/>
                <a:gdLst>
                  <a:gd name="T0" fmla="*/ 1 w 1564"/>
                  <a:gd name="T1" fmla="*/ 0 h 110"/>
                  <a:gd name="T2" fmla="*/ 7 w 1564"/>
                  <a:gd name="T3" fmla="*/ 1 h 110"/>
                  <a:gd name="T4" fmla="*/ 18 w 1564"/>
                  <a:gd name="T5" fmla="*/ 1 h 110"/>
                  <a:gd name="T6" fmla="*/ 22 w 1564"/>
                  <a:gd name="T7" fmla="*/ 1 h 110"/>
                  <a:gd name="T8" fmla="*/ 25 w 1564"/>
                  <a:gd name="T9" fmla="*/ 1 h 110"/>
                  <a:gd name="T10" fmla="*/ 25 w 1564"/>
                  <a:gd name="T11" fmla="*/ 2 h 110"/>
                  <a:gd name="T12" fmla="*/ 25 w 1564"/>
                  <a:gd name="T13" fmla="*/ 2 h 110"/>
                  <a:gd name="T14" fmla="*/ 25 w 1564"/>
                  <a:gd name="T15" fmla="*/ 2 h 110"/>
                  <a:gd name="T16" fmla="*/ 25 w 1564"/>
                  <a:gd name="T17" fmla="*/ 2 h 110"/>
                  <a:gd name="T18" fmla="*/ 22 w 1564"/>
                  <a:gd name="T19" fmla="*/ 2 h 110"/>
                  <a:gd name="T20" fmla="*/ 18 w 1564"/>
                  <a:gd name="T21" fmla="*/ 2 h 110"/>
                  <a:gd name="T22" fmla="*/ 7 w 1564"/>
                  <a:gd name="T23" fmla="*/ 1 h 110"/>
                  <a:gd name="T24" fmla="*/ 4 w 1564"/>
                  <a:gd name="T25" fmla="*/ 1 h 110"/>
                  <a:gd name="T26" fmla="*/ 1 w 1564"/>
                  <a:gd name="T27" fmla="*/ 1 h 110"/>
                  <a:gd name="T28" fmla="*/ 0 w 1564"/>
                  <a:gd name="T29" fmla="*/ 1 h 110"/>
                  <a:gd name="T30" fmla="*/ 1 w 1564"/>
                  <a:gd name="T31" fmla="*/ 0 h 110"/>
                  <a:gd name="T32" fmla="*/ 1 w 1564"/>
                  <a:gd name="T33" fmla="*/ 0 h 110"/>
                  <a:gd name="T34" fmla="*/ 1 w 1564"/>
                  <a:gd name="T35" fmla="*/ 0 h 11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564" h="110">
                    <a:moveTo>
                      <a:pt x="10" y="0"/>
                    </a:moveTo>
                    <a:lnTo>
                      <a:pt x="397" y="13"/>
                    </a:lnTo>
                    <a:lnTo>
                      <a:pt x="1136" y="43"/>
                    </a:lnTo>
                    <a:lnTo>
                      <a:pt x="1350" y="51"/>
                    </a:lnTo>
                    <a:lnTo>
                      <a:pt x="1541" y="63"/>
                    </a:lnTo>
                    <a:lnTo>
                      <a:pt x="1559" y="70"/>
                    </a:lnTo>
                    <a:lnTo>
                      <a:pt x="1564" y="86"/>
                    </a:lnTo>
                    <a:lnTo>
                      <a:pt x="1559" y="103"/>
                    </a:lnTo>
                    <a:lnTo>
                      <a:pt x="1541" y="110"/>
                    </a:lnTo>
                    <a:lnTo>
                      <a:pt x="1346" y="98"/>
                    </a:lnTo>
                    <a:lnTo>
                      <a:pt x="1132" y="90"/>
                    </a:lnTo>
                    <a:lnTo>
                      <a:pt x="394" y="47"/>
                    </a:lnTo>
                    <a:lnTo>
                      <a:pt x="202" y="29"/>
                    </a:lnTo>
                    <a:lnTo>
                      <a:pt x="10" y="19"/>
                    </a:lnTo>
                    <a:lnTo>
                      <a:pt x="0" y="9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70" name="Freeform 108">
                <a:extLst>
                  <a:ext uri="{FF2B5EF4-FFF2-40B4-BE49-F238E27FC236}">
                    <a16:creationId xmlns:a16="http://schemas.microsoft.com/office/drawing/2014/main" id="{8D2E2BCE-0982-C4EC-8287-7CB1FBF617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2" y="2660"/>
                <a:ext cx="712" cy="42"/>
              </a:xfrm>
              <a:custGeom>
                <a:avLst/>
                <a:gdLst>
                  <a:gd name="T0" fmla="*/ 1 w 1424"/>
                  <a:gd name="T1" fmla="*/ 0 h 85"/>
                  <a:gd name="T2" fmla="*/ 5 w 1424"/>
                  <a:gd name="T3" fmla="*/ 0 h 85"/>
                  <a:gd name="T4" fmla="*/ 11 w 1424"/>
                  <a:gd name="T5" fmla="*/ 0 h 85"/>
                  <a:gd name="T6" fmla="*/ 15 w 1424"/>
                  <a:gd name="T7" fmla="*/ 0 h 85"/>
                  <a:gd name="T8" fmla="*/ 18 w 1424"/>
                  <a:gd name="T9" fmla="*/ 0 h 85"/>
                  <a:gd name="T10" fmla="*/ 20 w 1424"/>
                  <a:gd name="T11" fmla="*/ 0 h 85"/>
                  <a:gd name="T12" fmla="*/ 23 w 1424"/>
                  <a:gd name="T13" fmla="*/ 0 h 85"/>
                  <a:gd name="T14" fmla="*/ 23 w 1424"/>
                  <a:gd name="T15" fmla="*/ 1 h 85"/>
                  <a:gd name="T16" fmla="*/ 23 w 1424"/>
                  <a:gd name="T17" fmla="*/ 1 h 85"/>
                  <a:gd name="T18" fmla="*/ 20 w 1424"/>
                  <a:gd name="T19" fmla="*/ 1 h 85"/>
                  <a:gd name="T20" fmla="*/ 18 w 1424"/>
                  <a:gd name="T21" fmla="*/ 1 h 85"/>
                  <a:gd name="T22" fmla="*/ 11 w 1424"/>
                  <a:gd name="T23" fmla="*/ 1 h 85"/>
                  <a:gd name="T24" fmla="*/ 8 w 1424"/>
                  <a:gd name="T25" fmla="*/ 0 h 85"/>
                  <a:gd name="T26" fmla="*/ 5 w 1424"/>
                  <a:gd name="T27" fmla="*/ 0 h 85"/>
                  <a:gd name="T28" fmla="*/ 1 w 1424"/>
                  <a:gd name="T29" fmla="*/ 0 h 85"/>
                  <a:gd name="T30" fmla="*/ 0 w 1424"/>
                  <a:gd name="T31" fmla="*/ 0 h 85"/>
                  <a:gd name="T32" fmla="*/ 1 w 1424"/>
                  <a:gd name="T33" fmla="*/ 0 h 85"/>
                  <a:gd name="T34" fmla="*/ 1 w 1424"/>
                  <a:gd name="T35" fmla="*/ 0 h 85"/>
                  <a:gd name="T36" fmla="*/ 1 w 1424"/>
                  <a:gd name="T37" fmla="*/ 0 h 85"/>
                  <a:gd name="T38" fmla="*/ 1 w 1424"/>
                  <a:gd name="T39" fmla="*/ 0 h 8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424" h="85">
                    <a:moveTo>
                      <a:pt x="15" y="4"/>
                    </a:moveTo>
                    <a:lnTo>
                      <a:pt x="273" y="0"/>
                    </a:lnTo>
                    <a:lnTo>
                      <a:pt x="698" y="15"/>
                    </a:lnTo>
                    <a:lnTo>
                      <a:pt x="897" y="27"/>
                    </a:lnTo>
                    <a:lnTo>
                      <a:pt x="1123" y="37"/>
                    </a:lnTo>
                    <a:lnTo>
                      <a:pt x="1270" y="47"/>
                    </a:lnTo>
                    <a:lnTo>
                      <a:pt x="1415" y="55"/>
                    </a:lnTo>
                    <a:lnTo>
                      <a:pt x="1424" y="64"/>
                    </a:lnTo>
                    <a:lnTo>
                      <a:pt x="1415" y="74"/>
                    </a:lnTo>
                    <a:lnTo>
                      <a:pt x="1268" y="80"/>
                    </a:lnTo>
                    <a:lnTo>
                      <a:pt x="1121" y="85"/>
                    </a:lnTo>
                    <a:lnTo>
                      <a:pt x="697" y="64"/>
                    </a:lnTo>
                    <a:lnTo>
                      <a:pt x="498" y="53"/>
                    </a:lnTo>
                    <a:lnTo>
                      <a:pt x="273" y="50"/>
                    </a:lnTo>
                    <a:lnTo>
                      <a:pt x="17" y="37"/>
                    </a:lnTo>
                    <a:lnTo>
                      <a:pt x="0" y="21"/>
                    </a:lnTo>
                    <a:lnTo>
                      <a:pt x="4" y="9"/>
                    </a:lnTo>
                    <a:lnTo>
                      <a:pt x="1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71" name="Freeform 109">
                <a:extLst>
                  <a:ext uri="{FF2B5EF4-FFF2-40B4-BE49-F238E27FC236}">
                    <a16:creationId xmlns:a16="http://schemas.microsoft.com/office/drawing/2014/main" id="{9C97AC8D-8BF7-78B5-6B53-2E7AC1E149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1" y="2539"/>
                <a:ext cx="95" cy="141"/>
              </a:xfrm>
              <a:custGeom>
                <a:avLst/>
                <a:gdLst>
                  <a:gd name="T0" fmla="*/ 1 w 190"/>
                  <a:gd name="T1" fmla="*/ 1 h 281"/>
                  <a:gd name="T2" fmla="*/ 1 w 190"/>
                  <a:gd name="T3" fmla="*/ 1 h 281"/>
                  <a:gd name="T4" fmla="*/ 1 w 190"/>
                  <a:gd name="T5" fmla="*/ 2 h 281"/>
                  <a:gd name="T6" fmla="*/ 2 w 190"/>
                  <a:gd name="T7" fmla="*/ 2 h 281"/>
                  <a:gd name="T8" fmla="*/ 2 w 190"/>
                  <a:gd name="T9" fmla="*/ 3 h 281"/>
                  <a:gd name="T10" fmla="*/ 3 w 190"/>
                  <a:gd name="T11" fmla="*/ 5 h 281"/>
                  <a:gd name="T12" fmla="*/ 3 w 190"/>
                  <a:gd name="T13" fmla="*/ 5 h 281"/>
                  <a:gd name="T14" fmla="*/ 3 w 190"/>
                  <a:gd name="T15" fmla="*/ 5 h 281"/>
                  <a:gd name="T16" fmla="*/ 3 w 190"/>
                  <a:gd name="T17" fmla="*/ 5 h 281"/>
                  <a:gd name="T18" fmla="*/ 3 w 190"/>
                  <a:gd name="T19" fmla="*/ 4 h 281"/>
                  <a:gd name="T20" fmla="*/ 2 w 190"/>
                  <a:gd name="T21" fmla="*/ 4 h 281"/>
                  <a:gd name="T22" fmla="*/ 2 w 190"/>
                  <a:gd name="T23" fmla="*/ 3 h 281"/>
                  <a:gd name="T24" fmla="*/ 1 w 190"/>
                  <a:gd name="T25" fmla="*/ 2 h 281"/>
                  <a:gd name="T26" fmla="*/ 0 w 190"/>
                  <a:gd name="T27" fmla="*/ 1 h 281"/>
                  <a:gd name="T28" fmla="*/ 1 w 190"/>
                  <a:gd name="T29" fmla="*/ 0 h 281"/>
                  <a:gd name="T30" fmla="*/ 1 w 190"/>
                  <a:gd name="T31" fmla="*/ 1 h 281"/>
                  <a:gd name="T32" fmla="*/ 1 w 190"/>
                  <a:gd name="T33" fmla="*/ 1 h 281"/>
                  <a:gd name="T34" fmla="*/ 1 w 190"/>
                  <a:gd name="T35" fmla="*/ 1 h 28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90" h="281">
                    <a:moveTo>
                      <a:pt x="16" y="5"/>
                    </a:moveTo>
                    <a:lnTo>
                      <a:pt x="35" y="45"/>
                    </a:lnTo>
                    <a:lnTo>
                      <a:pt x="54" y="79"/>
                    </a:lnTo>
                    <a:lnTo>
                      <a:pt x="77" y="112"/>
                    </a:lnTo>
                    <a:lnTo>
                      <a:pt x="106" y="148"/>
                    </a:lnTo>
                    <a:lnTo>
                      <a:pt x="190" y="259"/>
                    </a:lnTo>
                    <a:lnTo>
                      <a:pt x="185" y="276"/>
                    </a:lnTo>
                    <a:lnTo>
                      <a:pt x="171" y="281"/>
                    </a:lnTo>
                    <a:lnTo>
                      <a:pt x="149" y="262"/>
                    </a:lnTo>
                    <a:lnTo>
                      <a:pt x="142" y="233"/>
                    </a:lnTo>
                    <a:lnTo>
                      <a:pt x="125" y="210"/>
                    </a:lnTo>
                    <a:lnTo>
                      <a:pt x="82" y="167"/>
                    </a:lnTo>
                    <a:lnTo>
                      <a:pt x="34" y="93"/>
                    </a:lnTo>
                    <a:lnTo>
                      <a:pt x="0" y="12"/>
                    </a:lnTo>
                    <a:lnTo>
                      <a:pt x="5" y="0"/>
                    </a:lnTo>
                    <a:lnTo>
                      <a:pt x="1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72" name="Freeform 110">
                <a:extLst>
                  <a:ext uri="{FF2B5EF4-FFF2-40B4-BE49-F238E27FC236}">
                    <a16:creationId xmlns:a16="http://schemas.microsoft.com/office/drawing/2014/main" id="{29124DCB-A118-49E9-1900-3ED6B46890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5" y="2693"/>
                <a:ext cx="54" cy="54"/>
              </a:xfrm>
              <a:custGeom>
                <a:avLst/>
                <a:gdLst>
                  <a:gd name="T0" fmla="*/ 1 w 109"/>
                  <a:gd name="T1" fmla="*/ 1 h 108"/>
                  <a:gd name="T2" fmla="*/ 1 w 109"/>
                  <a:gd name="T3" fmla="*/ 1 h 108"/>
                  <a:gd name="T4" fmla="*/ 1 w 109"/>
                  <a:gd name="T5" fmla="*/ 1 h 108"/>
                  <a:gd name="T6" fmla="*/ 0 w 109"/>
                  <a:gd name="T7" fmla="*/ 2 h 108"/>
                  <a:gd name="T8" fmla="*/ 0 w 109"/>
                  <a:gd name="T9" fmla="*/ 2 h 108"/>
                  <a:gd name="T10" fmla="*/ 0 w 109"/>
                  <a:gd name="T11" fmla="*/ 2 h 108"/>
                  <a:gd name="T12" fmla="*/ 0 w 109"/>
                  <a:gd name="T13" fmla="*/ 2 h 108"/>
                  <a:gd name="T14" fmla="*/ 1 w 109"/>
                  <a:gd name="T15" fmla="*/ 1 h 108"/>
                  <a:gd name="T16" fmla="*/ 1 w 109"/>
                  <a:gd name="T17" fmla="*/ 0 h 108"/>
                  <a:gd name="T18" fmla="*/ 1 w 109"/>
                  <a:gd name="T19" fmla="*/ 1 h 108"/>
                  <a:gd name="T20" fmla="*/ 1 w 109"/>
                  <a:gd name="T21" fmla="*/ 1 h 108"/>
                  <a:gd name="T22" fmla="*/ 1 w 109"/>
                  <a:gd name="T23" fmla="*/ 1 h 10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09" h="108">
                    <a:moveTo>
                      <a:pt x="109" y="14"/>
                    </a:moveTo>
                    <a:lnTo>
                      <a:pt x="90" y="41"/>
                    </a:lnTo>
                    <a:lnTo>
                      <a:pt x="71" y="64"/>
                    </a:lnTo>
                    <a:lnTo>
                      <a:pt x="28" y="108"/>
                    </a:lnTo>
                    <a:lnTo>
                      <a:pt x="4" y="108"/>
                    </a:lnTo>
                    <a:lnTo>
                      <a:pt x="0" y="98"/>
                    </a:lnTo>
                    <a:lnTo>
                      <a:pt x="4" y="85"/>
                    </a:lnTo>
                    <a:lnTo>
                      <a:pt x="93" y="3"/>
                    </a:lnTo>
                    <a:lnTo>
                      <a:pt x="107" y="0"/>
                    </a:lnTo>
                    <a:lnTo>
                      <a:pt x="109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73" name="Freeform 111">
                <a:extLst>
                  <a:ext uri="{FF2B5EF4-FFF2-40B4-BE49-F238E27FC236}">
                    <a16:creationId xmlns:a16="http://schemas.microsoft.com/office/drawing/2014/main" id="{C0819209-A3EB-91C2-919A-474F2B0EF5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3" y="2713"/>
                <a:ext cx="999" cy="41"/>
              </a:xfrm>
              <a:custGeom>
                <a:avLst/>
                <a:gdLst>
                  <a:gd name="T0" fmla="*/ 0 w 2000"/>
                  <a:gd name="T1" fmla="*/ 1 h 81"/>
                  <a:gd name="T2" fmla="*/ 1 w 2000"/>
                  <a:gd name="T3" fmla="*/ 1 h 81"/>
                  <a:gd name="T4" fmla="*/ 3 w 2000"/>
                  <a:gd name="T5" fmla="*/ 1 h 81"/>
                  <a:gd name="T6" fmla="*/ 4 w 2000"/>
                  <a:gd name="T7" fmla="*/ 1 h 81"/>
                  <a:gd name="T8" fmla="*/ 7 w 2000"/>
                  <a:gd name="T9" fmla="*/ 0 h 81"/>
                  <a:gd name="T10" fmla="*/ 8 w 2000"/>
                  <a:gd name="T11" fmla="*/ 0 h 81"/>
                  <a:gd name="T12" fmla="*/ 19 w 2000"/>
                  <a:gd name="T13" fmla="*/ 1 h 81"/>
                  <a:gd name="T14" fmla="*/ 20 w 2000"/>
                  <a:gd name="T15" fmla="*/ 1 h 81"/>
                  <a:gd name="T16" fmla="*/ 21 w 2000"/>
                  <a:gd name="T17" fmla="*/ 1 h 81"/>
                  <a:gd name="T18" fmla="*/ 23 w 2000"/>
                  <a:gd name="T19" fmla="*/ 1 h 81"/>
                  <a:gd name="T20" fmla="*/ 24 w 2000"/>
                  <a:gd name="T21" fmla="*/ 1 h 81"/>
                  <a:gd name="T22" fmla="*/ 30 w 2000"/>
                  <a:gd name="T23" fmla="*/ 1 h 81"/>
                  <a:gd name="T24" fmla="*/ 31 w 2000"/>
                  <a:gd name="T25" fmla="*/ 1 h 81"/>
                  <a:gd name="T26" fmla="*/ 30 w 2000"/>
                  <a:gd name="T27" fmla="*/ 2 h 81"/>
                  <a:gd name="T28" fmla="*/ 30 w 2000"/>
                  <a:gd name="T29" fmla="*/ 2 h 81"/>
                  <a:gd name="T30" fmla="*/ 27 w 2000"/>
                  <a:gd name="T31" fmla="*/ 2 h 81"/>
                  <a:gd name="T32" fmla="*/ 24 w 2000"/>
                  <a:gd name="T33" fmla="*/ 1 h 81"/>
                  <a:gd name="T34" fmla="*/ 23 w 2000"/>
                  <a:gd name="T35" fmla="*/ 1 h 81"/>
                  <a:gd name="T36" fmla="*/ 21 w 2000"/>
                  <a:gd name="T37" fmla="*/ 1 h 81"/>
                  <a:gd name="T38" fmla="*/ 20 w 2000"/>
                  <a:gd name="T39" fmla="*/ 1 h 81"/>
                  <a:gd name="T40" fmla="*/ 19 w 2000"/>
                  <a:gd name="T41" fmla="*/ 1 h 81"/>
                  <a:gd name="T42" fmla="*/ 8 w 2000"/>
                  <a:gd name="T43" fmla="*/ 1 h 81"/>
                  <a:gd name="T44" fmla="*/ 7 w 2000"/>
                  <a:gd name="T45" fmla="*/ 1 h 81"/>
                  <a:gd name="T46" fmla="*/ 4 w 2000"/>
                  <a:gd name="T47" fmla="*/ 1 h 81"/>
                  <a:gd name="T48" fmla="*/ 2 w 2000"/>
                  <a:gd name="T49" fmla="*/ 1 h 81"/>
                  <a:gd name="T50" fmla="*/ 0 w 2000"/>
                  <a:gd name="T51" fmla="*/ 1 h 81"/>
                  <a:gd name="T52" fmla="*/ 0 w 2000"/>
                  <a:gd name="T53" fmla="*/ 1 h 81"/>
                  <a:gd name="T54" fmla="*/ 0 w 2000"/>
                  <a:gd name="T55" fmla="*/ 1 h 81"/>
                  <a:gd name="T56" fmla="*/ 0 w 2000"/>
                  <a:gd name="T57" fmla="*/ 1 h 81"/>
                  <a:gd name="T58" fmla="*/ 0 w 2000"/>
                  <a:gd name="T59" fmla="*/ 1 h 81"/>
                  <a:gd name="T60" fmla="*/ 0 w 2000"/>
                  <a:gd name="T61" fmla="*/ 1 h 81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2000" h="81">
                    <a:moveTo>
                      <a:pt x="17" y="14"/>
                    </a:moveTo>
                    <a:lnTo>
                      <a:pt x="127" y="23"/>
                    </a:lnTo>
                    <a:lnTo>
                      <a:pt x="215" y="10"/>
                    </a:lnTo>
                    <a:lnTo>
                      <a:pt x="293" y="2"/>
                    </a:lnTo>
                    <a:lnTo>
                      <a:pt x="459" y="0"/>
                    </a:lnTo>
                    <a:lnTo>
                      <a:pt x="528" y="0"/>
                    </a:lnTo>
                    <a:lnTo>
                      <a:pt x="1261" y="14"/>
                    </a:lnTo>
                    <a:lnTo>
                      <a:pt x="1322" y="15"/>
                    </a:lnTo>
                    <a:lnTo>
                      <a:pt x="1353" y="16"/>
                    </a:lnTo>
                    <a:lnTo>
                      <a:pt x="1533" y="21"/>
                    </a:lnTo>
                    <a:lnTo>
                      <a:pt x="1564" y="27"/>
                    </a:lnTo>
                    <a:lnTo>
                      <a:pt x="1951" y="40"/>
                    </a:lnTo>
                    <a:lnTo>
                      <a:pt x="2000" y="40"/>
                    </a:lnTo>
                    <a:lnTo>
                      <a:pt x="1982" y="75"/>
                    </a:lnTo>
                    <a:lnTo>
                      <a:pt x="1951" y="81"/>
                    </a:lnTo>
                    <a:lnTo>
                      <a:pt x="1756" y="71"/>
                    </a:lnTo>
                    <a:lnTo>
                      <a:pt x="1562" y="61"/>
                    </a:lnTo>
                    <a:lnTo>
                      <a:pt x="1531" y="59"/>
                    </a:lnTo>
                    <a:lnTo>
                      <a:pt x="1351" y="54"/>
                    </a:lnTo>
                    <a:lnTo>
                      <a:pt x="1320" y="49"/>
                    </a:lnTo>
                    <a:lnTo>
                      <a:pt x="1261" y="52"/>
                    </a:lnTo>
                    <a:lnTo>
                      <a:pt x="528" y="37"/>
                    </a:lnTo>
                    <a:lnTo>
                      <a:pt x="459" y="37"/>
                    </a:lnTo>
                    <a:lnTo>
                      <a:pt x="294" y="30"/>
                    </a:lnTo>
                    <a:lnTo>
                      <a:pt x="129" y="42"/>
                    </a:lnTo>
                    <a:lnTo>
                      <a:pt x="11" y="42"/>
                    </a:lnTo>
                    <a:lnTo>
                      <a:pt x="0" y="25"/>
                    </a:lnTo>
                    <a:lnTo>
                      <a:pt x="5" y="16"/>
                    </a:lnTo>
                    <a:lnTo>
                      <a:pt x="17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74" name="Freeform 112">
                <a:extLst>
                  <a:ext uri="{FF2B5EF4-FFF2-40B4-BE49-F238E27FC236}">
                    <a16:creationId xmlns:a16="http://schemas.microsoft.com/office/drawing/2014/main" id="{2C9EEDDF-832A-20A0-F98D-23F0AB1A8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1" y="2546"/>
                <a:ext cx="533" cy="56"/>
              </a:xfrm>
              <a:custGeom>
                <a:avLst/>
                <a:gdLst>
                  <a:gd name="T0" fmla="*/ 1 w 1066"/>
                  <a:gd name="T1" fmla="*/ 0 h 111"/>
                  <a:gd name="T2" fmla="*/ 5 w 1066"/>
                  <a:gd name="T3" fmla="*/ 1 h 111"/>
                  <a:gd name="T4" fmla="*/ 7 w 1066"/>
                  <a:gd name="T5" fmla="*/ 1 h 111"/>
                  <a:gd name="T6" fmla="*/ 9 w 1066"/>
                  <a:gd name="T7" fmla="*/ 1 h 111"/>
                  <a:gd name="T8" fmla="*/ 14 w 1066"/>
                  <a:gd name="T9" fmla="*/ 2 h 111"/>
                  <a:gd name="T10" fmla="*/ 16 w 1066"/>
                  <a:gd name="T11" fmla="*/ 2 h 111"/>
                  <a:gd name="T12" fmla="*/ 17 w 1066"/>
                  <a:gd name="T13" fmla="*/ 2 h 111"/>
                  <a:gd name="T14" fmla="*/ 17 w 1066"/>
                  <a:gd name="T15" fmla="*/ 2 h 111"/>
                  <a:gd name="T16" fmla="*/ 17 w 1066"/>
                  <a:gd name="T17" fmla="*/ 2 h 111"/>
                  <a:gd name="T18" fmla="*/ 14 w 1066"/>
                  <a:gd name="T19" fmla="*/ 2 h 111"/>
                  <a:gd name="T20" fmla="*/ 5 w 1066"/>
                  <a:gd name="T21" fmla="*/ 1 h 111"/>
                  <a:gd name="T22" fmla="*/ 1 w 1066"/>
                  <a:gd name="T23" fmla="*/ 1 h 111"/>
                  <a:gd name="T24" fmla="*/ 0 w 1066"/>
                  <a:gd name="T25" fmla="*/ 1 h 111"/>
                  <a:gd name="T26" fmla="*/ 1 w 1066"/>
                  <a:gd name="T27" fmla="*/ 1 h 111"/>
                  <a:gd name="T28" fmla="*/ 1 w 1066"/>
                  <a:gd name="T29" fmla="*/ 0 h 111"/>
                  <a:gd name="T30" fmla="*/ 1 w 1066"/>
                  <a:gd name="T31" fmla="*/ 0 h 111"/>
                  <a:gd name="T32" fmla="*/ 1 w 1066"/>
                  <a:gd name="T33" fmla="*/ 0 h 11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066" h="111">
                    <a:moveTo>
                      <a:pt x="19" y="0"/>
                    </a:moveTo>
                    <a:lnTo>
                      <a:pt x="267" y="10"/>
                    </a:lnTo>
                    <a:lnTo>
                      <a:pt x="429" y="26"/>
                    </a:lnTo>
                    <a:lnTo>
                      <a:pt x="571" y="39"/>
                    </a:lnTo>
                    <a:lnTo>
                      <a:pt x="876" y="65"/>
                    </a:lnTo>
                    <a:lnTo>
                      <a:pt x="966" y="79"/>
                    </a:lnTo>
                    <a:lnTo>
                      <a:pt x="1057" y="91"/>
                    </a:lnTo>
                    <a:lnTo>
                      <a:pt x="1066" y="101"/>
                    </a:lnTo>
                    <a:lnTo>
                      <a:pt x="1057" y="110"/>
                    </a:lnTo>
                    <a:lnTo>
                      <a:pt x="872" y="111"/>
                    </a:lnTo>
                    <a:lnTo>
                      <a:pt x="261" y="54"/>
                    </a:lnTo>
                    <a:lnTo>
                      <a:pt x="16" y="34"/>
                    </a:lnTo>
                    <a:lnTo>
                      <a:pt x="0" y="15"/>
                    </a:lnTo>
                    <a:lnTo>
                      <a:pt x="7" y="2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75" name="Freeform 113">
                <a:extLst>
                  <a:ext uri="{FF2B5EF4-FFF2-40B4-BE49-F238E27FC236}">
                    <a16:creationId xmlns:a16="http://schemas.microsoft.com/office/drawing/2014/main" id="{385AFB0D-3126-D6A3-0BEB-FE4E192769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4" y="2597"/>
                <a:ext cx="388" cy="41"/>
              </a:xfrm>
              <a:custGeom>
                <a:avLst/>
                <a:gdLst>
                  <a:gd name="T0" fmla="*/ 1 w 776"/>
                  <a:gd name="T1" fmla="*/ 0 h 82"/>
                  <a:gd name="T2" fmla="*/ 4 w 776"/>
                  <a:gd name="T3" fmla="*/ 1 h 82"/>
                  <a:gd name="T4" fmla="*/ 7 w 776"/>
                  <a:gd name="T5" fmla="*/ 1 h 82"/>
                  <a:gd name="T6" fmla="*/ 10 w 776"/>
                  <a:gd name="T7" fmla="*/ 1 h 82"/>
                  <a:gd name="T8" fmla="*/ 11 w 776"/>
                  <a:gd name="T9" fmla="*/ 1 h 82"/>
                  <a:gd name="T10" fmla="*/ 12 w 776"/>
                  <a:gd name="T11" fmla="*/ 1 h 82"/>
                  <a:gd name="T12" fmla="*/ 13 w 776"/>
                  <a:gd name="T13" fmla="*/ 2 h 82"/>
                  <a:gd name="T14" fmla="*/ 12 w 776"/>
                  <a:gd name="T15" fmla="*/ 2 h 82"/>
                  <a:gd name="T16" fmla="*/ 7 w 776"/>
                  <a:gd name="T17" fmla="*/ 1 h 82"/>
                  <a:gd name="T18" fmla="*/ 4 w 776"/>
                  <a:gd name="T19" fmla="*/ 1 h 82"/>
                  <a:gd name="T20" fmla="*/ 2 w 776"/>
                  <a:gd name="T21" fmla="*/ 1 h 82"/>
                  <a:gd name="T22" fmla="*/ 1 w 776"/>
                  <a:gd name="T23" fmla="*/ 1 h 82"/>
                  <a:gd name="T24" fmla="*/ 0 w 776"/>
                  <a:gd name="T25" fmla="*/ 1 h 82"/>
                  <a:gd name="T26" fmla="*/ 1 w 776"/>
                  <a:gd name="T27" fmla="*/ 0 h 82"/>
                  <a:gd name="T28" fmla="*/ 1 w 776"/>
                  <a:gd name="T29" fmla="*/ 0 h 82"/>
                  <a:gd name="T30" fmla="*/ 1 w 776"/>
                  <a:gd name="T31" fmla="*/ 0 h 8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776" h="82">
                    <a:moveTo>
                      <a:pt x="10" y="0"/>
                    </a:moveTo>
                    <a:lnTo>
                      <a:pt x="245" y="10"/>
                    </a:lnTo>
                    <a:lnTo>
                      <a:pt x="388" y="21"/>
                    </a:lnTo>
                    <a:lnTo>
                      <a:pt x="578" y="40"/>
                    </a:lnTo>
                    <a:lnTo>
                      <a:pt x="665" y="53"/>
                    </a:lnTo>
                    <a:lnTo>
                      <a:pt x="767" y="64"/>
                    </a:lnTo>
                    <a:lnTo>
                      <a:pt x="776" y="75"/>
                    </a:lnTo>
                    <a:lnTo>
                      <a:pt x="766" y="82"/>
                    </a:lnTo>
                    <a:lnTo>
                      <a:pt x="387" y="62"/>
                    </a:lnTo>
                    <a:lnTo>
                      <a:pt x="241" y="51"/>
                    </a:lnTo>
                    <a:lnTo>
                      <a:pt x="126" y="30"/>
                    </a:lnTo>
                    <a:lnTo>
                      <a:pt x="10" y="19"/>
                    </a:lnTo>
                    <a:lnTo>
                      <a:pt x="0" y="9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76" name="Freeform 114">
                <a:extLst>
                  <a:ext uri="{FF2B5EF4-FFF2-40B4-BE49-F238E27FC236}">
                    <a16:creationId xmlns:a16="http://schemas.microsoft.com/office/drawing/2014/main" id="{CDCC5E15-494A-B6E9-48C8-89BBAA73BB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9" y="2585"/>
                <a:ext cx="117" cy="23"/>
              </a:xfrm>
              <a:custGeom>
                <a:avLst/>
                <a:gdLst>
                  <a:gd name="T0" fmla="*/ 1 w 234"/>
                  <a:gd name="T1" fmla="*/ 0 h 45"/>
                  <a:gd name="T2" fmla="*/ 4 w 234"/>
                  <a:gd name="T3" fmla="*/ 1 h 45"/>
                  <a:gd name="T4" fmla="*/ 4 w 234"/>
                  <a:gd name="T5" fmla="*/ 1 h 45"/>
                  <a:gd name="T6" fmla="*/ 4 w 234"/>
                  <a:gd name="T7" fmla="*/ 1 h 45"/>
                  <a:gd name="T8" fmla="*/ 4 w 234"/>
                  <a:gd name="T9" fmla="*/ 1 h 45"/>
                  <a:gd name="T10" fmla="*/ 2 w 234"/>
                  <a:gd name="T11" fmla="*/ 1 h 45"/>
                  <a:gd name="T12" fmla="*/ 1 w 234"/>
                  <a:gd name="T13" fmla="*/ 1 h 45"/>
                  <a:gd name="T14" fmla="*/ 0 w 234"/>
                  <a:gd name="T15" fmla="*/ 1 h 45"/>
                  <a:gd name="T16" fmla="*/ 1 w 234"/>
                  <a:gd name="T17" fmla="*/ 0 h 45"/>
                  <a:gd name="T18" fmla="*/ 1 w 234"/>
                  <a:gd name="T19" fmla="*/ 0 h 45"/>
                  <a:gd name="T20" fmla="*/ 1 w 234"/>
                  <a:gd name="T21" fmla="*/ 0 h 4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34" h="45">
                    <a:moveTo>
                      <a:pt x="10" y="0"/>
                    </a:moveTo>
                    <a:lnTo>
                      <a:pt x="214" y="5"/>
                    </a:lnTo>
                    <a:lnTo>
                      <a:pt x="234" y="25"/>
                    </a:lnTo>
                    <a:lnTo>
                      <a:pt x="229" y="39"/>
                    </a:lnTo>
                    <a:lnTo>
                      <a:pt x="214" y="45"/>
                    </a:lnTo>
                    <a:lnTo>
                      <a:pt x="110" y="35"/>
                    </a:lnTo>
                    <a:lnTo>
                      <a:pt x="7" y="19"/>
                    </a:lnTo>
                    <a:lnTo>
                      <a:pt x="0" y="9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77" name="Freeform 115">
                <a:extLst>
                  <a:ext uri="{FF2B5EF4-FFF2-40B4-BE49-F238E27FC236}">
                    <a16:creationId xmlns:a16="http://schemas.microsoft.com/office/drawing/2014/main" id="{43CDCDC2-80A6-C00D-47AB-15F0659E60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5" y="2615"/>
                <a:ext cx="119" cy="20"/>
              </a:xfrm>
              <a:custGeom>
                <a:avLst/>
                <a:gdLst>
                  <a:gd name="T0" fmla="*/ 1 w 238"/>
                  <a:gd name="T1" fmla="*/ 0 h 41"/>
                  <a:gd name="T2" fmla="*/ 2 w 238"/>
                  <a:gd name="T3" fmla="*/ 0 h 41"/>
                  <a:gd name="T4" fmla="*/ 4 w 238"/>
                  <a:gd name="T5" fmla="*/ 0 h 41"/>
                  <a:gd name="T6" fmla="*/ 4 w 238"/>
                  <a:gd name="T7" fmla="*/ 0 h 41"/>
                  <a:gd name="T8" fmla="*/ 4 w 238"/>
                  <a:gd name="T9" fmla="*/ 0 h 41"/>
                  <a:gd name="T10" fmla="*/ 4 w 238"/>
                  <a:gd name="T11" fmla="*/ 0 h 41"/>
                  <a:gd name="T12" fmla="*/ 2 w 238"/>
                  <a:gd name="T13" fmla="*/ 0 h 41"/>
                  <a:gd name="T14" fmla="*/ 1 w 238"/>
                  <a:gd name="T15" fmla="*/ 0 h 41"/>
                  <a:gd name="T16" fmla="*/ 0 w 238"/>
                  <a:gd name="T17" fmla="*/ 0 h 41"/>
                  <a:gd name="T18" fmla="*/ 1 w 238"/>
                  <a:gd name="T19" fmla="*/ 0 h 41"/>
                  <a:gd name="T20" fmla="*/ 1 w 238"/>
                  <a:gd name="T21" fmla="*/ 0 h 41"/>
                  <a:gd name="T22" fmla="*/ 1 w 238"/>
                  <a:gd name="T23" fmla="*/ 0 h 4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38" h="41">
                    <a:moveTo>
                      <a:pt x="10" y="13"/>
                    </a:moveTo>
                    <a:lnTo>
                      <a:pt x="113" y="12"/>
                    </a:lnTo>
                    <a:lnTo>
                      <a:pt x="216" y="0"/>
                    </a:lnTo>
                    <a:lnTo>
                      <a:pt x="238" y="19"/>
                    </a:lnTo>
                    <a:lnTo>
                      <a:pt x="234" y="33"/>
                    </a:lnTo>
                    <a:lnTo>
                      <a:pt x="220" y="41"/>
                    </a:lnTo>
                    <a:lnTo>
                      <a:pt x="114" y="41"/>
                    </a:lnTo>
                    <a:lnTo>
                      <a:pt x="7" y="32"/>
                    </a:lnTo>
                    <a:lnTo>
                      <a:pt x="0" y="22"/>
                    </a:lnTo>
                    <a:lnTo>
                      <a:pt x="10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78" name="Freeform 116">
                <a:extLst>
                  <a:ext uri="{FF2B5EF4-FFF2-40B4-BE49-F238E27FC236}">
                    <a16:creationId xmlns:a16="http://schemas.microsoft.com/office/drawing/2014/main" id="{95503700-35DE-2F96-59F8-A58F1E7CD3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5" y="2650"/>
                <a:ext cx="137" cy="24"/>
              </a:xfrm>
              <a:custGeom>
                <a:avLst/>
                <a:gdLst>
                  <a:gd name="T0" fmla="*/ 1 w 274"/>
                  <a:gd name="T1" fmla="*/ 1 h 48"/>
                  <a:gd name="T2" fmla="*/ 4 w 274"/>
                  <a:gd name="T3" fmla="*/ 1 h 48"/>
                  <a:gd name="T4" fmla="*/ 5 w 274"/>
                  <a:gd name="T5" fmla="*/ 0 h 48"/>
                  <a:gd name="T6" fmla="*/ 5 w 274"/>
                  <a:gd name="T7" fmla="*/ 1 h 48"/>
                  <a:gd name="T8" fmla="*/ 5 w 274"/>
                  <a:gd name="T9" fmla="*/ 1 h 48"/>
                  <a:gd name="T10" fmla="*/ 4 w 274"/>
                  <a:gd name="T11" fmla="*/ 1 h 48"/>
                  <a:gd name="T12" fmla="*/ 4 w 274"/>
                  <a:gd name="T13" fmla="*/ 1 h 48"/>
                  <a:gd name="T14" fmla="*/ 2 w 274"/>
                  <a:gd name="T15" fmla="*/ 1 h 48"/>
                  <a:gd name="T16" fmla="*/ 1 w 274"/>
                  <a:gd name="T17" fmla="*/ 1 h 48"/>
                  <a:gd name="T18" fmla="*/ 0 w 274"/>
                  <a:gd name="T19" fmla="*/ 1 h 48"/>
                  <a:gd name="T20" fmla="*/ 1 w 274"/>
                  <a:gd name="T21" fmla="*/ 1 h 48"/>
                  <a:gd name="T22" fmla="*/ 1 w 274"/>
                  <a:gd name="T23" fmla="*/ 1 h 48"/>
                  <a:gd name="T24" fmla="*/ 1 w 274"/>
                  <a:gd name="T25" fmla="*/ 1 h 48"/>
                  <a:gd name="T26" fmla="*/ 1 w 274"/>
                  <a:gd name="T27" fmla="*/ 1 h 4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74" h="48">
                    <a:moveTo>
                      <a:pt x="17" y="11"/>
                    </a:moveTo>
                    <a:lnTo>
                      <a:pt x="218" y="9"/>
                    </a:lnTo>
                    <a:lnTo>
                      <a:pt x="262" y="0"/>
                    </a:lnTo>
                    <a:lnTo>
                      <a:pt x="274" y="6"/>
                    </a:lnTo>
                    <a:lnTo>
                      <a:pt x="269" y="18"/>
                    </a:lnTo>
                    <a:lnTo>
                      <a:pt x="247" y="32"/>
                    </a:lnTo>
                    <a:lnTo>
                      <a:pt x="224" y="46"/>
                    </a:lnTo>
                    <a:lnTo>
                      <a:pt x="120" y="48"/>
                    </a:lnTo>
                    <a:lnTo>
                      <a:pt x="17" y="44"/>
                    </a:lnTo>
                    <a:lnTo>
                      <a:pt x="0" y="28"/>
                    </a:lnTo>
                    <a:lnTo>
                      <a:pt x="4" y="16"/>
                    </a:lnTo>
                    <a:lnTo>
                      <a:pt x="17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79" name="Freeform 117">
                <a:extLst>
                  <a:ext uri="{FF2B5EF4-FFF2-40B4-BE49-F238E27FC236}">
                    <a16:creationId xmlns:a16="http://schemas.microsoft.com/office/drawing/2014/main" id="{A5C2F811-3B32-A7F8-819F-1E8A4EA01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2" y="1497"/>
                <a:ext cx="728" cy="198"/>
              </a:xfrm>
              <a:custGeom>
                <a:avLst/>
                <a:gdLst>
                  <a:gd name="T0" fmla="*/ 1 w 1456"/>
                  <a:gd name="T1" fmla="*/ 6 h 396"/>
                  <a:gd name="T2" fmla="*/ 1 w 1456"/>
                  <a:gd name="T3" fmla="*/ 6 h 396"/>
                  <a:gd name="T4" fmla="*/ 2 w 1456"/>
                  <a:gd name="T5" fmla="*/ 5 h 396"/>
                  <a:gd name="T6" fmla="*/ 4 w 1456"/>
                  <a:gd name="T7" fmla="*/ 5 h 396"/>
                  <a:gd name="T8" fmla="*/ 5 w 1456"/>
                  <a:gd name="T9" fmla="*/ 4 h 396"/>
                  <a:gd name="T10" fmla="*/ 7 w 1456"/>
                  <a:gd name="T11" fmla="*/ 3 h 396"/>
                  <a:gd name="T12" fmla="*/ 8 w 1456"/>
                  <a:gd name="T13" fmla="*/ 3 h 396"/>
                  <a:gd name="T14" fmla="*/ 9 w 1456"/>
                  <a:gd name="T15" fmla="*/ 3 h 396"/>
                  <a:gd name="T16" fmla="*/ 10 w 1456"/>
                  <a:gd name="T17" fmla="*/ 2 h 396"/>
                  <a:gd name="T18" fmla="*/ 12 w 1456"/>
                  <a:gd name="T19" fmla="*/ 2 h 396"/>
                  <a:gd name="T20" fmla="*/ 13 w 1456"/>
                  <a:gd name="T21" fmla="*/ 2 h 396"/>
                  <a:gd name="T22" fmla="*/ 15 w 1456"/>
                  <a:gd name="T23" fmla="*/ 1 h 396"/>
                  <a:gd name="T24" fmla="*/ 17 w 1456"/>
                  <a:gd name="T25" fmla="*/ 1 h 396"/>
                  <a:gd name="T26" fmla="*/ 19 w 1456"/>
                  <a:gd name="T27" fmla="*/ 1 h 396"/>
                  <a:gd name="T28" fmla="*/ 23 w 1456"/>
                  <a:gd name="T29" fmla="*/ 0 h 396"/>
                  <a:gd name="T30" fmla="*/ 23 w 1456"/>
                  <a:gd name="T31" fmla="*/ 1 h 396"/>
                  <a:gd name="T32" fmla="*/ 23 w 1456"/>
                  <a:gd name="T33" fmla="*/ 1 h 396"/>
                  <a:gd name="T34" fmla="*/ 19 w 1456"/>
                  <a:gd name="T35" fmla="*/ 1 h 396"/>
                  <a:gd name="T36" fmla="*/ 17 w 1456"/>
                  <a:gd name="T37" fmla="*/ 1 h 396"/>
                  <a:gd name="T38" fmla="*/ 15 w 1456"/>
                  <a:gd name="T39" fmla="*/ 2 h 396"/>
                  <a:gd name="T40" fmla="*/ 14 w 1456"/>
                  <a:gd name="T41" fmla="*/ 2 h 396"/>
                  <a:gd name="T42" fmla="*/ 12 w 1456"/>
                  <a:gd name="T43" fmla="*/ 3 h 396"/>
                  <a:gd name="T44" fmla="*/ 10 w 1456"/>
                  <a:gd name="T45" fmla="*/ 3 h 396"/>
                  <a:gd name="T46" fmla="*/ 8 w 1456"/>
                  <a:gd name="T47" fmla="*/ 4 h 396"/>
                  <a:gd name="T48" fmla="*/ 7 w 1456"/>
                  <a:gd name="T49" fmla="*/ 4 h 396"/>
                  <a:gd name="T50" fmla="*/ 5 w 1456"/>
                  <a:gd name="T51" fmla="*/ 5 h 396"/>
                  <a:gd name="T52" fmla="*/ 4 w 1456"/>
                  <a:gd name="T53" fmla="*/ 5 h 396"/>
                  <a:gd name="T54" fmla="*/ 2 w 1456"/>
                  <a:gd name="T55" fmla="*/ 6 h 396"/>
                  <a:gd name="T56" fmla="*/ 2 w 1456"/>
                  <a:gd name="T57" fmla="*/ 6 h 396"/>
                  <a:gd name="T58" fmla="*/ 1 w 1456"/>
                  <a:gd name="T59" fmla="*/ 7 h 396"/>
                  <a:gd name="T60" fmla="*/ 0 w 1456"/>
                  <a:gd name="T61" fmla="*/ 7 h 396"/>
                  <a:gd name="T62" fmla="*/ 1 w 1456"/>
                  <a:gd name="T63" fmla="*/ 6 h 396"/>
                  <a:gd name="T64" fmla="*/ 1 w 1456"/>
                  <a:gd name="T65" fmla="*/ 6 h 39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456" h="396">
                    <a:moveTo>
                      <a:pt x="3" y="380"/>
                    </a:moveTo>
                    <a:lnTo>
                      <a:pt x="55" y="343"/>
                    </a:lnTo>
                    <a:lnTo>
                      <a:pt x="104" y="311"/>
                    </a:lnTo>
                    <a:lnTo>
                      <a:pt x="199" y="262"/>
                    </a:lnTo>
                    <a:lnTo>
                      <a:pt x="301" y="223"/>
                    </a:lnTo>
                    <a:lnTo>
                      <a:pt x="419" y="188"/>
                    </a:lnTo>
                    <a:lnTo>
                      <a:pt x="498" y="166"/>
                    </a:lnTo>
                    <a:lnTo>
                      <a:pt x="567" y="143"/>
                    </a:lnTo>
                    <a:lnTo>
                      <a:pt x="636" y="121"/>
                    </a:lnTo>
                    <a:lnTo>
                      <a:pt x="716" y="104"/>
                    </a:lnTo>
                    <a:lnTo>
                      <a:pt x="830" y="76"/>
                    </a:lnTo>
                    <a:lnTo>
                      <a:pt x="947" y="43"/>
                    </a:lnTo>
                    <a:lnTo>
                      <a:pt x="1077" y="17"/>
                    </a:lnTo>
                    <a:lnTo>
                      <a:pt x="1194" y="5"/>
                    </a:lnTo>
                    <a:lnTo>
                      <a:pt x="1446" y="0"/>
                    </a:lnTo>
                    <a:lnTo>
                      <a:pt x="1456" y="10"/>
                    </a:lnTo>
                    <a:lnTo>
                      <a:pt x="1446" y="20"/>
                    </a:lnTo>
                    <a:lnTo>
                      <a:pt x="1200" y="39"/>
                    </a:lnTo>
                    <a:lnTo>
                      <a:pt x="1086" y="63"/>
                    </a:lnTo>
                    <a:lnTo>
                      <a:pt x="958" y="93"/>
                    </a:lnTo>
                    <a:lnTo>
                      <a:pt x="842" y="125"/>
                    </a:lnTo>
                    <a:lnTo>
                      <a:pt x="725" y="152"/>
                    </a:lnTo>
                    <a:lnTo>
                      <a:pt x="578" y="191"/>
                    </a:lnTo>
                    <a:lnTo>
                      <a:pt x="510" y="213"/>
                    </a:lnTo>
                    <a:lnTo>
                      <a:pt x="430" y="235"/>
                    </a:lnTo>
                    <a:lnTo>
                      <a:pt x="313" y="264"/>
                    </a:lnTo>
                    <a:lnTo>
                      <a:pt x="212" y="294"/>
                    </a:lnTo>
                    <a:lnTo>
                      <a:pt x="114" y="334"/>
                    </a:lnTo>
                    <a:lnTo>
                      <a:pt x="66" y="362"/>
                    </a:lnTo>
                    <a:lnTo>
                      <a:pt x="14" y="396"/>
                    </a:lnTo>
                    <a:lnTo>
                      <a:pt x="0" y="394"/>
                    </a:lnTo>
                    <a:lnTo>
                      <a:pt x="3" y="3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80" name="Freeform 118">
                <a:extLst>
                  <a:ext uri="{FF2B5EF4-FFF2-40B4-BE49-F238E27FC236}">
                    <a16:creationId xmlns:a16="http://schemas.microsoft.com/office/drawing/2014/main" id="{C26D281B-7C29-4215-0C11-76802C8B87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4" y="1513"/>
                <a:ext cx="75" cy="112"/>
              </a:xfrm>
              <a:custGeom>
                <a:avLst/>
                <a:gdLst>
                  <a:gd name="T0" fmla="*/ 1 w 149"/>
                  <a:gd name="T1" fmla="*/ 0 h 226"/>
                  <a:gd name="T2" fmla="*/ 1 w 149"/>
                  <a:gd name="T3" fmla="*/ 0 h 226"/>
                  <a:gd name="T4" fmla="*/ 2 w 149"/>
                  <a:gd name="T5" fmla="*/ 1 h 226"/>
                  <a:gd name="T6" fmla="*/ 3 w 149"/>
                  <a:gd name="T7" fmla="*/ 3 h 226"/>
                  <a:gd name="T8" fmla="*/ 3 w 149"/>
                  <a:gd name="T9" fmla="*/ 3 h 226"/>
                  <a:gd name="T10" fmla="*/ 3 w 149"/>
                  <a:gd name="T11" fmla="*/ 3 h 226"/>
                  <a:gd name="T12" fmla="*/ 2 w 149"/>
                  <a:gd name="T13" fmla="*/ 3 h 226"/>
                  <a:gd name="T14" fmla="*/ 2 w 149"/>
                  <a:gd name="T15" fmla="*/ 3 h 226"/>
                  <a:gd name="T16" fmla="*/ 2 w 149"/>
                  <a:gd name="T17" fmla="*/ 2 h 226"/>
                  <a:gd name="T18" fmla="*/ 1 w 149"/>
                  <a:gd name="T19" fmla="*/ 1 h 226"/>
                  <a:gd name="T20" fmla="*/ 1 w 149"/>
                  <a:gd name="T21" fmla="*/ 0 h 226"/>
                  <a:gd name="T22" fmla="*/ 1 w 149"/>
                  <a:gd name="T23" fmla="*/ 0 h 226"/>
                  <a:gd name="T24" fmla="*/ 1 w 149"/>
                  <a:gd name="T25" fmla="*/ 0 h 226"/>
                  <a:gd name="T26" fmla="*/ 0 w 149"/>
                  <a:gd name="T27" fmla="*/ 0 h 226"/>
                  <a:gd name="T28" fmla="*/ 1 w 149"/>
                  <a:gd name="T29" fmla="*/ 0 h 226"/>
                  <a:gd name="T30" fmla="*/ 1 w 149"/>
                  <a:gd name="T31" fmla="*/ 0 h 226"/>
                  <a:gd name="T32" fmla="*/ 1 w 149"/>
                  <a:gd name="T33" fmla="*/ 0 h 226"/>
                  <a:gd name="T34" fmla="*/ 1 w 149"/>
                  <a:gd name="T35" fmla="*/ 0 h 22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49" h="226">
                    <a:moveTo>
                      <a:pt x="16" y="0"/>
                    </a:moveTo>
                    <a:lnTo>
                      <a:pt x="61" y="46"/>
                    </a:lnTo>
                    <a:lnTo>
                      <a:pt x="96" y="89"/>
                    </a:lnTo>
                    <a:lnTo>
                      <a:pt x="149" y="194"/>
                    </a:lnTo>
                    <a:lnTo>
                      <a:pt x="148" y="214"/>
                    </a:lnTo>
                    <a:lnTo>
                      <a:pt x="134" y="226"/>
                    </a:lnTo>
                    <a:lnTo>
                      <a:pt x="115" y="226"/>
                    </a:lnTo>
                    <a:lnTo>
                      <a:pt x="102" y="211"/>
                    </a:lnTo>
                    <a:lnTo>
                      <a:pt x="82" y="155"/>
                    </a:lnTo>
                    <a:lnTo>
                      <a:pt x="64" y="106"/>
                    </a:lnTo>
                    <a:lnTo>
                      <a:pt x="39" y="60"/>
                    </a:lnTo>
                    <a:lnTo>
                      <a:pt x="23" y="37"/>
                    </a:lnTo>
                    <a:lnTo>
                      <a:pt x="2" y="14"/>
                    </a:lnTo>
                    <a:lnTo>
                      <a:pt x="0" y="7"/>
                    </a:lnTo>
                    <a:lnTo>
                      <a:pt x="2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81" name="Freeform 119">
                <a:extLst>
                  <a:ext uri="{FF2B5EF4-FFF2-40B4-BE49-F238E27FC236}">
                    <a16:creationId xmlns:a16="http://schemas.microsoft.com/office/drawing/2014/main" id="{900472EE-A191-6F5F-5B30-67FC0C81AC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5" y="1609"/>
                <a:ext cx="126" cy="661"/>
              </a:xfrm>
              <a:custGeom>
                <a:avLst/>
                <a:gdLst>
                  <a:gd name="T0" fmla="*/ 4 w 252"/>
                  <a:gd name="T1" fmla="*/ 1 h 1321"/>
                  <a:gd name="T2" fmla="*/ 4 w 252"/>
                  <a:gd name="T3" fmla="*/ 6 h 1321"/>
                  <a:gd name="T4" fmla="*/ 4 w 252"/>
                  <a:gd name="T5" fmla="*/ 7 h 1321"/>
                  <a:gd name="T6" fmla="*/ 3 w 252"/>
                  <a:gd name="T7" fmla="*/ 9 h 1321"/>
                  <a:gd name="T8" fmla="*/ 3 w 252"/>
                  <a:gd name="T9" fmla="*/ 10 h 1321"/>
                  <a:gd name="T10" fmla="*/ 3 w 252"/>
                  <a:gd name="T11" fmla="*/ 11 h 1321"/>
                  <a:gd name="T12" fmla="*/ 2 w 252"/>
                  <a:gd name="T13" fmla="*/ 13 h 1321"/>
                  <a:gd name="T14" fmla="*/ 2 w 252"/>
                  <a:gd name="T15" fmla="*/ 17 h 1321"/>
                  <a:gd name="T16" fmla="*/ 1 w 252"/>
                  <a:gd name="T17" fmla="*/ 21 h 1321"/>
                  <a:gd name="T18" fmla="*/ 1 w 252"/>
                  <a:gd name="T19" fmla="*/ 21 h 1321"/>
                  <a:gd name="T20" fmla="*/ 1 w 252"/>
                  <a:gd name="T21" fmla="*/ 21 h 1321"/>
                  <a:gd name="T22" fmla="*/ 0 w 252"/>
                  <a:gd name="T23" fmla="*/ 21 h 1321"/>
                  <a:gd name="T24" fmla="*/ 1 w 252"/>
                  <a:gd name="T25" fmla="*/ 19 h 1321"/>
                  <a:gd name="T26" fmla="*/ 1 w 252"/>
                  <a:gd name="T27" fmla="*/ 17 h 1321"/>
                  <a:gd name="T28" fmla="*/ 1 w 252"/>
                  <a:gd name="T29" fmla="*/ 15 h 1321"/>
                  <a:gd name="T30" fmla="*/ 2 w 252"/>
                  <a:gd name="T31" fmla="*/ 13 h 1321"/>
                  <a:gd name="T32" fmla="*/ 2 w 252"/>
                  <a:gd name="T33" fmla="*/ 11 h 1321"/>
                  <a:gd name="T34" fmla="*/ 2 w 252"/>
                  <a:gd name="T35" fmla="*/ 10 h 1321"/>
                  <a:gd name="T36" fmla="*/ 3 w 252"/>
                  <a:gd name="T37" fmla="*/ 8 h 1321"/>
                  <a:gd name="T38" fmla="*/ 3 w 252"/>
                  <a:gd name="T39" fmla="*/ 6 h 1321"/>
                  <a:gd name="T40" fmla="*/ 4 w 252"/>
                  <a:gd name="T41" fmla="*/ 1 h 1321"/>
                  <a:gd name="T42" fmla="*/ 4 w 252"/>
                  <a:gd name="T43" fmla="*/ 1 h 1321"/>
                  <a:gd name="T44" fmla="*/ 4 w 252"/>
                  <a:gd name="T45" fmla="*/ 0 h 1321"/>
                  <a:gd name="T46" fmla="*/ 4 w 252"/>
                  <a:gd name="T47" fmla="*/ 1 h 1321"/>
                  <a:gd name="T48" fmla="*/ 4 w 252"/>
                  <a:gd name="T49" fmla="*/ 1 h 1321"/>
                  <a:gd name="T50" fmla="*/ 4 w 252"/>
                  <a:gd name="T51" fmla="*/ 1 h 1321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52" h="1321">
                    <a:moveTo>
                      <a:pt x="252" y="24"/>
                    </a:moveTo>
                    <a:lnTo>
                      <a:pt x="213" y="328"/>
                    </a:lnTo>
                    <a:lnTo>
                      <a:pt x="195" y="424"/>
                    </a:lnTo>
                    <a:lnTo>
                      <a:pt x="176" y="519"/>
                    </a:lnTo>
                    <a:lnTo>
                      <a:pt x="160" y="598"/>
                    </a:lnTo>
                    <a:lnTo>
                      <a:pt x="146" y="669"/>
                    </a:lnTo>
                    <a:lnTo>
                      <a:pt x="119" y="799"/>
                    </a:lnTo>
                    <a:lnTo>
                      <a:pt x="78" y="1083"/>
                    </a:lnTo>
                    <a:lnTo>
                      <a:pt x="49" y="1297"/>
                    </a:lnTo>
                    <a:lnTo>
                      <a:pt x="40" y="1316"/>
                    </a:lnTo>
                    <a:lnTo>
                      <a:pt x="23" y="1321"/>
                    </a:lnTo>
                    <a:lnTo>
                      <a:pt x="0" y="1296"/>
                    </a:lnTo>
                    <a:lnTo>
                      <a:pt x="13" y="1187"/>
                    </a:lnTo>
                    <a:lnTo>
                      <a:pt x="30" y="1078"/>
                    </a:lnTo>
                    <a:lnTo>
                      <a:pt x="49" y="926"/>
                    </a:lnTo>
                    <a:lnTo>
                      <a:pt x="73" y="793"/>
                    </a:lnTo>
                    <a:lnTo>
                      <a:pt x="103" y="661"/>
                    </a:lnTo>
                    <a:lnTo>
                      <a:pt x="118" y="590"/>
                    </a:lnTo>
                    <a:lnTo>
                      <a:pt x="134" y="512"/>
                    </a:lnTo>
                    <a:lnTo>
                      <a:pt x="174" y="322"/>
                    </a:lnTo>
                    <a:lnTo>
                      <a:pt x="210" y="16"/>
                    </a:lnTo>
                    <a:lnTo>
                      <a:pt x="219" y="2"/>
                    </a:lnTo>
                    <a:lnTo>
                      <a:pt x="234" y="0"/>
                    </a:lnTo>
                    <a:lnTo>
                      <a:pt x="252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82" name="Freeform 120">
                <a:extLst>
                  <a:ext uri="{FF2B5EF4-FFF2-40B4-BE49-F238E27FC236}">
                    <a16:creationId xmlns:a16="http://schemas.microsoft.com/office/drawing/2014/main" id="{6505F392-C056-053B-C781-2620240C10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2" y="1556"/>
                <a:ext cx="81" cy="598"/>
              </a:xfrm>
              <a:custGeom>
                <a:avLst/>
                <a:gdLst>
                  <a:gd name="T0" fmla="*/ 3 w 162"/>
                  <a:gd name="T1" fmla="*/ 0 h 1197"/>
                  <a:gd name="T2" fmla="*/ 3 w 162"/>
                  <a:gd name="T3" fmla="*/ 2 h 1197"/>
                  <a:gd name="T4" fmla="*/ 3 w 162"/>
                  <a:gd name="T5" fmla="*/ 3 h 1197"/>
                  <a:gd name="T6" fmla="*/ 3 w 162"/>
                  <a:gd name="T7" fmla="*/ 6 h 1197"/>
                  <a:gd name="T8" fmla="*/ 3 w 162"/>
                  <a:gd name="T9" fmla="*/ 9 h 1197"/>
                  <a:gd name="T10" fmla="*/ 2 w 162"/>
                  <a:gd name="T11" fmla="*/ 11 h 1197"/>
                  <a:gd name="T12" fmla="*/ 2 w 162"/>
                  <a:gd name="T13" fmla="*/ 14 h 1197"/>
                  <a:gd name="T14" fmla="*/ 2 w 162"/>
                  <a:gd name="T15" fmla="*/ 15 h 1197"/>
                  <a:gd name="T16" fmla="*/ 1 w 162"/>
                  <a:gd name="T17" fmla="*/ 16 h 1197"/>
                  <a:gd name="T18" fmla="*/ 1 w 162"/>
                  <a:gd name="T19" fmla="*/ 18 h 1197"/>
                  <a:gd name="T20" fmla="*/ 1 w 162"/>
                  <a:gd name="T21" fmla="*/ 18 h 1197"/>
                  <a:gd name="T22" fmla="*/ 0 w 162"/>
                  <a:gd name="T23" fmla="*/ 18 h 1197"/>
                  <a:gd name="T24" fmla="*/ 1 w 162"/>
                  <a:gd name="T25" fmla="*/ 13 h 1197"/>
                  <a:gd name="T26" fmla="*/ 2 w 162"/>
                  <a:gd name="T27" fmla="*/ 9 h 1197"/>
                  <a:gd name="T28" fmla="*/ 2 w 162"/>
                  <a:gd name="T29" fmla="*/ 6 h 1197"/>
                  <a:gd name="T30" fmla="*/ 2 w 162"/>
                  <a:gd name="T31" fmla="*/ 3 h 1197"/>
                  <a:gd name="T32" fmla="*/ 2 w 162"/>
                  <a:gd name="T33" fmla="*/ 2 h 1197"/>
                  <a:gd name="T34" fmla="*/ 3 w 162"/>
                  <a:gd name="T35" fmla="*/ 0 h 1197"/>
                  <a:gd name="T36" fmla="*/ 3 w 162"/>
                  <a:gd name="T37" fmla="*/ 0 h 1197"/>
                  <a:gd name="T38" fmla="*/ 3 w 162"/>
                  <a:gd name="T39" fmla="*/ 0 h 1197"/>
                  <a:gd name="T40" fmla="*/ 3 w 162"/>
                  <a:gd name="T41" fmla="*/ 0 h 1197"/>
                  <a:gd name="T42" fmla="*/ 3 w 162"/>
                  <a:gd name="T43" fmla="*/ 0 h 1197"/>
                  <a:gd name="T44" fmla="*/ 3 w 162"/>
                  <a:gd name="T45" fmla="*/ 0 h 1197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62" h="1197">
                    <a:moveTo>
                      <a:pt x="162" y="16"/>
                    </a:moveTo>
                    <a:lnTo>
                      <a:pt x="161" y="164"/>
                    </a:lnTo>
                    <a:lnTo>
                      <a:pt x="155" y="221"/>
                    </a:lnTo>
                    <a:lnTo>
                      <a:pt x="144" y="405"/>
                    </a:lnTo>
                    <a:lnTo>
                      <a:pt x="136" y="589"/>
                    </a:lnTo>
                    <a:lnTo>
                      <a:pt x="113" y="746"/>
                    </a:lnTo>
                    <a:lnTo>
                      <a:pt x="86" y="904"/>
                    </a:lnTo>
                    <a:lnTo>
                      <a:pt x="70" y="980"/>
                    </a:lnTo>
                    <a:lnTo>
                      <a:pt x="52" y="1046"/>
                    </a:lnTo>
                    <a:lnTo>
                      <a:pt x="19" y="1188"/>
                    </a:lnTo>
                    <a:lnTo>
                      <a:pt x="8" y="1197"/>
                    </a:lnTo>
                    <a:lnTo>
                      <a:pt x="0" y="1184"/>
                    </a:lnTo>
                    <a:lnTo>
                      <a:pt x="35" y="895"/>
                    </a:lnTo>
                    <a:lnTo>
                      <a:pt x="85" y="585"/>
                    </a:lnTo>
                    <a:lnTo>
                      <a:pt x="98" y="402"/>
                    </a:lnTo>
                    <a:lnTo>
                      <a:pt x="109" y="219"/>
                    </a:lnTo>
                    <a:lnTo>
                      <a:pt x="113" y="164"/>
                    </a:lnTo>
                    <a:lnTo>
                      <a:pt x="129" y="17"/>
                    </a:lnTo>
                    <a:lnTo>
                      <a:pt x="133" y="5"/>
                    </a:lnTo>
                    <a:lnTo>
                      <a:pt x="144" y="0"/>
                    </a:lnTo>
                    <a:lnTo>
                      <a:pt x="162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83" name="Freeform 121">
                <a:extLst>
                  <a:ext uri="{FF2B5EF4-FFF2-40B4-BE49-F238E27FC236}">
                    <a16:creationId xmlns:a16="http://schemas.microsoft.com/office/drawing/2014/main" id="{6C012005-A148-3959-965C-005319747F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1" y="1712"/>
                <a:ext cx="140" cy="557"/>
              </a:xfrm>
              <a:custGeom>
                <a:avLst/>
                <a:gdLst>
                  <a:gd name="T0" fmla="*/ 1 w 280"/>
                  <a:gd name="T1" fmla="*/ 0 h 1115"/>
                  <a:gd name="T2" fmla="*/ 1 w 280"/>
                  <a:gd name="T3" fmla="*/ 2 h 1115"/>
                  <a:gd name="T4" fmla="*/ 1 w 280"/>
                  <a:gd name="T5" fmla="*/ 3 h 1115"/>
                  <a:gd name="T6" fmla="*/ 2 w 280"/>
                  <a:gd name="T7" fmla="*/ 4 h 1115"/>
                  <a:gd name="T8" fmla="*/ 2 w 280"/>
                  <a:gd name="T9" fmla="*/ 5 h 1115"/>
                  <a:gd name="T10" fmla="*/ 2 w 280"/>
                  <a:gd name="T11" fmla="*/ 6 h 1115"/>
                  <a:gd name="T12" fmla="*/ 2 w 280"/>
                  <a:gd name="T13" fmla="*/ 7 h 1115"/>
                  <a:gd name="T14" fmla="*/ 3 w 280"/>
                  <a:gd name="T15" fmla="*/ 8 h 1115"/>
                  <a:gd name="T16" fmla="*/ 4 w 280"/>
                  <a:gd name="T17" fmla="*/ 13 h 1115"/>
                  <a:gd name="T18" fmla="*/ 5 w 280"/>
                  <a:gd name="T19" fmla="*/ 16 h 1115"/>
                  <a:gd name="T20" fmla="*/ 5 w 280"/>
                  <a:gd name="T21" fmla="*/ 17 h 1115"/>
                  <a:gd name="T22" fmla="*/ 5 w 280"/>
                  <a:gd name="T23" fmla="*/ 17 h 1115"/>
                  <a:gd name="T24" fmla="*/ 4 w 280"/>
                  <a:gd name="T25" fmla="*/ 17 h 1115"/>
                  <a:gd name="T26" fmla="*/ 4 w 280"/>
                  <a:gd name="T27" fmla="*/ 17 h 1115"/>
                  <a:gd name="T28" fmla="*/ 4 w 280"/>
                  <a:gd name="T29" fmla="*/ 16 h 1115"/>
                  <a:gd name="T30" fmla="*/ 4 w 280"/>
                  <a:gd name="T31" fmla="*/ 15 h 1115"/>
                  <a:gd name="T32" fmla="*/ 4 w 280"/>
                  <a:gd name="T33" fmla="*/ 14 h 1115"/>
                  <a:gd name="T34" fmla="*/ 3 w 280"/>
                  <a:gd name="T35" fmla="*/ 13 h 1115"/>
                  <a:gd name="T36" fmla="*/ 2 w 280"/>
                  <a:gd name="T37" fmla="*/ 8 h 1115"/>
                  <a:gd name="T38" fmla="*/ 2 w 280"/>
                  <a:gd name="T39" fmla="*/ 7 h 1115"/>
                  <a:gd name="T40" fmla="*/ 2 w 280"/>
                  <a:gd name="T41" fmla="*/ 6 h 1115"/>
                  <a:gd name="T42" fmla="*/ 1 w 280"/>
                  <a:gd name="T43" fmla="*/ 4 h 1115"/>
                  <a:gd name="T44" fmla="*/ 0 w 280"/>
                  <a:gd name="T45" fmla="*/ 0 h 1115"/>
                  <a:gd name="T46" fmla="*/ 1 w 280"/>
                  <a:gd name="T47" fmla="*/ 0 h 1115"/>
                  <a:gd name="T48" fmla="*/ 1 w 280"/>
                  <a:gd name="T49" fmla="*/ 0 h 1115"/>
                  <a:gd name="T50" fmla="*/ 1 w 280"/>
                  <a:gd name="T51" fmla="*/ 0 h 1115"/>
                  <a:gd name="T52" fmla="*/ 1 w 280"/>
                  <a:gd name="T53" fmla="*/ 0 h 1115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280" h="1115">
                    <a:moveTo>
                      <a:pt x="20" y="9"/>
                    </a:moveTo>
                    <a:lnTo>
                      <a:pt x="37" y="156"/>
                    </a:lnTo>
                    <a:lnTo>
                      <a:pt x="50" y="221"/>
                    </a:lnTo>
                    <a:lnTo>
                      <a:pt x="65" y="283"/>
                    </a:lnTo>
                    <a:lnTo>
                      <a:pt x="84" y="345"/>
                    </a:lnTo>
                    <a:lnTo>
                      <a:pt x="104" y="409"/>
                    </a:lnTo>
                    <a:lnTo>
                      <a:pt x="126" y="476"/>
                    </a:lnTo>
                    <a:lnTo>
                      <a:pt x="150" y="550"/>
                    </a:lnTo>
                    <a:lnTo>
                      <a:pt x="222" y="854"/>
                    </a:lnTo>
                    <a:lnTo>
                      <a:pt x="278" y="1077"/>
                    </a:lnTo>
                    <a:lnTo>
                      <a:pt x="280" y="1092"/>
                    </a:lnTo>
                    <a:lnTo>
                      <a:pt x="271" y="1115"/>
                    </a:lnTo>
                    <a:lnTo>
                      <a:pt x="250" y="1107"/>
                    </a:lnTo>
                    <a:lnTo>
                      <a:pt x="236" y="1089"/>
                    </a:lnTo>
                    <a:lnTo>
                      <a:pt x="226" y="1029"/>
                    </a:lnTo>
                    <a:lnTo>
                      <a:pt x="213" y="975"/>
                    </a:lnTo>
                    <a:lnTo>
                      <a:pt x="199" y="924"/>
                    </a:lnTo>
                    <a:lnTo>
                      <a:pt x="181" y="865"/>
                    </a:lnTo>
                    <a:lnTo>
                      <a:pt x="119" y="560"/>
                    </a:lnTo>
                    <a:lnTo>
                      <a:pt x="95" y="485"/>
                    </a:lnTo>
                    <a:lnTo>
                      <a:pt x="75" y="416"/>
                    </a:lnTo>
                    <a:lnTo>
                      <a:pt x="41" y="289"/>
                    </a:lnTo>
                    <a:lnTo>
                      <a:pt x="0" y="10"/>
                    </a:lnTo>
                    <a:lnTo>
                      <a:pt x="9" y="0"/>
                    </a:lnTo>
                    <a:lnTo>
                      <a:pt x="20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84" name="Freeform 122">
                <a:extLst>
                  <a:ext uri="{FF2B5EF4-FFF2-40B4-BE49-F238E27FC236}">
                    <a16:creationId xmlns:a16="http://schemas.microsoft.com/office/drawing/2014/main" id="{092665E6-4111-19FB-41BE-7CE09C5B2B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5" y="2272"/>
                <a:ext cx="458" cy="29"/>
              </a:xfrm>
              <a:custGeom>
                <a:avLst/>
                <a:gdLst>
                  <a:gd name="T0" fmla="*/ 1 w 916"/>
                  <a:gd name="T1" fmla="*/ 1 h 58"/>
                  <a:gd name="T2" fmla="*/ 3 w 916"/>
                  <a:gd name="T3" fmla="*/ 1 h 58"/>
                  <a:gd name="T4" fmla="*/ 4 w 916"/>
                  <a:gd name="T5" fmla="*/ 0 h 58"/>
                  <a:gd name="T6" fmla="*/ 14 w 916"/>
                  <a:gd name="T7" fmla="*/ 1 h 58"/>
                  <a:gd name="T8" fmla="*/ 15 w 916"/>
                  <a:gd name="T9" fmla="*/ 1 h 58"/>
                  <a:gd name="T10" fmla="*/ 15 w 916"/>
                  <a:gd name="T11" fmla="*/ 1 h 58"/>
                  <a:gd name="T12" fmla="*/ 15 w 916"/>
                  <a:gd name="T13" fmla="*/ 1 h 58"/>
                  <a:gd name="T14" fmla="*/ 14 w 916"/>
                  <a:gd name="T15" fmla="*/ 1 h 58"/>
                  <a:gd name="T16" fmla="*/ 9 w 916"/>
                  <a:gd name="T17" fmla="*/ 1 h 58"/>
                  <a:gd name="T18" fmla="*/ 4 w 916"/>
                  <a:gd name="T19" fmla="*/ 1 h 58"/>
                  <a:gd name="T20" fmla="*/ 3 w 916"/>
                  <a:gd name="T21" fmla="*/ 1 h 58"/>
                  <a:gd name="T22" fmla="*/ 1 w 916"/>
                  <a:gd name="T23" fmla="*/ 1 h 58"/>
                  <a:gd name="T24" fmla="*/ 0 w 916"/>
                  <a:gd name="T25" fmla="*/ 1 h 58"/>
                  <a:gd name="T26" fmla="*/ 1 w 916"/>
                  <a:gd name="T27" fmla="*/ 1 h 58"/>
                  <a:gd name="T28" fmla="*/ 1 w 916"/>
                  <a:gd name="T29" fmla="*/ 1 h 58"/>
                  <a:gd name="T30" fmla="*/ 1 w 916"/>
                  <a:gd name="T31" fmla="*/ 1 h 5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916" h="58">
                    <a:moveTo>
                      <a:pt x="11" y="6"/>
                    </a:moveTo>
                    <a:lnTo>
                      <a:pt x="132" y="10"/>
                    </a:lnTo>
                    <a:lnTo>
                      <a:pt x="253" y="0"/>
                    </a:lnTo>
                    <a:lnTo>
                      <a:pt x="891" y="8"/>
                    </a:lnTo>
                    <a:lnTo>
                      <a:pt x="910" y="15"/>
                    </a:lnTo>
                    <a:lnTo>
                      <a:pt x="916" y="33"/>
                    </a:lnTo>
                    <a:lnTo>
                      <a:pt x="910" y="51"/>
                    </a:lnTo>
                    <a:lnTo>
                      <a:pt x="891" y="58"/>
                    </a:lnTo>
                    <a:lnTo>
                      <a:pt x="573" y="51"/>
                    </a:lnTo>
                    <a:lnTo>
                      <a:pt x="253" y="43"/>
                    </a:lnTo>
                    <a:lnTo>
                      <a:pt x="129" y="42"/>
                    </a:lnTo>
                    <a:lnTo>
                      <a:pt x="8" y="27"/>
                    </a:lnTo>
                    <a:lnTo>
                      <a:pt x="0" y="14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85" name="Freeform 123">
                <a:extLst>
                  <a:ext uri="{FF2B5EF4-FFF2-40B4-BE49-F238E27FC236}">
                    <a16:creationId xmlns:a16="http://schemas.microsoft.com/office/drawing/2014/main" id="{4F997853-2444-FF02-169E-C0323D0A82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2273"/>
                <a:ext cx="86" cy="32"/>
              </a:xfrm>
              <a:custGeom>
                <a:avLst/>
                <a:gdLst>
                  <a:gd name="T0" fmla="*/ 0 w 174"/>
                  <a:gd name="T1" fmla="*/ 1 h 63"/>
                  <a:gd name="T2" fmla="*/ 1 w 174"/>
                  <a:gd name="T3" fmla="*/ 1 h 63"/>
                  <a:gd name="T4" fmla="*/ 2 w 174"/>
                  <a:gd name="T5" fmla="*/ 0 h 63"/>
                  <a:gd name="T6" fmla="*/ 2 w 174"/>
                  <a:gd name="T7" fmla="*/ 1 h 63"/>
                  <a:gd name="T8" fmla="*/ 2 w 174"/>
                  <a:gd name="T9" fmla="*/ 1 h 63"/>
                  <a:gd name="T10" fmla="*/ 1 w 174"/>
                  <a:gd name="T11" fmla="*/ 1 h 63"/>
                  <a:gd name="T12" fmla="*/ 1 w 174"/>
                  <a:gd name="T13" fmla="*/ 1 h 63"/>
                  <a:gd name="T14" fmla="*/ 0 w 174"/>
                  <a:gd name="T15" fmla="*/ 1 h 63"/>
                  <a:gd name="T16" fmla="*/ 0 w 174"/>
                  <a:gd name="T17" fmla="*/ 1 h 63"/>
                  <a:gd name="T18" fmla="*/ 0 w 174"/>
                  <a:gd name="T19" fmla="*/ 1 h 63"/>
                  <a:gd name="T20" fmla="*/ 0 w 174"/>
                  <a:gd name="T21" fmla="*/ 1 h 63"/>
                  <a:gd name="T22" fmla="*/ 0 w 174"/>
                  <a:gd name="T23" fmla="*/ 1 h 63"/>
                  <a:gd name="T24" fmla="*/ 0 w 174"/>
                  <a:gd name="T25" fmla="*/ 1 h 6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74" h="63">
                    <a:moveTo>
                      <a:pt x="18" y="26"/>
                    </a:moveTo>
                    <a:lnTo>
                      <a:pt x="69" y="16"/>
                    </a:lnTo>
                    <a:lnTo>
                      <a:pt x="161" y="0"/>
                    </a:lnTo>
                    <a:lnTo>
                      <a:pt x="174" y="5"/>
                    </a:lnTo>
                    <a:lnTo>
                      <a:pt x="167" y="19"/>
                    </a:lnTo>
                    <a:lnTo>
                      <a:pt x="123" y="39"/>
                    </a:lnTo>
                    <a:lnTo>
                      <a:pt x="80" y="60"/>
                    </a:lnTo>
                    <a:lnTo>
                      <a:pt x="18" y="63"/>
                    </a:lnTo>
                    <a:lnTo>
                      <a:pt x="0" y="45"/>
                    </a:lnTo>
                    <a:lnTo>
                      <a:pt x="4" y="33"/>
                    </a:lnTo>
                    <a:lnTo>
                      <a:pt x="18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86" name="Freeform 124">
                <a:extLst>
                  <a:ext uri="{FF2B5EF4-FFF2-40B4-BE49-F238E27FC236}">
                    <a16:creationId xmlns:a16="http://schemas.microsoft.com/office/drawing/2014/main" id="{A657F398-6328-284E-1909-60A3FD37DE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1" y="2280"/>
                <a:ext cx="70" cy="94"/>
              </a:xfrm>
              <a:custGeom>
                <a:avLst/>
                <a:gdLst>
                  <a:gd name="T0" fmla="*/ 2 w 139"/>
                  <a:gd name="T1" fmla="*/ 0 h 189"/>
                  <a:gd name="T2" fmla="*/ 3 w 139"/>
                  <a:gd name="T3" fmla="*/ 1 h 189"/>
                  <a:gd name="T4" fmla="*/ 3 w 139"/>
                  <a:gd name="T5" fmla="*/ 1 h 189"/>
                  <a:gd name="T6" fmla="*/ 2 w 139"/>
                  <a:gd name="T7" fmla="*/ 1 h 189"/>
                  <a:gd name="T8" fmla="*/ 2 w 139"/>
                  <a:gd name="T9" fmla="*/ 2 h 189"/>
                  <a:gd name="T10" fmla="*/ 1 w 139"/>
                  <a:gd name="T11" fmla="*/ 2 h 189"/>
                  <a:gd name="T12" fmla="*/ 1 w 139"/>
                  <a:gd name="T13" fmla="*/ 2 h 189"/>
                  <a:gd name="T14" fmla="*/ 0 w 139"/>
                  <a:gd name="T15" fmla="*/ 2 h 189"/>
                  <a:gd name="T16" fmla="*/ 1 w 139"/>
                  <a:gd name="T17" fmla="*/ 2 h 189"/>
                  <a:gd name="T18" fmla="*/ 1 w 139"/>
                  <a:gd name="T19" fmla="*/ 2 h 189"/>
                  <a:gd name="T20" fmla="*/ 2 w 139"/>
                  <a:gd name="T21" fmla="*/ 1 h 189"/>
                  <a:gd name="T22" fmla="*/ 2 w 139"/>
                  <a:gd name="T23" fmla="*/ 0 h 189"/>
                  <a:gd name="T24" fmla="*/ 2 w 139"/>
                  <a:gd name="T25" fmla="*/ 0 h 189"/>
                  <a:gd name="T26" fmla="*/ 2 w 139"/>
                  <a:gd name="T27" fmla="*/ 0 h 189"/>
                  <a:gd name="T28" fmla="*/ 2 w 139"/>
                  <a:gd name="T29" fmla="*/ 0 h 189"/>
                  <a:gd name="T30" fmla="*/ 2 w 139"/>
                  <a:gd name="T31" fmla="*/ 0 h 189"/>
                  <a:gd name="T32" fmla="*/ 2 w 139"/>
                  <a:gd name="T33" fmla="*/ 0 h 18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39" h="189">
                    <a:moveTo>
                      <a:pt x="112" y="13"/>
                    </a:moveTo>
                    <a:lnTo>
                      <a:pt x="139" y="66"/>
                    </a:lnTo>
                    <a:lnTo>
                      <a:pt x="138" y="83"/>
                    </a:lnTo>
                    <a:lnTo>
                      <a:pt x="116" y="123"/>
                    </a:lnTo>
                    <a:lnTo>
                      <a:pt x="88" y="151"/>
                    </a:lnTo>
                    <a:lnTo>
                      <a:pt x="53" y="171"/>
                    </a:lnTo>
                    <a:lnTo>
                      <a:pt x="13" y="189"/>
                    </a:lnTo>
                    <a:lnTo>
                      <a:pt x="0" y="184"/>
                    </a:lnTo>
                    <a:lnTo>
                      <a:pt x="5" y="171"/>
                    </a:lnTo>
                    <a:lnTo>
                      <a:pt x="55" y="132"/>
                    </a:lnTo>
                    <a:lnTo>
                      <a:pt x="86" y="74"/>
                    </a:lnTo>
                    <a:lnTo>
                      <a:pt x="68" y="32"/>
                    </a:lnTo>
                    <a:lnTo>
                      <a:pt x="68" y="13"/>
                    </a:lnTo>
                    <a:lnTo>
                      <a:pt x="81" y="0"/>
                    </a:lnTo>
                    <a:lnTo>
                      <a:pt x="112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87" name="Freeform 125">
                <a:extLst>
                  <a:ext uri="{FF2B5EF4-FFF2-40B4-BE49-F238E27FC236}">
                    <a16:creationId xmlns:a16="http://schemas.microsoft.com/office/drawing/2014/main" id="{0FB330BC-087F-4B89-13D6-B21A96F301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1" y="2366"/>
                <a:ext cx="34" cy="43"/>
              </a:xfrm>
              <a:custGeom>
                <a:avLst/>
                <a:gdLst>
                  <a:gd name="T0" fmla="*/ 1 w 67"/>
                  <a:gd name="T1" fmla="*/ 2 h 86"/>
                  <a:gd name="T2" fmla="*/ 0 w 67"/>
                  <a:gd name="T3" fmla="*/ 1 h 86"/>
                  <a:gd name="T4" fmla="*/ 1 w 67"/>
                  <a:gd name="T5" fmla="*/ 1 h 86"/>
                  <a:gd name="T6" fmla="*/ 1 w 67"/>
                  <a:gd name="T7" fmla="*/ 1 h 86"/>
                  <a:gd name="T8" fmla="*/ 1 w 67"/>
                  <a:gd name="T9" fmla="*/ 0 h 86"/>
                  <a:gd name="T10" fmla="*/ 2 w 67"/>
                  <a:gd name="T11" fmla="*/ 1 h 86"/>
                  <a:gd name="T12" fmla="*/ 1 w 67"/>
                  <a:gd name="T13" fmla="*/ 1 h 86"/>
                  <a:gd name="T14" fmla="*/ 1 w 67"/>
                  <a:gd name="T15" fmla="*/ 1 h 86"/>
                  <a:gd name="T16" fmla="*/ 1 w 67"/>
                  <a:gd name="T17" fmla="*/ 2 h 86"/>
                  <a:gd name="T18" fmla="*/ 1 w 67"/>
                  <a:gd name="T19" fmla="*/ 2 h 86"/>
                  <a:gd name="T20" fmla="*/ 1 w 67"/>
                  <a:gd name="T21" fmla="*/ 2 h 86"/>
                  <a:gd name="T22" fmla="*/ 1 w 67"/>
                  <a:gd name="T23" fmla="*/ 2 h 86"/>
                  <a:gd name="T24" fmla="*/ 1 w 67"/>
                  <a:gd name="T25" fmla="*/ 2 h 8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7" h="86">
                    <a:moveTo>
                      <a:pt x="19" y="81"/>
                    </a:moveTo>
                    <a:lnTo>
                      <a:pt x="0" y="53"/>
                    </a:lnTo>
                    <a:lnTo>
                      <a:pt x="2" y="38"/>
                    </a:lnTo>
                    <a:lnTo>
                      <a:pt x="25" y="16"/>
                    </a:lnTo>
                    <a:lnTo>
                      <a:pt x="52" y="0"/>
                    </a:lnTo>
                    <a:lnTo>
                      <a:pt x="67" y="4"/>
                    </a:lnTo>
                    <a:lnTo>
                      <a:pt x="63" y="19"/>
                    </a:lnTo>
                    <a:lnTo>
                      <a:pt x="35" y="50"/>
                    </a:lnTo>
                    <a:lnTo>
                      <a:pt x="40" y="69"/>
                    </a:lnTo>
                    <a:lnTo>
                      <a:pt x="35" y="86"/>
                    </a:lnTo>
                    <a:lnTo>
                      <a:pt x="19" y="8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88" name="Freeform 126">
                <a:extLst>
                  <a:ext uri="{FF2B5EF4-FFF2-40B4-BE49-F238E27FC236}">
                    <a16:creationId xmlns:a16="http://schemas.microsoft.com/office/drawing/2014/main" id="{A7966E86-039B-AFF2-CFA5-8A60FEF90A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3" y="2278"/>
                <a:ext cx="102" cy="62"/>
              </a:xfrm>
              <a:custGeom>
                <a:avLst/>
                <a:gdLst>
                  <a:gd name="T0" fmla="*/ 1 w 203"/>
                  <a:gd name="T1" fmla="*/ 0 h 125"/>
                  <a:gd name="T2" fmla="*/ 1 w 203"/>
                  <a:gd name="T3" fmla="*/ 0 h 125"/>
                  <a:gd name="T4" fmla="*/ 1 w 203"/>
                  <a:gd name="T5" fmla="*/ 0 h 125"/>
                  <a:gd name="T6" fmla="*/ 2 w 203"/>
                  <a:gd name="T7" fmla="*/ 1 h 125"/>
                  <a:gd name="T8" fmla="*/ 2 w 203"/>
                  <a:gd name="T9" fmla="*/ 1 h 125"/>
                  <a:gd name="T10" fmla="*/ 3 w 203"/>
                  <a:gd name="T11" fmla="*/ 1 h 125"/>
                  <a:gd name="T12" fmla="*/ 4 w 203"/>
                  <a:gd name="T13" fmla="*/ 1 h 125"/>
                  <a:gd name="T14" fmla="*/ 4 w 203"/>
                  <a:gd name="T15" fmla="*/ 1 h 125"/>
                  <a:gd name="T16" fmla="*/ 3 w 203"/>
                  <a:gd name="T17" fmla="*/ 1 h 125"/>
                  <a:gd name="T18" fmla="*/ 2 w 203"/>
                  <a:gd name="T19" fmla="*/ 1 h 125"/>
                  <a:gd name="T20" fmla="*/ 1 w 203"/>
                  <a:gd name="T21" fmla="*/ 1 h 125"/>
                  <a:gd name="T22" fmla="*/ 0 w 203"/>
                  <a:gd name="T23" fmla="*/ 0 h 125"/>
                  <a:gd name="T24" fmla="*/ 1 w 203"/>
                  <a:gd name="T25" fmla="*/ 0 h 125"/>
                  <a:gd name="T26" fmla="*/ 1 w 203"/>
                  <a:gd name="T27" fmla="*/ 0 h 125"/>
                  <a:gd name="T28" fmla="*/ 1 w 203"/>
                  <a:gd name="T29" fmla="*/ 0 h 125"/>
                  <a:gd name="T30" fmla="*/ 1 w 203"/>
                  <a:gd name="T31" fmla="*/ 0 h 125"/>
                  <a:gd name="T32" fmla="*/ 1 w 203"/>
                  <a:gd name="T33" fmla="*/ 0 h 12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03" h="125">
                    <a:moveTo>
                      <a:pt x="44" y="19"/>
                    </a:moveTo>
                    <a:lnTo>
                      <a:pt x="50" y="42"/>
                    </a:lnTo>
                    <a:lnTo>
                      <a:pt x="63" y="59"/>
                    </a:lnTo>
                    <a:lnTo>
                      <a:pt x="81" y="71"/>
                    </a:lnTo>
                    <a:lnTo>
                      <a:pt x="101" y="83"/>
                    </a:lnTo>
                    <a:lnTo>
                      <a:pt x="191" y="85"/>
                    </a:lnTo>
                    <a:lnTo>
                      <a:pt x="203" y="94"/>
                    </a:lnTo>
                    <a:lnTo>
                      <a:pt x="195" y="104"/>
                    </a:lnTo>
                    <a:lnTo>
                      <a:pt x="143" y="117"/>
                    </a:lnTo>
                    <a:lnTo>
                      <a:pt x="92" y="125"/>
                    </a:lnTo>
                    <a:lnTo>
                      <a:pt x="31" y="87"/>
                    </a:lnTo>
                    <a:lnTo>
                      <a:pt x="0" y="25"/>
                    </a:lnTo>
                    <a:lnTo>
                      <a:pt x="5" y="7"/>
                    </a:lnTo>
                    <a:lnTo>
                      <a:pt x="20" y="0"/>
                    </a:lnTo>
                    <a:lnTo>
                      <a:pt x="44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89" name="Freeform 127">
                <a:extLst>
                  <a:ext uri="{FF2B5EF4-FFF2-40B4-BE49-F238E27FC236}">
                    <a16:creationId xmlns:a16="http://schemas.microsoft.com/office/drawing/2014/main" id="{CB9DEEBB-8E66-E3D6-E791-F80B6FAE0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9" y="2323"/>
                <a:ext cx="16" cy="56"/>
              </a:xfrm>
              <a:custGeom>
                <a:avLst/>
                <a:gdLst>
                  <a:gd name="T0" fmla="*/ 0 w 33"/>
                  <a:gd name="T1" fmla="*/ 1 h 111"/>
                  <a:gd name="T2" fmla="*/ 0 w 33"/>
                  <a:gd name="T3" fmla="*/ 1 h 111"/>
                  <a:gd name="T4" fmla="*/ 0 w 33"/>
                  <a:gd name="T5" fmla="*/ 2 h 111"/>
                  <a:gd name="T6" fmla="*/ 0 w 33"/>
                  <a:gd name="T7" fmla="*/ 2 h 111"/>
                  <a:gd name="T8" fmla="*/ 0 w 33"/>
                  <a:gd name="T9" fmla="*/ 2 h 111"/>
                  <a:gd name="T10" fmla="*/ 0 w 33"/>
                  <a:gd name="T11" fmla="*/ 1 h 111"/>
                  <a:gd name="T12" fmla="*/ 0 w 33"/>
                  <a:gd name="T13" fmla="*/ 1 h 111"/>
                  <a:gd name="T14" fmla="*/ 0 w 33"/>
                  <a:gd name="T15" fmla="*/ 0 h 111"/>
                  <a:gd name="T16" fmla="*/ 0 w 33"/>
                  <a:gd name="T17" fmla="*/ 1 h 111"/>
                  <a:gd name="T18" fmla="*/ 0 w 33"/>
                  <a:gd name="T19" fmla="*/ 1 h 111"/>
                  <a:gd name="T20" fmla="*/ 0 w 33"/>
                  <a:gd name="T21" fmla="*/ 1 h 11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3" h="111">
                    <a:moveTo>
                      <a:pt x="30" y="11"/>
                    </a:moveTo>
                    <a:lnTo>
                      <a:pt x="33" y="47"/>
                    </a:lnTo>
                    <a:lnTo>
                      <a:pt x="27" y="101"/>
                    </a:lnTo>
                    <a:lnTo>
                      <a:pt x="17" y="111"/>
                    </a:lnTo>
                    <a:lnTo>
                      <a:pt x="7" y="101"/>
                    </a:lnTo>
                    <a:lnTo>
                      <a:pt x="0" y="47"/>
                    </a:lnTo>
                    <a:lnTo>
                      <a:pt x="4" y="11"/>
                    </a:lnTo>
                    <a:lnTo>
                      <a:pt x="17" y="0"/>
                    </a:lnTo>
                    <a:lnTo>
                      <a:pt x="30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90" name="Freeform 128">
                <a:extLst>
                  <a:ext uri="{FF2B5EF4-FFF2-40B4-BE49-F238E27FC236}">
                    <a16:creationId xmlns:a16="http://schemas.microsoft.com/office/drawing/2014/main" id="{FA2BBDEC-6373-E232-19DE-062B8120AD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2" y="2208"/>
                <a:ext cx="23" cy="47"/>
              </a:xfrm>
              <a:custGeom>
                <a:avLst/>
                <a:gdLst>
                  <a:gd name="T0" fmla="*/ 1 w 44"/>
                  <a:gd name="T1" fmla="*/ 1 h 94"/>
                  <a:gd name="T2" fmla="*/ 1 w 44"/>
                  <a:gd name="T3" fmla="*/ 2 h 94"/>
                  <a:gd name="T4" fmla="*/ 1 w 44"/>
                  <a:gd name="T5" fmla="*/ 2 h 94"/>
                  <a:gd name="T6" fmla="*/ 1 w 44"/>
                  <a:gd name="T7" fmla="*/ 2 h 94"/>
                  <a:gd name="T8" fmla="*/ 0 w 44"/>
                  <a:gd name="T9" fmla="*/ 1 h 94"/>
                  <a:gd name="T10" fmla="*/ 1 w 44"/>
                  <a:gd name="T11" fmla="*/ 1 h 94"/>
                  <a:gd name="T12" fmla="*/ 1 w 44"/>
                  <a:gd name="T13" fmla="*/ 0 h 94"/>
                  <a:gd name="T14" fmla="*/ 1 w 44"/>
                  <a:gd name="T15" fmla="*/ 1 h 94"/>
                  <a:gd name="T16" fmla="*/ 1 w 44"/>
                  <a:gd name="T17" fmla="*/ 1 h 94"/>
                  <a:gd name="T18" fmla="*/ 1 w 44"/>
                  <a:gd name="T19" fmla="*/ 1 h 9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4" h="94">
                    <a:moveTo>
                      <a:pt x="34" y="18"/>
                    </a:moveTo>
                    <a:lnTo>
                      <a:pt x="44" y="81"/>
                    </a:lnTo>
                    <a:lnTo>
                      <a:pt x="38" y="94"/>
                    </a:lnTo>
                    <a:lnTo>
                      <a:pt x="25" y="89"/>
                    </a:lnTo>
                    <a:lnTo>
                      <a:pt x="0" y="20"/>
                    </a:lnTo>
                    <a:lnTo>
                      <a:pt x="4" y="5"/>
                    </a:lnTo>
                    <a:lnTo>
                      <a:pt x="14" y="0"/>
                    </a:lnTo>
                    <a:lnTo>
                      <a:pt x="34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91" name="Freeform 129">
                <a:extLst>
                  <a:ext uri="{FF2B5EF4-FFF2-40B4-BE49-F238E27FC236}">
                    <a16:creationId xmlns:a16="http://schemas.microsoft.com/office/drawing/2014/main" id="{0E2D5B2E-6035-ACE8-9DFA-AE2EA83342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4" y="2180"/>
                <a:ext cx="405" cy="39"/>
              </a:xfrm>
              <a:custGeom>
                <a:avLst/>
                <a:gdLst>
                  <a:gd name="T0" fmla="*/ 1 w 808"/>
                  <a:gd name="T1" fmla="*/ 0 h 80"/>
                  <a:gd name="T2" fmla="*/ 2 w 808"/>
                  <a:gd name="T3" fmla="*/ 0 h 80"/>
                  <a:gd name="T4" fmla="*/ 7 w 808"/>
                  <a:gd name="T5" fmla="*/ 0 h 80"/>
                  <a:gd name="T6" fmla="*/ 10 w 808"/>
                  <a:gd name="T7" fmla="*/ 0 h 80"/>
                  <a:gd name="T8" fmla="*/ 13 w 808"/>
                  <a:gd name="T9" fmla="*/ 0 h 80"/>
                  <a:gd name="T10" fmla="*/ 13 w 808"/>
                  <a:gd name="T11" fmla="*/ 0 h 80"/>
                  <a:gd name="T12" fmla="*/ 13 w 808"/>
                  <a:gd name="T13" fmla="*/ 0 h 80"/>
                  <a:gd name="T14" fmla="*/ 7 w 808"/>
                  <a:gd name="T15" fmla="*/ 0 h 80"/>
                  <a:gd name="T16" fmla="*/ 2 w 808"/>
                  <a:gd name="T17" fmla="*/ 1 h 80"/>
                  <a:gd name="T18" fmla="*/ 1 w 808"/>
                  <a:gd name="T19" fmla="*/ 1 h 80"/>
                  <a:gd name="T20" fmla="*/ 0 w 808"/>
                  <a:gd name="T21" fmla="*/ 1 h 80"/>
                  <a:gd name="T22" fmla="*/ 1 w 808"/>
                  <a:gd name="T23" fmla="*/ 0 h 80"/>
                  <a:gd name="T24" fmla="*/ 1 w 808"/>
                  <a:gd name="T25" fmla="*/ 0 h 80"/>
                  <a:gd name="T26" fmla="*/ 1 w 808"/>
                  <a:gd name="T27" fmla="*/ 0 h 8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808" h="80">
                    <a:moveTo>
                      <a:pt x="1" y="58"/>
                    </a:moveTo>
                    <a:lnTo>
                      <a:pt x="81" y="50"/>
                    </a:lnTo>
                    <a:lnTo>
                      <a:pt x="410" y="13"/>
                    </a:lnTo>
                    <a:lnTo>
                      <a:pt x="605" y="0"/>
                    </a:lnTo>
                    <a:lnTo>
                      <a:pt x="799" y="4"/>
                    </a:lnTo>
                    <a:lnTo>
                      <a:pt x="808" y="14"/>
                    </a:lnTo>
                    <a:lnTo>
                      <a:pt x="799" y="24"/>
                    </a:lnTo>
                    <a:lnTo>
                      <a:pt x="395" y="47"/>
                    </a:lnTo>
                    <a:lnTo>
                      <a:pt x="82" y="76"/>
                    </a:lnTo>
                    <a:lnTo>
                      <a:pt x="16" y="80"/>
                    </a:lnTo>
                    <a:lnTo>
                      <a:pt x="0" y="71"/>
                    </a:lnTo>
                    <a:lnTo>
                      <a:pt x="1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92" name="Freeform 130">
                <a:extLst>
                  <a:ext uri="{FF2B5EF4-FFF2-40B4-BE49-F238E27FC236}">
                    <a16:creationId xmlns:a16="http://schemas.microsoft.com/office/drawing/2014/main" id="{FB20A27D-671D-FF3A-795B-413E7122EC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7" y="2181"/>
                <a:ext cx="16" cy="54"/>
              </a:xfrm>
              <a:custGeom>
                <a:avLst/>
                <a:gdLst>
                  <a:gd name="T0" fmla="*/ 1 w 32"/>
                  <a:gd name="T1" fmla="*/ 1 h 106"/>
                  <a:gd name="T2" fmla="*/ 1 w 32"/>
                  <a:gd name="T3" fmla="*/ 2 h 106"/>
                  <a:gd name="T4" fmla="*/ 1 w 32"/>
                  <a:gd name="T5" fmla="*/ 2 h 106"/>
                  <a:gd name="T6" fmla="*/ 1 w 32"/>
                  <a:gd name="T7" fmla="*/ 2 h 106"/>
                  <a:gd name="T8" fmla="*/ 0 w 32"/>
                  <a:gd name="T9" fmla="*/ 1 h 106"/>
                  <a:gd name="T10" fmla="*/ 1 w 32"/>
                  <a:gd name="T11" fmla="*/ 1 h 106"/>
                  <a:gd name="T12" fmla="*/ 1 w 32"/>
                  <a:gd name="T13" fmla="*/ 0 h 106"/>
                  <a:gd name="T14" fmla="*/ 1 w 32"/>
                  <a:gd name="T15" fmla="*/ 1 h 106"/>
                  <a:gd name="T16" fmla="*/ 1 w 32"/>
                  <a:gd name="T17" fmla="*/ 1 h 106"/>
                  <a:gd name="T18" fmla="*/ 1 w 32"/>
                  <a:gd name="T19" fmla="*/ 1 h 10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2" h="106">
                    <a:moveTo>
                      <a:pt x="32" y="16"/>
                    </a:moveTo>
                    <a:lnTo>
                      <a:pt x="26" y="97"/>
                    </a:lnTo>
                    <a:lnTo>
                      <a:pt x="15" y="106"/>
                    </a:lnTo>
                    <a:lnTo>
                      <a:pt x="5" y="97"/>
                    </a:lnTo>
                    <a:lnTo>
                      <a:pt x="0" y="16"/>
                    </a:lnTo>
                    <a:lnTo>
                      <a:pt x="5" y="4"/>
                    </a:lnTo>
                    <a:lnTo>
                      <a:pt x="15" y="0"/>
                    </a:lnTo>
                    <a:lnTo>
                      <a:pt x="32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93" name="Freeform 131">
                <a:extLst>
                  <a:ext uri="{FF2B5EF4-FFF2-40B4-BE49-F238E27FC236}">
                    <a16:creationId xmlns:a16="http://schemas.microsoft.com/office/drawing/2014/main" id="{39719AF2-6EB3-784F-74B6-578092F39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2202"/>
                <a:ext cx="15" cy="41"/>
              </a:xfrm>
              <a:custGeom>
                <a:avLst/>
                <a:gdLst>
                  <a:gd name="T0" fmla="*/ 0 w 31"/>
                  <a:gd name="T1" fmla="*/ 1 h 81"/>
                  <a:gd name="T2" fmla="*/ 0 w 31"/>
                  <a:gd name="T3" fmla="*/ 2 h 81"/>
                  <a:gd name="T4" fmla="*/ 0 w 31"/>
                  <a:gd name="T5" fmla="*/ 2 h 81"/>
                  <a:gd name="T6" fmla="*/ 0 w 31"/>
                  <a:gd name="T7" fmla="*/ 2 h 81"/>
                  <a:gd name="T8" fmla="*/ 0 w 31"/>
                  <a:gd name="T9" fmla="*/ 1 h 81"/>
                  <a:gd name="T10" fmla="*/ 0 w 31"/>
                  <a:gd name="T11" fmla="*/ 1 h 81"/>
                  <a:gd name="T12" fmla="*/ 0 w 31"/>
                  <a:gd name="T13" fmla="*/ 0 h 81"/>
                  <a:gd name="T14" fmla="*/ 0 w 31"/>
                  <a:gd name="T15" fmla="*/ 1 h 81"/>
                  <a:gd name="T16" fmla="*/ 0 w 31"/>
                  <a:gd name="T17" fmla="*/ 1 h 81"/>
                  <a:gd name="T18" fmla="*/ 0 w 31"/>
                  <a:gd name="T19" fmla="*/ 1 h 8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1" h="81">
                    <a:moveTo>
                      <a:pt x="31" y="15"/>
                    </a:moveTo>
                    <a:lnTo>
                      <a:pt x="26" y="72"/>
                    </a:lnTo>
                    <a:lnTo>
                      <a:pt x="15" y="81"/>
                    </a:lnTo>
                    <a:lnTo>
                      <a:pt x="7" y="69"/>
                    </a:lnTo>
                    <a:lnTo>
                      <a:pt x="0" y="15"/>
                    </a:lnTo>
                    <a:lnTo>
                      <a:pt x="5" y="4"/>
                    </a:lnTo>
                    <a:lnTo>
                      <a:pt x="15" y="0"/>
                    </a:lnTo>
                    <a:lnTo>
                      <a:pt x="31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94" name="Freeform 132">
                <a:extLst>
                  <a:ext uri="{FF2B5EF4-FFF2-40B4-BE49-F238E27FC236}">
                    <a16:creationId xmlns:a16="http://schemas.microsoft.com/office/drawing/2014/main" id="{04BE484C-C551-AB1E-EBAC-5DC9D2769B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8" y="2202"/>
                <a:ext cx="19" cy="40"/>
              </a:xfrm>
              <a:custGeom>
                <a:avLst/>
                <a:gdLst>
                  <a:gd name="T0" fmla="*/ 1 w 38"/>
                  <a:gd name="T1" fmla="*/ 0 h 81"/>
                  <a:gd name="T2" fmla="*/ 1 w 38"/>
                  <a:gd name="T3" fmla="*/ 1 h 81"/>
                  <a:gd name="T4" fmla="*/ 1 w 38"/>
                  <a:gd name="T5" fmla="*/ 1 h 81"/>
                  <a:gd name="T6" fmla="*/ 1 w 38"/>
                  <a:gd name="T7" fmla="*/ 1 h 81"/>
                  <a:gd name="T8" fmla="*/ 0 w 38"/>
                  <a:gd name="T9" fmla="*/ 0 h 81"/>
                  <a:gd name="T10" fmla="*/ 1 w 38"/>
                  <a:gd name="T11" fmla="*/ 0 h 81"/>
                  <a:gd name="T12" fmla="*/ 1 w 38"/>
                  <a:gd name="T13" fmla="*/ 0 h 81"/>
                  <a:gd name="T14" fmla="*/ 1 w 38"/>
                  <a:gd name="T15" fmla="*/ 0 h 81"/>
                  <a:gd name="T16" fmla="*/ 1 w 38"/>
                  <a:gd name="T17" fmla="*/ 0 h 81"/>
                  <a:gd name="T18" fmla="*/ 1 w 38"/>
                  <a:gd name="T19" fmla="*/ 0 h 8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8" h="81">
                    <a:moveTo>
                      <a:pt x="38" y="11"/>
                    </a:moveTo>
                    <a:lnTo>
                      <a:pt x="32" y="64"/>
                    </a:lnTo>
                    <a:lnTo>
                      <a:pt x="22" y="81"/>
                    </a:lnTo>
                    <a:lnTo>
                      <a:pt x="12" y="68"/>
                    </a:lnTo>
                    <a:lnTo>
                      <a:pt x="0" y="10"/>
                    </a:lnTo>
                    <a:lnTo>
                      <a:pt x="7" y="1"/>
                    </a:lnTo>
                    <a:lnTo>
                      <a:pt x="19" y="0"/>
                    </a:lnTo>
                    <a:lnTo>
                      <a:pt x="38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95" name="Freeform 133">
                <a:extLst>
                  <a:ext uri="{FF2B5EF4-FFF2-40B4-BE49-F238E27FC236}">
                    <a16:creationId xmlns:a16="http://schemas.microsoft.com/office/drawing/2014/main" id="{8C0020CD-2FD3-2857-0AED-148ABF6681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2199"/>
                <a:ext cx="17" cy="43"/>
              </a:xfrm>
              <a:custGeom>
                <a:avLst/>
                <a:gdLst>
                  <a:gd name="T0" fmla="*/ 0 w 36"/>
                  <a:gd name="T1" fmla="*/ 1 h 85"/>
                  <a:gd name="T2" fmla="*/ 0 w 36"/>
                  <a:gd name="T3" fmla="*/ 2 h 85"/>
                  <a:gd name="T4" fmla="*/ 0 w 36"/>
                  <a:gd name="T5" fmla="*/ 2 h 85"/>
                  <a:gd name="T6" fmla="*/ 0 w 36"/>
                  <a:gd name="T7" fmla="*/ 2 h 85"/>
                  <a:gd name="T8" fmla="*/ 0 w 36"/>
                  <a:gd name="T9" fmla="*/ 1 h 85"/>
                  <a:gd name="T10" fmla="*/ 0 w 36"/>
                  <a:gd name="T11" fmla="*/ 1 h 85"/>
                  <a:gd name="T12" fmla="*/ 0 w 36"/>
                  <a:gd name="T13" fmla="*/ 0 h 85"/>
                  <a:gd name="T14" fmla="*/ 0 w 36"/>
                  <a:gd name="T15" fmla="*/ 1 h 85"/>
                  <a:gd name="T16" fmla="*/ 0 w 36"/>
                  <a:gd name="T17" fmla="*/ 1 h 85"/>
                  <a:gd name="T18" fmla="*/ 0 w 36"/>
                  <a:gd name="T19" fmla="*/ 1 h 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6" h="85">
                    <a:moveTo>
                      <a:pt x="36" y="17"/>
                    </a:moveTo>
                    <a:lnTo>
                      <a:pt x="32" y="70"/>
                    </a:lnTo>
                    <a:lnTo>
                      <a:pt x="21" y="85"/>
                    </a:lnTo>
                    <a:lnTo>
                      <a:pt x="8" y="73"/>
                    </a:lnTo>
                    <a:lnTo>
                      <a:pt x="0" y="17"/>
                    </a:lnTo>
                    <a:lnTo>
                      <a:pt x="5" y="6"/>
                    </a:lnTo>
                    <a:lnTo>
                      <a:pt x="18" y="0"/>
                    </a:lnTo>
                    <a:lnTo>
                      <a:pt x="36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96" name="Freeform 134">
                <a:extLst>
                  <a:ext uri="{FF2B5EF4-FFF2-40B4-BE49-F238E27FC236}">
                    <a16:creationId xmlns:a16="http://schemas.microsoft.com/office/drawing/2014/main" id="{E75EB42D-2B11-22BF-39A7-708203312F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5" y="2204"/>
                <a:ext cx="19" cy="45"/>
              </a:xfrm>
              <a:custGeom>
                <a:avLst/>
                <a:gdLst>
                  <a:gd name="T0" fmla="*/ 1 w 38"/>
                  <a:gd name="T1" fmla="*/ 0 h 91"/>
                  <a:gd name="T2" fmla="*/ 1 w 38"/>
                  <a:gd name="T3" fmla="*/ 0 h 91"/>
                  <a:gd name="T4" fmla="*/ 1 w 38"/>
                  <a:gd name="T5" fmla="*/ 1 h 91"/>
                  <a:gd name="T6" fmla="*/ 1 w 38"/>
                  <a:gd name="T7" fmla="*/ 1 h 91"/>
                  <a:gd name="T8" fmla="*/ 1 w 38"/>
                  <a:gd name="T9" fmla="*/ 1 h 91"/>
                  <a:gd name="T10" fmla="*/ 1 w 38"/>
                  <a:gd name="T11" fmla="*/ 0 h 91"/>
                  <a:gd name="T12" fmla="*/ 0 w 38"/>
                  <a:gd name="T13" fmla="*/ 0 h 91"/>
                  <a:gd name="T14" fmla="*/ 1 w 38"/>
                  <a:gd name="T15" fmla="*/ 0 h 91"/>
                  <a:gd name="T16" fmla="*/ 1 w 38"/>
                  <a:gd name="T17" fmla="*/ 0 h 91"/>
                  <a:gd name="T18" fmla="*/ 1 w 38"/>
                  <a:gd name="T19" fmla="*/ 0 h 91"/>
                  <a:gd name="T20" fmla="*/ 1 w 38"/>
                  <a:gd name="T21" fmla="*/ 0 h 91"/>
                  <a:gd name="T22" fmla="*/ 1 w 38"/>
                  <a:gd name="T23" fmla="*/ 0 h 9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8" h="91">
                    <a:moveTo>
                      <a:pt x="38" y="14"/>
                    </a:moveTo>
                    <a:lnTo>
                      <a:pt x="36" y="40"/>
                    </a:lnTo>
                    <a:lnTo>
                      <a:pt x="36" y="81"/>
                    </a:lnTo>
                    <a:lnTo>
                      <a:pt x="26" y="91"/>
                    </a:lnTo>
                    <a:lnTo>
                      <a:pt x="15" y="81"/>
                    </a:lnTo>
                    <a:lnTo>
                      <a:pt x="5" y="42"/>
                    </a:lnTo>
                    <a:lnTo>
                      <a:pt x="0" y="13"/>
                    </a:lnTo>
                    <a:lnTo>
                      <a:pt x="5" y="3"/>
                    </a:lnTo>
                    <a:lnTo>
                      <a:pt x="19" y="0"/>
                    </a:lnTo>
                    <a:lnTo>
                      <a:pt x="38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97" name="Freeform 135">
                <a:extLst>
                  <a:ext uri="{FF2B5EF4-FFF2-40B4-BE49-F238E27FC236}">
                    <a16:creationId xmlns:a16="http://schemas.microsoft.com/office/drawing/2014/main" id="{5EAAF06B-C4D9-9652-6E19-1836299010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7" y="1636"/>
                <a:ext cx="146" cy="62"/>
              </a:xfrm>
              <a:custGeom>
                <a:avLst/>
                <a:gdLst>
                  <a:gd name="T0" fmla="*/ 1 w 291"/>
                  <a:gd name="T1" fmla="*/ 0 h 123"/>
                  <a:gd name="T2" fmla="*/ 3 w 291"/>
                  <a:gd name="T3" fmla="*/ 1 h 123"/>
                  <a:gd name="T4" fmla="*/ 4 w 291"/>
                  <a:gd name="T5" fmla="*/ 1 h 123"/>
                  <a:gd name="T6" fmla="*/ 5 w 291"/>
                  <a:gd name="T7" fmla="*/ 2 h 123"/>
                  <a:gd name="T8" fmla="*/ 5 w 291"/>
                  <a:gd name="T9" fmla="*/ 2 h 123"/>
                  <a:gd name="T10" fmla="*/ 5 w 291"/>
                  <a:gd name="T11" fmla="*/ 2 h 123"/>
                  <a:gd name="T12" fmla="*/ 5 w 291"/>
                  <a:gd name="T13" fmla="*/ 2 h 123"/>
                  <a:gd name="T14" fmla="*/ 4 w 291"/>
                  <a:gd name="T15" fmla="*/ 2 h 123"/>
                  <a:gd name="T16" fmla="*/ 4 w 291"/>
                  <a:gd name="T17" fmla="*/ 2 h 123"/>
                  <a:gd name="T18" fmla="*/ 4 w 291"/>
                  <a:gd name="T19" fmla="*/ 2 h 123"/>
                  <a:gd name="T20" fmla="*/ 4 w 291"/>
                  <a:gd name="T21" fmla="*/ 1 h 123"/>
                  <a:gd name="T22" fmla="*/ 3 w 291"/>
                  <a:gd name="T23" fmla="*/ 1 h 123"/>
                  <a:gd name="T24" fmla="*/ 3 w 291"/>
                  <a:gd name="T25" fmla="*/ 1 h 123"/>
                  <a:gd name="T26" fmla="*/ 1 w 291"/>
                  <a:gd name="T27" fmla="*/ 1 h 123"/>
                  <a:gd name="T28" fmla="*/ 0 w 291"/>
                  <a:gd name="T29" fmla="*/ 1 h 123"/>
                  <a:gd name="T30" fmla="*/ 1 w 291"/>
                  <a:gd name="T31" fmla="*/ 0 h 123"/>
                  <a:gd name="T32" fmla="*/ 1 w 291"/>
                  <a:gd name="T33" fmla="*/ 0 h 123"/>
                  <a:gd name="T34" fmla="*/ 1 w 291"/>
                  <a:gd name="T35" fmla="*/ 0 h 12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91" h="123">
                    <a:moveTo>
                      <a:pt x="11" y="0"/>
                    </a:moveTo>
                    <a:lnTo>
                      <a:pt x="163" y="7"/>
                    </a:lnTo>
                    <a:lnTo>
                      <a:pt x="228" y="30"/>
                    </a:lnTo>
                    <a:lnTo>
                      <a:pt x="280" y="78"/>
                    </a:lnTo>
                    <a:lnTo>
                      <a:pt x="288" y="93"/>
                    </a:lnTo>
                    <a:lnTo>
                      <a:pt x="291" y="111"/>
                    </a:lnTo>
                    <a:lnTo>
                      <a:pt x="281" y="123"/>
                    </a:lnTo>
                    <a:lnTo>
                      <a:pt x="251" y="116"/>
                    </a:lnTo>
                    <a:lnTo>
                      <a:pt x="241" y="103"/>
                    </a:lnTo>
                    <a:lnTo>
                      <a:pt x="220" y="78"/>
                    </a:lnTo>
                    <a:lnTo>
                      <a:pt x="196" y="57"/>
                    </a:lnTo>
                    <a:lnTo>
                      <a:pt x="170" y="43"/>
                    </a:lnTo>
                    <a:lnTo>
                      <a:pt x="142" y="33"/>
                    </a:lnTo>
                    <a:lnTo>
                      <a:pt x="11" y="21"/>
                    </a:lnTo>
                    <a:lnTo>
                      <a:pt x="0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98" name="Freeform 136">
                <a:extLst>
                  <a:ext uri="{FF2B5EF4-FFF2-40B4-BE49-F238E27FC236}">
                    <a16:creationId xmlns:a16="http://schemas.microsoft.com/office/drawing/2014/main" id="{386809B4-0FA0-6B55-27AE-4A47AD2324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3" y="1826"/>
                <a:ext cx="116" cy="331"/>
              </a:xfrm>
              <a:custGeom>
                <a:avLst/>
                <a:gdLst>
                  <a:gd name="T0" fmla="*/ 0 w 233"/>
                  <a:gd name="T1" fmla="*/ 1 h 662"/>
                  <a:gd name="T2" fmla="*/ 0 w 233"/>
                  <a:gd name="T3" fmla="*/ 2 h 662"/>
                  <a:gd name="T4" fmla="*/ 1 w 233"/>
                  <a:gd name="T5" fmla="*/ 3 h 662"/>
                  <a:gd name="T6" fmla="*/ 1 w 233"/>
                  <a:gd name="T7" fmla="*/ 4 h 662"/>
                  <a:gd name="T8" fmla="*/ 2 w 233"/>
                  <a:gd name="T9" fmla="*/ 7 h 662"/>
                  <a:gd name="T10" fmla="*/ 3 w 233"/>
                  <a:gd name="T11" fmla="*/ 8 h 662"/>
                  <a:gd name="T12" fmla="*/ 3 w 233"/>
                  <a:gd name="T13" fmla="*/ 10 h 662"/>
                  <a:gd name="T14" fmla="*/ 3 w 233"/>
                  <a:gd name="T15" fmla="*/ 11 h 662"/>
                  <a:gd name="T16" fmla="*/ 3 w 233"/>
                  <a:gd name="T17" fmla="*/ 11 h 662"/>
                  <a:gd name="T18" fmla="*/ 3 w 233"/>
                  <a:gd name="T19" fmla="*/ 11 h 662"/>
                  <a:gd name="T20" fmla="*/ 2 w 233"/>
                  <a:gd name="T21" fmla="*/ 11 h 662"/>
                  <a:gd name="T22" fmla="*/ 2 w 233"/>
                  <a:gd name="T23" fmla="*/ 9 h 662"/>
                  <a:gd name="T24" fmla="*/ 1 w 233"/>
                  <a:gd name="T25" fmla="*/ 7 h 662"/>
                  <a:gd name="T26" fmla="*/ 0 w 233"/>
                  <a:gd name="T27" fmla="*/ 3 h 662"/>
                  <a:gd name="T28" fmla="*/ 0 w 233"/>
                  <a:gd name="T29" fmla="*/ 2 h 662"/>
                  <a:gd name="T30" fmla="*/ 0 w 233"/>
                  <a:gd name="T31" fmla="*/ 1 h 662"/>
                  <a:gd name="T32" fmla="*/ 0 w 233"/>
                  <a:gd name="T33" fmla="*/ 1 h 662"/>
                  <a:gd name="T34" fmla="*/ 0 w 233"/>
                  <a:gd name="T35" fmla="*/ 0 h 662"/>
                  <a:gd name="T36" fmla="*/ 0 w 233"/>
                  <a:gd name="T37" fmla="*/ 1 h 662"/>
                  <a:gd name="T38" fmla="*/ 0 w 233"/>
                  <a:gd name="T39" fmla="*/ 1 h 66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33" h="662">
                    <a:moveTo>
                      <a:pt x="44" y="21"/>
                    </a:moveTo>
                    <a:lnTo>
                      <a:pt x="53" y="102"/>
                    </a:lnTo>
                    <a:lnTo>
                      <a:pt x="67" y="184"/>
                    </a:lnTo>
                    <a:lnTo>
                      <a:pt x="93" y="245"/>
                    </a:lnTo>
                    <a:lnTo>
                      <a:pt x="157" y="403"/>
                    </a:lnTo>
                    <a:lnTo>
                      <a:pt x="192" y="508"/>
                    </a:lnTo>
                    <a:lnTo>
                      <a:pt x="233" y="629"/>
                    </a:lnTo>
                    <a:lnTo>
                      <a:pt x="231" y="650"/>
                    </a:lnTo>
                    <a:lnTo>
                      <a:pt x="215" y="662"/>
                    </a:lnTo>
                    <a:lnTo>
                      <a:pt x="196" y="662"/>
                    </a:lnTo>
                    <a:lnTo>
                      <a:pt x="182" y="645"/>
                    </a:lnTo>
                    <a:lnTo>
                      <a:pt x="145" y="524"/>
                    </a:lnTo>
                    <a:lnTo>
                      <a:pt x="120" y="415"/>
                    </a:lnTo>
                    <a:lnTo>
                      <a:pt x="46" y="189"/>
                    </a:lnTo>
                    <a:lnTo>
                      <a:pt x="20" y="106"/>
                    </a:lnTo>
                    <a:lnTo>
                      <a:pt x="0" y="22"/>
                    </a:lnTo>
                    <a:lnTo>
                      <a:pt x="6" y="5"/>
                    </a:lnTo>
                    <a:lnTo>
                      <a:pt x="21" y="0"/>
                    </a:lnTo>
                    <a:lnTo>
                      <a:pt x="44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99" name="Freeform 137">
                <a:extLst>
                  <a:ext uri="{FF2B5EF4-FFF2-40B4-BE49-F238E27FC236}">
                    <a16:creationId xmlns:a16="http://schemas.microsoft.com/office/drawing/2014/main" id="{A37EDC6D-5293-5D2A-BE8E-EA839C7158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8" y="2109"/>
                <a:ext cx="416" cy="60"/>
              </a:xfrm>
              <a:custGeom>
                <a:avLst/>
                <a:gdLst>
                  <a:gd name="T0" fmla="*/ 1 w 831"/>
                  <a:gd name="T1" fmla="*/ 1 h 122"/>
                  <a:gd name="T2" fmla="*/ 3 w 831"/>
                  <a:gd name="T3" fmla="*/ 1 h 122"/>
                  <a:gd name="T4" fmla="*/ 5 w 831"/>
                  <a:gd name="T5" fmla="*/ 0 h 122"/>
                  <a:gd name="T6" fmla="*/ 9 w 831"/>
                  <a:gd name="T7" fmla="*/ 0 h 122"/>
                  <a:gd name="T8" fmla="*/ 11 w 831"/>
                  <a:gd name="T9" fmla="*/ 0 h 122"/>
                  <a:gd name="T10" fmla="*/ 13 w 831"/>
                  <a:gd name="T11" fmla="*/ 0 h 122"/>
                  <a:gd name="T12" fmla="*/ 13 w 831"/>
                  <a:gd name="T13" fmla="*/ 0 h 122"/>
                  <a:gd name="T14" fmla="*/ 13 w 831"/>
                  <a:gd name="T15" fmla="*/ 0 h 122"/>
                  <a:gd name="T16" fmla="*/ 13 w 831"/>
                  <a:gd name="T17" fmla="*/ 0 h 122"/>
                  <a:gd name="T18" fmla="*/ 13 w 831"/>
                  <a:gd name="T19" fmla="*/ 0 h 122"/>
                  <a:gd name="T20" fmla="*/ 9 w 831"/>
                  <a:gd name="T21" fmla="*/ 1 h 122"/>
                  <a:gd name="T22" fmla="*/ 8 w 831"/>
                  <a:gd name="T23" fmla="*/ 1 h 122"/>
                  <a:gd name="T24" fmla="*/ 6 w 831"/>
                  <a:gd name="T25" fmla="*/ 1 h 122"/>
                  <a:gd name="T26" fmla="*/ 0 w 831"/>
                  <a:gd name="T27" fmla="*/ 1 h 122"/>
                  <a:gd name="T28" fmla="*/ 1 w 831"/>
                  <a:gd name="T29" fmla="*/ 1 h 122"/>
                  <a:gd name="T30" fmla="*/ 1 w 831"/>
                  <a:gd name="T31" fmla="*/ 1 h 122"/>
                  <a:gd name="T32" fmla="*/ 1 w 831"/>
                  <a:gd name="T33" fmla="*/ 1 h 122"/>
                  <a:gd name="T34" fmla="*/ 1 w 831"/>
                  <a:gd name="T35" fmla="*/ 1 h 12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831" h="122">
                    <a:moveTo>
                      <a:pt x="26" y="89"/>
                    </a:moveTo>
                    <a:lnTo>
                      <a:pt x="176" y="69"/>
                    </a:lnTo>
                    <a:lnTo>
                      <a:pt x="318" y="56"/>
                    </a:lnTo>
                    <a:lnTo>
                      <a:pt x="562" y="23"/>
                    </a:lnTo>
                    <a:lnTo>
                      <a:pt x="676" y="8"/>
                    </a:lnTo>
                    <a:lnTo>
                      <a:pt x="805" y="0"/>
                    </a:lnTo>
                    <a:lnTo>
                      <a:pt x="825" y="9"/>
                    </a:lnTo>
                    <a:lnTo>
                      <a:pt x="831" y="26"/>
                    </a:lnTo>
                    <a:lnTo>
                      <a:pt x="825" y="43"/>
                    </a:lnTo>
                    <a:lnTo>
                      <a:pt x="805" y="51"/>
                    </a:lnTo>
                    <a:lnTo>
                      <a:pt x="564" y="70"/>
                    </a:lnTo>
                    <a:lnTo>
                      <a:pt x="451" y="86"/>
                    </a:lnTo>
                    <a:lnTo>
                      <a:pt x="322" y="99"/>
                    </a:lnTo>
                    <a:lnTo>
                      <a:pt x="0" y="122"/>
                    </a:lnTo>
                    <a:lnTo>
                      <a:pt x="3" y="108"/>
                    </a:lnTo>
                    <a:lnTo>
                      <a:pt x="26" y="8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00" name="Freeform 138">
                <a:extLst>
                  <a:ext uri="{FF2B5EF4-FFF2-40B4-BE49-F238E27FC236}">
                    <a16:creationId xmlns:a16="http://schemas.microsoft.com/office/drawing/2014/main" id="{F1F4BD7B-5620-E05F-1A9A-A63A215F5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1620"/>
                <a:ext cx="87" cy="515"/>
              </a:xfrm>
              <a:custGeom>
                <a:avLst/>
                <a:gdLst>
                  <a:gd name="T0" fmla="*/ 3 w 172"/>
                  <a:gd name="T1" fmla="*/ 1 h 1030"/>
                  <a:gd name="T2" fmla="*/ 3 w 172"/>
                  <a:gd name="T3" fmla="*/ 2 h 1030"/>
                  <a:gd name="T4" fmla="*/ 3 w 172"/>
                  <a:gd name="T5" fmla="*/ 5 h 1030"/>
                  <a:gd name="T6" fmla="*/ 3 w 172"/>
                  <a:gd name="T7" fmla="*/ 7 h 1030"/>
                  <a:gd name="T8" fmla="*/ 2 w 172"/>
                  <a:gd name="T9" fmla="*/ 9 h 1030"/>
                  <a:gd name="T10" fmla="*/ 2 w 172"/>
                  <a:gd name="T11" fmla="*/ 11 h 1030"/>
                  <a:gd name="T12" fmla="*/ 2 w 172"/>
                  <a:gd name="T13" fmla="*/ 14 h 1030"/>
                  <a:gd name="T14" fmla="*/ 2 w 172"/>
                  <a:gd name="T15" fmla="*/ 15 h 1030"/>
                  <a:gd name="T16" fmla="*/ 1 w 172"/>
                  <a:gd name="T17" fmla="*/ 16 h 1030"/>
                  <a:gd name="T18" fmla="*/ 1 w 172"/>
                  <a:gd name="T19" fmla="*/ 17 h 1030"/>
                  <a:gd name="T20" fmla="*/ 1 w 172"/>
                  <a:gd name="T21" fmla="*/ 17 h 1030"/>
                  <a:gd name="T22" fmla="*/ 0 w 172"/>
                  <a:gd name="T23" fmla="*/ 16 h 1030"/>
                  <a:gd name="T24" fmla="*/ 1 w 172"/>
                  <a:gd name="T25" fmla="*/ 14 h 1030"/>
                  <a:gd name="T26" fmla="*/ 1 w 172"/>
                  <a:gd name="T27" fmla="*/ 11 h 1030"/>
                  <a:gd name="T28" fmla="*/ 1 w 172"/>
                  <a:gd name="T29" fmla="*/ 10 h 1030"/>
                  <a:gd name="T30" fmla="*/ 2 w 172"/>
                  <a:gd name="T31" fmla="*/ 9 h 1030"/>
                  <a:gd name="T32" fmla="*/ 2 w 172"/>
                  <a:gd name="T33" fmla="*/ 7 h 1030"/>
                  <a:gd name="T34" fmla="*/ 3 w 172"/>
                  <a:gd name="T35" fmla="*/ 2 h 1030"/>
                  <a:gd name="T36" fmla="*/ 2 w 172"/>
                  <a:gd name="T37" fmla="*/ 1 h 1030"/>
                  <a:gd name="T38" fmla="*/ 3 w 172"/>
                  <a:gd name="T39" fmla="*/ 1 h 1030"/>
                  <a:gd name="T40" fmla="*/ 3 w 172"/>
                  <a:gd name="T41" fmla="*/ 1 h 1030"/>
                  <a:gd name="T42" fmla="*/ 3 w 172"/>
                  <a:gd name="T43" fmla="*/ 0 h 1030"/>
                  <a:gd name="T44" fmla="*/ 3 w 172"/>
                  <a:gd name="T45" fmla="*/ 1 h 1030"/>
                  <a:gd name="T46" fmla="*/ 3 w 172"/>
                  <a:gd name="T47" fmla="*/ 1 h 1030"/>
                  <a:gd name="T48" fmla="*/ 3 w 172"/>
                  <a:gd name="T49" fmla="*/ 1 h 103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72" h="1030">
                    <a:moveTo>
                      <a:pt x="162" y="14"/>
                    </a:moveTo>
                    <a:lnTo>
                      <a:pt x="172" y="111"/>
                    </a:lnTo>
                    <a:lnTo>
                      <a:pt x="165" y="265"/>
                    </a:lnTo>
                    <a:lnTo>
                      <a:pt x="146" y="398"/>
                    </a:lnTo>
                    <a:lnTo>
                      <a:pt x="120" y="531"/>
                    </a:lnTo>
                    <a:lnTo>
                      <a:pt x="92" y="687"/>
                    </a:lnTo>
                    <a:lnTo>
                      <a:pt x="72" y="852"/>
                    </a:lnTo>
                    <a:lnTo>
                      <a:pt x="65" y="930"/>
                    </a:lnTo>
                    <a:lnTo>
                      <a:pt x="51" y="1009"/>
                    </a:lnTo>
                    <a:lnTo>
                      <a:pt x="40" y="1026"/>
                    </a:lnTo>
                    <a:lnTo>
                      <a:pt x="21" y="1030"/>
                    </a:lnTo>
                    <a:lnTo>
                      <a:pt x="0" y="1001"/>
                    </a:lnTo>
                    <a:lnTo>
                      <a:pt x="18" y="849"/>
                    </a:lnTo>
                    <a:lnTo>
                      <a:pt x="40" y="678"/>
                    </a:lnTo>
                    <a:lnTo>
                      <a:pt x="56" y="597"/>
                    </a:lnTo>
                    <a:lnTo>
                      <a:pt x="71" y="524"/>
                    </a:lnTo>
                    <a:lnTo>
                      <a:pt x="101" y="389"/>
                    </a:lnTo>
                    <a:lnTo>
                      <a:pt x="134" y="101"/>
                    </a:lnTo>
                    <a:lnTo>
                      <a:pt x="123" y="44"/>
                    </a:lnTo>
                    <a:lnTo>
                      <a:pt x="129" y="21"/>
                    </a:lnTo>
                    <a:lnTo>
                      <a:pt x="143" y="4"/>
                    </a:lnTo>
                    <a:lnTo>
                      <a:pt x="156" y="0"/>
                    </a:lnTo>
                    <a:lnTo>
                      <a:pt x="162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01" name="Freeform 139">
                <a:extLst>
                  <a:ext uri="{FF2B5EF4-FFF2-40B4-BE49-F238E27FC236}">
                    <a16:creationId xmlns:a16="http://schemas.microsoft.com/office/drawing/2014/main" id="{693050E3-F886-E576-E43F-E021A6D883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2" y="1615"/>
                <a:ext cx="568" cy="155"/>
              </a:xfrm>
              <a:custGeom>
                <a:avLst/>
                <a:gdLst>
                  <a:gd name="T0" fmla="*/ 17 w 1137"/>
                  <a:gd name="T1" fmla="*/ 0 h 312"/>
                  <a:gd name="T2" fmla="*/ 15 w 1137"/>
                  <a:gd name="T3" fmla="*/ 0 h 312"/>
                  <a:gd name="T4" fmla="*/ 13 w 1137"/>
                  <a:gd name="T5" fmla="*/ 0 h 312"/>
                  <a:gd name="T6" fmla="*/ 9 w 1137"/>
                  <a:gd name="T7" fmla="*/ 1 h 312"/>
                  <a:gd name="T8" fmla="*/ 7 w 1137"/>
                  <a:gd name="T9" fmla="*/ 2 h 312"/>
                  <a:gd name="T10" fmla="*/ 5 w 1137"/>
                  <a:gd name="T11" fmla="*/ 2 h 312"/>
                  <a:gd name="T12" fmla="*/ 3 w 1137"/>
                  <a:gd name="T13" fmla="*/ 3 h 312"/>
                  <a:gd name="T14" fmla="*/ 2 w 1137"/>
                  <a:gd name="T15" fmla="*/ 3 h 312"/>
                  <a:gd name="T16" fmla="*/ 1 w 1137"/>
                  <a:gd name="T17" fmla="*/ 3 h 312"/>
                  <a:gd name="T18" fmla="*/ 0 w 1137"/>
                  <a:gd name="T19" fmla="*/ 4 h 312"/>
                  <a:gd name="T20" fmla="*/ 0 w 1137"/>
                  <a:gd name="T21" fmla="*/ 4 h 312"/>
                  <a:gd name="T22" fmla="*/ 0 w 1137"/>
                  <a:gd name="T23" fmla="*/ 4 h 312"/>
                  <a:gd name="T24" fmla="*/ 0 w 1137"/>
                  <a:gd name="T25" fmla="*/ 4 h 312"/>
                  <a:gd name="T26" fmla="*/ 0 w 1137"/>
                  <a:gd name="T27" fmla="*/ 4 h 312"/>
                  <a:gd name="T28" fmla="*/ 0 w 1137"/>
                  <a:gd name="T29" fmla="*/ 3 h 312"/>
                  <a:gd name="T30" fmla="*/ 1 w 1137"/>
                  <a:gd name="T31" fmla="*/ 3 h 312"/>
                  <a:gd name="T32" fmla="*/ 2 w 1137"/>
                  <a:gd name="T33" fmla="*/ 2 h 312"/>
                  <a:gd name="T34" fmla="*/ 3 w 1137"/>
                  <a:gd name="T35" fmla="*/ 2 h 312"/>
                  <a:gd name="T36" fmla="*/ 5 w 1137"/>
                  <a:gd name="T37" fmla="*/ 2 h 312"/>
                  <a:gd name="T38" fmla="*/ 7 w 1137"/>
                  <a:gd name="T39" fmla="*/ 1 h 312"/>
                  <a:gd name="T40" fmla="*/ 9 w 1137"/>
                  <a:gd name="T41" fmla="*/ 0 h 312"/>
                  <a:gd name="T42" fmla="*/ 13 w 1137"/>
                  <a:gd name="T43" fmla="*/ 0 h 312"/>
                  <a:gd name="T44" fmla="*/ 15 w 1137"/>
                  <a:gd name="T45" fmla="*/ 0 h 312"/>
                  <a:gd name="T46" fmla="*/ 17 w 1137"/>
                  <a:gd name="T47" fmla="*/ 0 h 312"/>
                  <a:gd name="T48" fmla="*/ 17 w 1137"/>
                  <a:gd name="T49" fmla="*/ 0 h 312"/>
                  <a:gd name="T50" fmla="*/ 17 w 1137"/>
                  <a:gd name="T51" fmla="*/ 0 h 312"/>
                  <a:gd name="T52" fmla="*/ 17 w 1137"/>
                  <a:gd name="T53" fmla="*/ 0 h 31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137" h="312">
                    <a:moveTo>
                      <a:pt x="1128" y="21"/>
                    </a:moveTo>
                    <a:lnTo>
                      <a:pt x="989" y="41"/>
                    </a:lnTo>
                    <a:lnTo>
                      <a:pt x="867" y="57"/>
                    </a:lnTo>
                    <a:lnTo>
                      <a:pt x="609" y="97"/>
                    </a:lnTo>
                    <a:lnTo>
                      <a:pt x="470" y="132"/>
                    </a:lnTo>
                    <a:lnTo>
                      <a:pt x="336" y="174"/>
                    </a:lnTo>
                    <a:lnTo>
                      <a:pt x="250" y="197"/>
                    </a:lnTo>
                    <a:lnTo>
                      <a:pt x="175" y="219"/>
                    </a:lnTo>
                    <a:lnTo>
                      <a:pt x="107" y="252"/>
                    </a:lnTo>
                    <a:lnTo>
                      <a:pt x="38" y="304"/>
                    </a:lnTo>
                    <a:lnTo>
                      <a:pt x="22" y="312"/>
                    </a:lnTo>
                    <a:lnTo>
                      <a:pt x="7" y="304"/>
                    </a:lnTo>
                    <a:lnTo>
                      <a:pt x="0" y="290"/>
                    </a:lnTo>
                    <a:lnTo>
                      <a:pt x="7" y="274"/>
                    </a:lnTo>
                    <a:lnTo>
                      <a:pt x="43" y="242"/>
                    </a:lnTo>
                    <a:lnTo>
                      <a:pt x="79" y="217"/>
                    </a:lnTo>
                    <a:lnTo>
                      <a:pt x="152" y="181"/>
                    </a:lnTo>
                    <a:lnTo>
                      <a:pt x="232" y="156"/>
                    </a:lnTo>
                    <a:lnTo>
                      <a:pt x="323" y="132"/>
                    </a:lnTo>
                    <a:lnTo>
                      <a:pt x="460" y="90"/>
                    </a:lnTo>
                    <a:lnTo>
                      <a:pt x="600" y="56"/>
                    </a:lnTo>
                    <a:lnTo>
                      <a:pt x="856" y="14"/>
                    </a:lnTo>
                    <a:lnTo>
                      <a:pt x="979" y="4"/>
                    </a:lnTo>
                    <a:lnTo>
                      <a:pt x="1124" y="0"/>
                    </a:lnTo>
                    <a:lnTo>
                      <a:pt x="1137" y="9"/>
                    </a:lnTo>
                    <a:lnTo>
                      <a:pt x="1128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02" name="Freeform 140">
                <a:extLst>
                  <a:ext uri="{FF2B5EF4-FFF2-40B4-BE49-F238E27FC236}">
                    <a16:creationId xmlns:a16="http://schemas.microsoft.com/office/drawing/2014/main" id="{257EED24-015B-856B-2EE3-9D3348B827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9" y="1660"/>
                <a:ext cx="232" cy="261"/>
              </a:xfrm>
              <a:custGeom>
                <a:avLst/>
                <a:gdLst>
                  <a:gd name="T0" fmla="*/ 0 w 465"/>
                  <a:gd name="T1" fmla="*/ 9 h 520"/>
                  <a:gd name="T2" fmla="*/ 0 w 465"/>
                  <a:gd name="T3" fmla="*/ 5 h 520"/>
                  <a:gd name="T4" fmla="*/ 0 w 465"/>
                  <a:gd name="T5" fmla="*/ 5 h 520"/>
                  <a:gd name="T6" fmla="*/ 0 w 465"/>
                  <a:gd name="T7" fmla="*/ 4 h 520"/>
                  <a:gd name="T8" fmla="*/ 0 w 465"/>
                  <a:gd name="T9" fmla="*/ 3 h 520"/>
                  <a:gd name="T10" fmla="*/ 1 w 465"/>
                  <a:gd name="T11" fmla="*/ 3 h 520"/>
                  <a:gd name="T12" fmla="*/ 2 w 465"/>
                  <a:gd name="T13" fmla="*/ 2 h 520"/>
                  <a:gd name="T14" fmla="*/ 3 w 465"/>
                  <a:gd name="T15" fmla="*/ 1 h 520"/>
                  <a:gd name="T16" fmla="*/ 4 w 465"/>
                  <a:gd name="T17" fmla="*/ 1 h 520"/>
                  <a:gd name="T18" fmla="*/ 5 w 465"/>
                  <a:gd name="T19" fmla="*/ 1 h 520"/>
                  <a:gd name="T20" fmla="*/ 7 w 465"/>
                  <a:gd name="T21" fmla="*/ 0 h 520"/>
                  <a:gd name="T22" fmla="*/ 7 w 465"/>
                  <a:gd name="T23" fmla="*/ 1 h 520"/>
                  <a:gd name="T24" fmla="*/ 7 w 465"/>
                  <a:gd name="T25" fmla="*/ 1 h 520"/>
                  <a:gd name="T26" fmla="*/ 5 w 465"/>
                  <a:gd name="T27" fmla="*/ 1 h 520"/>
                  <a:gd name="T28" fmla="*/ 4 w 465"/>
                  <a:gd name="T29" fmla="*/ 2 h 520"/>
                  <a:gd name="T30" fmla="*/ 3 w 465"/>
                  <a:gd name="T31" fmla="*/ 2 h 520"/>
                  <a:gd name="T32" fmla="*/ 2 w 465"/>
                  <a:gd name="T33" fmla="*/ 3 h 520"/>
                  <a:gd name="T34" fmla="*/ 1 w 465"/>
                  <a:gd name="T35" fmla="*/ 3 h 520"/>
                  <a:gd name="T36" fmla="*/ 1 w 465"/>
                  <a:gd name="T37" fmla="*/ 4 h 520"/>
                  <a:gd name="T38" fmla="*/ 0 w 465"/>
                  <a:gd name="T39" fmla="*/ 4 h 520"/>
                  <a:gd name="T40" fmla="*/ 0 w 465"/>
                  <a:gd name="T41" fmla="*/ 6 h 520"/>
                  <a:gd name="T42" fmla="*/ 0 w 465"/>
                  <a:gd name="T43" fmla="*/ 7 h 520"/>
                  <a:gd name="T44" fmla="*/ 0 w 465"/>
                  <a:gd name="T45" fmla="*/ 8 h 520"/>
                  <a:gd name="T46" fmla="*/ 0 w 465"/>
                  <a:gd name="T47" fmla="*/ 9 h 520"/>
                  <a:gd name="T48" fmla="*/ 0 w 465"/>
                  <a:gd name="T49" fmla="*/ 9 h 520"/>
                  <a:gd name="T50" fmla="*/ 0 w 465"/>
                  <a:gd name="T51" fmla="*/ 9 h 52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465" h="520">
                    <a:moveTo>
                      <a:pt x="30" y="513"/>
                    </a:moveTo>
                    <a:lnTo>
                      <a:pt x="0" y="306"/>
                    </a:lnTo>
                    <a:lnTo>
                      <a:pt x="5" y="260"/>
                    </a:lnTo>
                    <a:lnTo>
                      <a:pt x="19" y="215"/>
                    </a:lnTo>
                    <a:lnTo>
                      <a:pt x="42" y="173"/>
                    </a:lnTo>
                    <a:lnTo>
                      <a:pt x="75" y="131"/>
                    </a:lnTo>
                    <a:lnTo>
                      <a:pt x="142" y="92"/>
                    </a:lnTo>
                    <a:lnTo>
                      <a:pt x="222" y="62"/>
                    </a:lnTo>
                    <a:lnTo>
                      <a:pt x="294" y="40"/>
                    </a:lnTo>
                    <a:lnTo>
                      <a:pt x="367" y="21"/>
                    </a:lnTo>
                    <a:lnTo>
                      <a:pt x="452" y="0"/>
                    </a:lnTo>
                    <a:lnTo>
                      <a:pt x="465" y="6"/>
                    </a:lnTo>
                    <a:lnTo>
                      <a:pt x="459" y="19"/>
                    </a:lnTo>
                    <a:lnTo>
                      <a:pt x="376" y="45"/>
                    </a:lnTo>
                    <a:lnTo>
                      <a:pt x="308" y="73"/>
                    </a:lnTo>
                    <a:lnTo>
                      <a:pt x="239" y="103"/>
                    </a:lnTo>
                    <a:lnTo>
                      <a:pt x="162" y="138"/>
                    </a:lnTo>
                    <a:lnTo>
                      <a:pt x="110" y="168"/>
                    </a:lnTo>
                    <a:lnTo>
                      <a:pt x="78" y="206"/>
                    </a:lnTo>
                    <a:lnTo>
                      <a:pt x="56" y="244"/>
                    </a:lnTo>
                    <a:lnTo>
                      <a:pt x="33" y="325"/>
                    </a:lnTo>
                    <a:lnTo>
                      <a:pt x="34" y="411"/>
                    </a:lnTo>
                    <a:lnTo>
                      <a:pt x="50" y="507"/>
                    </a:lnTo>
                    <a:lnTo>
                      <a:pt x="43" y="520"/>
                    </a:lnTo>
                    <a:lnTo>
                      <a:pt x="30" y="5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03" name="Freeform 141">
                <a:extLst>
                  <a:ext uri="{FF2B5EF4-FFF2-40B4-BE49-F238E27FC236}">
                    <a16:creationId xmlns:a16="http://schemas.microsoft.com/office/drawing/2014/main" id="{8963E1F5-3B2B-056E-C63D-FE6053B53F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2" y="2414"/>
                <a:ext cx="21" cy="87"/>
              </a:xfrm>
              <a:custGeom>
                <a:avLst/>
                <a:gdLst>
                  <a:gd name="T0" fmla="*/ 1 w 42"/>
                  <a:gd name="T1" fmla="*/ 0 h 175"/>
                  <a:gd name="T2" fmla="*/ 1 w 42"/>
                  <a:gd name="T3" fmla="*/ 1 h 175"/>
                  <a:gd name="T4" fmla="*/ 1 w 42"/>
                  <a:gd name="T5" fmla="*/ 2 h 175"/>
                  <a:gd name="T6" fmla="*/ 1 w 42"/>
                  <a:gd name="T7" fmla="*/ 2 h 175"/>
                  <a:gd name="T8" fmla="*/ 0 w 42"/>
                  <a:gd name="T9" fmla="*/ 0 h 175"/>
                  <a:gd name="T10" fmla="*/ 1 w 42"/>
                  <a:gd name="T11" fmla="*/ 0 h 175"/>
                  <a:gd name="T12" fmla="*/ 1 w 42"/>
                  <a:gd name="T13" fmla="*/ 0 h 175"/>
                  <a:gd name="T14" fmla="*/ 1 w 42"/>
                  <a:gd name="T15" fmla="*/ 0 h 175"/>
                  <a:gd name="T16" fmla="*/ 1 w 42"/>
                  <a:gd name="T17" fmla="*/ 0 h 17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2" h="175">
                    <a:moveTo>
                      <a:pt x="29" y="57"/>
                    </a:moveTo>
                    <a:lnTo>
                      <a:pt x="29" y="92"/>
                    </a:lnTo>
                    <a:lnTo>
                      <a:pt x="42" y="175"/>
                    </a:lnTo>
                    <a:lnTo>
                      <a:pt x="1" y="175"/>
                    </a:lnTo>
                    <a:lnTo>
                      <a:pt x="0" y="6"/>
                    </a:lnTo>
                    <a:lnTo>
                      <a:pt x="27" y="0"/>
                    </a:lnTo>
                    <a:lnTo>
                      <a:pt x="35" y="16"/>
                    </a:lnTo>
                    <a:lnTo>
                      <a:pt x="29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133" name="Oval 142">
              <a:extLst>
                <a:ext uri="{FF2B5EF4-FFF2-40B4-BE49-F238E27FC236}">
                  <a16:creationId xmlns:a16="http://schemas.microsoft.com/office/drawing/2014/main" id="{5111DFD7-CB10-CE8E-BF4C-8E2910EF5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0" y="3072"/>
              <a:ext cx="850" cy="6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2000">
                  <a:latin typeface="굴림" panose="020B0600000101010101" pitchFamily="50" charset="-127"/>
                  <a:ea typeface="굴림" panose="020B0600000101010101" pitchFamily="50" charset="-127"/>
                </a:rPr>
                <a:t>라우터</a:t>
              </a:r>
            </a:p>
          </p:txBody>
        </p:sp>
        <p:sp>
          <p:nvSpPr>
            <p:cNvPr id="5134" name="Line 143">
              <a:extLst>
                <a:ext uri="{FF2B5EF4-FFF2-40B4-BE49-F238E27FC236}">
                  <a16:creationId xmlns:a16="http://schemas.microsoft.com/office/drawing/2014/main" id="{EA9F737D-9BFB-865D-431F-6D76902956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0" y="3425"/>
              <a:ext cx="6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35" name="Line 144">
              <a:extLst>
                <a:ext uri="{FF2B5EF4-FFF2-40B4-BE49-F238E27FC236}">
                  <a16:creationId xmlns:a16="http://schemas.microsoft.com/office/drawing/2014/main" id="{F3ED760B-8A49-7A7C-E9F2-F0E366CC14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27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36" name="Rectangle 145">
              <a:extLst>
                <a:ext uri="{FF2B5EF4-FFF2-40B4-BE49-F238E27FC236}">
                  <a16:creationId xmlns:a16="http://schemas.microsoft.com/office/drawing/2014/main" id="{103AFFAB-9808-FB83-A039-1DB69430D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0" y="960"/>
              <a:ext cx="18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000">
                  <a:latin typeface="굴림" panose="020B0600000101010101" pitchFamily="50" charset="-127"/>
                  <a:ea typeface="굴림" panose="020B0600000101010101" pitchFamily="50" charset="-127"/>
                </a:rPr>
                <a:t>①</a:t>
              </a:r>
            </a:p>
          </p:txBody>
        </p:sp>
        <p:sp>
          <p:nvSpPr>
            <p:cNvPr id="5137" name="Rectangle 146">
              <a:extLst>
                <a:ext uri="{FF2B5EF4-FFF2-40B4-BE49-F238E27FC236}">
                  <a16:creationId xmlns:a16="http://schemas.microsoft.com/office/drawing/2014/main" id="{81879743-7805-E05E-4129-859C258B0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" y="1632"/>
              <a:ext cx="18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000">
                  <a:latin typeface="굴림" panose="020B0600000101010101" pitchFamily="50" charset="-127"/>
                  <a:ea typeface="굴림" panose="020B0600000101010101" pitchFamily="50" charset="-127"/>
                </a:rPr>
                <a:t>②</a:t>
              </a:r>
            </a:p>
          </p:txBody>
        </p:sp>
        <p:sp>
          <p:nvSpPr>
            <p:cNvPr id="5138" name="Rectangle 147">
              <a:extLst>
                <a:ext uri="{FF2B5EF4-FFF2-40B4-BE49-F238E27FC236}">
                  <a16:creationId xmlns:a16="http://schemas.microsoft.com/office/drawing/2014/main" id="{9826D81F-975D-4D65-17B9-225A8AF80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0" y="2832"/>
              <a:ext cx="18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000">
                  <a:latin typeface="굴림" panose="020B0600000101010101" pitchFamily="50" charset="-127"/>
                  <a:ea typeface="굴림" panose="020B0600000101010101" pitchFamily="50" charset="-127"/>
                </a:rPr>
                <a:t>③</a:t>
              </a:r>
            </a:p>
          </p:txBody>
        </p:sp>
        <p:sp>
          <p:nvSpPr>
            <p:cNvPr id="5139" name="Rectangle 148">
              <a:extLst>
                <a:ext uri="{FF2B5EF4-FFF2-40B4-BE49-F238E27FC236}">
                  <a16:creationId xmlns:a16="http://schemas.microsoft.com/office/drawing/2014/main" id="{DDC00133-7B65-D84F-C6BE-23AE3BDFB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0" y="3168"/>
              <a:ext cx="18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000">
                  <a:latin typeface="굴림" panose="020B0600000101010101" pitchFamily="50" charset="-127"/>
                  <a:ea typeface="굴림" panose="020B0600000101010101" pitchFamily="50" charset="-127"/>
                </a:rPr>
                <a:t>④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바닥글 개체 틀 3">
            <a:extLst>
              <a:ext uri="{FF2B5EF4-FFF2-40B4-BE49-F238E27FC236}">
                <a16:creationId xmlns:a16="http://schemas.microsoft.com/office/drawing/2014/main" id="{2BAAF967-8016-4BC1-C614-07EFE1267E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E48CD57-38EC-D180-4EE4-B003AEF1C5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1. </a:t>
            </a:r>
            <a:r>
              <a:rPr lang="ko-KR" altLang="en-US" sz="2400"/>
              <a:t>네트워크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FBF49D85-4D26-5976-F15D-4BE3438FF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/>
              <a:t>종단 시스템</a:t>
            </a:r>
            <a:r>
              <a:rPr lang="en-US" altLang="ko-KR"/>
              <a:t>(end-system)</a:t>
            </a:r>
          </a:p>
          <a:p>
            <a:pPr lvl="1" eaLnBrk="1" hangingPunct="1"/>
            <a:r>
              <a:rPr lang="ko-KR" altLang="en-US"/>
              <a:t>최종 사용자</a:t>
            </a:r>
            <a:r>
              <a:rPr lang="en-US" altLang="ko-KR"/>
              <a:t>(end-user)</a:t>
            </a:r>
            <a:r>
              <a:rPr lang="ko-KR" altLang="en-US"/>
              <a:t>를 위한 애플리케이션을 수행하는 주체</a:t>
            </a:r>
            <a:endParaRPr lang="en-US" altLang="ko-KR"/>
          </a:p>
          <a:p>
            <a:pPr lvl="2" eaLnBrk="1" hangingPunct="1"/>
            <a:endParaRPr lang="ko-KR" altLang="en-US"/>
          </a:p>
          <a:p>
            <a:pPr eaLnBrk="1" hangingPunct="1"/>
            <a:r>
              <a:rPr lang="ko-KR" altLang="en-US"/>
              <a:t>라우터</a:t>
            </a:r>
            <a:r>
              <a:rPr lang="en-US" altLang="ko-KR"/>
              <a:t>(router)</a:t>
            </a:r>
          </a:p>
          <a:p>
            <a:pPr lvl="1" eaLnBrk="1" hangingPunct="1"/>
            <a:r>
              <a:rPr lang="ko-KR" altLang="en-US"/>
              <a:t>종단 시스템이 속한 네트워크와 다른 네트워크를 연결함으로써 서로 다른 네트워크에 속한 종단 시스템끼리 상호 데이터를 교환할 수 있도록 하는 장비</a:t>
            </a:r>
            <a:endParaRPr lang="en-US" altLang="ko-KR"/>
          </a:p>
          <a:p>
            <a:pPr lvl="2" eaLnBrk="1" hangingPunct="1"/>
            <a:endParaRPr lang="ko-KR" altLang="en-US"/>
          </a:p>
          <a:p>
            <a:pPr eaLnBrk="1" hangingPunct="1"/>
            <a:r>
              <a:rPr lang="ko-KR" altLang="en-US"/>
              <a:t>프로토콜</a:t>
            </a:r>
            <a:r>
              <a:rPr lang="en-US" altLang="ko-KR"/>
              <a:t>(protocol)</a:t>
            </a:r>
          </a:p>
          <a:p>
            <a:pPr lvl="1" eaLnBrk="1" hangingPunct="1"/>
            <a:r>
              <a:rPr lang="ko-KR" altLang="en-US"/>
              <a:t>종단 시스템과 라우터간</a:t>
            </a:r>
            <a:r>
              <a:rPr lang="en-US" altLang="ko-KR"/>
              <a:t>, </a:t>
            </a:r>
            <a:r>
              <a:rPr lang="ko-KR" altLang="en-US"/>
              <a:t>라우터와 라우터간</a:t>
            </a:r>
            <a:r>
              <a:rPr lang="en-US" altLang="ko-KR"/>
              <a:t>, </a:t>
            </a:r>
            <a:r>
              <a:rPr lang="ko-KR" altLang="en-US"/>
              <a:t>그리고 종단 시스템과 종단 시스템간 통신을 수행하기 위한 정해진 절차와 방법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바닥글 개체 틀 3">
            <a:extLst>
              <a:ext uri="{FF2B5EF4-FFF2-40B4-BE49-F238E27FC236}">
                <a16:creationId xmlns:a16="http://schemas.microsoft.com/office/drawing/2014/main" id="{B6767F4F-B631-EF51-0143-DC8EA829ED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B1F1670A-3E69-CF88-E066-60C0AE757D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1. </a:t>
            </a:r>
            <a:r>
              <a:rPr lang="ko-KR" altLang="en-US" sz="2400"/>
              <a:t>네트워크 </a:t>
            </a:r>
            <a:r>
              <a:rPr lang="en-US" altLang="ko-KR" sz="2400"/>
              <a:t>- TCP/IP </a:t>
            </a:r>
            <a:r>
              <a:rPr lang="ko-KR" altLang="en-US" sz="2400"/>
              <a:t>프로토콜 구조</a:t>
            </a:r>
          </a:p>
        </p:txBody>
      </p:sp>
      <p:grpSp>
        <p:nvGrpSpPr>
          <p:cNvPr id="7172" name="Group 3">
            <a:extLst>
              <a:ext uri="{FF2B5EF4-FFF2-40B4-BE49-F238E27FC236}">
                <a16:creationId xmlns:a16="http://schemas.microsoft.com/office/drawing/2014/main" id="{AC931935-C643-83AB-972E-3470FFC6823F}"/>
              </a:ext>
            </a:extLst>
          </p:cNvPr>
          <p:cNvGrpSpPr>
            <a:grpSpLocks/>
          </p:cNvGrpSpPr>
          <p:nvPr/>
        </p:nvGrpSpPr>
        <p:grpSpPr bwMode="auto">
          <a:xfrm>
            <a:off x="1382713" y="2286000"/>
            <a:ext cx="6705600" cy="3810000"/>
            <a:chOff x="832" y="1488"/>
            <a:chExt cx="4576" cy="2016"/>
          </a:xfrm>
        </p:grpSpPr>
        <p:sp>
          <p:nvSpPr>
            <p:cNvPr id="7174" name="Rectangle 4">
              <a:extLst>
                <a:ext uri="{FF2B5EF4-FFF2-40B4-BE49-F238E27FC236}">
                  <a16:creationId xmlns:a16="http://schemas.microsoft.com/office/drawing/2014/main" id="{726C0418-1D32-49FA-58EB-D3B6E8194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" y="3000"/>
              <a:ext cx="2405" cy="504"/>
            </a:xfrm>
            <a:prstGeom prst="rect">
              <a:avLst/>
            </a:prstGeom>
            <a:solidFill>
              <a:srgbClr val="0099CC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20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네트워크 액세스 계층</a:t>
              </a:r>
            </a:p>
          </p:txBody>
        </p:sp>
        <p:sp>
          <p:nvSpPr>
            <p:cNvPr id="7175" name="Rectangle 5">
              <a:extLst>
                <a:ext uri="{FF2B5EF4-FFF2-40B4-BE49-F238E27FC236}">
                  <a16:creationId xmlns:a16="http://schemas.microsoft.com/office/drawing/2014/main" id="{3C7D5848-56B4-5F54-9A0C-8A540FA72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" y="2496"/>
              <a:ext cx="2405" cy="504"/>
            </a:xfrm>
            <a:prstGeom prst="rect">
              <a:avLst/>
            </a:prstGeom>
            <a:solidFill>
              <a:srgbClr val="0099CC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20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인터넷 계층</a:t>
              </a:r>
            </a:p>
          </p:txBody>
        </p:sp>
        <p:sp>
          <p:nvSpPr>
            <p:cNvPr id="7176" name="Rectangle 6">
              <a:extLst>
                <a:ext uri="{FF2B5EF4-FFF2-40B4-BE49-F238E27FC236}">
                  <a16:creationId xmlns:a16="http://schemas.microsoft.com/office/drawing/2014/main" id="{FCF0F7B9-6611-96F2-865D-C971A431F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" y="1992"/>
              <a:ext cx="2405" cy="504"/>
            </a:xfrm>
            <a:prstGeom prst="rect">
              <a:avLst/>
            </a:prstGeom>
            <a:solidFill>
              <a:srgbClr val="0099CC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20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전송 계층</a:t>
              </a:r>
            </a:p>
          </p:txBody>
        </p:sp>
        <p:sp>
          <p:nvSpPr>
            <p:cNvPr id="7177" name="Rectangle 7">
              <a:extLst>
                <a:ext uri="{FF2B5EF4-FFF2-40B4-BE49-F238E27FC236}">
                  <a16:creationId xmlns:a16="http://schemas.microsoft.com/office/drawing/2014/main" id="{4B2C6FA8-7853-177A-B56E-7628F5273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" y="1488"/>
              <a:ext cx="2405" cy="504"/>
            </a:xfrm>
            <a:prstGeom prst="rect">
              <a:avLst/>
            </a:prstGeom>
            <a:solidFill>
              <a:srgbClr val="0099CC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20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애플리케이션 계층</a:t>
              </a:r>
            </a:p>
          </p:txBody>
        </p:sp>
        <p:sp>
          <p:nvSpPr>
            <p:cNvPr id="7178" name="Rectangle 8">
              <a:extLst>
                <a:ext uri="{FF2B5EF4-FFF2-40B4-BE49-F238E27FC236}">
                  <a16:creationId xmlns:a16="http://schemas.microsoft.com/office/drawing/2014/main" id="{9B2DB375-0156-06F7-E41B-6183FABEC3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7" y="3000"/>
              <a:ext cx="2041" cy="5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2000">
                  <a:latin typeface="굴림" panose="020B0600000101010101" pitchFamily="50" charset="-127"/>
                  <a:ea typeface="굴림" panose="020B0600000101010101" pitchFamily="50" charset="-127"/>
                </a:rPr>
                <a:t>디바이스 드라이버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2000">
                  <a:latin typeface="굴림" panose="020B0600000101010101" pitchFamily="50" charset="-127"/>
                  <a:ea typeface="굴림" panose="020B0600000101010101" pitchFamily="50" charset="-127"/>
                </a:rPr>
                <a:t>네트워크 하드웨어</a:t>
              </a:r>
            </a:p>
          </p:txBody>
        </p:sp>
        <p:sp>
          <p:nvSpPr>
            <p:cNvPr id="7179" name="Rectangle 9">
              <a:extLst>
                <a:ext uri="{FF2B5EF4-FFF2-40B4-BE49-F238E27FC236}">
                  <a16:creationId xmlns:a16="http://schemas.microsoft.com/office/drawing/2014/main" id="{6BE68B97-48C8-3921-C215-BD35DB922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7" y="2496"/>
              <a:ext cx="2041" cy="5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000">
                  <a:latin typeface="굴림" panose="020B0600000101010101" pitchFamily="50" charset="-127"/>
                  <a:ea typeface="굴림" panose="020B0600000101010101" pitchFamily="50" charset="-127"/>
                </a:rPr>
                <a:t>IP</a:t>
              </a:r>
            </a:p>
          </p:txBody>
        </p:sp>
        <p:sp>
          <p:nvSpPr>
            <p:cNvPr id="7180" name="Rectangle 10">
              <a:extLst>
                <a:ext uri="{FF2B5EF4-FFF2-40B4-BE49-F238E27FC236}">
                  <a16:creationId xmlns:a16="http://schemas.microsoft.com/office/drawing/2014/main" id="{36CC4C46-2433-A147-1B72-79C23B438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7" y="1992"/>
              <a:ext cx="2041" cy="5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000">
                  <a:latin typeface="굴림" panose="020B0600000101010101" pitchFamily="50" charset="-127"/>
                  <a:ea typeface="굴림" panose="020B0600000101010101" pitchFamily="50" charset="-127"/>
                </a:rPr>
                <a:t>TCP, UDP</a:t>
              </a:r>
            </a:p>
          </p:txBody>
        </p:sp>
        <p:sp>
          <p:nvSpPr>
            <p:cNvPr id="7181" name="Rectangle 11">
              <a:extLst>
                <a:ext uri="{FF2B5EF4-FFF2-40B4-BE49-F238E27FC236}">
                  <a16:creationId xmlns:a16="http://schemas.microsoft.com/office/drawing/2014/main" id="{01526C84-D287-3D5B-9E5F-7F511316E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7" y="1488"/>
              <a:ext cx="2041" cy="5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000">
                  <a:latin typeface="굴림" panose="020B0600000101010101" pitchFamily="50" charset="-127"/>
                  <a:ea typeface="굴림" panose="020B0600000101010101" pitchFamily="50" charset="-127"/>
                </a:rPr>
                <a:t>TELNET, FTP, HTTP,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000">
                  <a:latin typeface="굴림" panose="020B0600000101010101" pitchFamily="50" charset="-127"/>
                  <a:ea typeface="굴림" panose="020B0600000101010101" pitchFamily="50" charset="-127"/>
                </a:rPr>
                <a:t>SMTP, MIME, SNMP, ...</a:t>
              </a:r>
            </a:p>
          </p:txBody>
        </p:sp>
      </p:grpSp>
      <p:sp>
        <p:nvSpPr>
          <p:cNvPr id="7173" name="Rectangle 12">
            <a:extLst>
              <a:ext uri="{FF2B5EF4-FFF2-40B4-BE49-F238E27FC236}">
                <a16:creationId xmlns:a16="http://schemas.microsoft.com/office/drawing/2014/main" id="{FA636EF8-167C-194E-9665-B47F780C85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  <a:noFill/>
        </p:spPr>
        <p:txBody>
          <a:bodyPr/>
          <a:lstStyle/>
          <a:p>
            <a:pPr eaLnBrk="1" hangingPunct="1"/>
            <a:r>
              <a:rPr lang="en-US" altLang="ko-KR"/>
              <a:t>TCP/IP </a:t>
            </a:r>
            <a:r>
              <a:rPr lang="ko-KR" altLang="en-US"/>
              <a:t>프로토콜 구조</a:t>
            </a:r>
          </a:p>
          <a:p>
            <a:pPr lvl="1" eaLnBrk="1" hangingPunct="1"/>
            <a:r>
              <a:rPr lang="ko-KR" altLang="en-US"/>
              <a:t>계층적 구조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바닥글 개체 틀 3">
            <a:extLst>
              <a:ext uri="{FF2B5EF4-FFF2-40B4-BE49-F238E27FC236}">
                <a16:creationId xmlns:a16="http://schemas.microsoft.com/office/drawing/2014/main" id="{8515C80E-D63B-F098-422B-E1022CC8AA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74FE9786-95BB-285D-AFEE-0264EBDD5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1. </a:t>
            </a:r>
            <a:r>
              <a:rPr lang="ko-KR" altLang="en-US" sz="2400"/>
              <a:t>네트워크 </a:t>
            </a:r>
            <a:r>
              <a:rPr lang="en-US" altLang="ko-KR" sz="2400"/>
              <a:t>- TCP/IP </a:t>
            </a:r>
            <a:r>
              <a:rPr lang="ko-KR" altLang="en-US" sz="2400"/>
              <a:t>프로토콜 구조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CA6283EF-7ABA-FC3A-41B3-FA46952B69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 dirty="0"/>
              <a:t>네트워크 액세스 계층</a:t>
            </a:r>
            <a:r>
              <a:rPr lang="en-US" altLang="ko-KR" dirty="0"/>
              <a:t>(network access layer)</a:t>
            </a:r>
          </a:p>
          <a:p>
            <a:pPr lvl="1" eaLnBrk="1" hangingPunct="1"/>
            <a:r>
              <a:rPr lang="ko-KR" altLang="en-US" dirty="0"/>
              <a:t>역할</a:t>
            </a:r>
          </a:p>
          <a:p>
            <a:pPr lvl="2" eaLnBrk="1" hangingPunct="1"/>
            <a:r>
              <a:rPr lang="ko-KR" altLang="en-US" dirty="0"/>
              <a:t>물리적 네트워크를 통한 실제적인 데이터 전송</a:t>
            </a:r>
            <a:endParaRPr lang="en-US" altLang="ko-KR" dirty="0"/>
          </a:p>
          <a:p>
            <a:pPr lvl="3" eaLnBrk="1" hangingPunct="1"/>
            <a:endParaRPr lang="ko-KR" altLang="en-US" dirty="0"/>
          </a:p>
          <a:p>
            <a:pPr lvl="1" eaLnBrk="1" hangingPunct="1"/>
            <a:r>
              <a:rPr lang="ko-KR" altLang="en-US" dirty="0"/>
              <a:t>구성 요소</a:t>
            </a:r>
          </a:p>
          <a:p>
            <a:pPr lvl="2" eaLnBrk="1" hangingPunct="1"/>
            <a:r>
              <a:rPr lang="ko-KR" altLang="en-US" dirty="0"/>
              <a:t>네트워크 하드웨어 </a:t>
            </a:r>
            <a:r>
              <a:rPr lang="en-US" altLang="ko-KR" dirty="0"/>
              <a:t>+ </a:t>
            </a:r>
            <a:r>
              <a:rPr lang="ko-KR" altLang="en-US" dirty="0"/>
              <a:t>디바이스 드라이버</a:t>
            </a:r>
            <a:endParaRPr lang="en-US" altLang="ko-KR" dirty="0"/>
          </a:p>
          <a:p>
            <a:pPr lvl="3" eaLnBrk="1" hangingPunct="1"/>
            <a:endParaRPr lang="ko-KR" altLang="en-US" dirty="0"/>
          </a:p>
          <a:p>
            <a:pPr lvl="1" eaLnBrk="1" hangingPunct="1"/>
            <a:r>
              <a:rPr lang="ko-KR" altLang="en-US" dirty="0"/>
              <a:t>주소 지정 방식</a:t>
            </a:r>
          </a:p>
          <a:p>
            <a:pPr lvl="2" eaLnBrk="1" hangingPunct="1"/>
            <a:r>
              <a:rPr lang="ko-KR" altLang="en-US" dirty="0"/>
              <a:t>물리 주소</a:t>
            </a:r>
            <a:r>
              <a:rPr lang="en-US" altLang="ko-KR" dirty="0"/>
              <a:t>(physical address)</a:t>
            </a:r>
          </a:p>
          <a:p>
            <a:pPr lvl="3" eaLnBrk="1" hangingPunct="1"/>
            <a:endParaRPr lang="en-US" altLang="ko-KR" dirty="0"/>
          </a:p>
          <a:p>
            <a:pPr lvl="1" eaLnBrk="1" hangingPunct="1"/>
            <a:r>
              <a:rPr lang="ko-KR" altLang="en-US" dirty="0"/>
              <a:t>이더넷</a:t>
            </a:r>
            <a:r>
              <a:rPr lang="en-US" altLang="ko-KR" dirty="0"/>
              <a:t>(Ethernet)</a:t>
            </a:r>
          </a:p>
          <a:p>
            <a:pPr lvl="2" eaLnBrk="1" hangingPunct="1"/>
            <a:r>
              <a:rPr lang="en-US" altLang="ko-KR" dirty="0"/>
              <a:t>MSS(Maximum Segment Size)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97F2C61-2614-4C29-F913-E144DD10A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424589"/>
              </p:ext>
            </p:extLst>
          </p:nvPr>
        </p:nvGraphicFramePr>
        <p:xfrm>
          <a:off x="4821238" y="4365104"/>
          <a:ext cx="4038276" cy="1983285"/>
        </p:xfrm>
        <a:graphic>
          <a:graphicData uri="http://schemas.openxmlformats.org/drawingml/2006/table">
            <a:tbl>
              <a:tblPr/>
              <a:tblGrid>
                <a:gridCol w="1759594">
                  <a:extLst>
                    <a:ext uri="{9D8B030D-6E8A-4147-A177-3AD203B41FA5}">
                      <a16:colId xmlns:a16="http://schemas.microsoft.com/office/drawing/2014/main" val="407029266"/>
                    </a:ext>
                  </a:extLst>
                </a:gridCol>
                <a:gridCol w="1208015">
                  <a:extLst>
                    <a:ext uri="{9D8B030D-6E8A-4147-A177-3AD203B41FA5}">
                      <a16:colId xmlns:a16="http://schemas.microsoft.com/office/drawing/2014/main" val="3583237428"/>
                    </a:ext>
                  </a:extLst>
                </a:gridCol>
                <a:gridCol w="1070667">
                  <a:extLst>
                    <a:ext uri="{9D8B030D-6E8A-4147-A177-3AD203B41FA5}">
                      <a16:colId xmlns:a16="http://schemas.microsoft.com/office/drawing/2014/main" val="3158033845"/>
                    </a:ext>
                  </a:extLst>
                </a:gridCol>
              </a:tblGrid>
              <a:tr h="39665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항목</a:t>
                      </a:r>
                      <a:endParaRPr lang="ko-KR" altLang="en-US" sz="2400" dirty="0">
                        <a:effectLst/>
                      </a:endParaRPr>
                    </a:p>
                  </a:txBody>
                  <a:tcPr marL="39100" marR="39100" marT="39100" marB="39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IPv4</a:t>
                      </a:r>
                      <a:endParaRPr lang="en-US" sz="2400" dirty="0">
                        <a:effectLst/>
                      </a:endParaRPr>
                    </a:p>
                  </a:txBody>
                  <a:tcPr marL="39100" marR="39100" marT="39100" marB="39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IPv6</a:t>
                      </a:r>
                      <a:endParaRPr lang="en-US" sz="2400">
                        <a:effectLst/>
                      </a:endParaRPr>
                    </a:p>
                  </a:txBody>
                  <a:tcPr marL="39100" marR="39100" marT="39100" marB="39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709017"/>
                  </a:ext>
                </a:extLst>
              </a:tr>
              <a:tr h="39665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Ethernet MTU</a:t>
                      </a:r>
                      <a:endParaRPr lang="en-US" sz="2400">
                        <a:effectLst/>
                      </a:endParaRPr>
                    </a:p>
                  </a:txBody>
                  <a:tcPr marL="39100" marR="39100" marT="39100" marB="39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1500 byte</a:t>
                      </a:r>
                      <a:endParaRPr lang="en-US" sz="2400" dirty="0">
                        <a:effectLst/>
                      </a:endParaRPr>
                    </a:p>
                  </a:txBody>
                  <a:tcPr marL="39100" marR="39100" marT="39100" marB="39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1500 byte</a:t>
                      </a:r>
                      <a:endParaRPr lang="en-US" sz="2400">
                        <a:effectLst/>
                      </a:endParaRPr>
                    </a:p>
                  </a:txBody>
                  <a:tcPr marL="39100" marR="39100" marT="39100" marB="39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300926"/>
                  </a:ext>
                </a:extLst>
              </a:tr>
              <a:tr h="39665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IP Header</a:t>
                      </a:r>
                      <a:endParaRPr lang="en-US" sz="2400">
                        <a:effectLst/>
                      </a:endParaRPr>
                    </a:p>
                  </a:txBody>
                  <a:tcPr marL="39100" marR="39100" marT="39100" marB="39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 byte</a:t>
                      </a:r>
                      <a:endParaRPr lang="en-US" sz="2400" dirty="0">
                        <a:effectLst/>
                      </a:endParaRPr>
                    </a:p>
                  </a:txBody>
                  <a:tcPr marL="39100" marR="39100" marT="39100" marB="39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 byte</a:t>
                      </a:r>
                      <a:endParaRPr lang="en-US" sz="2400">
                        <a:effectLst/>
                      </a:endParaRPr>
                    </a:p>
                  </a:txBody>
                  <a:tcPr marL="39100" marR="39100" marT="39100" marB="39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609528"/>
                  </a:ext>
                </a:extLst>
              </a:tr>
              <a:tr h="39665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TCP Header</a:t>
                      </a:r>
                      <a:endParaRPr lang="en-US" sz="2400">
                        <a:effectLst/>
                      </a:endParaRPr>
                    </a:p>
                  </a:txBody>
                  <a:tcPr marL="39100" marR="39100" marT="39100" marB="39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 byte</a:t>
                      </a:r>
                      <a:endParaRPr lang="en-US" sz="2400">
                        <a:effectLst/>
                      </a:endParaRPr>
                    </a:p>
                  </a:txBody>
                  <a:tcPr marL="39100" marR="39100" marT="39100" marB="39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 byte</a:t>
                      </a:r>
                      <a:endParaRPr lang="en-US" sz="2400" dirty="0">
                        <a:effectLst/>
                      </a:endParaRPr>
                    </a:p>
                  </a:txBody>
                  <a:tcPr marL="39100" marR="39100" marT="39100" marB="39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924221"/>
                  </a:ext>
                </a:extLst>
              </a:tr>
              <a:tr h="39665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TCP Payload (MSS)</a:t>
                      </a:r>
                      <a:endParaRPr lang="en-US" sz="2400">
                        <a:effectLst/>
                      </a:endParaRPr>
                    </a:p>
                  </a:txBody>
                  <a:tcPr marL="39100" marR="39100" marT="39100" marB="39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1460 byte</a:t>
                      </a:r>
                      <a:endParaRPr lang="en-US" sz="2400">
                        <a:effectLst/>
                      </a:endParaRPr>
                    </a:p>
                  </a:txBody>
                  <a:tcPr marL="39100" marR="39100" marT="39100" marB="39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1440 byte</a:t>
                      </a:r>
                      <a:endParaRPr lang="en-US" sz="2400" dirty="0">
                        <a:effectLst/>
                      </a:endParaRPr>
                    </a:p>
                  </a:txBody>
                  <a:tcPr marL="39100" marR="39100" marT="39100" marB="39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8799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바닥글 개체 틀 3">
            <a:extLst>
              <a:ext uri="{FF2B5EF4-FFF2-40B4-BE49-F238E27FC236}">
                <a16:creationId xmlns:a16="http://schemas.microsoft.com/office/drawing/2014/main" id="{C85461A1-5727-4C84-43D1-DAA5957807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AE89EAC0-C01B-57E2-1798-4CEDC04F1F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1. </a:t>
            </a:r>
            <a:r>
              <a:rPr lang="ko-KR" altLang="en-US" sz="2400"/>
              <a:t>네트워크 </a:t>
            </a:r>
            <a:r>
              <a:rPr lang="en-US" altLang="ko-KR" sz="2400"/>
              <a:t>- TCP/IP </a:t>
            </a:r>
            <a:r>
              <a:rPr lang="ko-KR" altLang="en-US" sz="2400"/>
              <a:t>프로토콜 구조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78349661-FD93-4433-CBFD-1B466E72C0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/>
              <a:t>인터넷 계층</a:t>
            </a:r>
            <a:r>
              <a:rPr lang="en-US" altLang="ko-KR"/>
              <a:t>(Internet layer)</a:t>
            </a:r>
          </a:p>
          <a:p>
            <a:pPr lvl="1" eaLnBrk="1" hangingPunct="1"/>
            <a:r>
              <a:rPr lang="ko-KR" altLang="en-US"/>
              <a:t>역할</a:t>
            </a:r>
          </a:p>
          <a:p>
            <a:pPr lvl="2" eaLnBrk="1" hangingPunct="1"/>
            <a:r>
              <a:rPr lang="ko-KR" altLang="en-US"/>
              <a:t>네트워크 액세스 계층의 도움을 받아</a:t>
            </a:r>
            <a:r>
              <a:rPr lang="en-US" altLang="ko-KR"/>
              <a:t>, </a:t>
            </a:r>
            <a:r>
              <a:rPr lang="ko-KR" altLang="en-US"/>
              <a:t>전송 계층이 내려 보낸 데이터를 종단 시스템까지 전달</a:t>
            </a:r>
            <a:endParaRPr lang="en-US" altLang="ko-KR"/>
          </a:p>
          <a:p>
            <a:pPr lvl="3" eaLnBrk="1" hangingPunct="1"/>
            <a:endParaRPr lang="ko-KR" altLang="en-US"/>
          </a:p>
          <a:p>
            <a:pPr lvl="1" eaLnBrk="1" hangingPunct="1"/>
            <a:r>
              <a:rPr lang="ko-KR" altLang="en-US"/>
              <a:t>구성 요소</a:t>
            </a:r>
          </a:p>
          <a:p>
            <a:pPr lvl="2" eaLnBrk="1" hangingPunct="1"/>
            <a:r>
              <a:rPr lang="ko-KR" altLang="en-US"/>
              <a:t>논리 주소 </a:t>
            </a:r>
            <a:r>
              <a:rPr lang="en-US" altLang="ko-KR"/>
              <a:t>+ </a:t>
            </a:r>
            <a:r>
              <a:rPr lang="ko-KR" altLang="en-US"/>
              <a:t>라우팅</a:t>
            </a:r>
            <a:endParaRPr lang="en-US" altLang="ko-KR"/>
          </a:p>
          <a:p>
            <a:pPr lvl="3" eaLnBrk="1" hangingPunct="1"/>
            <a:endParaRPr lang="ko-KR" altLang="en-US"/>
          </a:p>
          <a:p>
            <a:pPr lvl="1" eaLnBrk="1" hangingPunct="1"/>
            <a:r>
              <a:rPr lang="ko-KR" altLang="en-US"/>
              <a:t>주소 지정 방식</a:t>
            </a:r>
          </a:p>
          <a:p>
            <a:pPr lvl="2" eaLnBrk="1" hangingPunct="1"/>
            <a:r>
              <a:rPr lang="en-US" altLang="ko-KR"/>
              <a:t>IP </a:t>
            </a:r>
            <a:r>
              <a:rPr lang="ko-KR" altLang="en-US"/>
              <a:t>주소</a:t>
            </a:r>
            <a:r>
              <a:rPr lang="en-US" altLang="ko-KR"/>
              <a:t>(Internet Protocol address)</a:t>
            </a:r>
          </a:p>
          <a:p>
            <a:pPr lvl="3" eaLnBrk="1" hangingPunct="1"/>
            <a:endParaRPr lang="en-US" altLang="ko-KR"/>
          </a:p>
          <a:p>
            <a:pPr lvl="1" eaLnBrk="1" hangingPunct="1"/>
            <a:r>
              <a:rPr lang="ko-KR" altLang="en-US"/>
              <a:t>라우팅</a:t>
            </a:r>
            <a:r>
              <a:rPr lang="en-US" altLang="ko-KR"/>
              <a:t>(routing)</a:t>
            </a:r>
          </a:p>
          <a:p>
            <a:pPr lvl="2" eaLnBrk="1" hangingPunct="1"/>
            <a:r>
              <a:rPr lang="ko-KR" altLang="en-US"/>
              <a:t>목적지까지 데이터를 전달하기 위한 일련의 작업</a:t>
            </a:r>
          </a:p>
          <a:p>
            <a:pPr lvl="3" eaLnBrk="1" hangingPunct="1"/>
            <a:r>
              <a:rPr lang="ko-KR" altLang="en-US"/>
              <a:t>라우팅을 위한 정보 획득</a:t>
            </a:r>
          </a:p>
          <a:p>
            <a:pPr lvl="3" eaLnBrk="1" hangingPunct="1"/>
            <a:r>
              <a:rPr lang="ko-KR" altLang="en-US"/>
              <a:t>라우팅 정보를 기초로 실제 데이터 전달</a:t>
            </a:r>
            <a:r>
              <a:rPr lang="en-US" altLang="ko-KR"/>
              <a:t>(forward)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바닥글 개체 틀 4">
            <a:extLst>
              <a:ext uri="{FF2B5EF4-FFF2-40B4-BE49-F238E27FC236}">
                <a16:creationId xmlns:a16="http://schemas.microsoft.com/office/drawing/2014/main" id="{351EBD16-F481-1415-AD3E-5AF7706D6B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CCA4C1D9-55E6-54EF-9165-2D9A073665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1. </a:t>
            </a:r>
            <a:r>
              <a:rPr lang="ko-KR" altLang="en-US" sz="2400"/>
              <a:t>네트워크 </a:t>
            </a:r>
            <a:r>
              <a:rPr lang="en-US" altLang="ko-KR" sz="2400"/>
              <a:t>- TCP/IP </a:t>
            </a:r>
            <a:r>
              <a:rPr lang="ko-KR" altLang="en-US" sz="2400"/>
              <a:t>프로토콜 구조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0A7AE8E9-88CE-37C2-F896-40D5004A18A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692150"/>
            <a:ext cx="8135938" cy="5832475"/>
          </a:xfrm>
        </p:spPr>
        <p:txBody>
          <a:bodyPr/>
          <a:lstStyle/>
          <a:p>
            <a:pPr eaLnBrk="1" hangingPunct="1"/>
            <a:r>
              <a:rPr lang="ko-KR" altLang="en-US" sz="2400"/>
              <a:t>전송 계층</a:t>
            </a:r>
            <a:r>
              <a:rPr lang="en-US" altLang="ko-KR" sz="2400"/>
              <a:t>(transport layer)</a:t>
            </a:r>
          </a:p>
          <a:p>
            <a:pPr lvl="1" eaLnBrk="1" hangingPunct="1"/>
            <a:r>
              <a:rPr lang="ko-KR" altLang="en-US" sz="2000"/>
              <a:t>역할</a:t>
            </a:r>
          </a:p>
          <a:p>
            <a:pPr lvl="2" eaLnBrk="1" hangingPunct="1"/>
            <a:r>
              <a:rPr lang="ko-KR" altLang="en-US" sz="1800"/>
              <a:t>최종적인 통신 목적지</a:t>
            </a:r>
            <a:r>
              <a:rPr lang="en-US" altLang="ko-KR" sz="1800"/>
              <a:t>(</a:t>
            </a:r>
            <a:r>
              <a:rPr lang="ko-KR" altLang="en-US" sz="1800"/>
              <a:t>프로세스</a:t>
            </a:r>
            <a:r>
              <a:rPr lang="en-US" altLang="ko-KR" sz="1800"/>
              <a:t>)</a:t>
            </a:r>
            <a:r>
              <a:rPr lang="ko-KR" altLang="en-US" sz="1800"/>
              <a:t>를 지정하고</a:t>
            </a:r>
            <a:r>
              <a:rPr lang="en-US" altLang="ko-KR" sz="1800"/>
              <a:t>, </a:t>
            </a:r>
            <a:r>
              <a:rPr lang="ko-KR" altLang="en-US" sz="1800"/>
              <a:t>오류 없이 데이터를 전송</a:t>
            </a:r>
          </a:p>
          <a:p>
            <a:pPr lvl="1" eaLnBrk="1" hangingPunct="1"/>
            <a:r>
              <a:rPr lang="ko-KR" altLang="en-US" sz="2000"/>
              <a:t>주소 지정 방식</a:t>
            </a:r>
          </a:p>
          <a:p>
            <a:pPr lvl="2" eaLnBrk="1" hangingPunct="1"/>
            <a:r>
              <a:rPr lang="ko-KR" altLang="en-US" sz="1800"/>
              <a:t>포트 번호</a:t>
            </a:r>
            <a:r>
              <a:rPr lang="en-US" altLang="ko-KR" sz="1800"/>
              <a:t>(port number)</a:t>
            </a:r>
          </a:p>
          <a:p>
            <a:pPr lvl="1" eaLnBrk="1" hangingPunct="1"/>
            <a:r>
              <a:rPr lang="ko-KR" altLang="en-US" sz="2000"/>
              <a:t>예</a:t>
            </a:r>
          </a:p>
          <a:p>
            <a:pPr lvl="2" eaLnBrk="1" hangingPunct="1"/>
            <a:r>
              <a:rPr lang="en-US" altLang="ko-KR" sz="1800"/>
              <a:t>TCP(Transmission Control Protocol)</a:t>
            </a:r>
          </a:p>
          <a:p>
            <a:pPr lvl="2" eaLnBrk="1" hangingPunct="1"/>
            <a:r>
              <a:rPr lang="en-US" altLang="ko-KR" sz="1800"/>
              <a:t>UDP(User Datagram Protocol)</a:t>
            </a:r>
          </a:p>
        </p:txBody>
      </p:sp>
      <p:graphicFrame>
        <p:nvGraphicFramePr>
          <p:cNvPr id="152632" name="Group 56">
            <a:extLst>
              <a:ext uri="{FF2B5EF4-FFF2-40B4-BE49-F238E27FC236}">
                <a16:creationId xmlns:a16="http://schemas.microsoft.com/office/drawing/2014/main" id="{22C48675-594F-85B6-902C-B4CC3A34215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255713" y="3711575"/>
          <a:ext cx="7131050" cy="2803750"/>
        </p:xfrm>
        <a:graphic>
          <a:graphicData uri="http://schemas.openxmlformats.org/drawingml/2006/table">
            <a:tbl>
              <a:tblPr/>
              <a:tblGrid>
                <a:gridCol w="3696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4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6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TCP</a:t>
                      </a:r>
                    </a:p>
                  </a:txBody>
                  <a:tcPr marL="91460" marR="91460" marT="45679" marB="4567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UDP</a:t>
                      </a:r>
                    </a:p>
                  </a:txBody>
                  <a:tcPr marL="91460" marR="91460" marT="45679" marB="456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7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연결형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(connection-oriented)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프로토콜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-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연결이 성공해야 통신 가능</a:t>
                      </a:r>
                    </a:p>
                  </a:txBody>
                  <a:tcPr marL="91460" marR="91460" marT="45679" marB="4567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비연결형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(connectionless)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프로토콜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-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연결 없이 통신 가능</a:t>
                      </a:r>
                    </a:p>
                  </a:txBody>
                  <a:tcPr marL="91460" marR="91460" marT="45679" marB="456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7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데이터 경계를 구분하지 않음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-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바이트 스트림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(byte-stream)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서비스</a:t>
                      </a:r>
                    </a:p>
                  </a:txBody>
                  <a:tcPr marL="91460" marR="91460" marT="45679" marB="4567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데이터 경계를 구분함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-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데이터그램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(datagram)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서비스</a:t>
                      </a:r>
                    </a:p>
                  </a:txBody>
                  <a:tcPr marL="91460" marR="91460" marT="45679" marB="456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7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신뢰성 있는 데이터 전송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-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데이터를 재전송함</a:t>
                      </a:r>
                    </a:p>
                  </a:txBody>
                  <a:tcPr marL="91460" marR="91460" marT="45679" marB="4567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비신뢰적인 데이터 전송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-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데이터를 재전송하지 않음</a:t>
                      </a:r>
                    </a:p>
                  </a:txBody>
                  <a:tcPr marL="91460" marR="91460" marT="45679" marB="456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대 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통신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(unicast)</a:t>
                      </a:r>
                    </a:p>
                  </a:txBody>
                  <a:tcPr marL="91460" marR="91460" marT="45679" marB="4567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대 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통신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(unicast),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대 다 통신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(broadcast),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다 대 다 통신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(multicast)</a:t>
                      </a:r>
                    </a:p>
                  </a:txBody>
                  <a:tcPr marL="91460" marR="91460" marT="45679" marB="456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바닥글 개체 틀 3">
            <a:extLst>
              <a:ext uri="{FF2B5EF4-FFF2-40B4-BE49-F238E27FC236}">
                <a16:creationId xmlns:a16="http://schemas.microsoft.com/office/drawing/2014/main" id="{49D5BA84-40A3-A231-5007-FD1D2269AA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1EF43355-6E6C-8C14-BEAD-0C47C7D02C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1. </a:t>
            </a:r>
            <a:r>
              <a:rPr lang="ko-KR" altLang="en-US" sz="2400"/>
              <a:t>네트워크 </a:t>
            </a:r>
            <a:r>
              <a:rPr lang="en-US" altLang="ko-KR" sz="2400"/>
              <a:t>- TCP/IP </a:t>
            </a:r>
            <a:r>
              <a:rPr lang="ko-KR" altLang="en-US" sz="2400"/>
              <a:t>프로토콜 구조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1C9CBF0E-76BC-87C5-8B2A-B79C738895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/>
              <a:t>애플리케이션 계층</a:t>
            </a:r>
            <a:r>
              <a:rPr lang="en-US" altLang="ko-KR"/>
              <a:t>(application layer)</a:t>
            </a:r>
          </a:p>
          <a:p>
            <a:pPr lvl="1" eaLnBrk="1" hangingPunct="1"/>
            <a:r>
              <a:rPr lang="ko-KR" altLang="en-US"/>
              <a:t>역할</a:t>
            </a:r>
          </a:p>
          <a:p>
            <a:pPr lvl="2" eaLnBrk="1" hangingPunct="1"/>
            <a:r>
              <a:rPr lang="ko-KR" altLang="en-US"/>
              <a:t>전송 계층을 기반으로 한 다수의 프로토콜과 이 프로토콜을 이용하는 애플리케이션을 포괄</a:t>
            </a:r>
          </a:p>
          <a:p>
            <a:pPr lvl="2" eaLnBrk="1" hangingPunct="1"/>
            <a:r>
              <a:rPr lang="ko-KR" altLang="en-US"/>
              <a:t>다양한 애플리케이션 서비스 제공</a:t>
            </a:r>
          </a:p>
          <a:p>
            <a:pPr lvl="1" eaLnBrk="1" hangingPunct="1"/>
            <a:r>
              <a:rPr lang="ko-KR" altLang="en-US"/>
              <a:t>예</a:t>
            </a:r>
          </a:p>
          <a:p>
            <a:pPr lvl="2" eaLnBrk="1" hangingPunct="1"/>
            <a:r>
              <a:rPr lang="en-US" altLang="ko-KR"/>
              <a:t>Telnet, FTP, HTTP, SMTP </a:t>
            </a:r>
            <a:r>
              <a:rPr lang="ko-KR" altLang="en-US"/>
              <a:t>등</a:t>
            </a:r>
          </a:p>
          <a:p>
            <a:pPr lvl="2" eaLnBrk="1" hangingPunct="1"/>
            <a:r>
              <a:rPr lang="en-US" altLang="ko-KR"/>
              <a:t>TCP/IP, UDP </a:t>
            </a:r>
            <a:r>
              <a:rPr lang="ko-KR" altLang="en-US"/>
              <a:t>기반 응용프로그램 들</a:t>
            </a:r>
          </a:p>
          <a:p>
            <a:pPr lvl="2" eaLnBrk="1" hangingPunct="1"/>
            <a:endParaRPr lang="en-US" altLang="ko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바닥글 개체 틀 3">
            <a:extLst>
              <a:ext uri="{FF2B5EF4-FFF2-40B4-BE49-F238E27FC236}">
                <a16:creationId xmlns:a16="http://schemas.microsoft.com/office/drawing/2014/main" id="{6F0FD9B8-322D-26FD-A59C-E4646F0D1F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4BF1221D-ED0F-24A3-DFA7-825918C0D6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1. </a:t>
            </a:r>
            <a:r>
              <a:rPr lang="ko-KR" altLang="en-US" sz="2400"/>
              <a:t>네트워크 </a:t>
            </a:r>
            <a:r>
              <a:rPr lang="en-US" altLang="ko-KR" sz="2400"/>
              <a:t>- </a:t>
            </a:r>
            <a:r>
              <a:rPr lang="ko-KR" altLang="en-US" sz="2400"/>
              <a:t>패킷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2A225137-FBE2-1484-2423-1048A5413A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/>
              <a:t>패킷</a:t>
            </a:r>
            <a:r>
              <a:rPr lang="en-US" altLang="ko-KR"/>
              <a:t>(packet)</a:t>
            </a:r>
          </a:p>
          <a:p>
            <a:pPr lvl="1" eaLnBrk="1" hangingPunct="1"/>
            <a:r>
              <a:rPr lang="ko-KR" altLang="en-US"/>
              <a:t>각각의 프로토콜에서 정의한 제어 정보</a:t>
            </a:r>
            <a:r>
              <a:rPr lang="en-US" altLang="ko-KR"/>
              <a:t>(IP </a:t>
            </a:r>
            <a:r>
              <a:rPr lang="ko-KR" altLang="en-US"/>
              <a:t>주소</a:t>
            </a:r>
            <a:r>
              <a:rPr lang="en-US" altLang="ko-KR"/>
              <a:t>, </a:t>
            </a:r>
            <a:r>
              <a:rPr lang="ko-KR" altLang="en-US"/>
              <a:t>포트 번호</a:t>
            </a:r>
            <a:r>
              <a:rPr lang="en-US" altLang="ko-KR"/>
              <a:t>, </a:t>
            </a:r>
            <a:r>
              <a:rPr lang="ko-KR" altLang="en-US"/>
              <a:t>오류 체크 코드 등</a:t>
            </a:r>
            <a:r>
              <a:rPr lang="en-US" altLang="ko-KR"/>
              <a:t>) + </a:t>
            </a:r>
            <a:r>
              <a:rPr lang="ko-KR" altLang="en-US"/>
              <a:t>데이터</a:t>
            </a:r>
          </a:p>
          <a:p>
            <a:pPr lvl="1" eaLnBrk="1" hangingPunct="1"/>
            <a:r>
              <a:rPr lang="ko-KR" altLang="en-US"/>
              <a:t>제어 정보의 위치에 따라</a:t>
            </a:r>
            <a:r>
              <a:rPr lang="en-US" altLang="ko-KR"/>
              <a:t>, </a:t>
            </a:r>
            <a:r>
              <a:rPr lang="ko-KR" altLang="en-US"/>
              <a:t>앞쪽에 붙는 헤더</a:t>
            </a:r>
            <a:r>
              <a:rPr lang="en-US" altLang="ko-KR"/>
              <a:t>(header)</a:t>
            </a:r>
            <a:r>
              <a:rPr lang="ko-KR" altLang="en-US"/>
              <a:t>와 뒤쪽에 붙는 트레일러</a:t>
            </a:r>
            <a:r>
              <a:rPr lang="en-US" altLang="ko-KR"/>
              <a:t>(trailer)</a:t>
            </a:r>
            <a:r>
              <a:rPr lang="ko-KR" altLang="en-US"/>
              <a:t>로 구분</a:t>
            </a:r>
          </a:p>
          <a:p>
            <a:pPr eaLnBrk="1" hangingPunct="1"/>
            <a:endParaRPr lang="en-US" altLang="ko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바닥글 개체 틀 3">
            <a:extLst>
              <a:ext uri="{FF2B5EF4-FFF2-40B4-BE49-F238E27FC236}">
                <a16:creationId xmlns:a16="http://schemas.microsoft.com/office/drawing/2014/main" id="{3EE91783-0AEF-CC8B-A532-6A28A57F1E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ED5B00F3-1638-FEC1-7218-B608F9B497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 </a:t>
            </a:r>
            <a:r>
              <a:rPr lang="ko-KR" altLang="en-US" sz="2400"/>
              <a:t>네트워크 </a:t>
            </a:r>
            <a:r>
              <a:rPr lang="en-US" altLang="ko-KR" sz="2400"/>
              <a:t>- </a:t>
            </a:r>
            <a:r>
              <a:rPr lang="ko-KR" altLang="en-US" sz="2400"/>
              <a:t>패킷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A0BD6999-F8FB-0D46-95F9-3B975D6AC3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 sz="1800"/>
              <a:t>패킷 전송</a:t>
            </a:r>
            <a:r>
              <a:rPr lang="en-US" altLang="ko-KR" sz="1800"/>
              <a:t>: </a:t>
            </a:r>
            <a:r>
              <a:rPr lang="ko-KR" altLang="en-US" sz="1800"/>
              <a:t>송신측</a:t>
            </a:r>
          </a:p>
          <a:p>
            <a:pPr lvl="1" eaLnBrk="1" hangingPunct="1"/>
            <a:endParaRPr lang="ko-KR" altLang="en-US" sz="1800"/>
          </a:p>
          <a:p>
            <a:pPr lvl="1" eaLnBrk="1" hangingPunct="1"/>
            <a:endParaRPr lang="ko-KR" altLang="en-US" sz="1800"/>
          </a:p>
          <a:p>
            <a:pPr lvl="1" eaLnBrk="1" hangingPunct="1"/>
            <a:endParaRPr lang="ko-KR" altLang="en-US" sz="1800"/>
          </a:p>
          <a:p>
            <a:pPr lvl="1" eaLnBrk="1" hangingPunct="1"/>
            <a:endParaRPr lang="ko-KR" altLang="en-US" sz="1800"/>
          </a:p>
          <a:p>
            <a:pPr lvl="1" eaLnBrk="1" hangingPunct="1"/>
            <a:endParaRPr lang="ko-KR" altLang="en-US" sz="1800"/>
          </a:p>
          <a:p>
            <a:pPr eaLnBrk="1" hangingPunct="1"/>
            <a:endParaRPr lang="ko-KR" altLang="en-US" sz="1800"/>
          </a:p>
          <a:p>
            <a:pPr eaLnBrk="1" hangingPunct="1"/>
            <a:endParaRPr lang="ko-KR" altLang="en-US" sz="1800"/>
          </a:p>
          <a:p>
            <a:pPr eaLnBrk="1" hangingPunct="1"/>
            <a:endParaRPr lang="ko-KR" altLang="en-US" sz="1800"/>
          </a:p>
          <a:p>
            <a:pPr eaLnBrk="1" hangingPunct="1"/>
            <a:r>
              <a:rPr lang="ko-KR" altLang="en-US" sz="1800"/>
              <a:t>패킷 전송</a:t>
            </a:r>
            <a:r>
              <a:rPr lang="en-US" altLang="ko-KR" sz="1800"/>
              <a:t>: </a:t>
            </a:r>
            <a:r>
              <a:rPr lang="ko-KR" altLang="en-US" sz="1800"/>
              <a:t>수신측</a:t>
            </a:r>
          </a:p>
          <a:p>
            <a:pPr eaLnBrk="1" hangingPunct="1"/>
            <a:endParaRPr lang="ko-KR" altLang="en-US" sz="1800"/>
          </a:p>
          <a:p>
            <a:pPr lvl="1" eaLnBrk="1" hangingPunct="1"/>
            <a:endParaRPr lang="en-US" altLang="ko-KR" sz="1800"/>
          </a:p>
        </p:txBody>
      </p:sp>
      <p:grpSp>
        <p:nvGrpSpPr>
          <p:cNvPr id="13317" name="Group 4">
            <a:extLst>
              <a:ext uri="{FF2B5EF4-FFF2-40B4-BE49-F238E27FC236}">
                <a16:creationId xmlns:a16="http://schemas.microsoft.com/office/drawing/2014/main" id="{B8E8D0E7-10B6-957D-521C-50171CD30C51}"/>
              </a:ext>
            </a:extLst>
          </p:cNvPr>
          <p:cNvGrpSpPr>
            <a:grpSpLocks/>
          </p:cNvGrpSpPr>
          <p:nvPr/>
        </p:nvGrpSpPr>
        <p:grpSpPr bwMode="auto">
          <a:xfrm>
            <a:off x="2843213" y="903288"/>
            <a:ext cx="5976937" cy="2525712"/>
            <a:chOff x="429" y="1536"/>
            <a:chExt cx="5447" cy="2352"/>
          </a:xfrm>
        </p:grpSpPr>
        <p:sp>
          <p:nvSpPr>
            <p:cNvPr id="13340" name="Rectangle 5">
              <a:extLst>
                <a:ext uri="{FF2B5EF4-FFF2-40B4-BE49-F238E27FC236}">
                  <a16:creationId xmlns:a16="http://schemas.microsoft.com/office/drawing/2014/main" id="{F06AC0C8-B192-385C-93F3-6178D90C65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" y="3300"/>
              <a:ext cx="871" cy="5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이더넷</a:t>
              </a:r>
            </a:p>
          </p:txBody>
        </p:sp>
        <p:sp>
          <p:nvSpPr>
            <p:cNvPr id="13341" name="Rectangle 6">
              <a:extLst>
                <a:ext uri="{FF2B5EF4-FFF2-40B4-BE49-F238E27FC236}">
                  <a16:creationId xmlns:a16="http://schemas.microsoft.com/office/drawing/2014/main" id="{CFECDC01-F308-5A1B-3C6B-BD865C572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" y="2712"/>
              <a:ext cx="871" cy="5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latin typeface="굴림" panose="020B0600000101010101" pitchFamily="50" charset="-127"/>
                  <a:ea typeface="굴림" panose="020B0600000101010101" pitchFamily="50" charset="-127"/>
                </a:rPr>
                <a:t>IP</a:t>
              </a:r>
            </a:p>
          </p:txBody>
        </p:sp>
        <p:sp>
          <p:nvSpPr>
            <p:cNvPr id="13342" name="Rectangle 7">
              <a:extLst>
                <a:ext uri="{FF2B5EF4-FFF2-40B4-BE49-F238E27FC236}">
                  <a16:creationId xmlns:a16="http://schemas.microsoft.com/office/drawing/2014/main" id="{141698D2-5950-B4BF-BA01-9C0B0857B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" y="2124"/>
              <a:ext cx="871" cy="5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latin typeface="굴림" panose="020B0600000101010101" pitchFamily="50" charset="-127"/>
                  <a:ea typeface="굴림" panose="020B0600000101010101" pitchFamily="50" charset="-127"/>
                </a:rPr>
                <a:t>TCP</a:t>
              </a:r>
            </a:p>
          </p:txBody>
        </p:sp>
        <p:sp>
          <p:nvSpPr>
            <p:cNvPr id="13343" name="Rectangle 8">
              <a:extLst>
                <a:ext uri="{FF2B5EF4-FFF2-40B4-BE49-F238E27FC236}">
                  <a16:creationId xmlns:a16="http://schemas.microsoft.com/office/drawing/2014/main" id="{0B33690F-CB54-1452-940E-CFF7F4648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" y="1536"/>
              <a:ext cx="871" cy="5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애플리케이션</a:t>
              </a:r>
            </a:p>
          </p:txBody>
        </p:sp>
        <p:sp>
          <p:nvSpPr>
            <p:cNvPr id="13344" name="Rectangle 9">
              <a:extLst>
                <a:ext uri="{FF2B5EF4-FFF2-40B4-BE49-F238E27FC236}">
                  <a16:creationId xmlns:a16="http://schemas.microsoft.com/office/drawing/2014/main" id="{8428D0E2-DCE6-A153-CB7B-3E036C3FC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4" y="1683"/>
              <a:ext cx="117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데이터</a:t>
              </a:r>
            </a:p>
          </p:txBody>
        </p:sp>
        <p:sp>
          <p:nvSpPr>
            <p:cNvPr id="13345" name="Rectangle 10">
              <a:extLst>
                <a:ext uri="{FF2B5EF4-FFF2-40B4-BE49-F238E27FC236}">
                  <a16:creationId xmlns:a16="http://schemas.microsoft.com/office/drawing/2014/main" id="{F30C6986-AB9F-31EE-CE65-4C0BDCB23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4" y="2271"/>
              <a:ext cx="117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데이터</a:t>
              </a:r>
            </a:p>
          </p:txBody>
        </p:sp>
        <p:sp>
          <p:nvSpPr>
            <p:cNvPr id="13346" name="Rectangle 11">
              <a:extLst>
                <a:ext uri="{FF2B5EF4-FFF2-40B4-BE49-F238E27FC236}">
                  <a16:creationId xmlns:a16="http://schemas.microsoft.com/office/drawing/2014/main" id="{B853B0AC-9383-C5D7-77C4-4BACABA62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2" y="2271"/>
              <a:ext cx="722" cy="294"/>
            </a:xfrm>
            <a:prstGeom prst="rect">
              <a:avLst/>
            </a:prstGeom>
            <a:solidFill>
              <a:srgbClr val="00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TCP </a:t>
              </a:r>
              <a:r>
                <a:rPr lang="ko-KR" altLang="en-US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헤더</a:t>
              </a:r>
            </a:p>
          </p:txBody>
        </p:sp>
        <p:sp>
          <p:nvSpPr>
            <p:cNvPr id="13347" name="Rectangle 12">
              <a:extLst>
                <a:ext uri="{FF2B5EF4-FFF2-40B4-BE49-F238E27FC236}">
                  <a16:creationId xmlns:a16="http://schemas.microsoft.com/office/drawing/2014/main" id="{4BE03D26-8D4E-E6AC-B2B8-F9D59ADB7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4" y="2859"/>
              <a:ext cx="117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데이터</a:t>
              </a:r>
            </a:p>
          </p:txBody>
        </p:sp>
        <p:sp>
          <p:nvSpPr>
            <p:cNvPr id="13348" name="Rectangle 13">
              <a:extLst>
                <a:ext uri="{FF2B5EF4-FFF2-40B4-BE49-F238E27FC236}">
                  <a16:creationId xmlns:a16="http://schemas.microsoft.com/office/drawing/2014/main" id="{03EDF839-01B1-A20E-3111-36BDB27AB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2" y="2859"/>
              <a:ext cx="722" cy="294"/>
            </a:xfrm>
            <a:prstGeom prst="rect">
              <a:avLst/>
            </a:prstGeom>
            <a:solidFill>
              <a:srgbClr val="00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TCP </a:t>
              </a:r>
              <a:r>
                <a:rPr lang="ko-KR" altLang="en-US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헤더</a:t>
              </a:r>
            </a:p>
          </p:txBody>
        </p:sp>
        <p:sp>
          <p:nvSpPr>
            <p:cNvPr id="13349" name="Rectangle 14">
              <a:extLst>
                <a:ext uri="{FF2B5EF4-FFF2-40B4-BE49-F238E27FC236}">
                  <a16:creationId xmlns:a16="http://schemas.microsoft.com/office/drawing/2014/main" id="{BD6AB72D-856E-95BB-5952-82A8DE0EA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8" y="2859"/>
              <a:ext cx="604" cy="294"/>
            </a:xfrm>
            <a:prstGeom prst="rect">
              <a:avLst/>
            </a:prstGeom>
            <a:solidFill>
              <a:srgbClr val="00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IP </a:t>
              </a:r>
              <a:r>
                <a:rPr lang="ko-KR" altLang="en-US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헤더</a:t>
              </a:r>
            </a:p>
          </p:txBody>
        </p:sp>
        <p:sp>
          <p:nvSpPr>
            <p:cNvPr id="13350" name="Rectangle 15">
              <a:extLst>
                <a:ext uri="{FF2B5EF4-FFF2-40B4-BE49-F238E27FC236}">
                  <a16:creationId xmlns:a16="http://schemas.microsoft.com/office/drawing/2014/main" id="{C4A180DE-A61C-AC1B-E09F-E60877D576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2" y="3447"/>
              <a:ext cx="722" cy="294"/>
            </a:xfrm>
            <a:prstGeom prst="rect">
              <a:avLst/>
            </a:prstGeom>
            <a:solidFill>
              <a:srgbClr val="00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TCP </a:t>
              </a:r>
              <a:r>
                <a:rPr lang="ko-KR" altLang="en-US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헤더</a:t>
              </a:r>
            </a:p>
          </p:txBody>
        </p:sp>
        <p:sp>
          <p:nvSpPr>
            <p:cNvPr id="13351" name="Rectangle 16">
              <a:extLst>
                <a:ext uri="{FF2B5EF4-FFF2-40B4-BE49-F238E27FC236}">
                  <a16:creationId xmlns:a16="http://schemas.microsoft.com/office/drawing/2014/main" id="{EA04662F-DE57-70E6-0675-DFE87E39D1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8" y="3447"/>
              <a:ext cx="604" cy="294"/>
            </a:xfrm>
            <a:prstGeom prst="rect">
              <a:avLst/>
            </a:prstGeom>
            <a:solidFill>
              <a:srgbClr val="00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IP </a:t>
              </a:r>
              <a:r>
                <a:rPr lang="ko-KR" altLang="en-US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헤더</a:t>
              </a:r>
            </a:p>
          </p:txBody>
        </p:sp>
        <p:sp>
          <p:nvSpPr>
            <p:cNvPr id="13352" name="Rectangle 17">
              <a:extLst>
                <a:ext uri="{FF2B5EF4-FFF2-40B4-BE49-F238E27FC236}">
                  <a16:creationId xmlns:a16="http://schemas.microsoft.com/office/drawing/2014/main" id="{FC735047-9C53-6DA5-9800-0048DD812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9" y="3447"/>
              <a:ext cx="819" cy="294"/>
            </a:xfrm>
            <a:prstGeom prst="rect">
              <a:avLst/>
            </a:prstGeom>
            <a:solidFill>
              <a:srgbClr val="00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이더넷 헤더</a:t>
              </a:r>
            </a:p>
          </p:txBody>
        </p:sp>
        <p:sp>
          <p:nvSpPr>
            <p:cNvPr id="13353" name="Rectangle 18">
              <a:extLst>
                <a:ext uri="{FF2B5EF4-FFF2-40B4-BE49-F238E27FC236}">
                  <a16:creationId xmlns:a16="http://schemas.microsoft.com/office/drawing/2014/main" id="{2027359A-DA38-8DB6-159A-8E30DC794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4" y="3447"/>
              <a:ext cx="117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데이터</a:t>
              </a:r>
            </a:p>
          </p:txBody>
        </p:sp>
        <p:sp>
          <p:nvSpPr>
            <p:cNvPr id="13354" name="Rectangle 19">
              <a:extLst>
                <a:ext uri="{FF2B5EF4-FFF2-40B4-BE49-F238E27FC236}">
                  <a16:creationId xmlns:a16="http://schemas.microsoft.com/office/drawing/2014/main" id="{39A7B6AC-0841-18E6-F0C0-952F16581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4" y="3447"/>
              <a:ext cx="1072" cy="294"/>
            </a:xfrm>
            <a:prstGeom prst="rect">
              <a:avLst/>
            </a:prstGeom>
            <a:solidFill>
              <a:srgbClr val="00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이더넷 트레일러</a:t>
              </a:r>
            </a:p>
          </p:txBody>
        </p:sp>
        <p:sp>
          <p:nvSpPr>
            <p:cNvPr id="13355" name="Line 20">
              <a:extLst>
                <a:ext uri="{FF2B5EF4-FFF2-40B4-BE49-F238E27FC236}">
                  <a16:creationId xmlns:a16="http://schemas.microsoft.com/office/drawing/2014/main" id="{A544FCE3-2DB4-1759-70EC-6E38CE912F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4" y="1977"/>
              <a:ext cx="0" cy="2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56" name="Line 21">
              <a:extLst>
                <a:ext uri="{FF2B5EF4-FFF2-40B4-BE49-F238E27FC236}">
                  <a16:creationId xmlns:a16="http://schemas.microsoft.com/office/drawing/2014/main" id="{F505ED29-2E2F-9096-2A62-7D2F71CFB9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4" y="2565"/>
              <a:ext cx="0" cy="2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57" name="Line 22">
              <a:extLst>
                <a:ext uri="{FF2B5EF4-FFF2-40B4-BE49-F238E27FC236}">
                  <a16:creationId xmlns:a16="http://schemas.microsoft.com/office/drawing/2014/main" id="{00D7C794-A9AD-76D9-CE2D-887E36CF7E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99" y="3153"/>
              <a:ext cx="5" cy="3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58" name="Line 23">
              <a:extLst>
                <a:ext uri="{FF2B5EF4-FFF2-40B4-BE49-F238E27FC236}">
                  <a16:creationId xmlns:a16="http://schemas.microsoft.com/office/drawing/2014/main" id="{7D6834F3-C5DF-7B3D-9561-598CA18524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4" y="1977"/>
              <a:ext cx="0" cy="2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59" name="Line 24">
              <a:extLst>
                <a:ext uri="{FF2B5EF4-FFF2-40B4-BE49-F238E27FC236}">
                  <a16:creationId xmlns:a16="http://schemas.microsoft.com/office/drawing/2014/main" id="{BBD6B9D7-BB5D-E29F-57B5-B138DDC21D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2" y="2565"/>
              <a:ext cx="0" cy="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60" name="Line 25">
              <a:extLst>
                <a:ext uri="{FF2B5EF4-FFF2-40B4-BE49-F238E27FC236}">
                  <a16:creationId xmlns:a16="http://schemas.microsoft.com/office/drawing/2014/main" id="{21612298-3100-0918-9F08-456FEF9099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8" y="3153"/>
              <a:ext cx="0" cy="2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318" name="Group 26">
            <a:extLst>
              <a:ext uri="{FF2B5EF4-FFF2-40B4-BE49-F238E27FC236}">
                <a16:creationId xmlns:a16="http://schemas.microsoft.com/office/drawing/2014/main" id="{A2481EC3-8CC8-BD7A-3536-DF2960E6906D}"/>
              </a:ext>
            </a:extLst>
          </p:cNvPr>
          <p:cNvGrpSpPr>
            <a:grpSpLocks/>
          </p:cNvGrpSpPr>
          <p:nvPr/>
        </p:nvGrpSpPr>
        <p:grpSpPr bwMode="auto">
          <a:xfrm>
            <a:off x="2843213" y="3856038"/>
            <a:ext cx="5976937" cy="2525712"/>
            <a:chOff x="429" y="1536"/>
            <a:chExt cx="5447" cy="2352"/>
          </a:xfrm>
        </p:grpSpPr>
        <p:sp>
          <p:nvSpPr>
            <p:cNvPr id="13319" name="Rectangle 27">
              <a:extLst>
                <a:ext uri="{FF2B5EF4-FFF2-40B4-BE49-F238E27FC236}">
                  <a16:creationId xmlns:a16="http://schemas.microsoft.com/office/drawing/2014/main" id="{C02FD92B-B93F-61E3-FA9A-C92158E3A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" y="3300"/>
              <a:ext cx="871" cy="5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이더넷</a:t>
              </a:r>
            </a:p>
          </p:txBody>
        </p:sp>
        <p:sp>
          <p:nvSpPr>
            <p:cNvPr id="13320" name="Rectangle 28">
              <a:extLst>
                <a:ext uri="{FF2B5EF4-FFF2-40B4-BE49-F238E27FC236}">
                  <a16:creationId xmlns:a16="http://schemas.microsoft.com/office/drawing/2014/main" id="{8182D9D9-B82E-2881-BEC6-D6F2326F8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" y="2712"/>
              <a:ext cx="871" cy="5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latin typeface="굴림" panose="020B0600000101010101" pitchFamily="50" charset="-127"/>
                  <a:ea typeface="굴림" panose="020B0600000101010101" pitchFamily="50" charset="-127"/>
                </a:rPr>
                <a:t>IP</a:t>
              </a:r>
            </a:p>
          </p:txBody>
        </p:sp>
        <p:sp>
          <p:nvSpPr>
            <p:cNvPr id="13321" name="Rectangle 29">
              <a:extLst>
                <a:ext uri="{FF2B5EF4-FFF2-40B4-BE49-F238E27FC236}">
                  <a16:creationId xmlns:a16="http://schemas.microsoft.com/office/drawing/2014/main" id="{EBDF989E-FB66-C08A-6979-116AABA3B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" y="2124"/>
              <a:ext cx="871" cy="5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latin typeface="굴림" panose="020B0600000101010101" pitchFamily="50" charset="-127"/>
                  <a:ea typeface="굴림" panose="020B0600000101010101" pitchFamily="50" charset="-127"/>
                </a:rPr>
                <a:t>TCP</a:t>
              </a:r>
            </a:p>
          </p:txBody>
        </p:sp>
        <p:sp>
          <p:nvSpPr>
            <p:cNvPr id="13322" name="Rectangle 30">
              <a:extLst>
                <a:ext uri="{FF2B5EF4-FFF2-40B4-BE49-F238E27FC236}">
                  <a16:creationId xmlns:a16="http://schemas.microsoft.com/office/drawing/2014/main" id="{F100C753-FF52-0C10-6FB9-EEB8F1A09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" y="1536"/>
              <a:ext cx="871" cy="5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애플리케이션</a:t>
              </a:r>
            </a:p>
          </p:txBody>
        </p:sp>
        <p:sp>
          <p:nvSpPr>
            <p:cNvPr id="13323" name="Rectangle 31">
              <a:extLst>
                <a:ext uri="{FF2B5EF4-FFF2-40B4-BE49-F238E27FC236}">
                  <a16:creationId xmlns:a16="http://schemas.microsoft.com/office/drawing/2014/main" id="{35EDF226-404C-465A-42DD-9E00BAD99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4" y="1683"/>
              <a:ext cx="117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데이터</a:t>
              </a:r>
            </a:p>
          </p:txBody>
        </p:sp>
        <p:sp>
          <p:nvSpPr>
            <p:cNvPr id="13324" name="Rectangle 32">
              <a:extLst>
                <a:ext uri="{FF2B5EF4-FFF2-40B4-BE49-F238E27FC236}">
                  <a16:creationId xmlns:a16="http://schemas.microsoft.com/office/drawing/2014/main" id="{83D07B9B-1137-B6B9-642F-758E718B5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4" y="2271"/>
              <a:ext cx="117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데이터</a:t>
              </a:r>
            </a:p>
          </p:txBody>
        </p:sp>
        <p:sp>
          <p:nvSpPr>
            <p:cNvPr id="13325" name="Rectangle 33">
              <a:extLst>
                <a:ext uri="{FF2B5EF4-FFF2-40B4-BE49-F238E27FC236}">
                  <a16:creationId xmlns:a16="http://schemas.microsoft.com/office/drawing/2014/main" id="{6333A05F-F17A-80FA-53C7-952277555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2" y="2271"/>
              <a:ext cx="722" cy="294"/>
            </a:xfrm>
            <a:prstGeom prst="rect">
              <a:avLst/>
            </a:prstGeom>
            <a:solidFill>
              <a:srgbClr val="00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TCP </a:t>
              </a:r>
              <a:r>
                <a:rPr lang="ko-KR" altLang="en-US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헤더</a:t>
              </a:r>
            </a:p>
          </p:txBody>
        </p:sp>
        <p:sp>
          <p:nvSpPr>
            <p:cNvPr id="13326" name="Rectangle 34">
              <a:extLst>
                <a:ext uri="{FF2B5EF4-FFF2-40B4-BE49-F238E27FC236}">
                  <a16:creationId xmlns:a16="http://schemas.microsoft.com/office/drawing/2014/main" id="{66E34FE0-6589-AB17-0C5A-4AC486C13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4" y="2859"/>
              <a:ext cx="117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데이터</a:t>
              </a:r>
            </a:p>
          </p:txBody>
        </p:sp>
        <p:sp>
          <p:nvSpPr>
            <p:cNvPr id="13327" name="Rectangle 35">
              <a:extLst>
                <a:ext uri="{FF2B5EF4-FFF2-40B4-BE49-F238E27FC236}">
                  <a16:creationId xmlns:a16="http://schemas.microsoft.com/office/drawing/2014/main" id="{A82FD62A-5F0A-FBE0-2E43-EE289720D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2" y="2859"/>
              <a:ext cx="722" cy="294"/>
            </a:xfrm>
            <a:prstGeom prst="rect">
              <a:avLst/>
            </a:prstGeom>
            <a:solidFill>
              <a:srgbClr val="00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TCP </a:t>
              </a:r>
              <a:r>
                <a:rPr lang="ko-KR" altLang="en-US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헤더</a:t>
              </a:r>
            </a:p>
          </p:txBody>
        </p:sp>
        <p:sp>
          <p:nvSpPr>
            <p:cNvPr id="13328" name="Rectangle 36">
              <a:extLst>
                <a:ext uri="{FF2B5EF4-FFF2-40B4-BE49-F238E27FC236}">
                  <a16:creationId xmlns:a16="http://schemas.microsoft.com/office/drawing/2014/main" id="{A9735564-F5CD-81CD-0AC6-60A2F72E1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8" y="2859"/>
              <a:ext cx="604" cy="294"/>
            </a:xfrm>
            <a:prstGeom prst="rect">
              <a:avLst/>
            </a:prstGeom>
            <a:solidFill>
              <a:srgbClr val="00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IP </a:t>
              </a:r>
              <a:r>
                <a:rPr lang="ko-KR" altLang="en-US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헤더</a:t>
              </a:r>
            </a:p>
          </p:txBody>
        </p:sp>
        <p:sp>
          <p:nvSpPr>
            <p:cNvPr id="13329" name="Rectangle 37">
              <a:extLst>
                <a:ext uri="{FF2B5EF4-FFF2-40B4-BE49-F238E27FC236}">
                  <a16:creationId xmlns:a16="http://schemas.microsoft.com/office/drawing/2014/main" id="{B689876A-109C-E912-4551-B6965FE87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2" y="3447"/>
              <a:ext cx="722" cy="294"/>
            </a:xfrm>
            <a:prstGeom prst="rect">
              <a:avLst/>
            </a:prstGeom>
            <a:solidFill>
              <a:srgbClr val="00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TCP </a:t>
              </a:r>
              <a:r>
                <a:rPr lang="ko-KR" altLang="en-US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헤더</a:t>
              </a:r>
            </a:p>
          </p:txBody>
        </p:sp>
        <p:sp>
          <p:nvSpPr>
            <p:cNvPr id="13330" name="Rectangle 38">
              <a:extLst>
                <a:ext uri="{FF2B5EF4-FFF2-40B4-BE49-F238E27FC236}">
                  <a16:creationId xmlns:a16="http://schemas.microsoft.com/office/drawing/2014/main" id="{F413F59B-7A22-9779-AC53-3844255A5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8" y="3447"/>
              <a:ext cx="604" cy="294"/>
            </a:xfrm>
            <a:prstGeom prst="rect">
              <a:avLst/>
            </a:prstGeom>
            <a:solidFill>
              <a:srgbClr val="00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IP </a:t>
              </a:r>
              <a:r>
                <a:rPr lang="ko-KR" altLang="en-US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헤더</a:t>
              </a:r>
            </a:p>
          </p:txBody>
        </p:sp>
        <p:sp>
          <p:nvSpPr>
            <p:cNvPr id="13331" name="Rectangle 39">
              <a:extLst>
                <a:ext uri="{FF2B5EF4-FFF2-40B4-BE49-F238E27FC236}">
                  <a16:creationId xmlns:a16="http://schemas.microsoft.com/office/drawing/2014/main" id="{F32700F8-3208-5687-43BF-1BC8CC477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9" y="3447"/>
              <a:ext cx="819" cy="294"/>
            </a:xfrm>
            <a:prstGeom prst="rect">
              <a:avLst/>
            </a:prstGeom>
            <a:solidFill>
              <a:srgbClr val="00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이더넷 헤더</a:t>
              </a:r>
            </a:p>
          </p:txBody>
        </p:sp>
        <p:sp>
          <p:nvSpPr>
            <p:cNvPr id="13332" name="Rectangle 40">
              <a:extLst>
                <a:ext uri="{FF2B5EF4-FFF2-40B4-BE49-F238E27FC236}">
                  <a16:creationId xmlns:a16="http://schemas.microsoft.com/office/drawing/2014/main" id="{66FA60F6-2E21-A0AD-3871-7BA6C433A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4" y="3447"/>
              <a:ext cx="117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데이터</a:t>
              </a:r>
            </a:p>
          </p:txBody>
        </p:sp>
        <p:sp>
          <p:nvSpPr>
            <p:cNvPr id="13333" name="Rectangle 41">
              <a:extLst>
                <a:ext uri="{FF2B5EF4-FFF2-40B4-BE49-F238E27FC236}">
                  <a16:creationId xmlns:a16="http://schemas.microsoft.com/office/drawing/2014/main" id="{F372F1CD-D25F-6B35-4598-9F6137FE7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4" y="3447"/>
              <a:ext cx="1072" cy="294"/>
            </a:xfrm>
            <a:prstGeom prst="rect">
              <a:avLst/>
            </a:prstGeom>
            <a:solidFill>
              <a:srgbClr val="00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이더넷 트레일러</a:t>
              </a:r>
            </a:p>
          </p:txBody>
        </p:sp>
        <p:sp>
          <p:nvSpPr>
            <p:cNvPr id="13334" name="Line 42">
              <a:extLst>
                <a:ext uri="{FF2B5EF4-FFF2-40B4-BE49-F238E27FC236}">
                  <a16:creationId xmlns:a16="http://schemas.microsoft.com/office/drawing/2014/main" id="{CFD6128D-2FC4-B795-0E4E-B2D4703259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4" y="1977"/>
              <a:ext cx="0" cy="2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35" name="Line 43">
              <a:extLst>
                <a:ext uri="{FF2B5EF4-FFF2-40B4-BE49-F238E27FC236}">
                  <a16:creationId xmlns:a16="http://schemas.microsoft.com/office/drawing/2014/main" id="{B6447C2D-E615-7F39-B419-8CBC4062D7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4" y="2565"/>
              <a:ext cx="0" cy="2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36" name="Line 44">
              <a:extLst>
                <a:ext uri="{FF2B5EF4-FFF2-40B4-BE49-F238E27FC236}">
                  <a16:creationId xmlns:a16="http://schemas.microsoft.com/office/drawing/2014/main" id="{938E8BAE-C893-FD12-944E-F56A32F605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99" y="3153"/>
              <a:ext cx="5" cy="3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37" name="Line 45">
              <a:extLst>
                <a:ext uri="{FF2B5EF4-FFF2-40B4-BE49-F238E27FC236}">
                  <a16:creationId xmlns:a16="http://schemas.microsoft.com/office/drawing/2014/main" id="{CCEA62BF-693D-94A5-EEFE-82E8C1A849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4" y="1977"/>
              <a:ext cx="0" cy="2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38" name="Line 46">
              <a:extLst>
                <a:ext uri="{FF2B5EF4-FFF2-40B4-BE49-F238E27FC236}">
                  <a16:creationId xmlns:a16="http://schemas.microsoft.com/office/drawing/2014/main" id="{EC1D0C19-4B11-4D71-E431-25FDA1259B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2" y="2565"/>
              <a:ext cx="0" cy="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39" name="Line 47">
              <a:extLst>
                <a:ext uri="{FF2B5EF4-FFF2-40B4-BE49-F238E27FC236}">
                  <a16:creationId xmlns:a16="http://schemas.microsoft.com/office/drawing/2014/main" id="{7C7D43BC-67DC-5394-6F9E-1781862796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8" y="3153"/>
              <a:ext cx="0" cy="2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바닥글 개체 틀 3">
            <a:extLst>
              <a:ext uri="{FF2B5EF4-FFF2-40B4-BE49-F238E27FC236}">
                <a16:creationId xmlns:a16="http://schemas.microsoft.com/office/drawing/2014/main" id="{136ADD20-EAFA-32F3-B259-095F41F281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B5A3AC0A-B125-C4EA-F14E-ADA3E4B8E8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 </a:t>
            </a:r>
            <a:r>
              <a:rPr lang="ko-KR" altLang="en-US" sz="2400"/>
              <a:t>네트워크 </a:t>
            </a:r>
            <a:r>
              <a:rPr lang="en-US" altLang="ko-KR" sz="2400"/>
              <a:t>- </a:t>
            </a:r>
            <a:r>
              <a:rPr lang="ko-KR" altLang="en-US" sz="2400"/>
              <a:t>패킷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DF8F2D58-FF39-8539-401B-944C8974C2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 sz="1800"/>
              <a:t>패킷 전송 형태</a:t>
            </a:r>
            <a:r>
              <a:rPr lang="en-US" altLang="ko-KR" sz="1800"/>
              <a:t>: </a:t>
            </a:r>
          </a:p>
          <a:p>
            <a:pPr eaLnBrk="1" hangingPunct="1"/>
            <a:endParaRPr lang="en-US" altLang="ko-KR" sz="2000"/>
          </a:p>
          <a:p>
            <a:pPr lvl="1" eaLnBrk="1" hangingPunct="1"/>
            <a:endParaRPr lang="en-US" altLang="ko-KR" sz="1800"/>
          </a:p>
          <a:p>
            <a:pPr lvl="1" eaLnBrk="1" hangingPunct="1"/>
            <a:endParaRPr lang="en-US" altLang="ko-KR" sz="1800"/>
          </a:p>
          <a:p>
            <a:pPr lvl="1" eaLnBrk="1" hangingPunct="1"/>
            <a:endParaRPr lang="en-US" altLang="ko-KR" sz="1800"/>
          </a:p>
          <a:p>
            <a:pPr lvl="1" eaLnBrk="1" hangingPunct="1"/>
            <a:endParaRPr lang="en-US" altLang="ko-KR" sz="1800"/>
          </a:p>
          <a:p>
            <a:pPr eaLnBrk="1" hangingPunct="1"/>
            <a:endParaRPr lang="en-US" altLang="ko-KR" sz="1800"/>
          </a:p>
          <a:p>
            <a:pPr eaLnBrk="1" hangingPunct="1"/>
            <a:endParaRPr lang="en-US" altLang="ko-KR" sz="1800"/>
          </a:p>
          <a:p>
            <a:pPr eaLnBrk="1" hangingPunct="1"/>
            <a:endParaRPr lang="en-US" altLang="ko-KR" sz="1800"/>
          </a:p>
          <a:p>
            <a:pPr eaLnBrk="1" hangingPunct="1"/>
            <a:r>
              <a:rPr lang="en-US" altLang="ko-KR" sz="1800"/>
              <a:t>TCP/IP </a:t>
            </a:r>
            <a:r>
              <a:rPr lang="ko-KR" altLang="en-US" sz="1800"/>
              <a:t>프로토콜을 이용한 패킷 전송</a:t>
            </a:r>
          </a:p>
        </p:txBody>
      </p:sp>
      <p:grpSp>
        <p:nvGrpSpPr>
          <p:cNvPr id="14341" name="Group 31">
            <a:extLst>
              <a:ext uri="{FF2B5EF4-FFF2-40B4-BE49-F238E27FC236}">
                <a16:creationId xmlns:a16="http://schemas.microsoft.com/office/drawing/2014/main" id="{6BB29477-B791-D1D9-698C-DBCFA46212E1}"/>
              </a:ext>
            </a:extLst>
          </p:cNvPr>
          <p:cNvGrpSpPr>
            <a:grpSpLocks/>
          </p:cNvGrpSpPr>
          <p:nvPr/>
        </p:nvGrpSpPr>
        <p:grpSpPr bwMode="auto">
          <a:xfrm>
            <a:off x="747713" y="1196975"/>
            <a:ext cx="8001000" cy="1874838"/>
            <a:chOff x="366" y="1488"/>
            <a:chExt cx="5040" cy="1680"/>
          </a:xfrm>
        </p:grpSpPr>
        <p:sp>
          <p:nvSpPr>
            <p:cNvPr id="14369" name="Rectangle 32">
              <a:extLst>
                <a:ext uri="{FF2B5EF4-FFF2-40B4-BE49-F238E27FC236}">
                  <a16:creationId xmlns:a16="http://schemas.microsoft.com/office/drawing/2014/main" id="{8BDDE90D-8CF6-8785-4D54-DFE0B4F07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" y="1488"/>
              <a:ext cx="1140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애플리케이션</a:t>
              </a:r>
            </a:p>
          </p:txBody>
        </p:sp>
        <p:sp>
          <p:nvSpPr>
            <p:cNvPr id="14370" name="Line 33">
              <a:extLst>
                <a:ext uri="{FF2B5EF4-FFF2-40B4-BE49-F238E27FC236}">
                  <a16:creationId xmlns:a16="http://schemas.microsoft.com/office/drawing/2014/main" id="{CAF3E67F-1210-0BC9-3925-F3EB4758BF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6" y="1661"/>
              <a:ext cx="276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371" name="Rectangle 34">
              <a:extLst>
                <a:ext uri="{FF2B5EF4-FFF2-40B4-BE49-F238E27FC236}">
                  <a16:creationId xmlns:a16="http://schemas.microsoft.com/office/drawing/2014/main" id="{DCA8ED6F-02A4-5DC6-E179-10F2F4975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1488"/>
              <a:ext cx="1140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애플리케이션</a:t>
              </a:r>
            </a:p>
          </p:txBody>
        </p:sp>
        <p:sp>
          <p:nvSpPr>
            <p:cNvPr id="14372" name="Rectangle 35">
              <a:extLst>
                <a:ext uri="{FF2B5EF4-FFF2-40B4-BE49-F238E27FC236}">
                  <a16:creationId xmlns:a16="http://schemas.microsoft.com/office/drawing/2014/main" id="{728A5BC5-2254-A001-DE71-9DC4A48FD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6" y="1488"/>
              <a:ext cx="720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데이터</a:t>
              </a:r>
            </a:p>
          </p:txBody>
        </p:sp>
        <p:sp>
          <p:nvSpPr>
            <p:cNvPr id="14373" name="Rectangle 36">
              <a:extLst>
                <a:ext uri="{FF2B5EF4-FFF2-40B4-BE49-F238E27FC236}">
                  <a16:creationId xmlns:a16="http://schemas.microsoft.com/office/drawing/2014/main" id="{17BFD76E-56D2-9F55-C3AD-10B441279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" y="2160"/>
              <a:ext cx="1140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latin typeface="굴림" panose="020B0600000101010101" pitchFamily="50" charset="-127"/>
                  <a:ea typeface="굴림" panose="020B0600000101010101" pitchFamily="50" charset="-127"/>
                </a:rPr>
                <a:t>TCP</a:t>
              </a:r>
            </a:p>
          </p:txBody>
        </p:sp>
        <p:sp>
          <p:nvSpPr>
            <p:cNvPr id="14374" name="Line 37">
              <a:extLst>
                <a:ext uri="{FF2B5EF4-FFF2-40B4-BE49-F238E27FC236}">
                  <a16:creationId xmlns:a16="http://schemas.microsoft.com/office/drawing/2014/main" id="{494475D5-4577-D426-8013-FC4ED2C3EC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6" y="2327"/>
              <a:ext cx="276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375" name="Rectangle 38">
              <a:extLst>
                <a:ext uri="{FF2B5EF4-FFF2-40B4-BE49-F238E27FC236}">
                  <a16:creationId xmlns:a16="http://schemas.microsoft.com/office/drawing/2014/main" id="{A20338D4-400F-28BE-367F-8845A0FEC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2160"/>
              <a:ext cx="1140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latin typeface="굴림" panose="020B0600000101010101" pitchFamily="50" charset="-127"/>
                  <a:ea typeface="굴림" panose="020B0600000101010101" pitchFamily="50" charset="-127"/>
                </a:rPr>
                <a:t>TCP</a:t>
              </a:r>
            </a:p>
          </p:txBody>
        </p:sp>
        <p:sp>
          <p:nvSpPr>
            <p:cNvPr id="14376" name="Rectangle 39">
              <a:extLst>
                <a:ext uri="{FF2B5EF4-FFF2-40B4-BE49-F238E27FC236}">
                  <a16:creationId xmlns:a16="http://schemas.microsoft.com/office/drawing/2014/main" id="{A4B39740-2998-7A96-2BF5-02F2101AE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6" y="2160"/>
              <a:ext cx="720" cy="336"/>
            </a:xfrm>
            <a:prstGeom prst="rect">
              <a:avLst/>
            </a:prstGeom>
            <a:solidFill>
              <a:srgbClr val="00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TCP </a:t>
              </a:r>
              <a:r>
                <a:rPr lang="ko-KR" altLang="en-US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헤더</a:t>
              </a:r>
            </a:p>
          </p:txBody>
        </p:sp>
        <p:sp>
          <p:nvSpPr>
            <p:cNvPr id="14377" name="Rectangle 40">
              <a:extLst>
                <a:ext uri="{FF2B5EF4-FFF2-40B4-BE49-F238E27FC236}">
                  <a16:creationId xmlns:a16="http://schemas.microsoft.com/office/drawing/2014/main" id="{A2F32160-6FFE-D40C-CBF1-79D2F0CF2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6" y="2160"/>
              <a:ext cx="780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데이터</a:t>
              </a:r>
            </a:p>
          </p:txBody>
        </p:sp>
        <p:sp>
          <p:nvSpPr>
            <p:cNvPr id="14378" name="Rectangle 41">
              <a:extLst>
                <a:ext uri="{FF2B5EF4-FFF2-40B4-BE49-F238E27FC236}">
                  <a16:creationId xmlns:a16="http://schemas.microsoft.com/office/drawing/2014/main" id="{61857BD1-0A1C-883B-89E6-E6CA0866E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" y="2832"/>
              <a:ext cx="1140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latin typeface="굴림" panose="020B0600000101010101" pitchFamily="50" charset="-127"/>
                  <a:ea typeface="굴림" panose="020B0600000101010101" pitchFamily="50" charset="-127"/>
                </a:rPr>
                <a:t>IP</a:t>
              </a:r>
            </a:p>
          </p:txBody>
        </p:sp>
        <p:sp>
          <p:nvSpPr>
            <p:cNvPr id="14379" name="Line 42">
              <a:extLst>
                <a:ext uri="{FF2B5EF4-FFF2-40B4-BE49-F238E27FC236}">
                  <a16:creationId xmlns:a16="http://schemas.microsoft.com/office/drawing/2014/main" id="{B634F08B-A1C9-D31F-6F0E-37DA64F3DB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6" y="3012"/>
              <a:ext cx="276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380" name="Rectangle 43">
              <a:extLst>
                <a:ext uri="{FF2B5EF4-FFF2-40B4-BE49-F238E27FC236}">
                  <a16:creationId xmlns:a16="http://schemas.microsoft.com/office/drawing/2014/main" id="{25A9A473-6458-A99F-093D-7FCB1E3D9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2832"/>
              <a:ext cx="1140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latin typeface="굴림" panose="020B0600000101010101" pitchFamily="50" charset="-127"/>
                  <a:ea typeface="굴림" panose="020B0600000101010101" pitchFamily="50" charset="-127"/>
                </a:rPr>
                <a:t>IP</a:t>
              </a:r>
            </a:p>
          </p:txBody>
        </p:sp>
        <p:sp>
          <p:nvSpPr>
            <p:cNvPr id="14381" name="Rectangle 44">
              <a:extLst>
                <a:ext uri="{FF2B5EF4-FFF2-40B4-BE49-F238E27FC236}">
                  <a16:creationId xmlns:a16="http://schemas.microsoft.com/office/drawing/2014/main" id="{9F4A7C21-075E-BC22-A9C8-5C155F94F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" y="2832"/>
              <a:ext cx="720" cy="336"/>
            </a:xfrm>
            <a:prstGeom prst="rect">
              <a:avLst/>
            </a:prstGeom>
            <a:solidFill>
              <a:srgbClr val="00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IP </a:t>
              </a:r>
              <a:r>
                <a:rPr lang="ko-KR" altLang="en-US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헤더</a:t>
              </a:r>
            </a:p>
          </p:txBody>
        </p:sp>
        <p:sp>
          <p:nvSpPr>
            <p:cNvPr id="14382" name="Rectangle 45">
              <a:extLst>
                <a:ext uri="{FF2B5EF4-FFF2-40B4-BE49-F238E27FC236}">
                  <a16:creationId xmlns:a16="http://schemas.microsoft.com/office/drawing/2014/main" id="{ECBC3613-E101-681A-5F69-859C4F476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" y="2832"/>
              <a:ext cx="780" cy="336"/>
            </a:xfrm>
            <a:prstGeom prst="rect">
              <a:avLst/>
            </a:prstGeom>
            <a:solidFill>
              <a:srgbClr val="00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TCP </a:t>
              </a:r>
              <a:r>
                <a:rPr lang="ko-KR" altLang="en-US" sz="12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헤더</a:t>
              </a:r>
            </a:p>
          </p:txBody>
        </p:sp>
        <p:sp>
          <p:nvSpPr>
            <p:cNvPr id="14383" name="Rectangle 46">
              <a:extLst>
                <a:ext uri="{FF2B5EF4-FFF2-40B4-BE49-F238E27FC236}">
                  <a16:creationId xmlns:a16="http://schemas.microsoft.com/office/drawing/2014/main" id="{3F220E83-380D-87F0-5336-E6DA779DF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6" y="2832"/>
              <a:ext cx="660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데이터</a:t>
              </a:r>
            </a:p>
          </p:txBody>
        </p:sp>
      </p:grpSp>
      <p:grpSp>
        <p:nvGrpSpPr>
          <p:cNvPr id="14342" name="Group 4">
            <a:extLst>
              <a:ext uri="{FF2B5EF4-FFF2-40B4-BE49-F238E27FC236}">
                <a16:creationId xmlns:a16="http://schemas.microsoft.com/office/drawing/2014/main" id="{FB4BD1BE-3541-DD32-9BF0-02CDB76B30B2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4149725"/>
            <a:ext cx="7993063" cy="2374900"/>
            <a:chOff x="208" y="1488"/>
            <a:chExt cx="5824" cy="1680"/>
          </a:xfrm>
        </p:grpSpPr>
        <p:sp>
          <p:nvSpPr>
            <p:cNvPr id="14343" name="AutoShape 5">
              <a:extLst>
                <a:ext uri="{FF2B5EF4-FFF2-40B4-BE49-F238E27FC236}">
                  <a16:creationId xmlns:a16="http://schemas.microsoft.com/office/drawing/2014/main" id="{6249BD41-880A-1085-D35D-B6E466FA7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2" y="2104"/>
              <a:ext cx="407" cy="784"/>
            </a:xfrm>
            <a:prstGeom prst="cloudCallout">
              <a:avLst>
                <a:gd name="adj1" fmla="val 5731"/>
                <a:gd name="adj2" fmla="val -5653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ko-KR" sz="12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344" name="Oval 6">
              <a:extLst>
                <a:ext uri="{FF2B5EF4-FFF2-40B4-BE49-F238E27FC236}">
                  <a16:creationId xmlns:a16="http://schemas.microsoft.com/office/drawing/2014/main" id="{FF8B3DC9-C4C3-9A4A-74D2-1B8B3BB776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2140"/>
              <a:ext cx="209" cy="46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ko-KR" sz="12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345" name="Rectangle 7">
              <a:extLst>
                <a:ext uri="{FF2B5EF4-FFF2-40B4-BE49-F238E27FC236}">
                  <a16:creationId xmlns:a16="http://schemas.microsoft.com/office/drawing/2014/main" id="{7E5848C1-6EB0-241B-2E4A-F3164401B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" y="2496"/>
              <a:ext cx="1173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네트워크 액세스 계층</a:t>
              </a:r>
            </a:p>
          </p:txBody>
        </p:sp>
        <p:sp>
          <p:nvSpPr>
            <p:cNvPr id="14346" name="Rectangle 8">
              <a:extLst>
                <a:ext uri="{FF2B5EF4-FFF2-40B4-BE49-F238E27FC236}">
                  <a16:creationId xmlns:a16="http://schemas.microsoft.com/office/drawing/2014/main" id="{80A0061E-77B1-6B3A-BEAF-64384DCCD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" y="2160"/>
              <a:ext cx="1173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인터넷 계층</a:t>
              </a:r>
            </a:p>
          </p:txBody>
        </p:sp>
        <p:sp>
          <p:nvSpPr>
            <p:cNvPr id="14347" name="Rectangle 9">
              <a:extLst>
                <a:ext uri="{FF2B5EF4-FFF2-40B4-BE49-F238E27FC236}">
                  <a16:creationId xmlns:a16="http://schemas.microsoft.com/office/drawing/2014/main" id="{3AD70987-74D8-BF63-E3B5-952EA4809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" y="1824"/>
              <a:ext cx="1173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전송 계층</a:t>
              </a:r>
            </a:p>
          </p:txBody>
        </p:sp>
        <p:sp>
          <p:nvSpPr>
            <p:cNvPr id="14348" name="Rectangle 10">
              <a:extLst>
                <a:ext uri="{FF2B5EF4-FFF2-40B4-BE49-F238E27FC236}">
                  <a16:creationId xmlns:a16="http://schemas.microsoft.com/office/drawing/2014/main" id="{7AA53684-B99F-29CC-1E28-BDD40B94E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" y="1488"/>
              <a:ext cx="1173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애플리케이션 계층</a:t>
              </a:r>
            </a:p>
          </p:txBody>
        </p:sp>
        <p:sp>
          <p:nvSpPr>
            <p:cNvPr id="14349" name="Rectangle 11">
              <a:extLst>
                <a:ext uri="{FF2B5EF4-FFF2-40B4-BE49-F238E27FC236}">
                  <a16:creationId xmlns:a16="http://schemas.microsoft.com/office/drawing/2014/main" id="{740852CA-5263-F5B8-87CB-29EA75145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496"/>
              <a:ext cx="118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네트워크 액세스 계층</a:t>
              </a:r>
            </a:p>
          </p:txBody>
        </p:sp>
        <p:sp>
          <p:nvSpPr>
            <p:cNvPr id="14350" name="Rectangle 12">
              <a:extLst>
                <a:ext uri="{FF2B5EF4-FFF2-40B4-BE49-F238E27FC236}">
                  <a16:creationId xmlns:a16="http://schemas.microsoft.com/office/drawing/2014/main" id="{77602A53-EA53-DA87-77AF-0DEDE0681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160"/>
              <a:ext cx="118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인터넷 계층</a:t>
              </a:r>
            </a:p>
          </p:txBody>
        </p:sp>
        <p:sp>
          <p:nvSpPr>
            <p:cNvPr id="14351" name="Rectangle 13">
              <a:extLst>
                <a:ext uri="{FF2B5EF4-FFF2-40B4-BE49-F238E27FC236}">
                  <a16:creationId xmlns:a16="http://schemas.microsoft.com/office/drawing/2014/main" id="{F87D1961-BB37-984C-E273-2B825B0AF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1824"/>
              <a:ext cx="118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전송 계층</a:t>
              </a:r>
            </a:p>
          </p:txBody>
        </p:sp>
        <p:sp>
          <p:nvSpPr>
            <p:cNvPr id="14352" name="Rectangle 14">
              <a:extLst>
                <a:ext uri="{FF2B5EF4-FFF2-40B4-BE49-F238E27FC236}">
                  <a16:creationId xmlns:a16="http://schemas.microsoft.com/office/drawing/2014/main" id="{4B3790B6-83DA-49FD-3269-C759DF1BF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1488"/>
              <a:ext cx="118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애플리케이션 계층</a:t>
              </a:r>
            </a:p>
          </p:txBody>
        </p:sp>
        <p:sp>
          <p:nvSpPr>
            <p:cNvPr id="14353" name="Rectangle 15">
              <a:extLst>
                <a:ext uri="{FF2B5EF4-FFF2-40B4-BE49-F238E27FC236}">
                  <a16:creationId xmlns:a16="http://schemas.microsoft.com/office/drawing/2014/main" id="{BDDB6767-462D-82B6-AE47-2A2127821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6" y="2496"/>
              <a:ext cx="1174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네트워크 액세스 계층</a:t>
              </a:r>
            </a:p>
          </p:txBody>
        </p:sp>
        <p:sp>
          <p:nvSpPr>
            <p:cNvPr id="14354" name="Rectangle 16">
              <a:extLst>
                <a:ext uri="{FF2B5EF4-FFF2-40B4-BE49-F238E27FC236}">
                  <a16:creationId xmlns:a16="http://schemas.microsoft.com/office/drawing/2014/main" id="{B66C5ACC-F74C-0FD9-01B3-08F1E1334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6" y="2160"/>
              <a:ext cx="1174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인터넷 계층</a:t>
              </a:r>
            </a:p>
          </p:txBody>
        </p:sp>
        <p:sp>
          <p:nvSpPr>
            <p:cNvPr id="14355" name="Rectangle 17">
              <a:extLst>
                <a:ext uri="{FF2B5EF4-FFF2-40B4-BE49-F238E27FC236}">
                  <a16:creationId xmlns:a16="http://schemas.microsoft.com/office/drawing/2014/main" id="{67327B62-8084-2F23-16EF-591E37D44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2" y="2496"/>
              <a:ext cx="1174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네트워크 액세스 계층</a:t>
              </a:r>
            </a:p>
          </p:txBody>
        </p:sp>
        <p:sp>
          <p:nvSpPr>
            <p:cNvPr id="14356" name="Rectangle 18">
              <a:extLst>
                <a:ext uri="{FF2B5EF4-FFF2-40B4-BE49-F238E27FC236}">
                  <a16:creationId xmlns:a16="http://schemas.microsoft.com/office/drawing/2014/main" id="{F84A15D3-4763-EDF3-AF63-EB6C77683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2" y="2160"/>
              <a:ext cx="1174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인터넷 계층</a:t>
              </a:r>
            </a:p>
          </p:txBody>
        </p:sp>
        <p:sp>
          <p:nvSpPr>
            <p:cNvPr id="14357" name="Line 19">
              <a:extLst>
                <a:ext uri="{FF2B5EF4-FFF2-40B4-BE49-F238E27FC236}">
                  <a16:creationId xmlns:a16="http://schemas.microsoft.com/office/drawing/2014/main" id="{FF81E7C5-0392-C734-014F-0F85F7C6A4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1" y="2664"/>
              <a:ext cx="2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358" name="Line 20">
              <a:extLst>
                <a:ext uri="{FF2B5EF4-FFF2-40B4-BE49-F238E27FC236}">
                  <a16:creationId xmlns:a16="http://schemas.microsoft.com/office/drawing/2014/main" id="{6A41B42C-0D95-7276-F763-425D5C9BD4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1" y="2328"/>
              <a:ext cx="2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359" name="Line 21">
              <a:extLst>
                <a:ext uri="{FF2B5EF4-FFF2-40B4-BE49-F238E27FC236}">
                  <a16:creationId xmlns:a16="http://schemas.microsoft.com/office/drawing/2014/main" id="{957F660A-9223-16F6-71A8-0F36E7945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0" y="2328"/>
              <a:ext cx="6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360" name="Line 22">
              <a:extLst>
                <a:ext uri="{FF2B5EF4-FFF2-40B4-BE49-F238E27FC236}">
                  <a16:creationId xmlns:a16="http://schemas.microsoft.com/office/drawing/2014/main" id="{AF3C79CA-46F9-770E-1E6F-F9E97F46F3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6" y="2328"/>
              <a:ext cx="2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361" name="Line 23">
              <a:extLst>
                <a:ext uri="{FF2B5EF4-FFF2-40B4-BE49-F238E27FC236}">
                  <a16:creationId xmlns:a16="http://schemas.microsoft.com/office/drawing/2014/main" id="{94DB2AEF-2C4C-BB08-175A-0AD0E3B39B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6" y="2664"/>
              <a:ext cx="2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362" name="Line 24">
              <a:extLst>
                <a:ext uri="{FF2B5EF4-FFF2-40B4-BE49-F238E27FC236}">
                  <a16:creationId xmlns:a16="http://schemas.microsoft.com/office/drawing/2014/main" id="{BDBE955B-0094-6580-5B0A-371F5BF6EE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0" y="2664"/>
              <a:ext cx="6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363" name="Line 25">
              <a:extLst>
                <a:ext uri="{FF2B5EF4-FFF2-40B4-BE49-F238E27FC236}">
                  <a16:creationId xmlns:a16="http://schemas.microsoft.com/office/drawing/2014/main" id="{8A13EC5C-E88E-7EE0-C3F1-8760A47592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1" y="1992"/>
              <a:ext cx="34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364" name="Line 26">
              <a:extLst>
                <a:ext uri="{FF2B5EF4-FFF2-40B4-BE49-F238E27FC236}">
                  <a16:creationId xmlns:a16="http://schemas.microsoft.com/office/drawing/2014/main" id="{80896189-5E27-E8C1-731F-930059B158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1" y="1656"/>
              <a:ext cx="34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365" name="Rectangle 27">
              <a:extLst>
                <a:ext uri="{FF2B5EF4-FFF2-40B4-BE49-F238E27FC236}">
                  <a16:creationId xmlns:a16="http://schemas.microsoft.com/office/drawing/2014/main" id="{F847278E-10C3-4DD1-BA01-04C7A0776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" y="2832"/>
              <a:ext cx="1173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종단 시스템</a:t>
              </a:r>
            </a:p>
          </p:txBody>
        </p:sp>
        <p:sp>
          <p:nvSpPr>
            <p:cNvPr id="14366" name="Rectangle 28">
              <a:extLst>
                <a:ext uri="{FF2B5EF4-FFF2-40B4-BE49-F238E27FC236}">
                  <a16:creationId xmlns:a16="http://schemas.microsoft.com/office/drawing/2014/main" id="{24C15B86-0AD9-1D66-29FA-70DC0F038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6" y="2832"/>
              <a:ext cx="1174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라우터</a:t>
              </a:r>
            </a:p>
          </p:txBody>
        </p:sp>
        <p:sp>
          <p:nvSpPr>
            <p:cNvPr id="14367" name="Rectangle 29">
              <a:extLst>
                <a:ext uri="{FF2B5EF4-FFF2-40B4-BE49-F238E27FC236}">
                  <a16:creationId xmlns:a16="http://schemas.microsoft.com/office/drawing/2014/main" id="{FDA02037-D04D-7046-CF17-20A4BCCA0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2" y="2832"/>
              <a:ext cx="1174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라우터</a:t>
              </a:r>
            </a:p>
          </p:txBody>
        </p:sp>
        <p:sp>
          <p:nvSpPr>
            <p:cNvPr id="14368" name="Rectangle 30">
              <a:extLst>
                <a:ext uri="{FF2B5EF4-FFF2-40B4-BE49-F238E27FC236}">
                  <a16:creationId xmlns:a16="http://schemas.microsoft.com/office/drawing/2014/main" id="{657D02A9-7C26-0BAF-5078-424FAE85E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832"/>
              <a:ext cx="1173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굴림" panose="020B0600000101010101" pitchFamily="50" charset="-127"/>
                  <a:ea typeface="굴림" panose="020B0600000101010101" pitchFamily="50" charset="-127"/>
                </a:rPr>
                <a:t>종단 시스템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8DEE3-E06F-8D52-E5A5-D5E887379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4C0B2C3F-D66C-7F32-AEAC-F403273149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 dirty="0"/>
              <a:t> </a:t>
            </a:r>
            <a:r>
              <a:rPr lang="ko-KR" altLang="en-US" sz="2400" dirty="0"/>
              <a:t>네트워크 </a:t>
            </a:r>
            <a:r>
              <a:rPr lang="en-US" altLang="ko-KR" sz="2400" dirty="0"/>
              <a:t>– TCP -Header</a:t>
            </a:r>
            <a:endParaRPr lang="ko-KR" altLang="en-US" sz="2400" dirty="0"/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BD85B366-24C8-7D74-D159-C2679FD7B7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en-US" altLang="ko-KR" sz="1800" dirty="0"/>
              <a:t>TCP </a:t>
            </a:r>
            <a:r>
              <a:rPr lang="ko-KR" altLang="en-US" sz="1800" dirty="0"/>
              <a:t>헤더 크기</a:t>
            </a:r>
            <a:endParaRPr lang="en-US" altLang="ko-KR" sz="1800" dirty="0"/>
          </a:p>
          <a:p>
            <a:pPr lvl="1" eaLnBrk="1" hangingPunct="1"/>
            <a:r>
              <a:rPr lang="ko-KR" altLang="en-US" sz="1400" dirty="0"/>
              <a:t>기본 </a:t>
            </a:r>
            <a:r>
              <a:rPr lang="en-US" altLang="ko-KR" sz="1400" dirty="0"/>
              <a:t>20, </a:t>
            </a:r>
            <a:r>
              <a:rPr lang="ko-KR" altLang="en-US" sz="1400" dirty="0"/>
              <a:t>최대 </a:t>
            </a:r>
            <a:r>
              <a:rPr lang="en-US" altLang="ko-KR" sz="1400" dirty="0"/>
              <a:t>60 byte</a:t>
            </a:r>
            <a:endParaRPr lang="ko-KR" alt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B488BD-4A3C-74B9-0B2D-65DF1C239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04" y="1925800"/>
            <a:ext cx="8292651" cy="300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751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6FDA8-D643-420D-FEB9-C2012EECB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바닥글 개체 틀 3">
            <a:extLst>
              <a:ext uri="{FF2B5EF4-FFF2-40B4-BE49-F238E27FC236}">
                <a16:creationId xmlns:a16="http://schemas.microsoft.com/office/drawing/2014/main" id="{3270F259-2C78-6548-AE18-E0223046A2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17C8085F-0A4E-346F-3943-19ACB9E7F3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 dirty="0"/>
              <a:t> </a:t>
            </a:r>
            <a:r>
              <a:rPr lang="ko-KR" altLang="en-US" sz="2400" dirty="0"/>
              <a:t>네트워크 </a:t>
            </a:r>
            <a:r>
              <a:rPr lang="en-US" altLang="ko-KR" sz="2400" dirty="0"/>
              <a:t>– TCP -Header</a:t>
            </a:r>
            <a:endParaRPr lang="ko-KR" altLang="en-US" sz="2400" dirty="0"/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06E24051-5691-F1E5-4F0F-0D8A4FED04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en-US" altLang="ko-KR" sz="1800" dirty="0"/>
              <a:t>TCP </a:t>
            </a:r>
            <a:r>
              <a:rPr lang="ko-KR" altLang="en-US" sz="1800" dirty="0"/>
              <a:t>헤더 설명</a:t>
            </a:r>
            <a:endParaRPr lang="ko-KR" altLang="en-US" sz="14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EE7E63C-A460-AFD4-D9D9-2DFBE0963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472061"/>
              </p:ext>
            </p:extLst>
          </p:nvPr>
        </p:nvGraphicFramePr>
        <p:xfrm>
          <a:off x="395536" y="1198131"/>
          <a:ext cx="8208912" cy="4319928"/>
        </p:xfrm>
        <a:graphic>
          <a:graphicData uri="http://schemas.openxmlformats.org/drawingml/2006/table">
            <a:tbl>
              <a:tblPr/>
              <a:tblGrid>
                <a:gridCol w="2160240">
                  <a:extLst>
                    <a:ext uri="{9D8B030D-6E8A-4147-A177-3AD203B41FA5}">
                      <a16:colId xmlns:a16="http://schemas.microsoft.com/office/drawing/2014/main" val="2466175986"/>
                    </a:ext>
                  </a:extLst>
                </a:gridCol>
                <a:gridCol w="6048672">
                  <a:extLst>
                    <a:ext uri="{9D8B030D-6E8A-4147-A177-3AD203B41FA5}">
                      <a16:colId xmlns:a16="http://schemas.microsoft.com/office/drawing/2014/main" val="3483919218"/>
                    </a:ext>
                  </a:extLst>
                </a:gridCol>
              </a:tblGrid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필드</a:t>
                      </a:r>
                      <a:endParaRPr lang="ko-KR" altLang="en-US" b="1" dirty="0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설명</a:t>
                      </a:r>
                      <a:endParaRPr lang="ko-KR" altLang="en-US" b="1" dirty="0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67125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Source Port</a:t>
                      </a:r>
                      <a:endParaRPr lang="en-US" b="1" dirty="0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데이터를 보내는 응용 프로그램의 포트 번호</a:t>
                      </a:r>
                      <a:endParaRPr lang="ko-KR" altLang="en-US" b="1" dirty="0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124427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Destination Port</a:t>
                      </a:r>
                      <a:endParaRPr lang="en-US" b="1" dirty="0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데이터를 받을 응용 프로그램의 포트 번호</a:t>
                      </a:r>
                      <a:endParaRPr lang="ko-KR" alt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171850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Sequence Number</a:t>
                      </a:r>
                      <a:endParaRPr 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전송되는 데이터의 순서를 나타내는 번호</a:t>
                      </a:r>
                      <a:endParaRPr lang="ko-KR" alt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346992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Acknowledgment Number</a:t>
                      </a:r>
                      <a:endParaRPr 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다음에 받을 것으로 기대하는 시퀀스 번호</a:t>
                      </a:r>
                      <a:endParaRPr lang="ko-KR" altLang="en-US" b="1" dirty="0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56027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HLEN(Header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Length)</a:t>
                      </a:r>
                      <a:endParaRPr lang="en-US" b="1" dirty="0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TCP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헤더의 길이 정보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(4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바이트 단위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,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최소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20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바이트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~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최대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60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바이트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)</a:t>
                      </a:r>
                      <a:endParaRPr lang="ko-KR" altLang="en-US" b="1" dirty="0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805153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Flags</a:t>
                      </a:r>
                      <a:endParaRPr 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TCP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연결 상태를 나타내는 제어 비트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(SYN, ACK, FIN, RST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등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)</a:t>
                      </a:r>
                      <a:endParaRPr lang="ko-KR" altLang="en-US" b="1" dirty="0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229964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Window Size</a:t>
                      </a:r>
                      <a:endParaRPr 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수신 측이 한 번에 받을 수 있는 데이터 크기</a:t>
                      </a:r>
                      <a:endParaRPr lang="ko-KR" altLang="en-US" b="1" dirty="0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907904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Checksum</a:t>
                      </a:r>
                      <a:endParaRPr 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전송 중 데이터 오류 검출</a:t>
                      </a:r>
                      <a:endParaRPr lang="ko-KR" altLang="en-US" b="1" dirty="0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47126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Urgent Pointer</a:t>
                      </a:r>
                      <a:endParaRPr 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긴급 데이터의 위치를 나타내는 포인터</a:t>
                      </a:r>
                      <a:endParaRPr lang="ko-KR" altLang="en-US" b="1" dirty="0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016637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Options</a:t>
                      </a:r>
                      <a:endParaRPr 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TCP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기능 확장을 위한 추가 정보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MSS, Window Scale, Timestamp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등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)</a:t>
                      </a:r>
                      <a:endParaRPr lang="ko-KR" altLang="en-US" b="1" dirty="0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833255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Padding</a:t>
                      </a:r>
                      <a:endParaRPr 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헤더 길이를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32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비트 단위로 맞추기 위한 채움 데이터</a:t>
                      </a:r>
                      <a:endParaRPr lang="ko-KR" altLang="en-US" b="1" dirty="0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44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45286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B8FA2571-8502-DD3D-B53A-9471566BD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137795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820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547FA-4D4E-FD48-EC52-8AAAFA70B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FC20E9BC-FC3D-B0B3-E058-A57347880C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 dirty="0"/>
              <a:t> </a:t>
            </a:r>
            <a:r>
              <a:rPr lang="ko-KR" altLang="en-US" sz="2400" dirty="0"/>
              <a:t>네트워크 </a:t>
            </a:r>
            <a:r>
              <a:rPr lang="en-US" altLang="ko-KR" sz="2400" dirty="0"/>
              <a:t>– IP - Header</a:t>
            </a:r>
            <a:endParaRPr lang="ko-KR" altLang="en-US" sz="2400" dirty="0"/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C73C236F-CC6A-4011-BA8A-7205C6C40C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en-US" altLang="ko-KR" sz="1800" dirty="0"/>
              <a:t>IP</a:t>
            </a:r>
            <a:r>
              <a:rPr lang="ko-KR" altLang="en-US" sz="1800" dirty="0"/>
              <a:t> 헤더 크기</a:t>
            </a:r>
            <a:endParaRPr lang="en-US" altLang="ko-KR" sz="1800" dirty="0"/>
          </a:p>
          <a:p>
            <a:pPr lvl="1" eaLnBrk="1" hangingPunct="1"/>
            <a:r>
              <a:rPr lang="en-US" altLang="ko-KR" sz="1400" dirty="0"/>
              <a:t>IPv4 </a:t>
            </a:r>
            <a:r>
              <a:rPr lang="ko-KR" altLang="en-US" sz="1400" dirty="0"/>
              <a:t>헤더 최소 </a:t>
            </a:r>
            <a:r>
              <a:rPr lang="en-US" altLang="ko-KR" sz="1400" dirty="0"/>
              <a:t>20</a:t>
            </a:r>
            <a:r>
              <a:rPr lang="ko-KR" altLang="en-US" sz="1400" dirty="0"/>
              <a:t>바이트</a:t>
            </a:r>
            <a:r>
              <a:rPr lang="en-US" altLang="ko-KR" sz="1400" dirty="0"/>
              <a:t>, </a:t>
            </a:r>
            <a:r>
              <a:rPr lang="ko-KR" altLang="en-US" sz="1400" dirty="0"/>
              <a:t>최대 </a:t>
            </a:r>
            <a:r>
              <a:rPr lang="en-US" altLang="ko-KR" sz="1400" dirty="0"/>
              <a:t>60</a:t>
            </a:r>
            <a:r>
              <a:rPr lang="ko-KR" altLang="en-US" sz="1400" dirty="0"/>
              <a:t>바이트 </a:t>
            </a:r>
            <a:r>
              <a:rPr lang="en-US" altLang="ko-KR" sz="1400" dirty="0"/>
              <a:t>(</a:t>
            </a:r>
            <a:r>
              <a:rPr lang="ko-KR" altLang="en-US" sz="1400" dirty="0"/>
              <a:t>옵션 포함 시 증가</a:t>
            </a:r>
            <a:r>
              <a:rPr lang="en-US" altLang="ko-KR" sz="1400" dirty="0"/>
              <a:t>)</a:t>
            </a:r>
          </a:p>
          <a:p>
            <a:pPr lvl="1" eaLnBrk="1" hangingPunct="1"/>
            <a:r>
              <a:rPr lang="en-US" altLang="ko-KR" sz="1400" dirty="0"/>
              <a:t>IPv6 </a:t>
            </a:r>
            <a:r>
              <a:rPr lang="ko-KR" altLang="en-US" sz="1400" dirty="0"/>
              <a:t>헤더 고정 </a:t>
            </a:r>
            <a:r>
              <a:rPr lang="en-US" altLang="ko-KR" sz="1400" dirty="0"/>
              <a:t>40</a:t>
            </a:r>
            <a:r>
              <a:rPr lang="ko-KR" altLang="en-US" sz="1400" dirty="0"/>
              <a:t>바이트</a:t>
            </a:r>
            <a:endParaRPr lang="en-US" altLang="ko-KR" sz="1400" dirty="0"/>
          </a:p>
          <a:p>
            <a:pPr lvl="1" eaLnBrk="1" hangingPunct="1"/>
            <a:endParaRPr lang="en-US" altLang="ko-KR" sz="1400" dirty="0"/>
          </a:p>
          <a:p>
            <a:pPr eaLnBrk="1" hangingPunct="1"/>
            <a:r>
              <a:rPr lang="en-US" altLang="ko-KR" sz="1400" dirty="0"/>
              <a:t>IP4</a:t>
            </a:r>
            <a:r>
              <a:rPr lang="ko-KR" altLang="en-US" sz="1400" dirty="0"/>
              <a:t> 헤더</a:t>
            </a:r>
            <a:endParaRPr lang="en-US" altLang="ko-KR" sz="1400" dirty="0"/>
          </a:p>
          <a:p>
            <a:pPr eaLnBrk="1" hangingPunct="1"/>
            <a:endParaRPr lang="ko-KR" altLang="en-US" sz="1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A547E3D-DF97-F9E2-0462-930D1CD06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204864"/>
            <a:ext cx="7016946" cy="319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967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567BF-48B7-56D2-CF6B-7B63D24AC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19D69672-11C9-9801-3703-BB6B9F0226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 dirty="0"/>
              <a:t> </a:t>
            </a:r>
            <a:r>
              <a:rPr lang="ko-KR" altLang="en-US" sz="2400" dirty="0"/>
              <a:t>네트워크 </a:t>
            </a:r>
            <a:r>
              <a:rPr lang="en-US" altLang="ko-KR" sz="2400" dirty="0"/>
              <a:t>– IP - Header</a:t>
            </a:r>
            <a:endParaRPr lang="ko-KR" altLang="en-US" sz="2400" dirty="0"/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5E84C479-B19D-C584-2EA8-4CF21DA059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en-US" altLang="ko-KR" sz="1800" dirty="0"/>
              <a:t>IP6</a:t>
            </a:r>
            <a:r>
              <a:rPr lang="ko-KR" altLang="en-US" sz="1800" dirty="0"/>
              <a:t> 헤더</a:t>
            </a:r>
            <a:endParaRPr lang="ko-KR" altLang="en-US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18566D2-CBAE-393D-51A1-D58D33546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73" y="1417650"/>
            <a:ext cx="7637922" cy="337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959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AA131-73EE-C31A-90D8-B3F18DBC1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C19C0B61-D825-EC75-FB14-0799DE2B20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 dirty="0"/>
              <a:t> </a:t>
            </a:r>
            <a:r>
              <a:rPr lang="ko-KR" altLang="en-US" sz="2400" dirty="0"/>
              <a:t>네트워크 </a:t>
            </a:r>
            <a:r>
              <a:rPr lang="en-US" altLang="ko-KR" sz="2400" dirty="0"/>
              <a:t>– IP - Header</a:t>
            </a:r>
            <a:endParaRPr lang="ko-KR" altLang="en-US" sz="2400" dirty="0"/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C178197B-9CE1-D463-AFAD-59AEF3DA55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en-US" altLang="ko-KR" sz="1800" dirty="0"/>
              <a:t>IP</a:t>
            </a:r>
            <a:r>
              <a:rPr lang="ko-KR" altLang="en-US" sz="1800" dirty="0"/>
              <a:t> 헤더</a:t>
            </a:r>
            <a:endParaRPr lang="ko-KR" altLang="en-US" sz="1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5D44B5B-00A1-E3FD-9FD1-EEA073950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361069"/>
              </p:ext>
            </p:extLst>
          </p:nvPr>
        </p:nvGraphicFramePr>
        <p:xfrm>
          <a:off x="572517" y="1089039"/>
          <a:ext cx="5848350" cy="4679922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3309363457"/>
                    </a:ext>
                  </a:extLst>
                </a:gridCol>
                <a:gridCol w="3752850">
                  <a:extLst>
                    <a:ext uri="{9D8B030D-6E8A-4147-A177-3AD203B41FA5}">
                      <a16:colId xmlns:a16="http://schemas.microsoft.com/office/drawing/2014/main" val="2550652898"/>
                    </a:ext>
                  </a:extLst>
                </a:gridCol>
              </a:tblGrid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필드</a:t>
                      </a:r>
                      <a:endParaRPr lang="ko-KR" altLang="en-US" b="1" dirty="0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설명</a:t>
                      </a:r>
                      <a:endParaRPr lang="ko-KR" alt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635257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Version</a:t>
                      </a:r>
                      <a:endParaRPr 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IP 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프로토콜 버전 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(IPv4=4, IPv6=6)</a:t>
                      </a:r>
                      <a:endParaRPr lang="ko-KR" alt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8792996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Header Length</a:t>
                      </a:r>
                      <a:endParaRPr 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IP 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헤더 길이 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(IPv4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만 존재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, 4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바이트 단위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)</a:t>
                      </a:r>
                      <a:endParaRPr lang="ko-KR" alt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587158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Traffic Class / Type of Service</a:t>
                      </a:r>
                      <a:endParaRPr 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패킷 우선순위 및 서비스 품질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(QoS) 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정보</a:t>
                      </a:r>
                      <a:endParaRPr lang="ko-KR" alt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591765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Total Length / Payload Length</a:t>
                      </a:r>
                      <a:endParaRPr 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패킷 전체 길이 또는 데이터 길이</a:t>
                      </a:r>
                      <a:endParaRPr lang="ko-KR" alt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958421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Identification / Fragment</a:t>
                      </a:r>
                      <a:endParaRPr 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패킷 분할 및 재조립을 위한 정보</a:t>
                      </a:r>
                      <a:endParaRPr lang="ko-KR" altLang="en-US" b="1" dirty="0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909769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TTL / Hop Limit</a:t>
                      </a:r>
                      <a:endParaRPr 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패킷이 네트워크에서 전달될 수 있는 최대 홉 수</a:t>
                      </a:r>
                      <a:endParaRPr lang="ko-KR" alt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485727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Protocol / Next Header</a:t>
                      </a:r>
                      <a:endParaRPr 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상위 계층 프로토콜 정보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(TCP, UDP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등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)</a:t>
                      </a:r>
                      <a:endParaRPr lang="ko-KR" altLang="en-US" b="1" dirty="0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750444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Header Checksum</a:t>
                      </a:r>
                      <a:endParaRPr 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헤더 오류 검출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(IPv4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만 존재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)</a:t>
                      </a:r>
                      <a:endParaRPr lang="ko-KR" altLang="en-US" b="1" dirty="0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49106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Source Address</a:t>
                      </a:r>
                      <a:endParaRPr 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송신자의 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IP 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주소</a:t>
                      </a:r>
                      <a:endParaRPr lang="ko-KR" alt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9259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Destination Address</a:t>
                      </a:r>
                      <a:endParaRPr 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수신자의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IP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주소</a:t>
                      </a:r>
                      <a:endParaRPr lang="ko-KR" altLang="en-US" b="1" dirty="0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168123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Options / Extension Header</a:t>
                      </a:r>
                      <a:endParaRPr 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추가 기능을 위한 확장 정보</a:t>
                      </a:r>
                      <a:endParaRPr lang="ko-KR" altLang="en-US" b="1" dirty="0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75396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Data</a:t>
                      </a:r>
                      <a:endParaRPr lang="en-US" b="1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상위 계층 데이터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(TCP/UDP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등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)</a:t>
                      </a:r>
                      <a:endParaRPr lang="ko-KR" altLang="en-US" b="1" dirty="0"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722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1894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바닥글 개체 틀 3">
            <a:extLst>
              <a:ext uri="{FF2B5EF4-FFF2-40B4-BE49-F238E27FC236}">
                <a16:creationId xmlns:a16="http://schemas.microsoft.com/office/drawing/2014/main" id="{89F7125C-A635-7103-B315-DF05CA832C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4B9D1E01-962E-3D37-FA9C-E46C6808C1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 </a:t>
            </a:r>
            <a:r>
              <a:rPr lang="ko-KR" altLang="en-US" sz="2400"/>
              <a:t>네트워크 </a:t>
            </a:r>
            <a:r>
              <a:rPr lang="en-US" altLang="ko-KR" sz="2400"/>
              <a:t>- IP, Port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7F0D5C90-6909-0260-C308-EEF7CB2736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</a:pPr>
            <a:r>
              <a:rPr lang="en-US" altLang="ko-KR"/>
              <a:t>IP </a:t>
            </a:r>
            <a:r>
              <a:rPr lang="ko-KR" altLang="en-US"/>
              <a:t>주소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ko-KR" altLang="en-US"/>
              <a:t>인터넷에 존재하는 호스트</a:t>
            </a:r>
            <a:r>
              <a:rPr lang="en-US" altLang="ko-KR"/>
              <a:t>(</a:t>
            </a:r>
            <a:r>
              <a:rPr lang="ko-KR" altLang="en-US"/>
              <a:t>종단 시스템</a:t>
            </a:r>
            <a:r>
              <a:rPr lang="en-US" altLang="ko-KR"/>
              <a:t>, </a:t>
            </a:r>
            <a:r>
              <a:rPr lang="ko-KR" altLang="en-US"/>
              <a:t>라우터</a:t>
            </a:r>
            <a:r>
              <a:rPr lang="en-US" altLang="ko-KR"/>
              <a:t>)</a:t>
            </a:r>
            <a:r>
              <a:rPr lang="ko-KR" altLang="en-US"/>
              <a:t>를 유일하게 구별할 수 있는 식별자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altLang="ko-KR"/>
              <a:t>IPv4</a:t>
            </a:r>
            <a:r>
              <a:rPr lang="ko-KR" altLang="en-US"/>
              <a:t>는 </a:t>
            </a:r>
            <a:r>
              <a:rPr lang="en-US" altLang="ko-KR"/>
              <a:t>32</a:t>
            </a:r>
            <a:r>
              <a:rPr lang="ko-KR" altLang="en-US"/>
              <a:t>비트</a:t>
            </a:r>
            <a:r>
              <a:rPr lang="en-US" altLang="ko-KR"/>
              <a:t>, IPv6</a:t>
            </a:r>
            <a:r>
              <a:rPr lang="ko-KR" altLang="en-US"/>
              <a:t>는 </a:t>
            </a:r>
            <a:r>
              <a:rPr lang="en-US" altLang="ko-KR"/>
              <a:t>128</a:t>
            </a:r>
            <a:r>
              <a:rPr lang="ko-KR" altLang="en-US"/>
              <a:t>비트 사용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altLang="ko-KR"/>
              <a:t>8</a:t>
            </a:r>
            <a:r>
              <a:rPr lang="ko-KR" altLang="en-US"/>
              <a:t>비트 단위로 구분하여 </a:t>
            </a:r>
            <a:r>
              <a:rPr lang="en-US" altLang="ko-KR"/>
              <a:t>10</a:t>
            </a:r>
            <a:r>
              <a:rPr lang="ko-KR" altLang="en-US"/>
              <a:t>진수로 표기</a:t>
            </a:r>
            <a:r>
              <a:rPr lang="en-US" altLang="ko-KR"/>
              <a:t>(IPv4)</a:t>
            </a:r>
          </a:p>
          <a:p>
            <a:pPr marL="1295400" lvl="2" indent="-381000" eaLnBrk="1" hangingPunct="1">
              <a:lnSpc>
                <a:spcPct val="90000"/>
              </a:lnSpc>
            </a:pPr>
            <a:r>
              <a:rPr lang="ko-KR" altLang="en-US"/>
              <a:t>예</a:t>
            </a:r>
            <a:r>
              <a:rPr lang="en-US" altLang="ko-KR"/>
              <a:t>) 147.46.114.70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ko-KR" altLang="en-US"/>
              <a:t>루프백 주소</a:t>
            </a:r>
            <a:r>
              <a:rPr lang="en-US" altLang="ko-KR"/>
              <a:t>(loop back address): </a:t>
            </a:r>
            <a:r>
              <a:rPr lang="ko-KR" altLang="en-US"/>
              <a:t>첫 번째 바이트가 </a:t>
            </a:r>
            <a:r>
              <a:rPr lang="en-US" altLang="ko-KR"/>
              <a:t>127</a:t>
            </a:r>
            <a:r>
              <a:rPr lang="ko-KR" altLang="en-US"/>
              <a:t>인 </a:t>
            </a:r>
            <a:r>
              <a:rPr lang="en-US" altLang="ko-KR"/>
              <a:t>IP </a:t>
            </a:r>
            <a:r>
              <a:rPr lang="ko-KR" altLang="en-US"/>
              <a:t>주소</a:t>
            </a:r>
          </a:p>
          <a:p>
            <a:pPr marL="914400" lvl="1" indent="-457200" eaLnBrk="1" hangingPunct="1">
              <a:lnSpc>
                <a:spcPct val="90000"/>
              </a:lnSpc>
            </a:pPr>
            <a:endParaRPr lang="ko-KR" altLang="en-US"/>
          </a:p>
          <a:p>
            <a:pPr marL="533400" indent="-533400" eaLnBrk="1" hangingPunct="1">
              <a:lnSpc>
                <a:spcPct val="90000"/>
              </a:lnSpc>
            </a:pPr>
            <a:r>
              <a:rPr lang="ko-KR" altLang="en-US"/>
              <a:t>포트 번호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ko-KR" altLang="en-US"/>
              <a:t>통신 종착지</a:t>
            </a:r>
            <a:r>
              <a:rPr lang="en-US" altLang="ko-KR"/>
              <a:t>(</a:t>
            </a:r>
            <a:r>
              <a:rPr lang="ko-KR" altLang="en-US"/>
              <a:t>하나 혹은 여러 개의 프로세스</a:t>
            </a:r>
            <a:r>
              <a:rPr lang="en-US" altLang="ko-KR"/>
              <a:t>)</a:t>
            </a:r>
            <a:r>
              <a:rPr lang="ko-KR" altLang="en-US"/>
              <a:t>를 나타내는 식별자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altLang="ko-KR">
                <a:sym typeface="Wingdings 2" panose="05020102010507070707" pitchFamily="18" charset="2"/>
              </a:rPr>
              <a:t>16 </a:t>
            </a:r>
            <a:r>
              <a:rPr lang="ko-KR" altLang="en-US">
                <a:sym typeface="Wingdings 2" panose="05020102010507070707" pitchFamily="18" charset="2"/>
              </a:rPr>
              <a:t>비트 논리적 할당</a:t>
            </a:r>
            <a:r>
              <a:rPr lang="en-US" altLang="ko-KR">
                <a:sym typeface="Wingdings 2" panose="05020102010507070707" pitchFamily="18" charset="2"/>
              </a:rPr>
              <a:t>(</a:t>
            </a:r>
            <a:r>
              <a:rPr lang="ko-KR" altLang="en-US">
                <a:sym typeface="Wingdings 2" panose="05020102010507070707" pitchFamily="18" charset="2"/>
              </a:rPr>
              <a:t>소켓에 할당</a:t>
            </a:r>
            <a:r>
              <a:rPr lang="en-US" altLang="ko-KR">
                <a:sym typeface="Wingdings 2" panose="05020102010507070707" pitchFamily="18" charset="2"/>
              </a:rPr>
              <a:t>)</a:t>
            </a:r>
            <a:endParaRPr lang="en-US" altLang="ko-KR"/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altLang="ko-KR">
                <a:sym typeface="Wingdings 2" panose="05020102010507070707" pitchFamily="18" charset="2"/>
              </a:rPr>
              <a:t>Well-known ports : 0 </a:t>
            </a:r>
            <a:r>
              <a:rPr lang="en-US" altLang="ko-KR"/>
              <a:t>~ 1023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바닥글 개체 틀 3">
            <a:extLst>
              <a:ext uri="{FF2B5EF4-FFF2-40B4-BE49-F238E27FC236}">
                <a16:creationId xmlns:a16="http://schemas.microsoft.com/office/drawing/2014/main" id="{7AB7AC81-C89E-776E-4DF2-21D4CA7D86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32A8956-2C25-E8BB-0039-E8013A79AB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 </a:t>
            </a:r>
            <a:r>
              <a:rPr lang="ko-KR" altLang="en-US" sz="2400"/>
              <a:t>네트워크 </a:t>
            </a:r>
            <a:r>
              <a:rPr lang="en-US" altLang="ko-KR" sz="2400"/>
              <a:t>- IP, Port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8CD29895-0E8F-1B09-101D-62B1CFAC2E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en-US" altLang="ko-KR"/>
              <a:t>IP </a:t>
            </a:r>
            <a:r>
              <a:rPr lang="ko-KR" altLang="en-US"/>
              <a:t>주소와 포트 번호</a:t>
            </a:r>
          </a:p>
          <a:p>
            <a:pPr lvl="1" eaLnBrk="1" hangingPunct="1"/>
            <a:endParaRPr lang="en-US" altLang="ko-KR"/>
          </a:p>
        </p:txBody>
      </p:sp>
      <p:grpSp>
        <p:nvGrpSpPr>
          <p:cNvPr id="16389" name="Group 4">
            <a:extLst>
              <a:ext uri="{FF2B5EF4-FFF2-40B4-BE49-F238E27FC236}">
                <a16:creationId xmlns:a16="http://schemas.microsoft.com/office/drawing/2014/main" id="{09C6EADF-CBED-87ED-D0CD-0D5BA3A06C38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905000"/>
            <a:ext cx="7772400" cy="4214813"/>
            <a:chOff x="432" y="1440"/>
            <a:chExt cx="4896" cy="2511"/>
          </a:xfrm>
        </p:grpSpPr>
        <p:sp>
          <p:nvSpPr>
            <p:cNvPr id="16390" name="Rectangle 5">
              <a:extLst>
                <a:ext uri="{FF2B5EF4-FFF2-40B4-BE49-F238E27FC236}">
                  <a16:creationId xmlns:a16="http://schemas.microsoft.com/office/drawing/2014/main" id="{7BDA2942-3C64-646B-3906-2EA991639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" y="2646"/>
              <a:ext cx="1140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TCP</a:t>
              </a:r>
            </a:p>
          </p:txBody>
        </p:sp>
        <p:sp>
          <p:nvSpPr>
            <p:cNvPr id="16391" name="Rectangle 6">
              <a:extLst>
                <a:ext uri="{FF2B5EF4-FFF2-40B4-BE49-F238E27FC236}">
                  <a16:creationId xmlns:a16="http://schemas.microsoft.com/office/drawing/2014/main" id="{2CC2363B-7852-6B9B-6082-8E031A3D1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" y="3099"/>
              <a:ext cx="1140" cy="27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IP</a:t>
              </a:r>
            </a:p>
          </p:txBody>
        </p:sp>
        <p:sp>
          <p:nvSpPr>
            <p:cNvPr id="16392" name="Rectangle 7">
              <a:extLst>
                <a:ext uri="{FF2B5EF4-FFF2-40B4-BE49-F238E27FC236}">
                  <a16:creationId xmlns:a16="http://schemas.microsoft.com/office/drawing/2014/main" id="{F20D832C-1308-DE19-AC8E-43738DDEC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1551"/>
              <a:ext cx="1140" cy="2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굴림" panose="020B0600000101010101" pitchFamily="50" charset="-127"/>
                  <a:ea typeface="굴림" panose="020B0600000101010101" pitchFamily="50" charset="-127"/>
                </a:rPr>
                <a:t>프로세스</a:t>
              </a:r>
            </a:p>
          </p:txBody>
        </p:sp>
        <p:sp>
          <p:nvSpPr>
            <p:cNvPr id="16393" name="Rectangle 8">
              <a:extLst>
                <a:ext uri="{FF2B5EF4-FFF2-40B4-BE49-F238E27FC236}">
                  <a16:creationId xmlns:a16="http://schemas.microsoft.com/office/drawing/2014/main" id="{06D1BD83-C6DE-41E3-88EF-7C69333C9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440"/>
              <a:ext cx="4320" cy="21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394" name="Line 9">
              <a:extLst>
                <a:ext uri="{FF2B5EF4-FFF2-40B4-BE49-F238E27FC236}">
                  <a16:creationId xmlns:a16="http://schemas.microsoft.com/office/drawing/2014/main" id="{D93A56AE-B7B7-6ACB-5EDC-DA7C27987D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13" y="1827"/>
              <a:ext cx="345" cy="8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395" name="Oval 10">
              <a:extLst>
                <a:ext uri="{FF2B5EF4-FFF2-40B4-BE49-F238E27FC236}">
                  <a16:creationId xmlns:a16="http://schemas.microsoft.com/office/drawing/2014/main" id="{7351ACB2-1FE0-6421-2362-9A40A4224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8" y="2601"/>
              <a:ext cx="85" cy="7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396" name="Rectangle 11">
              <a:extLst>
                <a:ext uri="{FF2B5EF4-FFF2-40B4-BE49-F238E27FC236}">
                  <a16:creationId xmlns:a16="http://schemas.microsoft.com/office/drawing/2014/main" id="{5BFD6E25-8C08-DF22-6C6B-433F51B93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8" y="1551"/>
              <a:ext cx="1140" cy="2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굴림" panose="020B0600000101010101" pitchFamily="50" charset="-127"/>
                  <a:ea typeface="굴림" panose="020B0600000101010101" pitchFamily="50" charset="-127"/>
                </a:rPr>
                <a:t>프로세스</a:t>
              </a:r>
            </a:p>
          </p:txBody>
        </p:sp>
        <p:sp>
          <p:nvSpPr>
            <p:cNvPr id="16397" name="Oval 12">
              <a:extLst>
                <a:ext uri="{FF2B5EF4-FFF2-40B4-BE49-F238E27FC236}">
                  <a16:creationId xmlns:a16="http://schemas.microsoft.com/office/drawing/2014/main" id="{3FAF0E5A-3F28-1099-5CC9-5C603EA7F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2601"/>
              <a:ext cx="85" cy="7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398" name="Oval 13">
              <a:extLst>
                <a:ext uri="{FF2B5EF4-FFF2-40B4-BE49-F238E27FC236}">
                  <a16:creationId xmlns:a16="http://schemas.microsoft.com/office/drawing/2014/main" id="{B670E9AB-7E2E-E527-CB22-35F2AD614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8" y="2601"/>
              <a:ext cx="85" cy="7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399" name="Oval 14">
              <a:extLst>
                <a:ext uri="{FF2B5EF4-FFF2-40B4-BE49-F238E27FC236}">
                  <a16:creationId xmlns:a16="http://schemas.microsoft.com/office/drawing/2014/main" id="{E26145F8-06C0-26AA-BF4A-0E92B0A41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3" y="2601"/>
              <a:ext cx="85" cy="7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400" name="Oval 15">
              <a:extLst>
                <a:ext uri="{FF2B5EF4-FFF2-40B4-BE49-F238E27FC236}">
                  <a16:creationId xmlns:a16="http://schemas.microsoft.com/office/drawing/2014/main" id="{C08457A1-E7EF-C8C7-732C-B10659939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" y="2601"/>
              <a:ext cx="85" cy="7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401" name="Oval 16">
              <a:extLst>
                <a:ext uri="{FF2B5EF4-FFF2-40B4-BE49-F238E27FC236}">
                  <a16:creationId xmlns:a16="http://schemas.microsoft.com/office/drawing/2014/main" id="{9350A641-7A1D-5017-FDE8-7AE1EEF77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3" y="2601"/>
              <a:ext cx="85" cy="7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402" name="Line 17">
              <a:extLst>
                <a:ext uri="{FF2B5EF4-FFF2-40B4-BE49-F238E27FC236}">
                  <a16:creationId xmlns:a16="http://schemas.microsoft.com/office/drawing/2014/main" id="{8CCE3B3C-5A0A-EBEE-31C6-B4AABB0460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58" y="1827"/>
              <a:ext cx="450" cy="8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03" name="Line 18">
              <a:extLst>
                <a:ext uri="{FF2B5EF4-FFF2-40B4-BE49-F238E27FC236}">
                  <a16:creationId xmlns:a16="http://schemas.microsoft.com/office/drawing/2014/main" id="{1B7C133D-6341-E582-918B-C7F41FCA33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99" y="1827"/>
              <a:ext cx="754" cy="8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04" name="Rectangle 19">
              <a:extLst>
                <a:ext uri="{FF2B5EF4-FFF2-40B4-BE49-F238E27FC236}">
                  <a16:creationId xmlns:a16="http://schemas.microsoft.com/office/drawing/2014/main" id="{FA8E9E1B-0223-38A8-A026-F225363BF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8" y="1938"/>
              <a:ext cx="1140" cy="2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굴림" panose="020B0600000101010101" pitchFamily="50" charset="-127"/>
                  <a:ea typeface="굴림" panose="020B0600000101010101" pitchFamily="50" charset="-127"/>
                </a:rPr>
                <a:t>프로세스</a:t>
              </a:r>
            </a:p>
          </p:txBody>
        </p:sp>
        <p:sp>
          <p:nvSpPr>
            <p:cNvPr id="16405" name="Rectangle 20">
              <a:extLst>
                <a:ext uri="{FF2B5EF4-FFF2-40B4-BE49-F238E27FC236}">
                  <a16:creationId xmlns:a16="http://schemas.microsoft.com/office/drawing/2014/main" id="{69367C89-1A33-174D-394D-580A971C2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8" y="2646"/>
              <a:ext cx="1140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UDP</a:t>
              </a:r>
            </a:p>
          </p:txBody>
        </p:sp>
        <p:sp>
          <p:nvSpPr>
            <p:cNvPr id="16406" name="Oval 21">
              <a:extLst>
                <a:ext uri="{FF2B5EF4-FFF2-40B4-BE49-F238E27FC236}">
                  <a16:creationId xmlns:a16="http://schemas.microsoft.com/office/drawing/2014/main" id="{C9DEF181-EBBC-55CF-0BAF-3745062CF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8" y="2601"/>
              <a:ext cx="85" cy="7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407" name="Oval 22">
              <a:extLst>
                <a:ext uri="{FF2B5EF4-FFF2-40B4-BE49-F238E27FC236}">
                  <a16:creationId xmlns:a16="http://schemas.microsoft.com/office/drawing/2014/main" id="{BF357045-4C0D-C0D4-17A7-37826B020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3" y="2601"/>
              <a:ext cx="85" cy="7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408" name="Oval 23">
              <a:extLst>
                <a:ext uri="{FF2B5EF4-FFF2-40B4-BE49-F238E27FC236}">
                  <a16:creationId xmlns:a16="http://schemas.microsoft.com/office/drawing/2014/main" id="{01F30378-906B-C187-8B8C-F9C7D7BEF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8" y="2601"/>
              <a:ext cx="85" cy="7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409" name="Oval 24">
              <a:extLst>
                <a:ext uri="{FF2B5EF4-FFF2-40B4-BE49-F238E27FC236}">
                  <a16:creationId xmlns:a16="http://schemas.microsoft.com/office/drawing/2014/main" id="{54A1AE0D-38E3-EB16-B008-6EAA247E5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3" y="2601"/>
              <a:ext cx="85" cy="7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410" name="Oval 25">
              <a:extLst>
                <a:ext uri="{FF2B5EF4-FFF2-40B4-BE49-F238E27FC236}">
                  <a16:creationId xmlns:a16="http://schemas.microsoft.com/office/drawing/2014/main" id="{0EADE1EB-57BC-B66F-1F59-E01766661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2601"/>
              <a:ext cx="85" cy="7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411" name="Oval 26">
              <a:extLst>
                <a:ext uri="{FF2B5EF4-FFF2-40B4-BE49-F238E27FC236}">
                  <a16:creationId xmlns:a16="http://schemas.microsoft.com/office/drawing/2014/main" id="{6313C84A-0C28-930C-072D-83664462F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3" y="2601"/>
              <a:ext cx="85" cy="7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412" name="Line 27">
              <a:extLst>
                <a:ext uri="{FF2B5EF4-FFF2-40B4-BE49-F238E27FC236}">
                  <a16:creationId xmlns:a16="http://schemas.microsoft.com/office/drawing/2014/main" id="{C80DECFD-44B1-EBFE-F88C-B2447130C3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18" y="1827"/>
              <a:ext cx="346" cy="8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13" name="Line 28">
              <a:extLst>
                <a:ext uri="{FF2B5EF4-FFF2-40B4-BE49-F238E27FC236}">
                  <a16:creationId xmlns:a16="http://schemas.microsoft.com/office/drawing/2014/main" id="{4BDDBABB-83CD-B4D2-0748-7A226B6237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4" y="2214"/>
              <a:ext cx="194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14" name="Line 29">
              <a:extLst>
                <a:ext uri="{FF2B5EF4-FFF2-40B4-BE49-F238E27FC236}">
                  <a16:creationId xmlns:a16="http://schemas.microsoft.com/office/drawing/2014/main" id="{ED55F59E-06B8-4A38-4D52-864E83C341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9" y="2214"/>
              <a:ext cx="99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15" name="Rectangle 30">
              <a:extLst>
                <a:ext uri="{FF2B5EF4-FFF2-40B4-BE49-F238E27FC236}">
                  <a16:creationId xmlns:a16="http://schemas.microsoft.com/office/drawing/2014/main" id="{DFB743E9-B694-DF64-5A95-A55FB71A1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8" y="3542"/>
              <a:ext cx="120" cy="11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416" name="Rectangle 31">
              <a:extLst>
                <a:ext uri="{FF2B5EF4-FFF2-40B4-BE49-F238E27FC236}">
                  <a16:creationId xmlns:a16="http://schemas.microsoft.com/office/drawing/2014/main" id="{1A5C7CD6-EE8C-0166-946E-7C58CCCD6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8" y="3542"/>
              <a:ext cx="120" cy="11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417" name="Freeform 32">
              <a:extLst>
                <a:ext uri="{FF2B5EF4-FFF2-40B4-BE49-F238E27FC236}">
                  <a16:creationId xmlns:a16="http://schemas.microsoft.com/office/drawing/2014/main" id="{7ACD2E8D-B3DB-5A89-AAFE-68527A8C7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3" y="2435"/>
              <a:ext cx="515" cy="166"/>
            </a:xfrm>
            <a:custGeom>
              <a:avLst/>
              <a:gdLst>
                <a:gd name="T0" fmla="*/ 0 w 912"/>
                <a:gd name="T1" fmla="*/ 9 h 296"/>
                <a:gd name="T2" fmla="*/ 6 w 912"/>
                <a:gd name="T3" fmla="*/ 1 h 296"/>
                <a:gd name="T4" fmla="*/ 14 w 912"/>
                <a:gd name="T5" fmla="*/ 9 h 296"/>
                <a:gd name="T6" fmla="*/ 30 w 912"/>
                <a:gd name="T7" fmla="*/ 0 h 2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12" h="296">
                  <a:moveTo>
                    <a:pt x="0" y="288"/>
                  </a:moveTo>
                  <a:cubicBezTo>
                    <a:pt x="60" y="168"/>
                    <a:pt x="120" y="48"/>
                    <a:pt x="192" y="48"/>
                  </a:cubicBezTo>
                  <a:cubicBezTo>
                    <a:pt x="264" y="48"/>
                    <a:pt x="312" y="296"/>
                    <a:pt x="432" y="288"/>
                  </a:cubicBezTo>
                  <a:cubicBezTo>
                    <a:pt x="552" y="280"/>
                    <a:pt x="832" y="48"/>
                    <a:pt x="912" y="0"/>
                  </a:cubicBezTo>
                </a:path>
              </a:pathLst>
            </a:custGeom>
            <a:noFill/>
            <a:ln w="3175" cap="flat" cmpd="sng">
              <a:solidFill>
                <a:schemeClr val="tx1"/>
              </a:solidFill>
              <a:prstDash val="solid"/>
              <a:round/>
              <a:headEnd type="arrow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18" name="Rectangle 33">
              <a:extLst>
                <a:ext uri="{FF2B5EF4-FFF2-40B4-BE49-F238E27FC236}">
                  <a16:creationId xmlns:a16="http://schemas.microsoft.com/office/drawing/2014/main" id="{A13E9E4A-C884-42E0-9627-C7CE7E530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8" y="2283"/>
              <a:ext cx="1350" cy="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굴림" panose="020B0600000101010101" pitchFamily="50" charset="-127"/>
                  <a:ea typeface="굴림" panose="020B0600000101010101" pitchFamily="50" charset="-127"/>
                </a:rPr>
                <a:t>포트 번호</a:t>
              </a: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(0~65535)</a:t>
              </a:r>
            </a:p>
          </p:txBody>
        </p:sp>
        <p:sp>
          <p:nvSpPr>
            <p:cNvPr id="16419" name="Freeform 34">
              <a:extLst>
                <a:ext uri="{FF2B5EF4-FFF2-40B4-BE49-F238E27FC236}">
                  <a16:creationId xmlns:a16="http://schemas.microsoft.com/office/drawing/2014/main" id="{2B907D9A-882A-1089-6543-137951AEB54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706" y="3652"/>
              <a:ext cx="515" cy="166"/>
            </a:xfrm>
            <a:custGeom>
              <a:avLst/>
              <a:gdLst>
                <a:gd name="T0" fmla="*/ 0 w 912"/>
                <a:gd name="T1" fmla="*/ 9 h 296"/>
                <a:gd name="T2" fmla="*/ 6 w 912"/>
                <a:gd name="T3" fmla="*/ 1 h 296"/>
                <a:gd name="T4" fmla="*/ 14 w 912"/>
                <a:gd name="T5" fmla="*/ 9 h 296"/>
                <a:gd name="T6" fmla="*/ 30 w 912"/>
                <a:gd name="T7" fmla="*/ 0 h 2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12" h="296">
                  <a:moveTo>
                    <a:pt x="0" y="288"/>
                  </a:moveTo>
                  <a:cubicBezTo>
                    <a:pt x="60" y="168"/>
                    <a:pt x="120" y="48"/>
                    <a:pt x="192" y="48"/>
                  </a:cubicBezTo>
                  <a:cubicBezTo>
                    <a:pt x="264" y="48"/>
                    <a:pt x="312" y="296"/>
                    <a:pt x="432" y="288"/>
                  </a:cubicBezTo>
                  <a:cubicBezTo>
                    <a:pt x="552" y="280"/>
                    <a:pt x="832" y="48"/>
                    <a:pt x="912" y="0"/>
                  </a:cubicBezTo>
                </a:path>
              </a:pathLst>
            </a:custGeom>
            <a:noFill/>
            <a:ln w="3175" cap="flat" cmpd="sng">
              <a:solidFill>
                <a:schemeClr val="tx1"/>
              </a:solidFill>
              <a:prstDash val="solid"/>
              <a:round/>
              <a:headEnd type="arrow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20" name="Rectangle 35">
              <a:extLst>
                <a:ext uri="{FF2B5EF4-FFF2-40B4-BE49-F238E27FC236}">
                  <a16:creationId xmlns:a16="http://schemas.microsoft.com/office/drawing/2014/main" id="{868FDA6A-4A14-2DF9-7CF3-50308C117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" y="3840"/>
              <a:ext cx="840" cy="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IP </a:t>
              </a:r>
              <a:r>
                <a:rPr lang="ko-KR" altLang="en-US" sz="1600">
                  <a:latin typeface="굴림" panose="020B0600000101010101" pitchFamily="50" charset="-127"/>
                  <a:ea typeface="굴림" panose="020B0600000101010101" pitchFamily="50" charset="-127"/>
                </a:rPr>
                <a:t>주소</a:t>
              </a:r>
            </a:p>
          </p:txBody>
        </p:sp>
        <p:sp>
          <p:nvSpPr>
            <p:cNvPr id="16421" name="Line 36">
              <a:extLst>
                <a:ext uri="{FF2B5EF4-FFF2-40B4-BE49-F238E27FC236}">
                  <a16:creationId xmlns:a16="http://schemas.microsoft.com/office/drawing/2014/main" id="{03E4130D-17BE-4BB3-DC21-E45AE8D9BB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98" y="3376"/>
              <a:ext cx="18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22" name="Line 37">
              <a:extLst>
                <a:ext uri="{FF2B5EF4-FFF2-40B4-BE49-F238E27FC236}">
                  <a16:creationId xmlns:a16="http://schemas.microsoft.com/office/drawing/2014/main" id="{EDFC560C-AEB7-1A68-FB8B-958E8F6D66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38" y="3376"/>
              <a:ext cx="18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바닥글 개체 틀 3">
            <a:extLst>
              <a:ext uri="{FF2B5EF4-FFF2-40B4-BE49-F238E27FC236}">
                <a16:creationId xmlns:a16="http://schemas.microsoft.com/office/drawing/2014/main" id="{4953E671-8888-5956-D92F-95ED44E29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CBC6CE9D-8C41-6F99-31C9-5B3BA4F4AE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 </a:t>
            </a:r>
            <a:r>
              <a:rPr lang="ko-KR" altLang="en-US" sz="2400"/>
              <a:t>소켓 </a:t>
            </a:r>
            <a:r>
              <a:rPr lang="en-US" altLang="ko-KR" sz="2400"/>
              <a:t>- </a:t>
            </a:r>
            <a:r>
              <a:rPr lang="ko-KR" altLang="en-US" sz="2400"/>
              <a:t>개요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49E9EF8C-5FF1-D9D6-DD01-607D5D710B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/>
              <a:t>세 가지 관점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ko-KR" altLang="en-US"/>
              <a:t>① 데이터 타입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ko-KR" altLang="en-US"/>
              <a:t>② 통신 종단점</a:t>
            </a:r>
            <a:r>
              <a:rPr lang="en-US" altLang="ko-KR"/>
              <a:t>(communication end-point)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ko-KR"/>
              <a:t>③ </a:t>
            </a:r>
            <a:r>
              <a:rPr lang="ko-KR" altLang="en-US"/>
              <a:t>네트워크 프로그래밍 인터페이스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바닥글 개체 틀 3">
            <a:extLst>
              <a:ext uri="{FF2B5EF4-FFF2-40B4-BE49-F238E27FC236}">
                <a16:creationId xmlns:a16="http://schemas.microsoft.com/office/drawing/2014/main" id="{03D6CFDA-A5C8-C7DA-1981-842630FFAD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FE336E35-C2A7-07B2-9294-94EAF91846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 </a:t>
            </a:r>
            <a:r>
              <a:rPr lang="ko-KR" altLang="en-US" sz="2400"/>
              <a:t>소켓 </a:t>
            </a:r>
            <a:r>
              <a:rPr lang="en-US" altLang="ko-KR" sz="2400"/>
              <a:t>- </a:t>
            </a:r>
            <a:r>
              <a:rPr lang="ko-KR" altLang="en-US" sz="2400"/>
              <a:t>개요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60A64D4-4B73-A61C-ED5E-DB779060F5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/>
              <a:t>데이터 타입</a:t>
            </a:r>
          </a:p>
          <a:p>
            <a:pPr lvl="1" eaLnBrk="1" hangingPunct="1"/>
            <a:r>
              <a:rPr lang="ko-KR" altLang="en-US" sz="2000"/>
              <a:t>시스템의 자원을 이용하는 과정으로 </a:t>
            </a:r>
            <a:r>
              <a:rPr lang="ko-KR" altLang="en-US" sz="1800"/>
              <a:t>자원 획득 </a:t>
            </a:r>
            <a:r>
              <a:rPr lang="en-US" altLang="ko-KR" sz="1800">
                <a:sym typeface="Wingdings" panose="05000000000000000000" pitchFamily="2" charset="2"/>
              </a:rPr>
              <a:t> </a:t>
            </a:r>
            <a:r>
              <a:rPr lang="ko-KR" altLang="en-US" sz="1800">
                <a:sym typeface="Wingdings" panose="05000000000000000000" pitchFamily="2" charset="2"/>
              </a:rPr>
              <a:t>사용 </a:t>
            </a:r>
            <a:r>
              <a:rPr lang="en-US" altLang="ko-KR" sz="1800">
                <a:sym typeface="Wingdings" panose="05000000000000000000" pitchFamily="2" charset="2"/>
              </a:rPr>
              <a:t> </a:t>
            </a:r>
            <a:r>
              <a:rPr lang="ko-KR" altLang="en-US" sz="1800">
                <a:sym typeface="Wingdings" panose="05000000000000000000" pitchFamily="2" charset="2"/>
              </a:rPr>
              <a:t>자원 반납 진행</a:t>
            </a:r>
            <a:endParaRPr lang="en-US" altLang="ko-KR" sz="1800"/>
          </a:p>
          <a:p>
            <a:pPr lvl="1" eaLnBrk="1" hangingPunct="1"/>
            <a:r>
              <a:rPr lang="ko-KR" altLang="en-US" sz="2000"/>
              <a:t>생성과 설정 과정이 끝나면 이를 이용하여 통신과 관련된 다양한 작업을 할 수 있는 간편한 데이터 타입</a:t>
            </a:r>
          </a:p>
          <a:p>
            <a:pPr eaLnBrk="1" hangingPunct="1"/>
            <a:endParaRPr lang="en-US" altLang="ko-KR"/>
          </a:p>
        </p:txBody>
      </p:sp>
      <p:sp>
        <p:nvSpPr>
          <p:cNvPr id="18437" name="Rectangle 4">
            <a:extLst>
              <a:ext uri="{FF2B5EF4-FFF2-40B4-BE49-F238E27FC236}">
                <a16:creationId xmlns:a16="http://schemas.microsoft.com/office/drawing/2014/main" id="{ECFCA434-0A10-89A4-A829-BF62A269B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727450"/>
            <a:ext cx="3124200" cy="2438400"/>
          </a:xfrm>
          <a:prstGeom prst="rect">
            <a:avLst/>
          </a:prstGeom>
          <a:noFill/>
          <a:ln w="9525">
            <a:solidFill>
              <a:srgbClr val="008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800">
                <a:solidFill>
                  <a:srgbClr val="0000C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// </a:t>
            </a:r>
            <a:r>
              <a:rPr lang="ko-KR" altLang="en-US" sz="1800">
                <a:solidFill>
                  <a:srgbClr val="0000C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파일 자원 획득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1800">
                <a:solidFill>
                  <a:srgbClr val="0000C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800">
                <a:solidFill>
                  <a:srgbClr val="0000C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int fd = open("myfile", ...);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800">
                <a:solidFill>
                  <a:srgbClr val="0000C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...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800">
                <a:solidFill>
                  <a:srgbClr val="0000C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read(fd, ...) // </a:t>
            </a:r>
            <a:r>
              <a:rPr lang="ko-KR" altLang="en-US" sz="1800">
                <a:solidFill>
                  <a:srgbClr val="0000C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읽기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1800">
                <a:solidFill>
                  <a:srgbClr val="0000C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800">
                <a:solidFill>
                  <a:srgbClr val="0000C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write(fd, ...) // </a:t>
            </a:r>
            <a:r>
              <a:rPr lang="ko-KR" altLang="en-US" sz="1800">
                <a:solidFill>
                  <a:srgbClr val="0000C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쓰기</a:t>
            </a:r>
            <a:endParaRPr lang="en-US" altLang="ko-KR" sz="1800">
              <a:solidFill>
                <a:srgbClr val="0000CC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800">
                <a:solidFill>
                  <a:srgbClr val="0000C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close(fd)     // </a:t>
            </a:r>
            <a:r>
              <a:rPr lang="ko-KR" altLang="en-US" sz="1800">
                <a:solidFill>
                  <a:srgbClr val="0000C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자원 반납</a:t>
            </a:r>
          </a:p>
        </p:txBody>
      </p:sp>
      <p:sp>
        <p:nvSpPr>
          <p:cNvPr id="18438" name="Rectangle 5">
            <a:extLst>
              <a:ext uri="{FF2B5EF4-FFF2-40B4-BE49-F238E27FC236}">
                <a16:creationId xmlns:a16="http://schemas.microsoft.com/office/drawing/2014/main" id="{8052948B-586F-9BE4-B164-8C9A926EC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3727450"/>
            <a:ext cx="3743325" cy="2438400"/>
          </a:xfrm>
          <a:prstGeom prst="rect">
            <a:avLst/>
          </a:prstGeom>
          <a:noFill/>
          <a:ln w="9525">
            <a:solidFill>
              <a:srgbClr val="008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800">
                <a:solidFill>
                  <a:srgbClr val="0000C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// </a:t>
            </a:r>
            <a:r>
              <a:rPr lang="ko-KR" altLang="en-US" sz="1800">
                <a:solidFill>
                  <a:srgbClr val="0000C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소켓 생성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18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80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SOCKET</a:t>
            </a:r>
            <a:r>
              <a:rPr lang="en-US" altLang="ko-KR" sz="1800">
                <a:solidFill>
                  <a:srgbClr val="0000C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s = socket(...);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800">
                <a:solidFill>
                  <a:srgbClr val="0000C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...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800">
                <a:solidFill>
                  <a:srgbClr val="0000C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recv(s, ...) // </a:t>
            </a:r>
            <a:r>
              <a:rPr lang="ko-KR" altLang="en-US" sz="1800">
                <a:solidFill>
                  <a:srgbClr val="0000C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받기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1800">
                <a:solidFill>
                  <a:srgbClr val="0000C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800">
                <a:solidFill>
                  <a:srgbClr val="0000C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send(s, ...) // </a:t>
            </a:r>
            <a:r>
              <a:rPr lang="ko-KR" altLang="en-US" sz="1800">
                <a:solidFill>
                  <a:srgbClr val="0000C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보내기</a:t>
            </a:r>
            <a:endParaRPr lang="en-US" altLang="ko-KR" sz="1800">
              <a:solidFill>
                <a:srgbClr val="0000CC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800">
                <a:solidFill>
                  <a:srgbClr val="0000C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closesocket(s);  // </a:t>
            </a:r>
            <a:r>
              <a:rPr lang="ko-KR" altLang="en-US" sz="1800">
                <a:solidFill>
                  <a:srgbClr val="0000C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소켓 반납</a:t>
            </a:r>
          </a:p>
        </p:txBody>
      </p:sp>
      <p:sp>
        <p:nvSpPr>
          <p:cNvPr id="18439" name="AutoShape 6">
            <a:extLst>
              <a:ext uri="{FF2B5EF4-FFF2-40B4-BE49-F238E27FC236}">
                <a16:creationId xmlns:a16="http://schemas.microsoft.com/office/drawing/2014/main" id="{6C8C7C9D-8B85-A816-62AD-CBED5FCAC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2413" y="4778375"/>
            <a:ext cx="685800" cy="336550"/>
          </a:xfrm>
          <a:prstGeom prst="leftRightArrow">
            <a:avLst>
              <a:gd name="adj1" fmla="val 50000"/>
              <a:gd name="adj2" fmla="val 40755"/>
            </a:avLst>
          </a:prstGeom>
          <a:solidFill>
            <a:srgbClr val="FF6600"/>
          </a:solidFill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 b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바닥글 개체 틀 3">
            <a:extLst>
              <a:ext uri="{FF2B5EF4-FFF2-40B4-BE49-F238E27FC236}">
                <a16:creationId xmlns:a16="http://schemas.microsoft.com/office/drawing/2014/main" id="{1DEF4B16-20C4-4A5D-5ED8-7625844DB1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179E0996-8448-9C9E-C905-F799665F27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 </a:t>
            </a:r>
            <a:r>
              <a:rPr lang="ko-KR" altLang="en-US" sz="2400"/>
              <a:t>소켓 </a:t>
            </a:r>
            <a:r>
              <a:rPr lang="en-US" altLang="ko-KR" sz="2400"/>
              <a:t>- </a:t>
            </a:r>
            <a:r>
              <a:rPr lang="ko-KR" altLang="en-US" sz="2400"/>
              <a:t>개요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9DFA76C1-F751-40E7-AEBA-5545DFBFAD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/>
              <a:t>통신 종단점</a:t>
            </a:r>
          </a:p>
          <a:p>
            <a:pPr lvl="1" eaLnBrk="1" hangingPunct="1"/>
            <a:r>
              <a:rPr lang="ko-KR" altLang="en-US"/>
              <a:t>소켓은 통신을 위해 필요한 여러 요소의 집합체</a:t>
            </a:r>
          </a:p>
          <a:p>
            <a:pPr lvl="2" eaLnBrk="1" hangingPunct="1"/>
            <a:r>
              <a:rPr lang="ko-KR" altLang="en-US"/>
              <a:t>사용할 프로토콜</a:t>
            </a:r>
            <a:r>
              <a:rPr lang="en-US" altLang="ko-KR"/>
              <a:t>(TCP/IP, UDP/IP </a:t>
            </a:r>
            <a:r>
              <a:rPr lang="ko-KR" altLang="en-US"/>
              <a:t>등</a:t>
            </a:r>
            <a:r>
              <a:rPr lang="en-US" altLang="ko-KR"/>
              <a:t>)</a:t>
            </a:r>
          </a:p>
          <a:p>
            <a:pPr lvl="2" eaLnBrk="1" hangingPunct="1"/>
            <a:r>
              <a:rPr lang="ko-KR" altLang="en-US"/>
              <a:t>송신측 </a:t>
            </a:r>
            <a:r>
              <a:rPr lang="en-US" altLang="ko-KR"/>
              <a:t>IP </a:t>
            </a:r>
            <a:r>
              <a:rPr lang="ko-KR" altLang="en-US"/>
              <a:t>주소</a:t>
            </a:r>
            <a:r>
              <a:rPr lang="en-US" altLang="ko-KR"/>
              <a:t>, </a:t>
            </a:r>
            <a:r>
              <a:rPr lang="ko-KR" altLang="en-US"/>
              <a:t>송신측 포트 번호</a:t>
            </a:r>
          </a:p>
          <a:p>
            <a:pPr lvl="2" eaLnBrk="1" hangingPunct="1"/>
            <a:r>
              <a:rPr lang="ko-KR" altLang="en-US"/>
              <a:t>수신측 </a:t>
            </a:r>
            <a:r>
              <a:rPr lang="en-US" altLang="ko-KR"/>
              <a:t>IP </a:t>
            </a:r>
            <a:r>
              <a:rPr lang="ko-KR" altLang="en-US"/>
              <a:t>주소</a:t>
            </a:r>
            <a:r>
              <a:rPr lang="en-US" altLang="ko-KR"/>
              <a:t>, </a:t>
            </a:r>
            <a:r>
              <a:rPr lang="ko-KR" altLang="en-US"/>
              <a:t>수신측 포트 번호</a:t>
            </a:r>
          </a:p>
          <a:p>
            <a:pPr lvl="2" eaLnBrk="1" hangingPunct="1"/>
            <a:endParaRPr lang="ko-KR" altLang="en-US"/>
          </a:p>
          <a:p>
            <a:pPr lvl="1" eaLnBrk="1" hangingPunct="1"/>
            <a:r>
              <a:rPr lang="ko-KR" altLang="en-US"/>
              <a:t>애플리케이션은 자신의 소켓이 상대방의 소켓과 연결된 것으로 생각하고 데이터를 교환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바닥글 개체 틀 3">
            <a:extLst>
              <a:ext uri="{FF2B5EF4-FFF2-40B4-BE49-F238E27FC236}">
                <a16:creationId xmlns:a16="http://schemas.microsoft.com/office/drawing/2014/main" id="{31A543C3-8BE7-2FC1-6B7B-A4717C386C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D8065FA0-AF6D-A06C-27CD-25BD4FC223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 </a:t>
            </a:r>
            <a:r>
              <a:rPr lang="ko-KR" altLang="en-US" sz="2400"/>
              <a:t>소켓 </a:t>
            </a:r>
            <a:r>
              <a:rPr lang="en-US" altLang="ko-KR" sz="2400"/>
              <a:t>- </a:t>
            </a:r>
            <a:r>
              <a:rPr lang="ko-KR" altLang="en-US" sz="2400"/>
              <a:t>개요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18243FAF-5E73-4027-C459-CF0DC9FB0E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/>
              <a:t>통신 종단점</a:t>
            </a:r>
          </a:p>
        </p:txBody>
      </p:sp>
      <p:grpSp>
        <p:nvGrpSpPr>
          <p:cNvPr id="20485" name="Group 4">
            <a:extLst>
              <a:ext uri="{FF2B5EF4-FFF2-40B4-BE49-F238E27FC236}">
                <a16:creationId xmlns:a16="http://schemas.microsoft.com/office/drawing/2014/main" id="{5AA08F2A-CED2-6FE5-6AB3-02D06E57414E}"/>
              </a:ext>
            </a:extLst>
          </p:cNvPr>
          <p:cNvGrpSpPr>
            <a:grpSpLocks/>
          </p:cNvGrpSpPr>
          <p:nvPr/>
        </p:nvGrpSpPr>
        <p:grpSpPr bwMode="auto">
          <a:xfrm>
            <a:off x="647700" y="1905000"/>
            <a:ext cx="7848600" cy="4267200"/>
            <a:chOff x="442" y="1440"/>
            <a:chExt cx="5356" cy="2352"/>
          </a:xfrm>
        </p:grpSpPr>
        <p:sp>
          <p:nvSpPr>
            <p:cNvPr id="20486" name="Rectangle 5">
              <a:extLst>
                <a:ext uri="{FF2B5EF4-FFF2-40B4-BE49-F238E27FC236}">
                  <a16:creationId xmlns:a16="http://schemas.microsoft.com/office/drawing/2014/main" id="{C71A8D32-A586-B895-39A6-35B52156B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" y="1440"/>
              <a:ext cx="1430" cy="10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클라이언트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send (sock, ...)</a:t>
              </a:r>
            </a:p>
          </p:txBody>
        </p:sp>
        <p:sp>
          <p:nvSpPr>
            <p:cNvPr id="20487" name="Line 6">
              <a:extLst>
                <a:ext uri="{FF2B5EF4-FFF2-40B4-BE49-F238E27FC236}">
                  <a16:creationId xmlns:a16="http://schemas.microsoft.com/office/drawing/2014/main" id="{B0AA67B8-160B-124A-DEE6-837D9ADE19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2272"/>
              <a:ext cx="22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488" name="Rectangle 7">
              <a:extLst>
                <a:ext uri="{FF2B5EF4-FFF2-40B4-BE49-F238E27FC236}">
                  <a16:creationId xmlns:a16="http://schemas.microsoft.com/office/drawing/2014/main" id="{441B8FF5-3B12-B1BD-5235-5EE3652E4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440"/>
              <a:ext cx="1430" cy="10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서버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recv (sock, ...)</a:t>
              </a:r>
            </a:p>
          </p:txBody>
        </p:sp>
        <p:sp>
          <p:nvSpPr>
            <p:cNvPr id="20489" name="Rectangle 8">
              <a:extLst>
                <a:ext uri="{FF2B5EF4-FFF2-40B4-BE49-F238E27FC236}">
                  <a16:creationId xmlns:a16="http://schemas.microsoft.com/office/drawing/2014/main" id="{844CE2F5-729C-D0D3-CCB7-D32995B45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4" y="2160"/>
              <a:ext cx="780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데이터</a:t>
              </a:r>
            </a:p>
          </p:txBody>
        </p:sp>
        <p:sp>
          <p:nvSpPr>
            <p:cNvPr id="20490" name="Rectangle 9">
              <a:extLst>
                <a:ext uri="{FF2B5EF4-FFF2-40B4-BE49-F238E27FC236}">
                  <a16:creationId xmlns:a16="http://schemas.microsoft.com/office/drawing/2014/main" id="{115D7C14-32DC-8FD3-AEF4-DB2BD1C4E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1" y="2185"/>
              <a:ext cx="245" cy="181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0491" name="Rectangle 10">
              <a:extLst>
                <a:ext uri="{FF2B5EF4-FFF2-40B4-BE49-F238E27FC236}">
                  <a16:creationId xmlns:a16="http://schemas.microsoft.com/office/drawing/2014/main" id="{F2549D9F-E419-EF30-ACD6-73FA92218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3" y="2190"/>
              <a:ext cx="245" cy="181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0492" name="Freeform 11">
              <a:extLst>
                <a:ext uri="{FF2B5EF4-FFF2-40B4-BE49-F238E27FC236}">
                  <a16:creationId xmlns:a16="http://schemas.microsoft.com/office/drawing/2014/main" id="{9C363DC1-5FD3-3718-AF87-FD447AC2C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2" y="2304"/>
              <a:ext cx="260" cy="720"/>
            </a:xfrm>
            <a:custGeom>
              <a:avLst/>
              <a:gdLst>
                <a:gd name="T0" fmla="*/ 1185 w 192"/>
                <a:gd name="T1" fmla="*/ 0 h 624"/>
                <a:gd name="T2" fmla="*/ 295 w 192"/>
                <a:gd name="T3" fmla="*/ 795 h 624"/>
                <a:gd name="T4" fmla="*/ 890 w 192"/>
                <a:gd name="T5" fmla="*/ 1246 h 624"/>
                <a:gd name="T6" fmla="*/ 0 w 192"/>
                <a:gd name="T7" fmla="*/ 1473 h 6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2" h="624">
                  <a:moveTo>
                    <a:pt x="192" y="0"/>
                  </a:moveTo>
                  <a:cubicBezTo>
                    <a:pt x="124" y="124"/>
                    <a:pt x="56" y="248"/>
                    <a:pt x="48" y="336"/>
                  </a:cubicBezTo>
                  <a:cubicBezTo>
                    <a:pt x="40" y="424"/>
                    <a:pt x="152" y="480"/>
                    <a:pt x="144" y="528"/>
                  </a:cubicBezTo>
                  <a:cubicBezTo>
                    <a:pt x="136" y="576"/>
                    <a:pt x="68" y="600"/>
                    <a:pt x="0" y="624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493" name="Rectangle 12">
              <a:extLst>
                <a:ext uri="{FF2B5EF4-FFF2-40B4-BE49-F238E27FC236}">
                  <a16:creationId xmlns:a16="http://schemas.microsoft.com/office/drawing/2014/main" id="{75A2552C-1748-2860-E02F-0FFCDE1C1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" y="2976"/>
              <a:ext cx="2210" cy="8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&lt;</a:t>
              </a: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클라이언트 소켓</a:t>
              </a: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&gt;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Times New Roman" panose="02020603050405020304" pitchFamily="18" charset="0"/>
                  <a:ea typeface="굴림" panose="020B0600000101010101" pitchFamily="50" charset="-127"/>
                </a:rPr>
                <a:t>•</a:t>
              </a: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프로토콜</a:t>
              </a: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: TCP/IP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Times New Roman" panose="02020603050405020304" pitchFamily="18" charset="0"/>
                  <a:ea typeface="굴림" panose="020B0600000101010101" pitchFamily="50" charset="-127"/>
                </a:rPr>
                <a:t>•</a:t>
              </a: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 IP </a:t>
              </a: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주소</a:t>
              </a: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: 147.46.114.70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Times New Roman" panose="02020603050405020304" pitchFamily="18" charset="0"/>
                  <a:ea typeface="굴림" panose="020B0600000101010101" pitchFamily="50" charset="-127"/>
                </a:rPr>
                <a:t>•</a:t>
              </a: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포트 번호</a:t>
              </a: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: 12023</a:t>
              </a:r>
            </a:p>
          </p:txBody>
        </p:sp>
        <p:sp>
          <p:nvSpPr>
            <p:cNvPr id="20494" name="Freeform 13">
              <a:extLst>
                <a:ext uri="{FF2B5EF4-FFF2-40B4-BE49-F238E27FC236}">
                  <a16:creationId xmlns:a16="http://schemas.microsoft.com/office/drawing/2014/main" id="{D172EBC6-9B2A-3257-8A3E-94EB4D6AB6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2304"/>
              <a:ext cx="260" cy="720"/>
            </a:xfrm>
            <a:custGeom>
              <a:avLst/>
              <a:gdLst>
                <a:gd name="T0" fmla="*/ 1185 w 192"/>
                <a:gd name="T1" fmla="*/ 0 h 624"/>
                <a:gd name="T2" fmla="*/ 295 w 192"/>
                <a:gd name="T3" fmla="*/ 795 h 624"/>
                <a:gd name="T4" fmla="*/ 890 w 192"/>
                <a:gd name="T5" fmla="*/ 1246 h 624"/>
                <a:gd name="T6" fmla="*/ 0 w 192"/>
                <a:gd name="T7" fmla="*/ 1473 h 6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2" h="624">
                  <a:moveTo>
                    <a:pt x="192" y="0"/>
                  </a:moveTo>
                  <a:cubicBezTo>
                    <a:pt x="124" y="124"/>
                    <a:pt x="56" y="248"/>
                    <a:pt x="48" y="336"/>
                  </a:cubicBezTo>
                  <a:cubicBezTo>
                    <a:pt x="40" y="424"/>
                    <a:pt x="152" y="480"/>
                    <a:pt x="144" y="528"/>
                  </a:cubicBezTo>
                  <a:cubicBezTo>
                    <a:pt x="136" y="576"/>
                    <a:pt x="68" y="600"/>
                    <a:pt x="0" y="624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495" name="Rectangle 14">
              <a:extLst>
                <a:ext uri="{FF2B5EF4-FFF2-40B4-BE49-F238E27FC236}">
                  <a16:creationId xmlns:a16="http://schemas.microsoft.com/office/drawing/2014/main" id="{BF8FD18F-7E62-3283-E4D4-EEEFC2F16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8" y="2976"/>
              <a:ext cx="1794" cy="8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&lt;</a:t>
              </a: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서버 소켓</a:t>
              </a: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&gt;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Times New Roman" panose="02020603050405020304" pitchFamily="18" charset="0"/>
                  <a:ea typeface="굴림" panose="020B0600000101010101" pitchFamily="50" charset="-127"/>
                </a:rPr>
                <a:t>•</a:t>
              </a: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프로토콜</a:t>
              </a: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: TCP/IP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Times New Roman" panose="02020603050405020304" pitchFamily="18" charset="0"/>
                  <a:ea typeface="굴림" panose="020B0600000101010101" pitchFamily="50" charset="-127"/>
                </a:rPr>
                <a:t>•</a:t>
              </a: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 IP </a:t>
              </a: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주소</a:t>
              </a: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: 61.72.244.22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Times New Roman" panose="02020603050405020304" pitchFamily="18" charset="0"/>
                  <a:ea typeface="굴림" panose="020B0600000101010101" pitchFamily="50" charset="-127"/>
                </a:rPr>
                <a:t>•</a:t>
              </a: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포트 번호</a:t>
              </a: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: 9001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바닥글 개체 틀 3">
            <a:extLst>
              <a:ext uri="{FF2B5EF4-FFF2-40B4-BE49-F238E27FC236}">
                <a16:creationId xmlns:a16="http://schemas.microsoft.com/office/drawing/2014/main" id="{5CB3F6F9-6D3E-ABBF-641A-7D1DFC3A1E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F0D92521-A06E-27F2-4C4E-9F46D6B1CB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 </a:t>
            </a:r>
            <a:r>
              <a:rPr lang="ko-KR" altLang="en-US" sz="2400"/>
              <a:t>소켓 </a:t>
            </a:r>
            <a:r>
              <a:rPr lang="en-US" altLang="ko-KR" sz="2400"/>
              <a:t>- </a:t>
            </a:r>
            <a:r>
              <a:rPr lang="ko-KR" altLang="en-US" sz="2400"/>
              <a:t>개요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6CFD5D64-21C3-59EA-ADAC-9D6C9E630B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/>
              <a:t>네트워크 프로그래밍 인터페이스</a:t>
            </a:r>
          </a:p>
          <a:p>
            <a:pPr lvl="1" eaLnBrk="1" hangingPunct="1"/>
            <a:r>
              <a:rPr lang="ko-KR" altLang="en-US"/>
              <a:t>통신 양단이 모두 소켓을 사용할 필요는 없음</a:t>
            </a:r>
          </a:p>
          <a:p>
            <a:pPr lvl="1" eaLnBrk="1" hangingPunct="1"/>
            <a:r>
              <a:rPr lang="en-US" altLang="ko-KR"/>
              <a:t>TCP/IP </a:t>
            </a:r>
            <a:r>
              <a:rPr lang="ko-KR" altLang="en-US"/>
              <a:t>프로토콜 구조에서 </a:t>
            </a:r>
            <a:r>
              <a:rPr lang="en-US" altLang="ko-KR"/>
              <a:t>(</a:t>
            </a:r>
            <a:r>
              <a:rPr lang="ko-KR" altLang="en-US"/>
              <a:t>일반적으로</a:t>
            </a:r>
            <a:r>
              <a:rPr lang="en-US" altLang="ko-KR"/>
              <a:t>) </a:t>
            </a:r>
            <a:r>
              <a:rPr lang="ko-KR" altLang="en-US"/>
              <a:t>애플리케이션 계층과 전송 계층 사이에 위치하는 것으로 간주</a:t>
            </a:r>
          </a:p>
        </p:txBody>
      </p:sp>
      <p:grpSp>
        <p:nvGrpSpPr>
          <p:cNvPr id="21509" name="Group 4">
            <a:extLst>
              <a:ext uri="{FF2B5EF4-FFF2-40B4-BE49-F238E27FC236}">
                <a16:creationId xmlns:a16="http://schemas.microsoft.com/office/drawing/2014/main" id="{BFA118F2-32E5-C82B-7DAF-B6E8F683C21F}"/>
              </a:ext>
            </a:extLst>
          </p:cNvPr>
          <p:cNvGrpSpPr>
            <a:grpSpLocks/>
          </p:cNvGrpSpPr>
          <p:nvPr/>
        </p:nvGrpSpPr>
        <p:grpSpPr bwMode="auto">
          <a:xfrm>
            <a:off x="1333500" y="3048000"/>
            <a:ext cx="7810500" cy="3200400"/>
            <a:chOff x="806" y="2016"/>
            <a:chExt cx="5330" cy="1680"/>
          </a:xfrm>
        </p:grpSpPr>
        <p:sp>
          <p:nvSpPr>
            <p:cNvPr id="21510" name="Rectangle 5">
              <a:extLst>
                <a:ext uri="{FF2B5EF4-FFF2-40B4-BE49-F238E27FC236}">
                  <a16:creationId xmlns:a16="http://schemas.microsoft.com/office/drawing/2014/main" id="{F246A156-CF93-9B30-D189-BBA2392BEA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" y="2016"/>
              <a:ext cx="1235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굴림" panose="020B0600000101010101" pitchFamily="50" charset="-127"/>
                  <a:ea typeface="굴림" panose="020B0600000101010101" pitchFamily="50" charset="-127"/>
                </a:rPr>
                <a:t>애플리케이션</a:t>
              </a:r>
            </a:p>
          </p:txBody>
        </p:sp>
        <p:sp>
          <p:nvSpPr>
            <p:cNvPr id="21511" name="Rectangle 6">
              <a:extLst>
                <a:ext uri="{FF2B5EF4-FFF2-40B4-BE49-F238E27FC236}">
                  <a16:creationId xmlns:a16="http://schemas.microsoft.com/office/drawing/2014/main" id="{663DA962-A2F2-7391-9D27-9A542AA2E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" y="2784"/>
              <a:ext cx="1235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TCP</a:t>
              </a:r>
            </a:p>
          </p:txBody>
        </p:sp>
        <p:sp>
          <p:nvSpPr>
            <p:cNvPr id="21512" name="Rectangle 7">
              <a:extLst>
                <a:ext uri="{FF2B5EF4-FFF2-40B4-BE49-F238E27FC236}">
                  <a16:creationId xmlns:a16="http://schemas.microsoft.com/office/drawing/2014/main" id="{31E7DC00-CF92-1AFF-5F63-13C9188FD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" y="3456"/>
              <a:ext cx="3965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IP</a:t>
              </a:r>
            </a:p>
          </p:txBody>
        </p:sp>
        <p:sp>
          <p:nvSpPr>
            <p:cNvPr id="21513" name="Rectangle 8">
              <a:extLst>
                <a:ext uri="{FF2B5EF4-FFF2-40B4-BE49-F238E27FC236}">
                  <a16:creationId xmlns:a16="http://schemas.microsoft.com/office/drawing/2014/main" id="{8AA3CA31-65FF-8858-C86B-E035D6594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" y="2784"/>
              <a:ext cx="1235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UDP</a:t>
              </a:r>
            </a:p>
          </p:txBody>
        </p:sp>
        <p:sp>
          <p:nvSpPr>
            <p:cNvPr id="21514" name="Rectangle 9">
              <a:extLst>
                <a:ext uri="{FF2B5EF4-FFF2-40B4-BE49-F238E27FC236}">
                  <a16:creationId xmlns:a16="http://schemas.microsoft.com/office/drawing/2014/main" id="{6E86180A-D490-886E-1F80-E5F927D14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" y="2400"/>
              <a:ext cx="3965" cy="240"/>
            </a:xfrm>
            <a:prstGeom prst="rect">
              <a:avLst/>
            </a:prstGeom>
            <a:solidFill>
              <a:srgbClr val="00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ko-KR" sz="16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1515" name="Rectangle 10">
              <a:extLst>
                <a:ext uri="{FF2B5EF4-FFF2-40B4-BE49-F238E27FC236}">
                  <a16:creationId xmlns:a16="http://schemas.microsoft.com/office/drawing/2014/main" id="{CD8E71E7-47F5-E0CB-4431-649F4F199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" y="2016"/>
              <a:ext cx="1235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굴림" panose="020B0600000101010101" pitchFamily="50" charset="-127"/>
                  <a:ea typeface="굴림" panose="020B0600000101010101" pitchFamily="50" charset="-127"/>
                </a:rPr>
                <a:t>애플리케이션</a:t>
              </a:r>
            </a:p>
          </p:txBody>
        </p:sp>
        <p:sp>
          <p:nvSpPr>
            <p:cNvPr id="21516" name="Rectangle 11">
              <a:extLst>
                <a:ext uri="{FF2B5EF4-FFF2-40B4-BE49-F238E27FC236}">
                  <a16:creationId xmlns:a16="http://schemas.microsoft.com/office/drawing/2014/main" id="{8BAC1C29-8CFC-AD0C-D0EC-98FE43B2C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6" y="2016"/>
              <a:ext cx="1235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굴림" panose="020B0600000101010101" pitchFamily="50" charset="-127"/>
                  <a:ea typeface="굴림" panose="020B0600000101010101" pitchFamily="50" charset="-127"/>
                </a:rPr>
                <a:t>애플리케이션</a:t>
              </a:r>
            </a:p>
          </p:txBody>
        </p:sp>
        <p:sp>
          <p:nvSpPr>
            <p:cNvPr id="21517" name="Line 12">
              <a:extLst>
                <a:ext uri="{FF2B5EF4-FFF2-40B4-BE49-F238E27FC236}">
                  <a16:creationId xmlns:a16="http://schemas.microsoft.com/office/drawing/2014/main" id="{6CFDBC01-B067-AE52-38AA-DB0545ED1D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6" y="2256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18" name="Line 13">
              <a:extLst>
                <a:ext uri="{FF2B5EF4-FFF2-40B4-BE49-F238E27FC236}">
                  <a16:creationId xmlns:a16="http://schemas.microsoft.com/office/drawing/2014/main" id="{17A20B70-86AD-FFAC-CFCF-780D9F613D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1" y="2256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19" name="Line 14">
              <a:extLst>
                <a:ext uri="{FF2B5EF4-FFF2-40B4-BE49-F238E27FC236}">
                  <a16:creationId xmlns:a16="http://schemas.microsoft.com/office/drawing/2014/main" id="{6E25EC06-AFBD-D022-F75A-44E679BBDB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8" y="2256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20" name="Rectangle 15">
              <a:extLst>
                <a:ext uri="{FF2B5EF4-FFF2-40B4-BE49-F238E27FC236}">
                  <a16:creationId xmlns:a16="http://schemas.microsoft.com/office/drawing/2014/main" id="{5FBFC53F-3054-C750-EDFD-268AC180C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9" y="2465"/>
              <a:ext cx="153" cy="113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1521" name="Rectangle 16">
              <a:extLst>
                <a:ext uri="{FF2B5EF4-FFF2-40B4-BE49-F238E27FC236}">
                  <a16:creationId xmlns:a16="http://schemas.microsoft.com/office/drawing/2014/main" id="{8F9AFF3C-B7DD-0738-7E03-96135F0FD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8" y="2471"/>
              <a:ext cx="153" cy="113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1522" name="Rectangle 17">
              <a:extLst>
                <a:ext uri="{FF2B5EF4-FFF2-40B4-BE49-F238E27FC236}">
                  <a16:creationId xmlns:a16="http://schemas.microsoft.com/office/drawing/2014/main" id="{A9FC1E42-5F8B-999A-7FC0-2F66D218B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5" y="2465"/>
              <a:ext cx="153" cy="113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1523" name="Rectangle 18">
              <a:extLst>
                <a:ext uri="{FF2B5EF4-FFF2-40B4-BE49-F238E27FC236}">
                  <a16:creationId xmlns:a16="http://schemas.microsoft.com/office/drawing/2014/main" id="{25A61FE7-B688-2F79-CE99-F5A3DAD3B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1" y="2400"/>
              <a:ext cx="1105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굴림" panose="020B0600000101010101" pitchFamily="50" charset="-127"/>
                  <a:ea typeface="굴림" panose="020B0600000101010101" pitchFamily="50" charset="-127"/>
                </a:rPr>
                <a:t>소켓 인터페이스</a:t>
              </a:r>
            </a:p>
          </p:txBody>
        </p:sp>
        <p:sp>
          <p:nvSpPr>
            <p:cNvPr id="21524" name="Line 19">
              <a:extLst>
                <a:ext uri="{FF2B5EF4-FFF2-40B4-BE49-F238E27FC236}">
                  <a16:creationId xmlns:a16="http://schemas.microsoft.com/office/drawing/2014/main" id="{A9FF6269-70B7-0C25-8AD7-FE29E2AB52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" y="2529"/>
              <a:ext cx="3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25" name="Line 20">
              <a:extLst>
                <a:ext uri="{FF2B5EF4-FFF2-40B4-BE49-F238E27FC236}">
                  <a16:creationId xmlns:a16="http://schemas.microsoft.com/office/drawing/2014/main" id="{972A0848-DB89-B717-7E02-A87EDC494D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6" y="2256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26" name="Rectangle 21">
              <a:extLst>
                <a:ext uri="{FF2B5EF4-FFF2-40B4-BE49-F238E27FC236}">
                  <a16:creationId xmlns:a16="http://schemas.microsoft.com/office/drawing/2014/main" id="{9063952D-D510-4FBD-4BDF-059BCA821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2471"/>
              <a:ext cx="153" cy="113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1527" name="Rectangle 22">
              <a:extLst>
                <a:ext uri="{FF2B5EF4-FFF2-40B4-BE49-F238E27FC236}">
                  <a16:creationId xmlns:a16="http://schemas.microsoft.com/office/drawing/2014/main" id="{7DEF515C-5DCC-FE33-64BF-A4858A13F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6" y="3120"/>
              <a:ext cx="113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ICMP, IGMP</a:t>
              </a:r>
            </a:p>
          </p:txBody>
        </p:sp>
        <p:sp>
          <p:nvSpPr>
            <p:cNvPr id="21528" name="Line 23">
              <a:extLst>
                <a:ext uri="{FF2B5EF4-FFF2-40B4-BE49-F238E27FC236}">
                  <a16:creationId xmlns:a16="http://schemas.microsoft.com/office/drawing/2014/main" id="{22107D48-05C9-DF94-C5BF-51BBDD6DBA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1" y="288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29" name="Line 24">
              <a:extLst>
                <a:ext uri="{FF2B5EF4-FFF2-40B4-BE49-F238E27FC236}">
                  <a16:creationId xmlns:a16="http://schemas.microsoft.com/office/drawing/2014/main" id="{433CF780-3730-4CE3-E3DF-C749EDB1D6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1" y="2880"/>
              <a:ext cx="1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30" name="Line 25">
              <a:extLst>
                <a:ext uri="{FF2B5EF4-FFF2-40B4-BE49-F238E27FC236}">
                  <a16:creationId xmlns:a16="http://schemas.microsoft.com/office/drawing/2014/main" id="{E21C73EC-90A2-4533-FC69-00CBA2AAEA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6" y="302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31" name="Line 26">
              <a:extLst>
                <a:ext uri="{FF2B5EF4-FFF2-40B4-BE49-F238E27FC236}">
                  <a16:creationId xmlns:a16="http://schemas.microsoft.com/office/drawing/2014/main" id="{D385A17A-14CF-7EC3-6D3F-F44CAC1D81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1" y="302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32" name="Line 27">
              <a:extLst>
                <a:ext uri="{FF2B5EF4-FFF2-40B4-BE49-F238E27FC236}">
                  <a16:creationId xmlns:a16="http://schemas.microsoft.com/office/drawing/2014/main" id="{66E9D030-451A-66F9-FE22-D0DACEF2C0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1" y="33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바닥글 개체 틀 3">
            <a:extLst>
              <a:ext uri="{FF2B5EF4-FFF2-40B4-BE49-F238E27FC236}">
                <a16:creationId xmlns:a16="http://schemas.microsoft.com/office/drawing/2014/main" id="{A7DA1DFB-EC71-CABC-491D-02F5442306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5552608D-05A7-E25E-501F-D937F412FF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 </a:t>
            </a:r>
            <a:r>
              <a:rPr lang="ko-KR" altLang="en-US" sz="2400"/>
              <a:t>소켓 </a:t>
            </a:r>
            <a:r>
              <a:rPr lang="en-US" altLang="ko-KR" sz="2400"/>
              <a:t>- </a:t>
            </a:r>
            <a:r>
              <a:rPr lang="ko-KR" altLang="en-US" sz="2400"/>
              <a:t>윈속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183CAFA9-6E45-EED9-7588-0A4753DC77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/>
              <a:t>윈도우 소켓</a:t>
            </a:r>
            <a:r>
              <a:rPr lang="en-US" altLang="ko-KR"/>
              <a:t>(Windows Sockets, Winsock)</a:t>
            </a:r>
          </a:p>
          <a:p>
            <a:pPr lvl="1" eaLnBrk="1" hangingPunct="1"/>
            <a:r>
              <a:rPr lang="ko-KR" altLang="en-US"/>
              <a:t>버클리 유닉스</a:t>
            </a:r>
            <a:r>
              <a:rPr lang="en-US" altLang="ko-KR"/>
              <a:t>(Berkeley Software Distribution UNIX)</a:t>
            </a:r>
            <a:r>
              <a:rPr lang="ko-KR" altLang="en-US"/>
              <a:t>에서 개발한 네트워크 프로그래밍 인터페이스를 윈도우 환경에서 사용할 수 있도록 한 것</a:t>
            </a:r>
          </a:p>
          <a:p>
            <a:pPr lvl="1" eaLnBrk="1" hangingPunct="1"/>
            <a:endParaRPr lang="ko-KR" altLang="en-US"/>
          </a:p>
          <a:p>
            <a:pPr lvl="1" eaLnBrk="1" hangingPunct="1"/>
            <a:r>
              <a:rPr lang="ko-KR" altLang="en-US"/>
              <a:t>소스 코드 수준에서 호환성이 높음</a:t>
            </a:r>
          </a:p>
          <a:p>
            <a:pPr lvl="2" eaLnBrk="1" hangingPunct="1"/>
            <a:endParaRPr lang="ko-KR" altLang="en-US"/>
          </a:p>
          <a:p>
            <a:pPr lvl="1" eaLnBrk="1" hangingPunct="1"/>
            <a:r>
              <a:rPr lang="ko-KR" altLang="en-US"/>
              <a:t>윈도우 </a:t>
            </a:r>
            <a:r>
              <a:rPr lang="en-US" altLang="ko-KR"/>
              <a:t>95 </a:t>
            </a:r>
            <a:r>
              <a:rPr lang="ko-KR" altLang="en-US"/>
              <a:t>버전부터 </a:t>
            </a:r>
            <a:r>
              <a:rPr lang="en-US" altLang="ko-KR"/>
              <a:t>API(Application Programming Interface)</a:t>
            </a:r>
            <a:r>
              <a:rPr lang="ko-KR" altLang="en-US"/>
              <a:t>에 정식으로 포함되어 제공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바닥글 개체 틀 3">
            <a:extLst>
              <a:ext uri="{FF2B5EF4-FFF2-40B4-BE49-F238E27FC236}">
                <a16:creationId xmlns:a16="http://schemas.microsoft.com/office/drawing/2014/main" id="{51C2E401-B4B1-1031-895A-726DB43A6C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5D08AB89-8252-2363-ECC4-318C2C203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 </a:t>
            </a:r>
            <a:r>
              <a:rPr lang="ko-KR" altLang="en-US" sz="2400"/>
              <a:t>소켓 </a:t>
            </a:r>
            <a:r>
              <a:rPr lang="en-US" altLang="ko-KR" sz="2400"/>
              <a:t>- </a:t>
            </a:r>
            <a:r>
              <a:rPr lang="ko-KR" altLang="en-US" sz="2400"/>
              <a:t>윈속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5BF97F39-A73F-9EBC-50E4-5E32B32ED3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/>
              <a:t>유닉스 소켓과의 차이점</a:t>
            </a:r>
          </a:p>
          <a:p>
            <a:pPr lvl="1" eaLnBrk="1" hangingPunct="1"/>
            <a:r>
              <a:rPr lang="ko-KR" altLang="en-US"/>
              <a:t>윈도우 소켓은 </a:t>
            </a:r>
            <a:r>
              <a:rPr lang="en-US" altLang="ko-KR"/>
              <a:t>DLL</a:t>
            </a:r>
            <a:r>
              <a:rPr lang="ko-KR" altLang="en-US"/>
              <a:t>을 통해 대부분의 기능이 제공되므로 </a:t>
            </a:r>
            <a:r>
              <a:rPr lang="en-US" altLang="ko-KR"/>
              <a:t>DLL </a:t>
            </a:r>
            <a:r>
              <a:rPr lang="ko-KR" altLang="en-US"/>
              <a:t>초기화와 종료 작업을 위한 함수가 필요</a:t>
            </a:r>
          </a:p>
          <a:p>
            <a:pPr lvl="1" eaLnBrk="1" hangingPunct="1"/>
            <a:endParaRPr lang="ko-KR" altLang="en-US"/>
          </a:p>
          <a:p>
            <a:pPr lvl="1" eaLnBrk="1" hangingPunct="1"/>
            <a:r>
              <a:rPr lang="ko-KR" altLang="en-US"/>
              <a:t>윈도우 애플리케이션은 대개 그래픽 사용자 인터페이스</a:t>
            </a:r>
            <a:r>
              <a:rPr lang="en-US" altLang="ko-KR"/>
              <a:t>(GUI, Graphical User Interface)</a:t>
            </a:r>
            <a:r>
              <a:rPr lang="ko-KR" altLang="en-US"/>
              <a:t>를 기반으로 하며</a:t>
            </a:r>
            <a:r>
              <a:rPr lang="en-US" altLang="ko-KR"/>
              <a:t>, </a:t>
            </a:r>
            <a:r>
              <a:rPr lang="ko-KR" altLang="en-US"/>
              <a:t>메시지 구동 방식으로 동작하므로 이를 위한 확장 함수가 존재</a:t>
            </a:r>
          </a:p>
          <a:p>
            <a:pPr lvl="1" eaLnBrk="1" hangingPunct="1"/>
            <a:endParaRPr lang="ko-KR" altLang="en-US"/>
          </a:p>
          <a:p>
            <a:pPr lvl="1" eaLnBrk="1" hangingPunct="1"/>
            <a:r>
              <a:rPr lang="ko-KR" altLang="en-US"/>
              <a:t>윈도우는 운영체제 차원에서 멀티스레드</a:t>
            </a:r>
            <a:r>
              <a:rPr lang="en-US" altLang="ko-KR"/>
              <a:t>(multithread)</a:t>
            </a:r>
            <a:r>
              <a:rPr lang="ko-KR" altLang="en-US"/>
              <a:t>를 지원하므로 멀티스레드 환경에서 안정적으로 동작하기 위한 구조와 이를 위한 함수가 필요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바닥글 개체 틀 3">
            <a:extLst>
              <a:ext uri="{FF2B5EF4-FFF2-40B4-BE49-F238E27FC236}">
                <a16:creationId xmlns:a16="http://schemas.microsoft.com/office/drawing/2014/main" id="{68A0A1FA-7D4E-7B00-3D86-9E96F10597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5B1332DC-E706-D0A5-E063-E7FF14048F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 </a:t>
            </a:r>
            <a:r>
              <a:rPr lang="ko-KR" altLang="en-US" sz="2400"/>
              <a:t>소켓 </a:t>
            </a:r>
            <a:r>
              <a:rPr lang="en-US" altLang="ko-KR" sz="2400"/>
              <a:t>- </a:t>
            </a:r>
            <a:r>
              <a:rPr lang="ko-KR" altLang="en-US" sz="2400"/>
              <a:t>윈속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C7E5A347-E93C-6436-E5AC-AA00AA4A6C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ko-KR" altLang="en-US"/>
              <a:t>운영 체제 별 지원 사항</a:t>
            </a:r>
          </a:p>
          <a:p>
            <a:pPr eaLnBrk="1" hangingPunct="1">
              <a:lnSpc>
                <a:spcPct val="90000"/>
              </a:lnSpc>
            </a:pPr>
            <a:endParaRPr lang="ko-KR" altLang="en-US"/>
          </a:p>
          <a:p>
            <a:pPr eaLnBrk="1" hangingPunct="1">
              <a:lnSpc>
                <a:spcPct val="90000"/>
              </a:lnSpc>
            </a:pPr>
            <a:endParaRPr lang="ko-KR" altLang="en-US"/>
          </a:p>
          <a:p>
            <a:pPr eaLnBrk="1" hangingPunct="1">
              <a:lnSpc>
                <a:spcPct val="90000"/>
              </a:lnSpc>
            </a:pPr>
            <a:endParaRPr lang="ko-KR" altLang="en-US"/>
          </a:p>
          <a:p>
            <a:pPr eaLnBrk="1" hangingPunct="1">
              <a:lnSpc>
                <a:spcPct val="90000"/>
              </a:lnSpc>
            </a:pPr>
            <a:endParaRPr lang="ko-KR" altLang="en-US"/>
          </a:p>
          <a:p>
            <a:pPr eaLnBrk="1" hangingPunct="1">
              <a:lnSpc>
                <a:spcPct val="90000"/>
              </a:lnSpc>
            </a:pPr>
            <a:endParaRPr lang="ko-KR" altLang="en-US"/>
          </a:p>
          <a:p>
            <a:pPr eaLnBrk="1" hangingPunct="1">
              <a:lnSpc>
                <a:spcPct val="90000"/>
              </a:lnSpc>
            </a:pPr>
            <a:endParaRPr lang="ko-KR" altLang="en-US"/>
          </a:p>
          <a:p>
            <a:pPr eaLnBrk="1" hangingPunct="1">
              <a:lnSpc>
                <a:spcPct val="90000"/>
              </a:lnSpc>
            </a:pPr>
            <a:r>
              <a:rPr lang="ko-KR" altLang="en-US"/>
              <a:t>지원 프로토콜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/>
              <a:t>TCP/IP, IPv6(</a:t>
            </a:r>
            <a:r>
              <a:rPr lang="ko-KR" altLang="en-US"/>
              <a:t>윈도우 </a:t>
            </a:r>
            <a:r>
              <a:rPr lang="en-US" altLang="ko-KR"/>
              <a:t>XP </a:t>
            </a:r>
            <a:r>
              <a:rPr lang="ko-KR" altLang="en-US"/>
              <a:t>이상</a:t>
            </a:r>
            <a:r>
              <a:rPr lang="en-US" altLang="ko-KR"/>
              <a:t>), IrDA(</a:t>
            </a:r>
            <a:r>
              <a:rPr lang="ko-KR" altLang="en-US"/>
              <a:t>윈도우 </a:t>
            </a:r>
            <a:r>
              <a:rPr lang="en-US" altLang="ko-KR"/>
              <a:t>98 </a:t>
            </a:r>
            <a:r>
              <a:rPr lang="ko-KR" altLang="en-US"/>
              <a:t>이상</a:t>
            </a:r>
            <a:r>
              <a:rPr lang="en-US" altLang="ko-KR"/>
              <a:t>), Bluetooth(</a:t>
            </a:r>
            <a:r>
              <a:rPr lang="ko-KR" altLang="en-US"/>
              <a:t>윈도우 </a:t>
            </a:r>
            <a:r>
              <a:rPr lang="en-US" altLang="ko-KR"/>
              <a:t>XP SP2 </a:t>
            </a:r>
            <a:r>
              <a:rPr lang="ko-KR" altLang="en-US"/>
              <a:t>이상</a:t>
            </a:r>
            <a:r>
              <a:rPr lang="en-US" altLang="ko-KR"/>
              <a:t>), IPX/SPX, </a:t>
            </a:r>
            <a:br>
              <a:rPr lang="en-US" altLang="ko-KR"/>
            </a:br>
            <a:r>
              <a:rPr lang="en-US" altLang="ko-KR"/>
              <a:t>ATM, DECNet, TP4(</a:t>
            </a:r>
            <a:r>
              <a:rPr lang="ko-KR" altLang="en-US"/>
              <a:t>윈도우 </a:t>
            </a:r>
            <a:r>
              <a:rPr lang="en-US" altLang="ko-KR"/>
              <a:t>2000</a:t>
            </a:r>
            <a:r>
              <a:rPr lang="ko-KR" altLang="en-US"/>
              <a:t>부터 지원하지 않음</a:t>
            </a:r>
            <a:r>
              <a:rPr lang="en-US" altLang="ko-KR"/>
              <a:t>), DLC(</a:t>
            </a:r>
            <a:r>
              <a:rPr lang="ko-KR" altLang="en-US"/>
              <a:t>윈도우 </a:t>
            </a:r>
            <a:r>
              <a:rPr lang="en-US" altLang="ko-KR"/>
              <a:t>XP</a:t>
            </a:r>
            <a:r>
              <a:rPr lang="ko-KR" altLang="en-US"/>
              <a:t>부터 지원하지 않음</a:t>
            </a:r>
            <a:r>
              <a:rPr lang="en-US" altLang="ko-KR"/>
              <a:t>), </a:t>
            </a:r>
            <a:br>
              <a:rPr lang="en-US" altLang="ko-KR"/>
            </a:br>
            <a:r>
              <a:rPr lang="en-US" altLang="ko-KR"/>
              <a:t>NetBEUI(</a:t>
            </a:r>
            <a:r>
              <a:rPr lang="ko-KR" altLang="en-US"/>
              <a:t>윈도우 </a:t>
            </a:r>
            <a:r>
              <a:rPr lang="en-US" altLang="ko-KR"/>
              <a:t>XP</a:t>
            </a:r>
            <a:r>
              <a:rPr lang="ko-KR" altLang="en-US"/>
              <a:t>부터 지원하지 않음</a:t>
            </a:r>
            <a:r>
              <a:rPr lang="en-US" altLang="ko-KR"/>
              <a:t>)</a:t>
            </a:r>
          </a:p>
        </p:txBody>
      </p:sp>
      <p:graphicFrame>
        <p:nvGraphicFramePr>
          <p:cNvPr id="170008" name="Group 24">
            <a:extLst>
              <a:ext uri="{FF2B5EF4-FFF2-40B4-BE49-F238E27FC236}">
                <a16:creationId xmlns:a16="http://schemas.microsoft.com/office/drawing/2014/main" id="{20F65428-2F36-2C0C-354A-4A5FA7CFDB6E}"/>
              </a:ext>
            </a:extLst>
          </p:cNvPr>
          <p:cNvGraphicFramePr>
            <a:graphicFrameLocks noGrp="1"/>
          </p:cNvGraphicFramePr>
          <p:nvPr/>
        </p:nvGraphicFramePr>
        <p:xfrm>
          <a:off x="1042988" y="1347788"/>
          <a:ext cx="5784850" cy="1463676"/>
        </p:xfrm>
        <a:graphic>
          <a:graphicData uri="http://schemas.openxmlformats.org/drawingml/2006/table">
            <a:tbl>
              <a:tblPr/>
              <a:tblGrid>
                <a:gridCol w="4541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9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가을체" panose="02030600000101010101" pitchFamily="18" charset="-127"/>
                          <a:ea typeface="가을체" panose="02030600000101010101" pitchFamily="18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가을체" panose="02030600000101010101" pitchFamily="18" charset="-127"/>
                          <a:ea typeface="가을체" panose="02030600000101010101" pitchFamily="18" charset="-127"/>
                        </a:rPr>
                        <a:t>운영체제</a:t>
                      </a:r>
                    </a:p>
                  </a:txBody>
                  <a:tcPr marT="45740" marB="4574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가을체" panose="02030600000101010101" pitchFamily="18" charset="-127"/>
                          <a:ea typeface="가을체" panose="02030600000101010101" pitchFamily="18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가을체" panose="02030600000101010101" pitchFamily="18" charset="-127"/>
                          <a:ea typeface="가을체" panose="02030600000101010101" pitchFamily="18" charset="-127"/>
                        </a:rPr>
                        <a:t>윈속 버전</a:t>
                      </a: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을체" panose="02030600000101010101" pitchFamily="18" charset="-127"/>
                          <a:ea typeface="가을체" panose="02030600000101010101" pitchFamily="18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을체" panose="02030600000101010101" pitchFamily="18" charset="-127"/>
                          <a:ea typeface="가을체" panose="02030600000101010101" pitchFamily="18" charset="-127"/>
                        </a:rPr>
                        <a:t>윈도우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을체" panose="02030600000101010101" pitchFamily="18" charset="-127"/>
                          <a:ea typeface="가을체" panose="02030600000101010101" pitchFamily="18" charset="-127"/>
                        </a:rPr>
                        <a:t>95</a:t>
                      </a:r>
                    </a:p>
                  </a:txBody>
                  <a:tcPr marT="45740" marB="4574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을체" panose="02030600000101010101" pitchFamily="18" charset="-127"/>
                          <a:ea typeface="가을체" panose="02030600000101010101" pitchFamily="18" charset="-127"/>
                        </a:rPr>
                        <a:t> 1.1 (2.2)</a:t>
                      </a: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을체" panose="02030600000101010101" pitchFamily="18" charset="-127"/>
                          <a:ea typeface="가을체" panose="02030600000101010101" pitchFamily="18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을체" panose="02030600000101010101" pitchFamily="18" charset="-127"/>
                          <a:ea typeface="가을체" panose="02030600000101010101" pitchFamily="18" charset="-127"/>
                        </a:rPr>
                        <a:t>윈도우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을체" panose="02030600000101010101" pitchFamily="18" charset="-127"/>
                          <a:ea typeface="가을체" panose="02030600000101010101" pitchFamily="18" charset="-127"/>
                        </a:rPr>
                        <a:t>98/Me,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을체" panose="02030600000101010101" pitchFamily="18" charset="-127"/>
                          <a:ea typeface="가을체" panose="02030600000101010101" pitchFamily="18" charset="-127"/>
                        </a:rPr>
                        <a:t>윈도우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을체" panose="02030600000101010101" pitchFamily="18" charset="-127"/>
                          <a:ea typeface="가을체" panose="02030600000101010101" pitchFamily="18" charset="-127"/>
                        </a:rPr>
                        <a:t>NT/2000/XP/2003</a:t>
                      </a:r>
                    </a:p>
                  </a:txBody>
                  <a:tcPr marT="45740" marB="4574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을체" panose="02030600000101010101" pitchFamily="18" charset="-127"/>
                          <a:ea typeface="가을체" panose="02030600000101010101" pitchFamily="18" charset="-127"/>
                        </a:rPr>
                        <a:t> 2.2</a:t>
                      </a: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을체" panose="02030600000101010101" pitchFamily="18" charset="-127"/>
                          <a:ea typeface="가을체" panose="02030600000101010101" pitchFamily="18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을체" panose="02030600000101010101" pitchFamily="18" charset="-127"/>
                          <a:ea typeface="가을체" panose="02030600000101010101" pitchFamily="18" charset="-127"/>
                        </a:rPr>
                        <a:t>윈도우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을체" panose="02030600000101010101" pitchFamily="18" charset="-127"/>
                          <a:ea typeface="가을체" panose="02030600000101010101" pitchFamily="18" charset="-127"/>
                        </a:rPr>
                        <a:t>CE</a:t>
                      </a:r>
                    </a:p>
                  </a:txBody>
                  <a:tcPr marT="45740" marB="4574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을체" panose="02030600000101010101" pitchFamily="18" charset="-127"/>
                          <a:ea typeface="가을체" panose="02030600000101010101" pitchFamily="18" charset="-127"/>
                        </a:rPr>
                        <a:t> 1.1 (2.2)</a:t>
                      </a: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바닥글 개체 틀 3">
            <a:extLst>
              <a:ext uri="{FF2B5EF4-FFF2-40B4-BE49-F238E27FC236}">
                <a16:creationId xmlns:a16="http://schemas.microsoft.com/office/drawing/2014/main" id="{6B83252C-9AC4-7382-D750-0A3C26F71B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00423102-E2E9-F377-0A53-BDA5F9C7A7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 </a:t>
            </a:r>
            <a:r>
              <a:rPr lang="ko-KR" altLang="en-US" sz="2400"/>
              <a:t>소켓 </a:t>
            </a:r>
            <a:r>
              <a:rPr lang="en-US" altLang="ko-KR" sz="2400"/>
              <a:t>- </a:t>
            </a:r>
            <a:r>
              <a:rPr lang="ko-KR" altLang="en-US" sz="2400"/>
              <a:t>윈속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1D0728C7-06F8-C0FD-44AD-A3E1256054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ko-KR" altLang="en-US"/>
              <a:t>장점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/>
              <a:t>유닉스 소켓과 소스 코드 수준에서 호환성이 높으므로 기존 프로그램을 포팅 하기가 쉬움</a:t>
            </a:r>
          </a:p>
          <a:p>
            <a:pPr lvl="1" eaLnBrk="1" hangingPunct="1">
              <a:lnSpc>
                <a:spcPct val="90000"/>
              </a:lnSpc>
            </a:pPr>
            <a:endParaRPr lang="ko-KR" altLang="en-US"/>
          </a:p>
          <a:p>
            <a:pPr lvl="1" eaLnBrk="1" hangingPunct="1">
              <a:lnSpc>
                <a:spcPct val="90000"/>
              </a:lnSpc>
            </a:pPr>
            <a:r>
              <a:rPr lang="ko-KR" altLang="en-US"/>
              <a:t>가장 널리 쓰이는 네트워크 프로그래밍 인터페이스이므로 한번 배워두면 여러 환경</a:t>
            </a:r>
            <a:r>
              <a:rPr lang="en-US" altLang="ko-KR"/>
              <a:t>(</a:t>
            </a:r>
            <a:r>
              <a:rPr lang="ko-KR" altLang="en-US"/>
              <a:t>윈도우</a:t>
            </a:r>
            <a:r>
              <a:rPr lang="en-US" altLang="ko-KR"/>
              <a:t>, </a:t>
            </a:r>
            <a:r>
              <a:rPr lang="ko-KR" altLang="en-US"/>
              <a:t>유닉스</a:t>
            </a:r>
            <a:r>
              <a:rPr lang="en-US" altLang="ko-KR"/>
              <a:t>, ...)</a:t>
            </a:r>
            <a:r>
              <a:rPr lang="ko-KR" altLang="en-US"/>
              <a:t>에서 사용할 수 있음</a:t>
            </a:r>
          </a:p>
          <a:p>
            <a:pPr lvl="1" eaLnBrk="1" hangingPunct="1">
              <a:lnSpc>
                <a:spcPct val="90000"/>
              </a:lnSpc>
            </a:pPr>
            <a:endParaRPr lang="ko-KR" altLang="en-US"/>
          </a:p>
          <a:p>
            <a:pPr lvl="1" eaLnBrk="1" hangingPunct="1">
              <a:lnSpc>
                <a:spcPct val="90000"/>
              </a:lnSpc>
            </a:pPr>
            <a:r>
              <a:rPr lang="en-US" altLang="ko-KR"/>
              <a:t>TCP/IP </a:t>
            </a:r>
            <a:r>
              <a:rPr lang="ko-KR" altLang="en-US"/>
              <a:t>이외에도 다양한 종류의 프로토콜을 지원하므로 최소한의 코드 수정으로 애플리케이션에서 사용할 프로토콜을 변경 가능</a:t>
            </a:r>
          </a:p>
          <a:p>
            <a:pPr lvl="1" eaLnBrk="1" hangingPunct="1">
              <a:lnSpc>
                <a:spcPct val="90000"/>
              </a:lnSpc>
            </a:pPr>
            <a:endParaRPr lang="ko-KR" altLang="en-US"/>
          </a:p>
          <a:p>
            <a:pPr lvl="1" eaLnBrk="1" hangingPunct="1">
              <a:lnSpc>
                <a:spcPct val="90000"/>
              </a:lnSpc>
            </a:pPr>
            <a:r>
              <a:rPr lang="ko-KR" altLang="en-US"/>
              <a:t>비교적 저 수준</a:t>
            </a:r>
            <a:r>
              <a:rPr lang="en-US" altLang="ko-KR"/>
              <a:t>(low-level </a:t>
            </a:r>
            <a:r>
              <a:rPr lang="ko-KR" altLang="en-US"/>
              <a:t>혹은 </a:t>
            </a:r>
            <a:r>
              <a:rPr lang="en-US" altLang="ko-KR"/>
              <a:t>mid-level)</a:t>
            </a:r>
            <a:r>
              <a:rPr lang="ko-KR" altLang="en-US"/>
              <a:t>의 프로그래밍 인터페이스로</a:t>
            </a:r>
            <a:r>
              <a:rPr lang="en-US" altLang="ko-KR"/>
              <a:t>, </a:t>
            </a:r>
            <a:r>
              <a:rPr lang="ko-KR" altLang="en-US"/>
              <a:t>세부적인 제어가 가능하므로 고성능의 네트워크 애플리케이션을 개발할 수 있음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바닥글 개체 틀 3">
            <a:extLst>
              <a:ext uri="{FF2B5EF4-FFF2-40B4-BE49-F238E27FC236}">
                <a16:creationId xmlns:a16="http://schemas.microsoft.com/office/drawing/2014/main" id="{FBE4EF11-C808-F5E5-C9DD-3D23946961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D81CF0D5-CA23-D357-D388-B35D2AEE1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 </a:t>
            </a:r>
            <a:r>
              <a:rPr lang="ko-KR" altLang="en-US" sz="2400"/>
              <a:t>소켓 </a:t>
            </a:r>
            <a:r>
              <a:rPr lang="en-US" altLang="ko-KR" sz="2400"/>
              <a:t>- </a:t>
            </a:r>
            <a:r>
              <a:rPr lang="ko-KR" altLang="en-US" sz="2400"/>
              <a:t>윈속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FAB5EC91-2B99-1A0C-0DB9-999652A564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/>
              <a:t>단점</a:t>
            </a:r>
          </a:p>
          <a:p>
            <a:pPr lvl="1" eaLnBrk="1" hangingPunct="1"/>
            <a:r>
              <a:rPr lang="ko-KR" altLang="en-US"/>
              <a:t>애플리케이션 수준의 프로토콜을 프로그래머가 직접 설계해야 함</a:t>
            </a:r>
          </a:p>
          <a:p>
            <a:pPr lvl="2" eaLnBrk="1" hangingPunct="1"/>
            <a:r>
              <a:rPr lang="ko-KR" altLang="en-US"/>
              <a:t>데이터 포맷이나 전송 절차 등을 고려하여 프로그래밍해야 하므로 프로토콜을 변경할 경우 코드 수정이 불가피</a:t>
            </a:r>
          </a:p>
          <a:p>
            <a:pPr lvl="2" eaLnBrk="1" hangingPunct="1"/>
            <a:endParaRPr lang="ko-KR" altLang="en-US"/>
          </a:p>
          <a:p>
            <a:pPr lvl="1" eaLnBrk="1" hangingPunct="1"/>
            <a:r>
              <a:rPr lang="ko-KR" altLang="en-US"/>
              <a:t>서로 다른 바이트 정렬</a:t>
            </a:r>
            <a:r>
              <a:rPr lang="en-US" altLang="ko-KR"/>
              <a:t>(byte ordering) </a:t>
            </a:r>
            <a:r>
              <a:rPr lang="ko-KR" altLang="en-US"/>
              <a:t>방식을 사용하거나 데이터 처리 단위</a:t>
            </a:r>
            <a:r>
              <a:rPr lang="en-US" altLang="ko-KR"/>
              <a:t>(32</a:t>
            </a:r>
            <a:r>
              <a:rPr lang="ko-KR" altLang="en-US"/>
              <a:t>비트</a:t>
            </a:r>
            <a:r>
              <a:rPr lang="en-US" altLang="ko-KR"/>
              <a:t>, 64</a:t>
            </a:r>
            <a:r>
              <a:rPr lang="ko-KR" altLang="en-US"/>
              <a:t>비트</a:t>
            </a:r>
            <a:r>
              <a:rPr lang="en-US" altLang="ko-KR"/>
              <a:t>, ...)</a:t>
            </a:r>
            <a:r>
              <a:rPr lang="ko-KR" altLang="en-US"/>
              <a:t>가 서로 다른 종단 시스템간 통신을 할 경우</a:t>
            </a:r>
            <a:r>
              <a:rPr lang="en-US" altLang="ko-KR"/>
              <a:t>, </a:t>
            </a:r>
            <a:r>
              <a:rPr lang="ko-KR" altLang="en-US"/>
              <a:t>애플리케이션 수준에서 데이터 변환을 처리해야 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바닥글 개체 틀 3">
            <a:extLst>
              <a:ext uri="{FF2B5EF4-FFF2-40B4-BE49-F238E27FC236}">
                <a16:creationId xmlns:a16="http://schemas.microsoft.com/office/drawing/2014/main" id="{1C4A6C0C-335E-6C74-AD8E-8AC77CF356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065D7D77-4856-14DA-C512-492B0C0777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 </a:t>
            </a:r>
            <a:r>
              <a:rPr lang="ko-KR" altLang="en-US" sz="2400"/>
              <a:t>소켓 </a:t>
            </a:r>
            <a:r>
              <a:rPr lang="en-US" altLang="ko-KR" sz="2400"/>
              <a:t>- </a:t>
            </a:r>
            <a:r>
              <a:rPr lang="ko-KR" altLang="en-US" sz="2400"/>
              <a:t>윈속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B1ED91B7-1FCD-4395-A4A5-2505AA857F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/>
              <a:t>구조</a:t>
            </a:r>
          </a:p>
        </p:txBody>
      </p:sp>
      <p:grpSp>
        <p:nvGrpSpPr>
          <p:cNvPr id="27653" name="Group 4">
            <a:extLst>
              <a:ext uri="{FF2B5EF4-FFF2-40B4-BE49-F238E27FC236}">
                <a16:creationId xmlns:a16="http://schemas.microsoft.com/office/drawing/2014/main" id="{355E82CE-552C-7121-99D7-7F765CEF8461}"/>
              </a:ext>
            </a:extLst>
          </p:cNvPr>
          <p:cNvGrpSpPr>
            <a:grpSpLocks/>
          </p:cNvGrpSpPr>
          <p:nvPr/>
        </p:nvGrpSpPr>
        <p:grpSpPr bwMode="auto">
          <a:xfrm>
            <a:off x="1055688" y="1828800"/>
            <a:ext cx="7715250" cy="4267200"/>
            <a:chOff x="720" y="1200"/>
            <a:chExt cx="5265" cy="2496"/>
          </a:xfrm>
        </p:grpSpPr>
        <p:sp>
          <p:nvSpPr>
            <p:cNvPr id="27654" name="Rectangle 5">
              <a:extLst>
                <a:ext uri="{FF2B5EF4-FFF2-40B4-BE49-F238E27FC236}">
                  <a16:creationId xmlns:a16="http://schemas.microsoft.com/office/drawing/2014/main" id="{73D3C159-015A-98EE-956B-DF84E5131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00"/>
              <a:ext cx="1235" cy="3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굴림" panose="020B0600000101010101" pitchFamily="50" charset="-127"/>
                  <a:ea typeface="굴림" panose="020B0600000101010101" pitchFamily="50" charset="-127"/>
                </a:rPr>
                <a:t>윈속 </a:t>
              </a: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2.x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굴림" panose="020B0600000101010101" pitchFamily="50" charset="-127"/>
                  <a:ea typeface="굴림" panose="020B0600000101010101" pitchFamily="50" charset="-127"/>
                </a:rPr>
                <a:t>애플리케이션</a:t>
              </a:r>
            </a:p>
          </p:txBody>
        </p:sp>
        <p:sp>
          <p:nvSpPr>
            <p:cNvPr id="27655" name="Rectangle 6">
              <a:extLst>
                <a:ext uri="{FF2B5EF4-FFF2-40B4-BE49-F238E27FC236}">
                  <a16:creationId xmlns:a16="http://schemas.microsoft.com/office/drawing/2014/main" id="{183CE690-D6FE-F950-EB6E-3E85FC533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5" y="1200"/>
              <a:ext cx="1235" cy="3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굴림" panose="020B0600000101010101" pitchFamily="50" charset="-127"/>
                  <a:ea typeface="굴림" panose="020B0600000101010101" pitchFamily="50" charset="-127"/>
                </a:rPr>
                <a:t>윈속 </a:t>
              </a: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1.x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굴림" panose="020B0600000101010101" pitchFamily="50" charset="-127"/>
                  <a:ea typeface="굴림" panose="020B0600000101010101" pitchFamily="50" charset="-127"/>
                </a:rPr>
                <a:t>애플리케이션</a:t>
              </a:r>
            </a:p>
          </p:txBody>
        </p:sp>
        <p:sp>
          <p:nvSpPr>
            <p:cNvPr id="27656" name="Rectangle 7">
              <a:extLst>
                <a:ext uri="{FF2B5EF4-FFF2-40B4-BE49-F238E27FC236}">
                  <a16:creationId xmlns:a16="http://schemas.microsoft.com/office/drawing/2014/main" id="{46CE39ED-F51E-B94C-86AB-24079E0AD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005"/>
              <a:ext cx="2145" cy="362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WINSOCK.DLL (16 </a:t>
              </a:r>
              <a:r>
                <a:rPr lang="ko-KR" altLang="en-US" sz="16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비트</a:t>
              </a:r>
              <a:r>
                <a:rPr lang="en-US" altLang="ko-KR" sz="16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)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WSOCK32.DLL (32 </a:t>
              </a:r>
              <a:r>
                <a:rPr lang="ko-KR" altLang="en-US" sz="16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비트</a:t>
              </a:r>
              <a:r>
                <a:rPr lang="en-US" altLang="ko-KR" sz="16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)</a:t>
              </a:r>
            </a:p>
          </p:txBody>
        </p:sp>
        <p:sp>
          <p:nvSpPr>
            <p:cNvPr id="27657" name="Rectangle 8">
              <a:extLst>
                <a:ext uri="{FF2B5EF4-FFF2-40B4-BE49-F238E27FC236}">
                  <a16:creationId xmlns:a16="http://schemas.microsoft.com/office/drawing/2014/main" id="{59C7B9E2-719F-9C54-9A6E-F9D1A5FE4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649"/>
              <a:ext cx="4550" cy="363"/>
            </a:xfrm>
            <a:prstGeom prst="rect">
              <a:avLst/>
            </a:prstGeom>
            <a:solidFill>
              <a:srgbClr val="00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WS2_32.DLL (32 </a:t>
              </a:r>
              <a:r>
                <a:rPr lang="ko-KR" altLang="en-US" sz="16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비트</a:t>
              </a:r>
              <a:r>
                <a:rPr lang="en-US" altLang="ko-KR" sz="16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)</a:t>
              </a:r>
            </a:p>
          </p:txBody>
        </p:sp>
        <p:sp>
          <p:nvSpPr>
            <p:cNvPr id="27658" name="Line 9">
              <a:extLst>
                <a:ext uri="{FF2B5EF4-FFF2-40B4-BE49-F238E27FC236}">
                  <a16:creationId xmlns:a16="http://schemas.microsoft.com/office/drawing/2014/main" id="{57B9247D-EE75-AF77-BA9C-B49FE702FC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569"/>
              <a:ext cx="45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59" name="Line 10">
              <a:extLst>
                <a:ext uri="{FF2B5EF4-FFF2-40B4-BE49-F238E27FC236}">
                  <a16:creationId xmlns:a16="http://schemas.microsoft.com/office/drawing/2014/main" id="{0F0A4DF2-BA7F-913A-15D8-74D267965E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0" y="1925"/>
              <a:ext cx="214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0" name="Line 11">
              <a:extLst>
                <a:ext uri="{FF2B5EF4-FFF2-40B4-BE49-F238E27FC236}">
                  <a16:creationId xmlns:a16="http://schemas.microsoft.com/office/drawing/2014/main" id="{96F138A6-59C0-C1B9-A019-F9C433A3FF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5" y="1562"/>
              <a:ext cx="0" cy="10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1" name="Line 12">
              <a:extLst>
                <a:ext uri="{FF2B5EF4-FFF2-40B4-BE49-F238E27FC236}">
                  <a16:creationId xmlns:a16="http://schemas.microsoft.com/office/drawing/2014/main" id="{D82CBC96-1EDA-1D11-9748-A2F5CEA6C5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5" y="1562"/>
              <a:ext cx="0" cy="3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2" name="Rectangle 13">
              <a:extLst>
                <a:ext uri="{FF2B5EF4-FFF2-40B4-BE49-F238E27FC236}">
                  <a16:creationId xmlns:a16="http://schemas.microsoft.com/office/drawing/2014/main" id="{9A10B724-3D20-749B-0B62-470B7B338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0" y="1643"/>
              <a:ext cx="1235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굴림" panose="020B0600000101010101" pitchFamily="50" charset="-127"/>
                  <a:ea typeface="굴림" panose="020B0600000101010101" pitchFamily="50" charset="-127"/>
                </a:rPr>
                <a:t>윈속 </a:t>
              </a: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1.x API</a:t>
              </a:r>
            </a:p>
          </p:txBody>
        </p:sp>
        <p:sp>
          <p:nvSpPr>
            <p:cNvPr id="27663" name="Rectangle 14">
              <a:extLst>
                <a:ext uri="{FF2B5EF4-FFF2-40B4-BE49-F238E27FC236}">
                  <a16:creationId xmlns:a16="http://schemas.microsoft.com/office/drawing/2014/main" id="{17DE18CC-FFBE-E188-CCFB-8A1695430A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" y="2287"/>
              <a:ext cx="1235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굴림" panose="020B0600000101010101" pitchFamily="50" charset="-127"/>
                  <a:ea typeface="굴림" panose="020B0600000101010101" pitchFamily="50" charset="-127"/>
                </a:rPr>
                <a:t>윈속 </a:t>
              </a: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2.x API</a:t>
              </a:r>
            </a:p>
          </p:txBody>
        </p:sp>
        <p:sp>
          <p:nvSpPr>
            <p:cNvPr id="27664" name="Line 15">
              <a:extLst>
                <a:ext uri="{FF2B5EF4-FFF2-40B4-BE49-F238E27FC236}">
                  <a16:creationId xmlns:a16="http://schemas.microsoft.com/office/drawing/2014/main" id="{644E527A-5F19-94C2-2E78-216AAEEAC5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3092"/>
              <a:ext cx="45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5" name="Rectangle 16">
              <a:extLst>
                <a:ext uri="{FF2B5EF4-FFF2-40B4-BE49-F238E27FC236}">
                  <a16:creationId xmlns:a16="http://schemas.microsoft.com/office/drawing/2014/main" id="{1528EA21-2800-0321-7337-BC4694FF8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3334"/>
              <a:ext cx="780" cy="3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TCP/IP</a:t>
              </a:r>
            </a:p>
          </p:txBody>
        </p:sp>
        <p:sp>
          <p:nvSpPr>
            <p:cNvPr id="27666" name="Rectangle 17">
              <a:extLst>
                <a:ext uri="{FF2B5EF4-FFF2-40B4-BE49-F238E27FC236}">
                  <a16:creationId xmlns:a16="http://schemas.microsoft.com/office/drawing/2014/main" id="{5F5EDA81-A67C-7410-AE45-A9F04D4ED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3334"/>
              <a:ext cx="585" cy="3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IrDA</a:t>
              </a:r>
            </a:p>
          </p:txBody>
        </p:sp>
        <p:sp>
          <p:nvSpPr>
            <p:cNvPr id="27667" name="Rectangle 18">
              <a:extLst>
                <a:ext uri="{FF2B5EF4-FFF2-40B4-BE49-F238E27FC236}">
                  <a16:creationId xmlns:a16="http://schemas.microsoft.com/office/drawing/2014/main" id="{4B103195-35AB-92CA-0DE6-7897310AB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0" y="3334"/>
              <a:ext cx="845" cy="3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IPX/SPX</a:t>
              </a:r>
            </a:p>
          </p:txBody>
        </p:sp>
        <p:sp>
          <p:nvSpPr>
            <p:cNvPr id="27668" name="Line 19">
              <a:extLst>
                <a:ext uri="{FF2B5EF4-FFF2-40B4-BE49-F238E27FC236}">
                  <a16:creationId xmlns:a16="http://schemas.microsoft.com/office/drawing/2014/main" id="{9E116C96-E448-CB32-7B29-F6FF2E2C91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0" y="3092"/>
              <a:ext cx="0" cy="2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9" name="Line 20">
              <a:extLst>
                <a:ext uri="{FF2B5EF4-FFF2-40B4-BE49-F238E27FC236}">
                  <a16:creationId xmlns:a16="http://schemas.microsoft.com/office/drawing/2014/main" id="{0D697196-9177-233F-55F0-DDD5E0CAE1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0" y="3092"/>
              <a:ext cx="0" cy="2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0" name="Line 21">
              <a:extLst>
                <a:ext uri="{FF2B5EF4-FFF2-40B4-BE49-F238E27FC236}">
                  <a16:creationId xmlns:a16="http://schemas.microsoft.com/office/drawing/2014/main" id="{53C9635E-FA45-AA95-C517-4FB58AE62F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5" y="3092"/>
              <a:ext cx="0" cy="2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1" name="Line 22">
              <a:extLst>
                <a:ext uri="{FF2B5EF4-FFF2-40B4-BE49-F238E27FC236}">
                  <a16:creationId xmlns:a16="http://schemas.microsoft.com/office/drawing/2014/main" id="{8C9C5CAB-3FA9-5CDD-31DA-9122934426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0" y="3092"/>
              <a:ext cx="0" cy="2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2" name="Line 23">
              <a:extLst>
                <a:ext uri="{FF2B5EF4-FFF2-40B4-BE49-F238E27FC236}">
                  <a16:creationId xmlns:a16="http://schemas.microsoft.com/office/drawing/2014/main" id="{14C1DB86-F6F7-8F36-3D25-2595CBC718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5" y="2367"/>
              <a:ext cx="0" cy="2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3" name="Rectangle 24">
              <a:extLst>
                <a:ext uri="{FF2B5EF4-FFF2-40B4-BE49-F238E27FC236}">
                  <a16:creationId xmlns:a16="http://schemas.microsoft.com/office/drawing/2014/main" id="{BC0B287A-AB7A-0AE9-631B-5F3ED1CED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5" y="2005"/>
              <a:ext cx="1365" cy="362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MSWSOCK.DLL</a:t>
              </a:r>
            </a:p>
          </p:txBody>
        </p:sp>
        <p:sp>
          <p:nvSpPr>
            <p:cNvPr id="27674" name="Rectangle 25">
              <a:extLst>
                <a:ext uri="{FF2B5EF4-FFF2-40B4-BE49-F238E27FC236}">
                  <a16:creationId xmlns:a16="http://schemas.microsoft.com/office/drawing/2014/main" id="{43408964-46F0-5784-F952-36B7FC2B5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" y="3334"/>
              <a:ext cx="845" cy="3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...</a:t>
              </a:r>
            </a:p>
          </p:txBody>
        </p:sp>
        <p:sp>
          <p:nvSpPr>
            <p:cNvPr id="27675" name="Rectangle 26">
              <a:extLst>
                <a:ext uri="{FF2B5EF4-FFF2-40B4-BE49-F238E27FC236}">
                  <a16:creationId xmlns:a16="http://schemas.microsoft.com/office/drawing/2014/main" id="{94C005D9-3061-C50E-51A2-915DA6643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5" y="3334"/>
              <a:ext cx="975" cy="3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Bluetooth</a:t>
              </a:r>
            </a:p>
          </p:txBody>
        </p:sp>
        <p:sp>
          <p:nvSpPr>
            <p:cNvPr id="27676" name="Line 27">
              <a:extLst>
                <a:ext uri="{FF2B5EF4-FFF2-40B4-BE49-F238E27FC236}">
                  <a16:creationId xmlns:a16="http://schemas.microsoft.com/office/drawing/2014/main" id="{07F8FD78-0998-0E9C-1137-616E7C9268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0" y="3092"/>
              <a:ext cx="0" cy="2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7" name="Line 28">
              <a:extLst>
                <a:ext uri="{FF2B5EF4-FFF2-40B4-BE49-F238E27FC236}">
                  <a16:creationId xmlns:a16="http://schemas.microsoft.com/office/drawing/2014/main" id="{B0B5A1A2-3D00-503C-6F4D-51E749CE1B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5" y="1925"/>
              <a:ext cx="136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8" name="Rectangle 29">
              <a:extLst>
                <a:ext uri="{FF2B5EF4-FFF2-40B4-BE49-F238E27FC236}">
                  <a16:creationId xmlns:a16="http://schemas.microsoft.com/office/drawing/2014/main" id="{BBDBD168-A4F9-7DF0-7A7A-24662731F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643"/>
              <a:ext cx="1365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굴림" panose="020B0600000101010101" pitchFamily="50" charset="-127"/>
                  <a:ea typeface="굴림" panose="020B0600000101010101" pitchFamily="50" charset="-127"/>
                </a:rPr>
                <a:t>윈속 </a:t>
              </a: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1.x </a:t>
              </a:r>
              <a:r>
                <a:rPr lang="ko-KR" altLang="en-US" sz="1600">
                  <a:latin typeface="굴림" panose="020B0600000101010101" pitchFamily="50" charset="-127"/>
                  <a:ea typeface="굴림" panose="020B0600000101010101" pitchFamily="50" charset="-127"/>
                </a:rPr>
                <a:t>확장 </a:t>
              </a: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API</a:t>
              </a:r>
            </a:p>
          </p:txBody>
        </p:sp>
        <p:sp>
          <p:nvSpPr>
            <p:cNvPr id="27679" name="Line 30">
              <a:extLst>
                <a:ext uri="{FF2B5EF4-FFF2-40B4-BE49-F238E27FC236}">
                  <a16:creationId xmlns:a16="http://schemas.microsoft.com/office/drawing/2014/main" id="{728D16F4-ED8D-65E3-C690-8B67037E3E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5" y="2367"/>
              <a:ext cx="0" cy="2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0" name="Line 31">
              <a:extLst>
                <a:ext uri="{FF2B5EF4-FFF2-40B4-BE49-F238E27FC236}">
                  <a16:creationId xmlns:a16="http://schemas.microsoft.com/office/drawing/2014/main" id="{13AA4674-0194-C4A7-D3B5-694E38446C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5" y="1562"/>
              <a:ext cx="0" cy="1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1" name="Line 32">
              <a:extLst>
                <a:ext uri="{FF2B5EF4-FFF2-40B4-BE49-F238E27FC236}">
                  <a16:creationId xmlns:a16="http://schemas.microsoft.com/office/drawing/2014/main" id="{3EF32A8B-71B0-FC1F-7FEE-26807BD2EB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5" y="1723"/>
              <a:ext cx="29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2" name="Line 33">
              <a:extLst>
                <a:ext uri="{FF2B5EF4-FFF2-40B4-BE49-F238E27FC236}">
                  <a16:creationId xmlns:a16="http://schemas.microsoft.com/office/drawing/2014/main" id="{37113346-AAF3-5DA0-8700-97D5BBD7C4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5" y="1723"/>
              <a:ext cx="0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3" name="Line 34">
              <a:extLst>
                <a:ext uri="{FF2B5EF4-FFF2-40B4-BE49-F238E27FC236}">
                  <a16:creationId xmlns:a16="http://schemas.microsoft.com/office/drawing/2014/main" id="{99936D22-66C7-B653-A6E0-5C790CB42C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1562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4" name="Line 35">
              <a:extLst>
                <a:ext uri="{FF2B5EF4-FFF2-40B4-BE49-F238E27FC236}">
                  <a16:creationId xmlns:a16="http://schemas.microsoft.com/office/drawing/2014/main" id="{91A9E52D-9087-15A5-AF07-4CEDCEF63B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1643"/>
              <a:ext cx="16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5" name="Line 36">
              <a:extLst>
                <a:ext uri="{FF2B5EF4-FFF2-40B4-BE49-F238E27FC236}">
                  <a16:creationId xmlns:a16="http://schemas.microsoft.com/office/drawing/2014/main" id="{8C16524C-0F0A-0C28-6AEB-455C1753F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5" y="1643"/>
              <a:ext cx="0" cy="2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바닥글 개체 틀 3">
            <a:extLst>
              <a:ext uri="{FF2B5EF4-FFF2-40B4-BE49-F238E27FC236}">
                <a16:creationId xmlns:a16="http://schemas.microsoft.com/office/drawing/2014/main" id="{80C26F28-4C63-F830-2380-D330610CBA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0C7FBF1D-AB66-9EC6-AAF0-6C48CADD1C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 </a:t>
            </a:r>
            <a:r>
              <a:rPr lang="ko-KR" altLang="en-US" sz="2400"/>
              <a:t>소켓 </a:t>
            </a:r>
            <a:r>
              <a:rPr lang="en-US" altLang="ko-KR" sz="2400"/>
              <a:t>- </a:t>
            </a:r>
            <a:r>
              <a:rPr lang="ko-KR" altLang="en-US" sz="2400"/>
              <a:t>윈속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C447BA6D-8B89-0AFA-59AF-D9D9280901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/>
              <a:t>윈속 라이브러리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/>
              <a:t>	</a:t>
            </a:r>
            <a:r>
              <a:rPr lang="en-US" altLang="ko-KR"/>
              <a:t>#pragma comment(lib, </a:t>
            </a:r>
            <a:r>
              <a:rPr lang="en-US" altLang="ko-KR">
                <a:latin typeface="Times New Roman" panose="02020603050405020304" pitchFamily="18" charset="0"/>
              </a:rPr>
              <a:t>“</a:t>
            </a:r>
            <a:r>
              <a:rPr lang="en-US" altLang="ko-KR"/>
              <a:t>ws2_32.lib</a:t>
            </a:r>
            <a:r>
              <a:rPr lang="en-US" altLang="ko-KR">
                <a:latin typeface="Times New Roman" panose="02020603050405020304" pitchFamily="18" charset="0"/>
              </a:rPr>
              <a:t>”</a:t>
            </a:r>
            <a:r>
              <a:rPr lang="en-US" altLang="ko-KR"/>
              <a:t>)</a:t>
            </a:r>
          </a:p>
          <a:p>
            <a:pPr eaLnBrk="1" hangingPunct="1"/>
            <a:endParaRPr lang="en-US" altLang="ko-KR"/>
          </a:p>
          <a:p>
            <a:pPr eaLnBrk="1" hangingPunct="1"/>
            <a:r>
              <a:rPr lang="ko-KR" altLang="en-US"/>
              <a:t>윈속 헤더 파일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/>
              <a:t>#include &lt;winsock2.h&gt;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>
                <a:solidFill>
                  <a:srgbClr val="FF0000"/>
                </a:solidFill>
              </a:rPr>
              <a:t>winsock2.h</a:t>
            </a:r>
            <a:r>
              <a:rPr lang="ko-KR" altLang="en-US">
                <a:solidFill>
                  <a:srgbClr val="FF0000"/>
                </a:solidFill>
              </a:rPr>
              <a:t>는 </a:t>
            </a:r>
            <a:r>
              <a:rPr lang="en-US" altLang="ko-KR">
                <a:solidFill>
                  <a:srgbClr val="FF0000"/>
                </a:solidFill>
              </a:rPr>
              <a:t>Windows.h </a:t>
            </a:r>
            <a:r>
              <a:rPr lang="ko-KR" altLang="en-US">
                <a:solidFill>
                  <a:srgbClr val="FF0000"/>
                </a:solidFill>
              </a:rPr>
              <a:t>보다 항상 앞서 있어야 함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ko-KR" altLang="en-US">
              <a:solidFill>
                <a:srgbClr val="FF0000"/>
              </a:solidFill>
            </a:endParaRPr>
          </a:p>
          <a:p>
            <a:pPr eaLnBrk="1" hangingPunct="1"/>
            <a:r>
              <a:rPr lang="ko-KR" altLang="en-US"/>
              <a:t>윈속 응용 </a:t>
            </a:r>
            <a:r>
              <a:rPr lang="en-US" altLang="ko-KR"/>
              <a:t>: TCP/IP, UDP, RAW, </a:t>
            </a:r>
            <a:r>
              <a:rPr lang="ko-KR" altLang="en-US"/>
              <a:t>무선 통신 등</a:t>
            </a:r>
            <a:endParaRPr lang="ko-KR" altLang="en-US">
              <a:solidFill>
                <a:srgbClr val="FF0000"/>
              </a:solidFill>
            </a:endParaRPr>
          </a:p>
          <a:p>
            <a:pPr eaLnBrk="1" hangingPunct="1"/>
            <a:endParaRPr lang="en-US" altLang="ko-K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바닥글 개체 틀 3">
            <a:extLst>
              <a:ext uri="{FF2B5EF4-FFF2-40B4-BE49-F238E27FC236}">
                <a16:creationId xmlns:a16="http://schemas.microsoft.com/office/drawing/2014/main" id="{8F8261DB-FE41-8B0D-23A9-DEEDBEE745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941EE92E-4EB7-B923-E3C8-857CFD3198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TCP </a:t>
            </a:r>
            <a:r>
              <a:rPr lang="en-US" altLang="ko-KR" sz="2400">
                <a:latin typeface="Times New Roman" panose="02020603050405020304" pitchFamily="18" charset="0"/>
              </a:rPr>
              <a:t>–</a:t>
            </a:r>
            <a:r>
              <a:rPr lang="en-US" altLang="ko-KR" sz="2400"/>
              <a:t> Winsock </a:t>
            </a:r>
            <a:r>
              <a:rPr lang="ko-KR" altLang="en-US" sz="2400"/>
              <a:t>기반</a:t>
            </a:r>
          </a:p>
        </p:txBody>
      </p:sp>
      <p:sp>
        <p:nvSpPr>
          <p:cNvPr id="29700" name="Rectangle 5">
            <a:extLst>
              <a:ext uri="{FF2B5EF4-FFF2-40B4-BE49-F238E27FC236}">
                <a16:creationId xmlns:a16="http://schemas.microsoft.com/office/drawing/2014/main" id="{FC060F13-7D7C-5C27-AC16-89DB7231C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0" y="1766888"/>
            <a:ext cx="1820863" cy="284162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>
                <a:latin typeface="굴림" panose="020B0600000101010101" pitchFamily="50" charset="-127"/>
                <a:ea typeface="굴림" panose="020B0600000101010101" pitchFamily="50" charset="-127"/>
              </a:rPr>
              <a:t>socket()</a:t>
            </a:r>
          </a:p>
        </p:txBody>
      </p:sp>
      <p:sp>
        <p:nvSpPr>
          <p:cNvPr id="29701" name="Rectangle 6">
            <a:extLst>
              <a:ext uri="{FF2B5EF4-FFF2-40B4-BE49-F238E27FC236}">
                <a16:creationId xmlns:a16="http://schemas.microsoft.com/office/drawing/2014/main" id="{58C44FFC-D1CB-4EE7-5B13-2E2DF0A2F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0" y="2392363"/>
            <a:ext cx="1820863" cy="28575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>
                <a:latin typeface="굴림" panose="020B0600000101010101" pitchFamily="50" charset="-127"/>
                <a:ea typeface="굴림" panose="020B0600000101010101" pitchFamily="50" charset="-127"/>
              </a:rPr>
              <a:t>bind()</a:t>
            </a:r>
          </a:p>
        </p:txBody>
      </p:sp>
      <p:sp>
        <p:nvSpPr>
          <p:cNvPr id="29702" name="Rectangle 7">
            <a:extLst>
              <a:ext uri="{FF2B5EF4-FFF2-40B4-BE49-F238E27FC236}">
                <a16:creationId xmlns:a16="http://schemas.microsoft.com/office/drawing/2014/main" id="{CE9A0B0E-84BE-55AE-8EA8-B8D0D6B06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0" y="4271963"/>
            <a:ext cx="1820863" cy="284162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>
                <a:latin typeface="굴림" panose="020B0600000101010101" pitchFamily="50" charset="-127"/>
                <a:ea typeface="굴림" panose="020B0600000101010101" pitchFamily="50" charset="-127"/>
              </a:rPr>
              <a:t>recv()</a:t>
            </a:r>
          </a:p>
        </p:txBody>
      </p:sp>
      <p:sp>
        <p:nvSpPr>
          <p:cNvPr id="29703" name="Line 8">
            <a:extLst>
              <a:ext uri="{FF2B5EF4-FFF2-40B4-BE49-F238E27FC236}">
                <a16:creationId xmlns:a16="http://schemas.microsoft.com/office/drawing/2014/main" id="{6EB98C89-7814-6479-553C-F11C4E74A9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6150" y="2051050"/>
            <a:ext cx="0" cy="341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04" name="Line 9">
            <a:extLst>
              <a:ext uri="{FF2B5EF4-FFF2-40B4-BE49-F238E27FC236}">
                <a16:creationId xmlns:a16="http://schemas.microsoft.com/office/drawing/2014/main" id="{D5D35640-01FA-D76A-26F8-57FF360B17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6150" y="2678113"/>
            <a:ext cx="0" cy="341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05" name="Rectangle 10">
            <a:extLst>
              <a:ext uri="{FF2B5EF4-FFF2-40B4-BE49-F238E27FC236}">
                <a16:creationId xmlns:a16="http://schemas.microsoft.com/office/drawing/2014/main" id="{A9DB568F-59FB-BF21-6509-75F86F410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0" y="4897438"/>
            <a:ext cx="1820863" cy="284162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>
                <a:latin typeface="굴림" panose="020B0600000101010101" pitchFamily="50" charset="-127"/>
                <a:ea typeface="굴림" panose="020B0600000101010101" pitchFamily="50" charset="-127"/>
              </a:rPr>
              <a:t>send()</a:t>
            </a:r>
          </a:p>
        </p:txBody>
      </p:sp>
      <p:sp>
        <p:nvSpPr>
          <p:cNvPr id="29706" name="Line 11">
            <a:extLst>
              <a:ext uri="{FF2B5EF4-FFF2-40B4-BE49-F238E27FC236}">
                <a16:creationId xmlns:a16="http://schemas.microsoft.com/office/drawing/2014/main" id="{DAD8115E-3826-BB71-97C4-F27D3CD6BD2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6150" y="4556125"/>
            <a:ext cx="0" cy="341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07" name="Rectangle 12">
            <a:extLst>
              <a:ext uri="{FF2B5EF4-FFF2-40B4-BE49-F238E27FC236}">
                <a16:creationId xmlns:a16="http://schemas.microsoft.com/office/drawing/2014/main" id="{4AEBACA9-9A0E-39C3-DCC2-69DB6364A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0" y="5522913"/>
            <a:ext cx="1820863" cy="28575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>
                <a:latin typeface="굴림" panose="020B0600000101010101" pitchFamily="50" charset="-127"/>
                <a:ea typeface="굴림" panose="020B0600000101010101" pitchFamily="50" charset="-127"/>
              </a:rPr>
              <a:t>closesocket()</a:t>
            </a:r>
          </a:p>
        </p:txBody>
      </p:sp>
      <p:sp>
        <p:nvSpPr>
          <p:cNvPr id="29708" name="Line 13">
            <a:extLst>
              <a:ext uri="{FF2B5EF4-FFF2-40B4-BE49-F238E27FC236}">
                <a16:creationId xmlns:a16="http://schemas.microsoft.com/office/drawing/2014/main" id="{B5152175-9185-8E39-E941-09F72CBACA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6150" y="5181600"/>
            <a:ext cx="0" cy="341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09" name="Rectangle 14">
            <a:extLst>
              <a:ext uri="{FF2B5EF4-FFF2-40B4-BE49-F238E27FC236}">
                <a16:creationId xmlns:a16="http://schemas.microsoft.com/office/drawing/2014/main" id="{A451F280-B8C2-4808-62C8-F666A16D8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450" y="1766888"/>
            <a:ext cx="1820863" cy="284162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>
                <a:latin typeface="굴림" panose="020B0600000101010101" pitchFamily="50" charset="-127"/>
                <a:ea typeface="굴림" panose="020B0600000101010101" pitchFamily="50" charset="-127"/>
              </a:rPr>
              <a:t>socket()</a:t>
            </a:r>
          </a:p>
        </p:txBody>
      </p:sp>
      <p:sp>
        <p:nvSpPr>
          <p:cNvPr id="29710" name="Rectangle 15">
            <a:extLst>
              <a:ext uri="{FF2B5EF4-FFF2-40B4-BE49-F238E27FC236}">
                <a16:creationId xmlns:a16="http://schemas.microsoft.com/office/drawing/2014/main" id="{09D1C121-D2EE-A226-92C5-D3B7CF0BF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450" y="4271963"/>
            <a:ext cx="1820863" cy="284162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>
                <a:latin typeface="굴림" panose="020B0600000101010101" pitchFamily="50" charset="-127"/>
                <a:ea typeface="굴림" panose="020B0600000101010101" pitchFamily="50" charset="-127"/>
              </a:rPr>
              <a:t>send()</a:t>
            </a:r>
          </a:p>
        </p:txBody>
      </p:sp>
      <p:sp>
        <p:nvSpPr>
          <p:cNvPr id="29711" name="Rectangle 16">
            <a:extLst>
              <a:ext uri="{FF2B5EF4-FFF2-40B4-BE49-F238E27FC236}">
                <a16:creationId xmlns:a16="http://schemas.microsoft.com/office/drawing/2014/main" id="{5E51AED2-B3DD-4BDC-F596-09B31E84F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450" y="4897438"/>
            <a:ext cx="1820863" cy="284162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>
                <a:latin typeface="굴림" panose="020B0600000101010101" pitchFamily="50" charset="-127"/>
                <a:ea typeface="굴림" panose="020B0600000101010101" pitchFamily="50" charset="-127"/>
              </a:rPr>
              <a:t>recv()</a:t>
            </a:r>
          </a:p>
        </p:txBody>
      </p:sp>
      <p:sp>
        <p:nvSpPr>
          <p:cNvPr id="29712" name="Line 17">
            <a:extLst>
              <a:ext uri="{FF2B5EF4-FFF2-40B4-BE49-F238E27FC236}">
                <a16:creationId xmlns:a16="http://schemas.microsoft.com/office/drawing/2014/main" id="{A384B120-6C41-6C2B-D5FE-2E705683F7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7850" y="4556125"/>
            <a:ext cx="0" cy="341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13" name="Rectangle 18">
            <a:extLst>
              <a:ext uri="{FF2B5EF4-FFF2-40B4-BE49-F238E27FC236}">
                <a16:creationId xmlns:a16="http://schemas.microsoft.com/office/drawing/2014/main" id="{100F9E13-D06F-0EB6-297F-2E93E0145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450" y="5522913"/>
            <a:ext cx="1820863" cy="28575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>
                <a:latin typeface="굴림" panose="020B0600000101010101" pitchFamily="50" charset="-127"/>
                <a:ea typeface="굴림" panose="020B0600000101010101" pitchFamily="50" charset="-127"/>
              </a:rPr>
              <a:t>closesocket()</a:t>
            </a:r>
          </a:p>
        </p:txBody>
      </p:sp>
      <p:sp>
        <p:nvSpPr>
          <p:cNvPr id="29714" name="Line 19">
            <a:extLst>
              <a:ext uri="{FF2B5EF4-FFF2-40B4-BE49-F238E27FC236}">
                <a16:creationId xmlns:a16="http://schemas.microsoft.com/office/drawing/2014/main" id="{CA5ECF4E-D4BB-8EC8-1BD5-4482FFAA8EB9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7850" y="5181600"/>
            <a:ext cx="0" cy="341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15" name="Line 20">
            <a:extLst>
              <a:ext uri="{FF2B5EF4-FFF2-40B4-BE49-F238E27FC236}">
                <a16:creationId xmlns:a16="http://schemas.microsoft.com/office/drawing/2014/main" id="{142ADE4D-3337-9245-3FFA-614F833F3C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98800" y="4413250"/>
            <a:ext cx="292893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16" name="Line 21">
            <a:extLst>
              <a:ext uri="{FF2B5EF4-FFF2-40B4-BE49-F238E27FC236}">
                <a16:creationId xmlns:a16="http://schemas.microsoft.com/office/drawing/2014/main" id="{BE54FEFD-F2FC-5B16-D8D7-5FB87C474D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5032375"/>
            <a:ext cx="287337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17" name="Rectangle 22">
            <a:extLst>
              <a:ext uri="{FF2B5EF4-FFF2-40B4-BE49-F238E27FC236}">
                <a16:creationId xmlns:a16="http://schemas.microsoft.com/office/drawing/2014/main" id="{C4731865-634A-0354-1885-B2FE97E85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0" y="744538"/>
            <a:ext cx="1820863" cy="28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>
                <a:latin typeface="굴림" panose="020B0600000101010101" pitchFamily="50" charset="-127"/>
                <a:ea typeface="굴림" panose="020B0600000101010101" pitchFamily="50" charset="-127"/>
              </a:rPr>
              <a:t>TCP </a:t>
            </a:r>
            <a:r>
              <a:rPr lang="ko-KR" altLang="en-US" sz="1600">
                <a:latin typeface="굴림" panose="020B0600000101010101" pitchFamily="50" charset="-127"/>
                <a:ea typeface="굴림" panose="020B0600000101010101" pitchFamily="50" charset="-127"/>
              </a:rPr>
              <a:t>서버</a:t>
            </a:r>
          </a:p>
        </p:txBody>
      </p:sp>
      <p:sp>
        <p:nvSpPr>
          <p:cNvPr id="29718" name="Rectangle 23">
            <a:extLst>
              <a:ext uri="{FF2B5EF4-FFF2-40B4-BE49-F238E27FC236}">
                <a16:creationId xmlns:a16="http://schemas.microsoft.com/office/drawing/2014/main" id="{2904FCB4-E95B-B248-F6DA-B9CCF6AA8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1388" y="744538"/>
            <a:ext cx="1820862" cy="28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>
                <a:latin typeface="굴림" panose="020B0600000101010101" pitchFamily="50" charset="-127"/>
                <a:ea typeface="굴림" panose="020B0600000101010101" pitchFamily="50" charset="-127"/>
              </a:rPr>
              <a:t>TCP </a:t>
            </a:r>
            <a:r>
              <a:rPr lang="ko-KR" altLang="en-US" sz="1600">
                <a:latin typeface="굴림" panose="020B0600000101010101" pitchFamily="50" charset="-127"/>
                <a:ea typeface="굴림" panose="020B0600000101010101" pitchFamily="50" charset="-127"/>
              </a:rPr>
              <a:t>클라이언트</a:t>
            </a:r>
          </a:p>
        </p:txBody>
      </p:sp>
      <p:sp>
        <p:nvSpPr>
          <p:cNvPr id="29719" name="Line 24">
            <a:extLst>
              <a:ext uri="{FF2B5EF4-FFF2-40B4-BE49-F238E27FC236}">
                <a16:creationId xmlns:a16="http://schemas.microsoft.com/office/drawing/2014/main" id="{76FD4108-DF6D-A092-0411-D09ED0B69C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0613" y="5353050"/>
            <a:ext cx="1125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20" name="Line 25">
            <a:extLst>
              <a:ext uri="{FF2B5EF4-FFF2-40B4-BE49-F238E27FC236}">
                <a16:creationId xmlns:a16="http://schemas.microsoft.com/office/drawing/2014/main" id="{87181EAC-FDCD-B971-51AA-79D006DDC7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27850" y="5353050"/>
            <a:ext cx="1125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21" name="Rectangle 26">
            <a:extLst>
              <a:ext uri="{FF2B5EF4-FFF2-40B4-BE49-F238E27FC236}">
                <a16:creationId xmlns:a16="http://schemas.microsoft.com/office/drawing/2014/main" id="{0F0ABCDF-7E15-14C1-3855-C5C8D3465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1388" y="3644900"/>
            <a:ext cx="1820862" cy="284163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>
                <a:latin typeface="굴림" panose="020B0600000101010101" pitchFamily="50" charset="-127"/>
                <a:ea typeface="굴림" panose="020B0600000101010101" pitchFamily="50" charset="-127"/>
              </a:rPr>
              <a:t>connect()</a:t>
            </a:r>
          </a:p>
        </p:txBody>
      </p:sp>
      <p:sp>
        <p:nvSpPr>
          <p:cNvPr id="29722" name="Line 27">
            <a:extLst>
              <a:ext uri="{FF2B5EF4-FFF2-40B4-BE49-F238E27FC236}">
                <a16:creationId xmlns:a16="http://schemas.microsoft.com/office/drawing/2014/main" id="{C89A4B34-E2F3-B7DA-C992-AA97D502AD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7850" y="2051050"/>
            <a:ext cx="0" cy="159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23" name="Rectangle 28">
            <a:extLst>
              <a:ext uri="{FF2B5EF4-FFF2-40B4-BE49-F238E27FC236}">
                <a16:creationId xmlns:a16="http://schemas.microsoft.com/office/drawing/2014/main" id="{588FD28B-7073-8B9A-49B9-257FDAA37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0" y="3019425"/>
            <a:ext cx="1820863" cy="284163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>
                <a:latin typeface="굴림" panose="020B0600000101010101" pitchFamily="50" charset="-127"/>
                <a:ea typeface="굴림" panose="020B0600000101010101" pitchFamily="50" charset="-127"/>
              </a:rPr>
              <a:t>listen()</a:t>
            </a:r>
          </a:p>
        </p:txBody>
      </p:sp>
      <p:sp>
        <p:nvSpPr>
          <p:cNvPr id="29724" name="Line 29">
            <a:extLst>
              <a:ext uri="{FF2B5EF4-FFF2-40B4-BE49-F238E27FC236}">
                <a16:creationId xmlns:a16="http://schemas.microsoft.com/office/drawing/2014/main" id="{3143570E-18AD-68D2-737E-D440F1C87A8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6150" y="3303588"/>
            <a:ext cx="0" cy="341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25" name="Rectangle 30">
            <a:extLst>
              <a:ext uri="{FF2B5EF4-FFF2-40B4-BE49-F238E27FC236}">
                <a16:creationId xmlns:a16="http://schemas.microsoft.com/office/drawing/2014/main" id="{15698F85-C2BC-B357-3122-0C3A154F8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688" y="3644900"/>
            <a:ext cx="1820862" cy="284163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>
                <a:latin typeface="굴림" panose="020B0600000101010101" pitchFamily="50" charset="-127"/>
                <a:ea typeface="굴림" panose="020B0600000101010101" pitchFamily="50" charset="-127"/>
              </a:rPr>
              <a:t>accept()</a:t>
            </a:r>
          </a:p>
        </p:txBody>
      </p:sp>
      <p:sp>
        <p:nvSpPr>
          <p:cNvPr id="29726" name="Line 31">
            <a:extLst>
              <a:ext uri="{FF2B5EF4-FFF2-40B4-BE49-F238E27FC236}">
                <a16:creationId xmlns:a16="http://schemas.microsoft.com/office/drawing/2014/main" id="{C28C940B-944A-292C-A098-82530C5297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2500" y="3929063"/>
            <a:ext cx="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27" name="Line 32">
            <a:extLst>
              <a:ext uri="{FF2B5EF4-FFF2-40B4-BE49-F238E27FC236}">
                <a16:creationId xmlns:a16="http://schemas.microsoft.com/office/drawing/2014/main" id="{F3DBB7B8-BBC8-E7A6-2DD8-6E6F007401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7850" y="3929063"/>
            <a:ext cx="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28" name="Line 33">
            <a:extLst>
              <a:ext uri="{FF2B5EF4-FFF2-40B4-BE49-F238E27FC236}">
                <a16:creationId xmlns:a16="http://schemas.microsoft.com/office/drawing/2014/main" id="{04CB9B56-DBA3-45DB-6CF8-7A982FC207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90613" y="4100513"/>
            <a:ext cx="0" cy="1252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29" name="Line 34">
            <a:extLst>
              <a:ext uri="{FF2B5EF4-FFF2-40B4-BE49-F238E27FC236}">
                <a16:creationId xmlns:a16="http://schemas.microsoft.com/office/drawing/2014/main" id="{C00E9A03-C672-7B24-0C94-4C182A8D3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0613" y="4100513"/>
            <a:ext cx="1125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30" name="Line 35">
            <a:extLst>
              <a:ext uri="{FF2B5EF4-FFF2-40B4-BE49-F238E27FC236}">
                <a16:creationId xmlns:a16="http://schemas.microsoft.com/office/drawing/2014/main" id="{73D971DC-8DD0-85F7-71AC-8F46AF352D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53388" y="4100513"/>
            <a:ext cx="0" cy="1252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31" name="Line 36">
            <a:extLst>
              <a:ext uri="{FF2B5EF4-FFF2-40B4-BE49-F238E27FC236}">
                <a16:creationId xmlns:a16="http://schemas.microsoft.com/office/drawing/2014/main" id="{647FDB29-B575-455D-2C21-10DAAE43A6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7850" y="4100513"/>
            <a:ext cx="1125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32" name="Line 37">
            <a:extLst>
              <a:ext uri="{FF2B5EF4-FFF2-40B4-BE49-F238E27FC236}">
                <a16:creationId xmlns:a16="http://schemas.microsoft.com/office/drawing/2014/main" id="{C7E940B1-D22F-6C4F-F53C-6F4B3550137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54363" y="3771900"/>
            <a:ext cx="2855912" cy="1428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33" name="Rectangle 40">
            <a:extLst>
              <a:ext uri="{FF2B5EF4-FFF2-40B4-BE49-F238E27FC236}">
                <a16:creationId xmlns:a16="http://schemas.microsoft.com/office/drawing/2014/main" id="{FFA123C9-14E3-B452-BFA8-3442F9D72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63" y="1133475"/>
            <a:ext cx="1820862" cy="284163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>
                <a:latin typeface="굴림" panose="020B0600000101010101" pitchFamily="50" charset="-127"/>
                <a:ea typeface="굴림" panose="020B0600000101010101" pitchFamily="50" charset="-127"/>
              </a:rPr>
              <a:t>Winsock </a:t>
            </a:r>
            <a:r>
              <a:rPr lang="ko-KR" altLang="en-US" sz="1600">
                <a:latin typeface="굴림" panose="020B0600000101010101" pitchFamily="50" charset="-127"/>
                <a:ea typeface="굴림" panose="020B0600000101010101" pitchFamily="50" charset="-127"/>
              </a:rPr>
              <a:t>초기화</a:t>
            </a:r>
          </a:p>
        </p:txBody>
      </p:sp>
      <p:sp>
        <p:nvSpPr>
          <p:cNvPr id="29734" name="Line 41">
            <a:extLst>
              <a:ext uri="{FF2B5EF4-FFF2-40B4-BE49-F238E27FC236}">
                <a16:creationId xmlns:a16="http://schemas.microsoft.com/office/drawing/2014/main" id="{662ACB86-1FE5-753E-1982-9CEDEA011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1863" y="1417638"/>
            <a:ext cx="0" cy="341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35" name="Rectangle 42">
            <a:extLst>
              <a:ext uri="{FF2B5EF4-FFF2-40B4-BE49-F238E27FC236}">
                <a16:creationId xmlns:a16="http://schemas.microsoft.com/office/drawing/2014/main" id="{06F8542C-5332-4E25-359C-EA5ED0EFC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038" y="1133475"/>
            <a:ext cx="1820862" cy="284163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>
                <a:latin typeface="굴림" panose="020B0600000101010101" pitchFamily="50" charset="-127"/>
                <a:ea typeface="굴림" panose="020B0600000101010101" pitchFamily="50" charset="-127"/>
              </a:rPr>
              <a:t>Winsock </a:t>
            </a:r>
            <a:r>
              <a:rPr lang="ko-KR" altLang="en-US" sz="1600">
                <a:latin typeface="굴림" panose="020B0600000101010101" pitchFamily="50" charset="-127"/>
                <a:ea typeface="굴림" panose="020B0600000101010101" pitchFamily="50" charset="-127"/>
              </a:rPr>
              <a:t>초기화</a:t>
            </a:r>
          </a:p>
        </p:txBody>
      </p:sp>
      <p:sp>
        <p:nvSpPr>
          <p:cNvPr id="29736" name="Line 43">
            <a:extLst>
              <a:ext uri="{FF2B5EF4-FFF2-40B4-BE49-F238E27FC236}">
                <a16:creationId xmlns:a16="http://schemas.microsoft.com/office/drawing/2014/main" id="{69C7E320-A58C-B14E-FEEB-8FD9253A378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9438" y="1417638"/>
            <a:ext cx="0" cy="331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37" name="Rectangle 47">
            <a:extLst>
              <a:ext uri="{FF2B5EF4-FFF2-40B4-BE49-F238E27FC236}">
                <a16:creationId xmlns:a16="http://schemas.microsoft.com/office/drawing/2014/main" id="{D29E48DC-0ABF-99A0-6F5B-8F231D9C4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2863" y="6151563"/>
            <a:ext cx="1820862" cy="28575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>
                <a:latin typeface="굴림" panose="020B0600000101010101" pitchFamily="50" charset="-127"/>
                <a:ea typeface="굴림" panose="020B0600000101010101" pitchFamily="50" charset="-127"/>
              </a:rPr>
              <a:t>Winsock </a:t>
            </a:r>
            <a:r>
              <a:rPr lang="ko-KR" altLang="en-US" sz="1600">
                <a:latin typeface="굴림" panose="020B0600000101010101" pitchFamily="50" charset="-127"/>
                <a:ea typeface="굴림" panose="020B0600000101010101" pitchFamily="50" charset="-127"/>
              </a:rPr>
              <a:t>해제</a:t>
            </a:r>
          </a:p>
        </p:txBody>
      </p:sp>
      <p:sp>
        <p:nvSpPr>
          <p:cNvPr id="29738" name="Line 48">
            <a:extLst>
              <a:ext uri="{FF2B5EF4-FFF2-40B4-BE49-F238E27FC236}">
                <a16:creationId xmlns:a16="http://schemas.microsoft.com/office/drawing/2014/main" id="{3D7AFD0B-859A-721E-C3AD-5A0DB3FB29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7263" y="5810250"/>
            <a:ext cx="0" cy="341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39" name="Rectangle 49">
            <a:extLst>
              <a:ext uri="{FF2B5EF4-FFF2-40B4-BE49-F238E27FC236}">
                <a16:creationId xmlns:a16="http://schemas.microsoft.com/office/drawing/2014/main" id="{7225E731-D53E-B067-469B-F603E74C2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4563" y="6151563"/>
            <a:ext cx="1820862" cy="28575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>
                <a:latin typeface="굴림" panose="020B0600000101010101" pitchFamily="50" charset="-127"/>
                <a:ea typeface="굴림" panose="020B0600000101010101" pitchFamily="50" charset="-127"/>
              </a:rPr>
              <a:t>Winsock </a:t>
            </a:r>
            <a:r>
              <a:rPr lang="ko-KR" altLang="en-US" sz="1600">
                <a:latin typeface="굴림" panose="020B0600000101010101" pitchFamily="50" charset="-127"/>
                <a:ea typeface="굴림" panose="020B0600000101010101" pitchFamily="50" charset="-127"/>
              </a:rPr>
              <a:t>해제</a:t>
            </a:r>
          </a:p>
        </p:txBody>
      </p:sp>
      <p:sp>
        <p:nvSpPr>
          <p:cNvPr id="29740" name="Line 50">
            <a:extLst>
              <a:ext uri="{FF2B5EF4-FFF2-40B4-BE49-F238E27FC236}">
                <a16:creationId xmlns:a16="http://schemas.microsoft.com/office/drawing/2014/main" id="{89FB3EED-E065-7C00-8D07-5433991E733F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8963" y="5810250"/>
            <a:ext cx="0" cy="341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41" name="Rectangle 52">
            <a:extLst>
              <a:ext uri="{FF2B5EF4-FFF2-40B4-BE49-F238E27FC236}">
                <a16:creationId xmlns:a16="http://schemas.microsoft.com/office/drawing/2014/main" id="{F6BEE96A-33A8-7521-8707-09A5B1D53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429000"/>
            <a:ext cx="2087562" cy="2952750"/>
          </a:xfrm>
          <a:prstGeom prst="rect">
            <a:avLst/>
          </a:prstGeom>
          <a:solidFill>
            <a:srgbClr val="99CC00"/>
          </a:solidFill>
          <a:ln w="38100">
            <a:solidFill>
              <a:srgbClr val="00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600">
                <a:latin typeface="굴림" panose="020B0600000101010101" pitchFamily="50" charset="-127"/>
                <a:ea typeface="굴림" panose="020B0600000101010101" pitchFamily="50" charset="-127"/>
              </a:rPr>
              <a:t>네트워크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바닥글 개체 틀 3">
            <a:extLst>
              <a:ext uri="{FF2B5EF4-FFF2-40B4-BE49-F238E27FC236}">
                <a16:creationId xmlns:a16="http://schemas.microsoft.com/office/drawing/2014/main" id="{928CD595-B404-0BDD-E648-89659E6AF3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CA4892BE-9EEE-00A2-003C-F0C1B67FD5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TCP - </a:t>
            </a:r>
            <a:r>
              <a:rPr lang="ko-KR" altLang="en-US" sz="2400"/>
              <a:t>윈속 함수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B4004396-A3D1-0AC7-A183-37EFF3880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ko-KR" altLang="en-US" sz="1800"/>
              <a:t>윈속 초기화</a:t>
            </a:r>
            <a:r>
              <a:rPr lang="en-US" altLang="ko-KR" sz="1800"/>
              <a:t>: WSAStartup() - </a:t>
            </a:r>
            <a:r>
              <a:rPr lang="ko-KR" altLang="en-US" sz="1800"/>
              <a:t>성공</a:t>
            </a:r>
            <a:r>
              <a:rPr lang="en-US" altLang="ko-KR" sz="1800"/>
              <a:t>: 0, </a:t>
            </a:r>
            <a:r>
              <a:rPr lang="ko-KR" altLang="en-US" sz="1800"/>
              <a:t>실패</a:t>
            </a:r>
            <a:r>
              <a:rPr lang="en-US" altLang="ko-KR" sz="1800"/>
              <a:t>: </a:t>
            </a:r>
            <a:r>
              <a:rPr lang="ko-KR" altLang="en-US" sz="1800"/>
              <a:t>오류 코드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sz="1800"/>
              <a:t>윈속 종료</a:t>
            </a:r>
            <a:r>
              <a:rPr lang="en-US" altLang="ko-KR" sz="1800"/>
              <a:t>: WSACleanup() - </a:t>
            </a:r>
            <a:r>
              <a:rPr lang="ko-KR" altLang="en-US" sz="1800"/>
              <a:t>성공</a:t>
            </a:r>
            <a:r>
              <a:rPr lang="en-US" altLang="ko-KR" sz="1800"/>
              <a:t>: 0, </a:t>
            </a:r>
            <a:r>
              <a:rPr lang="ko-KR" altLang="en-US" sz="1800"/>
              <a:t>실패</a:t>
            </a:r>
            <a:r>
              <a:rPr lang="en-US" altLang="ko-KR" sz="1800"/>
              <a:t>: SOCKET_ERROR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sz="1800"/>
              <a:t>소켓 생성</a:t>
            </a:r>
            <a:r>
              <a:rPr lang="en-US" altLang="ko-KR" sz="1800"/>
              <a:t>: socket() - </a:t>
            </a:r>
            <a:r>
              <a:rPr lang="ko-KR" altLang="en-US" sz="1800"/>
              <a:t>성공</a:t>
            </a:r>
            <a:r>
              <a:rPr lang="en-US" altLang="ko-KR" sz="1800"/>
              <a:t>: 32Bit socket descriptor, </a:t>
            </a:r>
            <a:r>
              <a:rPr lang="ko-KR" altLang="en-US" sz="1800"/>
              <a:t>실패</a:t>
            </a:r>
            <a:r>
              <a:rPr lang="en-US" altLang="ko-KR" sz="1800"/>
              <a:t>: INVALID_SOCKET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sz="1800"/>
              <a:t>소켓 해제</a:t>
            </a:r>
            <a:r>
              <a:rPr lang="en-US" altLang="ko-KR" sz="1800"/>
              <a:t>: closesocket() - </a:t>
            </a:r>
            <a:r>
              <a:rPr lang="ko-KR" altLang="en-US" sz="1800"/>
              <a:t>성공</a:t>
            </a:r>
            <a:r>
              <a:rPr lang="en-US" altLang="ko-KR" sz="1800"/>
              <a:t>: 0, </a:t>
            </a:r>
            <a:r>
              <a:rPr lang="ko-KR" altLang="en-US" sz="1800"/>
              <a:t>실패</a:t>
            </a:r>
            <a:r>
              <a:rPr lang="en-US" altLang="ko-KR" sz="1800"/>
              <a:t>: SOCKET_ERROR, </a:t>
            </a:r>
            <a:r>
              <a:rPr lang="ko-KR" altLang="en-US" sz="1800"/>
              <a:t>실패</a:t>
            </a:r>
            <a:r>
              <a:rPr lang="en-US" altLang="ko-KR" sz="1800"/>
              <a:t>: INVALID_SOCKET</a:t>
            </a:r>
          </a:p>
          <a:p>
            <a:pPr lvl="1" eaLnBrk="1" hangingPunct="1">
              <a:lnSpc>
                <a:spcPct val="80000"/>
              </a:lnSpc>
            </a:pPr>
            <a:endParaRPr lang="en-US" altLang="ko-KR" sz="1600"/>
          </a:p>
          <a:p>
            <a:pPr eaLnBrk="1" hangingPunct="1">
              <a:lnSpc>
                <a:spcPct val="80000"/>
              </a:lnSpc>
            </a:pPr>
            <a:r>
              <a:rPr lang="ko-KR" altLang="en-US" sz="1800"/>
              <a:t>소켓 타입</a:t>
            </a:r>
            <a:r>
              <a:rPr lang="en-US" altLang="ko-KR" sz="1800"/>
              <a:t>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1400"/>
              <a:t>SOCK_STREAM: </a:t>
            </a:r>
            <a:r>
              <a:rPr lang="ko-KR" altLang="en-US" sz="1400"/>
              <a:t>신뢰성 있는 데이터 전송 기능</a:t>
            </a:r>
            <a:r>
              <a:rPr lang="en-US" altLang="ko-KR" sz="1400"/>
              <a:t>. </a:t>
            </a:r>
            <a:r>
              <a:rPr lang="ko-KR" altLang="en-US" sz="1400"/>
              <a:t>연결형 프로토콜 </a:t>
            </a:r>
            <a:r>
              <a:rPr lang="ko-KR" altLang="en-US" sz="1400">
                <a:sym typeface="Wingdings" panose="05000000000000000000" pitchFamily="2" charset="2"/>
              </a:rPr>
              <a:t> </a:t>
            </a:r>
            <a:r>
              <a:rPr lang="en-US" altLang="ko-KR" sz="1400">
                <a:sym typeface="Wingdings" panose="05000000000000000000" pitchFamily="2" charset="2"/>
              </a:rPr>
              <a:t>TCP</a:t>
            </a:r>
            <a:endParaRPr lang="en-US" altLang="ko-KR" sz="1400"/>
          </a:p>
          <a:p>
            <a:pPr lvl="1" eaLnBrk="1" hangingPunct="1">
              <a:lnSpc>
                <a:spcPct val="80000"/>
              </a:lnSpc>
            </a:pPr>
            <a:r>
              <a:rPr lang="en-US" altLang="ko-KR" sz="1400"/>
              <a:t>SOCK_DGRAM: </a:t>
            </a:r>
            <a:r>
              <a:rPr lang="ko-KR" altLang="en-US" sz="1400"/>
              <a:t>신뢰성이 적은 데이터 전송 기능</a:t>
            </a:r>
            <a:r>
              <a:rPr lang="en-US" altLang="ko-KR" sz="1400"/>
              <a:t>. </a:t>
            </a:r>
            <a:r>
              <a:rPr lang="ko-KR" altLang="en-US" sz="1400"/>
              <a:t>비연결형 프로토콜 </a:t>
            </a:r>
            <a:r>
              <a:rPr lang="ko-KR" altLang="en-US" sz="1400">
                <a:sym typeface="Wingdings" panose="05000000000000000000" pitchFamily="2" charset="2"/>
              </a:rPr>
              <a:t> </a:t>
            </a:r>
            <a:r>
              <a:rPr lang="en-US" altLang="ko-KR" sz="1400">
                <a:sym typeface="Wingdings" panose="05000000000000000000" pitchFamily="2" charset="2"/>
              </a:rPr>
              <a:t>UDP</a:t>
            </a:r>
          </a:p>
          <a:p>
            <a:pPr lvl="1" eaLnBrk="1" hangingPunct="1">
              <a:lnSpc>
                <a:spcPct val="80000"/>
              </a:lnSpc>
            </a:pPr>
            <a:endParaRPr lang="en-US" altLang="ko-KR" sz="1400">
              <a:sym typeface="Wingdings" panose="05000000000000000000" pitchFamily="2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ko-KR" altLang="en-US" sz="1600">
                <a:sym typeface="Wingdings" panose="05000000000000000000" pitchFamily="2" charset="2"/>
              </a:rPr>
              <a:t>주소 체계 </a:t>
            </a:r>
            <a:r>
              <a:rPr lang="en-US" altLang="ko-KR" sz="1600">
                <a:sym typeface="Wingdings" panose="05000000000000000000" pitchFamily="2" charset="2"/>
              </a:rPr>
              <a:t>: </a:t>
            </a:r>
            <a:r>
              <a:rPr lang="en-US" altLang="ko-KR" sz="1800">
                <a:solidFill>
                  <a:srgbClr val="CC3300"/>
                </a:solidFill>
              </a:rPr>
              <a:t>AF_INET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sz="1800"/>
              <a:t>프로토콜</a:t>
            </a:r>
            <a:r>
              <a:rPr lang="en-US" altLang="ko-KR" sz="1800"/>
              <a:t>: </a:t>
            </a:r>
            <a:r>
              <a:rPr lang="ko-KR" altLang="en-US" sz="1800"/>
              <a:t>프로토콜 명시적 지정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1600"/>
              <a:t>TCP </a:t>
            </a:r>
            <a:r>
              <a:rPr lang="en-US" altLang="ko-KR" sz="1600">
                <a:sym typeface="Wingdings" panose="05000000000000000000" pitchFamily="2" charset="2"/>
              </a:rPr>
              <a:t></a:t>
            </a:r>
            <a:r>
              <a:rPr lang="en-US" altLang="ko-KR" sz="1600">
                <a:solidFill>
                  <a:srgbClr val="CC3300"/>
                </a:solidFill>
              </a:rPr>
              <a:t>IPPROTO_TCP,  </a:t>
            </a:r>
            <a:r>
              <a:rPr lang="en-US" altLang="ko-KR" sz="1600"/>
              <a:t>UDP </a:t>
            </a:r>
            <a:r>
              <a:rPr lang="en-US" altLang="ko-KR" sz="1600">
                <a:sym typeface="Wingdings" panose="05000000000000000000" pitchFamily="2" charset="2"/>
              </a:rPr>
              <a:t> </a:t>
            </a:r>
            <a:r>
              <a:rPr lang="en-US" altLang="ko-KR" sz="1600">
                <a:solidFill>
                  <a:srgbClr val="CC3300"/>
                </a:solidFill>
              </a:rPr>
              <a:t>IPPROTO_UDP</a:t>
            </a:r>
          </a:p>
          <a:p>
            <a:pPr lvl="1" eaLnBrk="1" hangingPunct="1">
              <a:lnSpc>
                <a:spcPct val="80000"/>
              </a:lnSpc>
            </a:pPr>
            <a:endParaRPr lang="en-US" altLang="ko-KR" sz="1600">
              <a:solidFill>
                <a:srgbClr val="CC33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600"/>
              <a:t>인터넷 주소 초기화 예</a:t>
            </a:r>
            <a:r>
              <a:rPr lang="en-US" altLang="ko-KR" sz="1600"/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600"/>
              <a:t>SOCKADDR_IN addr;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600"/>
              <a:t>memset(&amp;addr, 0, sizeof(SOCKADDR_IN));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600"/>
              <a:t>addr.sin_family = AF_INET;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600"/>
              <a:t>addr.sin_addr.s_addr = inet_addr(Server_IP);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600"/>
              <a:t>// addr.sin_addr.s_addr = htons(INADDR_ANY);</a:t>
            </a:r>
            <a:r>
              <a:rPr lang="ko-KR" altLang="en-US" sz="1600"/>
              <a:t>서버의 경우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600"/>
              <a:t>addr.sin_port = htons(atoi("9190"));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바닥글 개체 틀 3">
            <a:extLst>
              <a:ext uri="{FF2B5EF4-FFF2-40B4-BE49-F238E27FC236}">
                <a16:creationId xmlns:a16="http://schemas.microsoft.com/office/drawing/2014/main" id="{D0048F3B-606B-C2D9-0122-CEA34FD6C4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0868A6AA-4C03-180B-B56E-22C562BA7E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TCP - </a:t>
            </a:r>
            <a:r>
              <a:rPr lang="ko-KR" altLang="en-US" sz="2400"/>
              <a:t>윈속 함수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B18A3B6A-FC52-DD59-1F58-E81AB730CE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ko-KR" altLang="en-US" sz="1600"/>
              <a:t>오류 코드 얻기</a:t>
            </a:r>
            <a:r>
              <a:rPr lang="en-US" altLang="ko-KR" sz="1600"/>
              <a:t>: int WSAGetLastError (void)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Ex)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hr = </a:t>
            </a:r>
            <a:r>
              <a:rPr lang="ko-KR" altLang="en-US" sz="1400"/>
              <a:t>소켓 처리 함수</a:t>
            </a:r>
            <a:r>
              <a:rPr lang="en-US" altLang="ko-KR" sz="1400"/>
              <a:t>();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ko-KR" sz="140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if(SOCKET_ERROR == hr)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{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hr = </a:t>
            </a:r>
            <a:r>
              <a:rPr lang="en-US" altLang="ko-KR" sz="1400">
                <a:solidFill>
                  <a:srgbClr val="FF0000"/>
                </a:solidFill>
              </a:rPr>
              <a:t>WSAGetLastError</a:t>
            </a:r>
            <a:r>
              <a:rPr lang="en-US" altLang="ko-KR" sz="1400"/>
              <a:t>();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ko-KR" sz="140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ko-KR" sz="1400"/>
          </a:p>
          <a:p>
            <a:pPr eaLnBrk="1" hangingPunct="1">
              <a:lnSpc>
                <a:spcPct val="80000"/>
              </a:lnSpc>
            </a:pPr>
            <a:r>
              <a:rPr lang="ko-KR" altLang="en-US" sz="1600"/>
              <a:t>오류 메시지를 문자열로 전환</a:t>
            </a:r>
            <a:r>
              <a:rPr lang="en-US" altLang="ko-KR" sz="1600"/>
              <a:t>: FormatMessage(void)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Ex)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hr = WSAGetLastError();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ko-KR" sz="140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LPVOID lpMsgBuf;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>
                <a:solidFill>
                  <a:srgbClr val="FF0000"/>
                </a:solidFill>
              </a:rPr>
              <a:t>FormatMessage</a:t>
            </a:r>
            <a:r>
              <a:rPr lang="en-US" altLang="ko-KR" sz="1400"/>
              <a:t>(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   FORMAT_MESSAGE_ALLOCATE_BUFFER |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   FORMAT_MESSAGE_FROM_SYSTEM |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   FORMAT_MESSAGE_IGNORE_INSERTS, NULL,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   hr,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   0,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   (LPTSTR) &amp;lpMsgBuf, 0, NULL);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ko-KR" sz="140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printf("Error:%s\n", (LPCTSTR)lpMsgBuf);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LocalFree( lpMsgBuf );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바닥글 개체 틀 3">
            <a:extLst>
              <a:ext uri="{FF2B5EF4-FFF2-40B4-BE49-F238E27FC236}">
                <a16:creationId xmlns:a16="http://schemas.microsoft.com/office/drawing/2014/main" id="{415B7228-CA61-758B-8C8F-2DB9EF1B44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1129BDB4-8916-D130-35BF-0976B8FDD8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TCP </a:t>
            </a:r>
            <a:r>
              <a:rPr lang="en-US" altLang="ko-KR" sz="2400">
                <a:latin typeface="Times New Roman" panose="02020603050405020304" pitchFamily="18" charset="0"/>
              </a:rPr>
              <a:t>–</a:t>
            </a:r>
            <a:r>
              <a:rPr lang="en-US" altLang="ko-KR" sz="2400"/>
              <a:t> </a:t>
            </a:r>
            <a:r>
              <a:rPr lang="ko-KR" altLang="en-US" sz="2400"/>
              <a:t>함수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8DABB562-75B6-45DF-3A7F-B734BF887F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2400"/>
              <a:t>bind() - </a:t>
            </a:r>
            <a:r>
              <a:rPr lang="ko-KR" altLang="en-US" sz="2400"/>
              <a:t>서버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성공</a:t>
            </a:r>
            <a:r>
              <a:rPr lang="en-US" altLang="ko-KR" sz="2000"/>
              <a:t>: 0, </a:t>
            </a:r>
            <a:r>
              <a:rPr lang="ko-KR" altLang="en-US" sz="2000"/>
              <a:t>실패</a:t>
            </a:r>
            <a:r>
              <a:rPr lang="en-US" altLang="ko-KR" sz="2000"/>
              <a:t>: SOCKET_ERROR 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서버의 지역 </a:t>
            </a:r>
            <a:r>
              <a:rPr lang="en-US" altLang="ko-KR" sz="2000"/>
              <a:t>IP </a:t>
            </a:r>
            <a:r>
              <a:rPr lang="ko-KR" altLang="en-US" sz="2000"/>
              <a:t>주소와 지역 포트 번호를 결정</a:t>
            </a:r>
          </a:p>
          <a:p>
            <a:pPr lvl="1" eaLnBrk="1" hangingPunct="1">
              <a:lnSpc>
                <a:spcPct val="90000"/>
              </a:lnSpc>
            </a:pPr>
            <a:endParaRPr lang="ko-KR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ko-KR" sz="2400"/>
              <a:t>listen() - </a:t>
            </a:r>
            <a:r>
              <a:rPr lang="ko-KR" altLang="en-US" sz="2400"/>
              <a:t>서버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성공</a:t>
            </a:r>
            <a:r>
              <a:rPr lang="en-US" altLang="ko-KR" sz="2000"/>
              <a:t>: 0, </a:t>
            </a:r>
            <a:r>
              <a:rPr lang="ko-KR" altLang="en-US" sz="2000"/>
              <a:t>실패</a:t>
            </a:r>
            <a:r>
              <a:rPr lang="en-US" altLang="ko-KR" sz="2000"/>
              <a:t>: SOCKET_ERROR 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소켓과 결합된 </a:t>
            </a:r>
            <a:r>
              <a:rPr lang="en-US" altLang="ko-KR" sz="2000"/>
              <a:t>TCP </a:t>
            </a:r>
            <a:r>
              <a:rPr lang="ko-KR" altLang="en-US" sz="2000"/>
              <a:t>포트 상태를 </a:t>
            </a:r>
            <a:r>
              <a:rPr lang="en-US" altLang="ko-KR" sz="2000"/>
              <a:t>LISTENING</a:t>
            </a:r>
            <a:r>
              <a:rPr lang="ko-KR" altLang="en-US" sz="2000"/>
              <a:t>으로 변경</a:t>
            </a:r>
          </a:p>
          <a:p>
            <a:pPr lvl="1" eaLnBrk="1" hangingPunct="1">
              <a:lnSpc>
                <a:spcPct val="90000"/>
              </a:lnSpc>
            </a:pPr>
            <a:endParaRPr lang="ko-KR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ko-KR" sz="2400"/>
              <a:t>accept() - </a:t>
            </a:r>
            <a:r>
              <a:rPr lang="ko-KR" altLang="en-US" sz="2400"/>
              <a:t>서버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성공</a:t>
            </a:r>
            <a:r>
              <a:rPr lang="en-US" altLang="ko-KR" sz="2000"/>
              <a:t>: </a:t>
            </a:r>
            <a:r>
              <a:rPr lang="ko-KR" altLang="en-US" sz="2000"/>
              <a:t>새로운 소켓</a:t>
            </a:r>
            <a:r>
              <a:rPr lang="en-US" altLang="ko-KR" sz="2000"/>
              <a:t>, </a:t>
            </a:r>
            <a:r>
              <a:rPr lang="ko-KR" altLang="en-US" sz="2000"/>
              <a:t>실패</a:t>
            </a:r>
            <a:r>
              <a:rPr lang="en-US" altLang="ko-KR" sz="2000"/>
              <a:t>: INVALID_SOCKET 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접속한 클라이언트와 통신할 수 있도록 새로운 소켓을 생성하여 리턴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접속한 클라이언트의 </a:t>
            </a:r>
            <a:r>
              <a:rPr lang="en-US" altLang="ko-KR" sz="2000"/>
              <a:t>IP </a:t>
            </a:r>
            <a:r>
              <a:rPr lang="ko-KR" altLang="en-US" sz="2000"/>
              <a:t>주소와 포트 번호를 알려줌</a:t>
            </a:r>
          </a:p>
          <a:p>
            <a:pPr lvl="1" eaLnBrk="1" hangingPunct="1">
              <a:lnSpc>
                <a:spcPct val="90000"/>
              </a:lnSpc>
            </a:pPr>
            <a:endParaRPr lang="ko-KR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ko-KR" sz="2400"/>
              <a:t>connect() - </a:t>
            </a:r>
            <a:r>
              <a:rPr lang="ko-KR" altLang="en-US" sz="2400"/>
              <a:t>클라이언트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성공</a:t>
            </a:r>
            <a:r>
              <a:rPr lang="en-US" altLang="ko-KR" sz="2000"/>
              <a:t>: 0, </a:t>
            </a:r>
            <a:r>
              <a:rPr lang="ko-KR" altLang="en-US" sz="2000"/>
              <a:t>실패</a:t>
            </a:r>
            <a:r>
              <a:rPr lang="en-US" altLang="ko-KR" sz="2000"/>
              <a:t>: SOCKET_ERROR 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서버에게 접속하여 </a:t>
            </a:r>
            <a:r>
              <a:rPr lang="en-US" altLang="ko-KR" sz="2000"/>
              <a:t>TCP </a:t>
            </a:r>
            <a:r>
              <a:rPr lang="ko-KR" altLang="en-US" sz="2000"/>
              <a:t>프로토콜 수준의 연결 설정</a:t>
            </a:r>
          </a:p>
          <a:p>
            <a:pPr lvl="1" eaLnBrk="1" hangingPunct="1">
              <a:lnSpc>
                <a:spcPct val="90000"/>
              </a:lnSpc>
            </a:pPr>
            <a:endParaRPr lang="ko-KR" altLang="en-US" sz="2000"/>
          </a:p>
          <a:p>
            <a:pPr lvl="1" eaLnBrk="1" hangingPunct="1">
              <a:lnSpc>
                <a:spcPct val="90000"/>
              </a:lnSpc>
            </a:pPr>
            <a:endParaRPr lang="ko-KR" altLang="en-US" sz="2000"/>
          </a:p>
          <a:p>
            <a:pPr lvl="1" eaLnBrk="1" hangingPunct="1">
              <a:lnSpc>
                <a:spcPct val="90000"/>
              </a:lnSpc>
            </a:pPr>
            <a:endParaRPr lang="en-US" altLang="ko-KR" sz="2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바닥글 개체 틀 3">
            <a:extLst>
              <a:ext uri="{FF2B5EF4-FFF2-40B4-BE49-F238E27FC236}">
                <a16:creationId xmlns:a16="http://schemas.microsoft.com/office/drawing/2014/main" id="{4DAD8953-4B37-6B78-6044-398E0A86EB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5E35C258-C0AA-0A46-DE33-486B1EA28B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TCP </a:t>
            </a:r>
            <a:r>
              <a:rPr lang="en-US" altLang="ko-KR" sz="2400">
                <a:latin typeface="Times New Roman" panose="02020603050405020304" pitchFamily="18" charset="0"/>
              </a:rPr>
              <a:t>–</a:t>
            </a:r>
            <a:r>
              <a:rPr lang="en-US" altLang="ko-KR" sz="2400"/>
              <a:t> </a:t>
            </a:r>
            <a:r>
              <a:rPr lang="ko-KR" altLang="en-US" sz="2400"/>
              <a:t>함수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F449296E-AB56-FACA-FB2D-B2DBE35990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en-US" altLang="ko-KR" sz="2400"/>
              <a:t>send() </a:t>
            </a:r>
            <a:r>
              <a:rPr lang="ko-KR" altLang="en-US" sz="2400"/>
              <a:t>함수</a:t>
            </a:r>
          </a:p>
          <a:p>
            <a:pPr lvl="1" eaLnBrk="1" hangingPunct="1"/>
            <a:r>
              <a:rPr lang="ko-KR" altLang="en-US" sz="2000"/>
              <a:t>성공</a:t>
            </a:r>
            <a:r>
              <a:rPr lang="en-US" altLang="ko-KR" sz="2000"/>
              <a:t>: </a:t>
            </a:r>
            <a:r>
              <a:rPr lang="ko-KR" altLang="en-US" sz="2000"/>
              <a:t>보낸 바이트 수</a:t>
            </a:r>
            <a:r>
              <a:rPr lang="en-US" altLang="ko-KR" sz="2000"/>
              <a:t>, </a:t>
            </a:r>
            <a:r>
              <a:rPr lang="ko-KR" altLang="en-US" sz="2000"/>
              <a:t>실패</a:t>
            </a:r>
            <a:r>
              <a:rPr lang="en-US" altLang="ko-KR" sz="2000"/>
              <a:t>: SOCKET_ERROR </a:t>
            </a:r>
          </a:p>
          <a:p>
            <a:pPr lvl="1" eaLnBrk="1" hangingPunct="1"/>
            <a:r>
              <a:rPr lang="ko-KR" altLang="en-US" sz="2000"/>
              <a:t>애플리케이션 데이터를 송신 버퍼에 복사함으로써 궁극적으로 하부 프로토콜</a:t>
            </a:r>
            <a:r>
              <a:rPr lang="en-US" altLang="ko-KR" sz="2000"/>
              <a:t>(</a:t>
            </a:r>
            <a:r>
              <a:rPr lang="ko-KR" altLang="en-US" sz="2000"/>
              <a:t>예를 들면</a:t>
            </a:r>
            <a:r>
              <a:rPr lang="en-US" altLang="ko-KR" sz="2000"/>
              <a:t>, TCP/IP)</a:t>
            </a:r>
            <a:r>
              <a:rPr lang="ko-KR" altLang="en-US" sz="2000"/>
              <a:t>에 의해 데이터가 전송되도록 함</a:t>
            </a:r>
          </a:p>
          <a:p>
            <a:pPr lvl="1" eaLnBrk="1" hangingPunct="1"/>
            <a:endParaRPr lang="ko-KR" altLang="en-US" sz="2000"/>
          </a:p>
          <a:p>
            <a:pPr lvl="1" eaLnBrk="1" hangingPunct="1"/>
            <a:endParaRPr lang="ko-KR" altLang="en-US" sz="2000"/>
          </a:p>
          <a:p>
            <a:pPr eaLnBrk="1" hangingPunct="1"/>
            <a:r>
              <a:rPr lang="en-US" altLang="ko-KR" sz="2400"/>
              <a:t>recv() </a:t>
            </a:r>
            <a:r>
              <a:rPr lang="ko-KR" altLang="en-US" sz="2400"/>
              <a:t>함수</a:t>
            </a:r>
          </a:p>
          <a:p>
            <a:pPr lvl="1" eaLnBrk="1" hangingPunct="1"/>
            <a:r>
              <a:rPr lang="ko-KR" altLang="en-US" sz="2000"/>
              <a:t>성공</a:t>
            </a:r>
            <a:r>
              <a:rPr lang="en-US" altLang="ko-KR" sz="2000"/>
              <a:t>: </a:t>
            </a:r>
            <a:r>
              <a:rPr lang="ko-KR" altLang="en-US" sz="2000"/>
              <a:t>받은 바이트 수 또는 </a:t>
            </a:r>
            <a:r>
              <a:rPr lang="en-US" altLang="ko-KR" sz="2000"/>
              <a:t>0(</a:t>
            </a:r>
            <a:r>
              <a:rPr lang="ko-KR" altLang="en-US" sz="2000"/>
              <a:t>연결 종료시</a:t>
            </a:r>
            <a:r>
              <a:rPr lang="en-US" altLang="ko-KR" sz="2000"/>
              <a:t>),</a:t>
            </a:r>
          </a:p>
          <a:p>
            <a:pPr lvl="1" eaLnBrk="1" hangingPunct="1"/>
            <a:r>
              <a:rPr lang="en-US" altLang="ko-KR" sz="2000"/>
              <a:t>  </a:t>
            </a:r>
            <a:r>
              <a:rPr lang="ko-KR" altLang="en-US" sz="2000"/>
              <a:t>실패</a:t>
            </a:r>
            <a:r>
              <a:rPr lang="en-US" altLang="ko-KR" sz="2000"/>
              <a:t>: SOCKET_ERROR </a:t>
            </a:r>
          </a:p>
          <a:p>
            <a:pPr lvl="1" eaLnBrk="1" hangingPunct="1"/>
            <a:r>
              <a:rPr lang="ko-KR" altLang="en-US" sz="2000"/>
              <a:t>수신 버퍼에 도착한 데이터를 애플리케이션 버퍼로 복사</a:t>
            </a:r>
          </a:p>
          <a:p>
            <a:pPr lvl="1" eaLnBrk="1" hangingPunct="1"/>
            <a:r>
              <a:rPr lang="en-US" altLang="ko-KR" sz="2000"/>
              <a:t>recvn(): </a:t>
            </a:r>
            <a:r>
              <a:rPr lang="ko-KR" altLang="en-US" sz="2000"/>
              <a:t>특정 길이 만큼 읽음</a:t>
            </a:r>
          </a:p>
          <a:p>
            <a:pPr lvl="1" eaLnBrk="1" hangingPunct="1"/>
            <a:endParaRPr lang="ko-KR" altLang="en-US" sz="2000"/>
          </a:p>
          <a:p>
            <a:pPr lvl="1" eaLnBrk="1" hangingPunct="1"/>
            <a:endParaRPr lang="ko-KR" altLang="en-US" sz="2000"/>
          </a:p>
          <a:p>
            <a:pPr lvl="1" eaLnBrk="1" hangingPunct="1"/>
            <a:endParaRPr lang="ko-KR" altLang="en-US" sz="20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ko-KR" altLang="en-US" sz="2000"/>
              <a:t> 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바닥글 개체 틀 3">
            <a:extLst>
              <a:ext uri="{FF2B5EF4-FFF2-40B4-BE49-F238E27FC236}">
                <a16:creationId xmlns:a16="http://schemas.microsoft.com/office/drawing/2014/main" id="{1462E369-12CD-C3C3-D986-D37425AD3A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594C9401-7F2B-E8F7-E482-5ABF77BA0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TCP </a:t>
            </a:r>
            <a:r>
              <a:rPr lang="en-US" altLang="ko-KR" sz="2400">
                <a:latin typeface="Times New Roman" panose="02020603050405020304" pitchFamily="18" charset="0"/>
              </a:rPr>
              <a:t>–</a:t>
            </a:r>
            <a:r>
              <a:rPr lang="en-US" altLang="ko-KR" sz="2400"/>
              <a:t> </a:t>
            </a:r>
            <a:r>
              <a:rPr lang="ko-KR" altLang="en-US" sz="2400"/>
              <a:t>바이트 정렬 함수</a:t>
            </a:r>
            <a:endParaRPr lang="ko-KR" altLang="en-US"/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5D3507BB-2A36-515B-57C0-5E5BD703A9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/>
              <a:t>바이트 정렬</a:t>
            </a:r>
            <a:r>
              <a:rPr lang="en-US" altLang="ko-KR"/>
              <a:t>(byte ordering)</a:t>
            </a:r>
          </a:p>
          <a:p>
            <a:pPr lvl="1" eaLnBrk="1" hangingPunct="1"/>
            <a:r>
              <a:rPr lang="ko-KR" altLang="en-US"/>
              <a:t>메모리에 데이터를 저장할 때의 바이트 순서</a:t>
            </a:r>
          </a:p>
          <a:p>
            <a:pPr lvl="2" eaLnBrk="1" hangingPunct="1"/>
            <a:r>
              <a:rPr lang="ko-KR" altLang="en-US"/>
              <a:t>빅 엔디안</a:t>
            </a:r>
            <a:r>
              <a:rPr lang="en-US" altLang="ko-KR"/>
              <a:t>(big-endian), </a:t>
            </a:r>
            <a:r>
              <a:rPr lang="ko-KR" altLang="en-US"/>
              <a:t>리틀 엔디안</a:t>
            </a:r>
            <a:r>
              <a:rPr lang="en-US" altLang="ko-KR"/>
              <a:t>(little-endian)</a:t>
            </a:r>
          </a:p>
          <a:p>
            <a:pPr lvl="2" eaLnBrk="1" hangingPunct="1"/>
            <a:endParaRPr lang="en-US" altLang="ko-KR"/>
          </a:p>
          <a:p>
            <a:pPr lvl="1" eaLnBrk="1" hangingPunct="1"/>
            <a:r>
              <a:rPr lang="ko-KR" altLang="en-US">
                <a:solidFill>
                  <a:srgbClr val="FF0000"/>
                </a:solidFill>
              </a:rPr>
              <a:t>네트워크의 </a:t>
            </a:r>
            <a:r>
              <a:rPr lang="en-US" altLang="ko-KR">
                <a:solidFill>
                  <a:srgbClr val="FF0000"/>
                </a:solidFill>
              </a:rPr>
              <a:t>IP, </a:t>
            </a:r>
            <a:r>
              <a:rPr lang="ko-KR" altLang="en-US">
                <a:solidFill>
                  <a:srgbClr val="FF0000"/>
                </a:solidFill>
              </a:rPr>
              <a:t>포트 번호는 빅 엔디안</a:t>
            </a:r>
          </a:p>
          <a:p>
            <a:pPr lvl="1" eaLnBrk="1" hangingPunct="1"/>
            <a:endParaRPr lang="en-US" altLang="ko-KR"/>
          </a:p>
        </p:txBody>
      </p:sp>
      <p:grpSp>
        <p:nvGrpSpPr>
          <p:cNvPr id="34821" name="Group 4">
            <a:extLst>
              <a:ext uri="{FF2B5EF4-FFF2-40B4-BE49-F238E27FC236}">
                <a16:creationId xmlns:a16="http://schemas.microsoft.com/office/drawing/2014/main" id="{B66360CF-F6B9-C3F3-453A-FA7CEFE9E42E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3311525"/>
            <a:ext cx="6751637" cy="2133600"/>
            <a:chOff x="1056" y="1776"/>
            <a:chExt cx="4608" cy="1344"/>
          </a:xfrm>
        </p:grpSpPr>
        <p:sp>
          <p:nvSpPr>
            <p:cNvPr id="34822" name="Rectangle 5">
              <a:extLst>
                <a:ext uri="{FF2B5EF4-FFF2-40B4-BE49-F238E27FC236}">
                  <a16:creationId xmlns:a16="http://schemas.microsoft.com/office/drawing/2014/main" id="{F71C645A-B6F8-EB0D-0595-464837FA2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392"/>
              <a:ext cx="624" cy="28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0x12</a:t>
              </a:r>
            </a:p>
          </p:txBody>
        </p:sp>
        <p:sp>
          <p:nvSpPr>
            <p:cNvPr id="34823" name="Rectangle 6">
              <a:extLst>
                <a:ext uri="{FF2B5EF4-FFF2-40B4-BE49-F238E27FC236}">
                  <a16:creationId xmlns:a16="http://schemas.microsoft.com/office/drawing/2014/main" id="{85E9BE6E-5006-0459-ACFE-D2F4DC151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392"/>
              <a:ext cx="624" cy="28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0x34</a:t>
              </a:r>
            </a:p>
          </p:txBody>
        </p:sp>
        <p:sp>
          <p:nvSpPr>
            <p:cNvPr id="34824" name="Rectangle 7">
              <a:extLst>
                <a:ext uri="{FF2B5EF4-FFF2-40B4-BE49-F238E27FC236}">
                  <a16:creationId xmlns:a16="http://schemas.microsoft.com/office/drawing/2014/main" id="{CF068072-1537-E653-FA20-D448F8510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2392"/>
              <a:ext cx="624" cy="28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0x56</a:t>
              </a:r>
            </a:p>
          </p:txBody>
        </p:sp>
        <p:sp>
          <p:nvSpPr>
            <p:cNvPr id="34825" name="Rectangle 8">
              <a:extLst>
                <a:ext uri="{FF2B5EF4-FFF2-40B4-BE49-F238E27FC236}">
                  <a16:creationId xmlns:a16="http://schemas.microsoft.com/office/drawing/2014/main" id="{FDC35535-FFB3-59EB-B688-EF43BC4A6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392"/>
              <a:ext cx="624" cy="28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0x78</a:t>
              </a:r>
            </a:p>
          </p:txBody>
        </p:sp>
        <p:sp>
          <p:nvSpPr>
            <p:cNvPr id="34826" name="Rectangle 9">
              <a:extLst>
                <a:ext uri="{FF2B5EF4-FFF2-40B4-BE49-F238E27FC236}">
                  <a16:creationId xmlns:a16="http://schemas.microsoft.com/office/drawing/2014/main" id="{E9939ECF-3C86-560F-4F5A-60602519D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40"/>
              <a:ext cx="624" cy="28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0x78</a:t>
              </a:r>
            </a:p>
          </p:txBody>
        </p:sp>
        <p:sp>
          <p:nvSpPr>
            <p:cNvPr id="34827" name="Rectangle 10">
              <a:extLst>
                <a:ext uri="{FF2B5EF4-FFF2-40B4-BE49-F238E27FC236}">
                  <a16:creationId xmlns:a16="http://schemas.microsoft.com/office/drawing/2014/main" id="{E530A94C-C36B-C501-2D27-F14B296D1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840"/>
              <a:ext cx="624" cy="28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0x56</a:t>
              </a:r>
            </a:p>
          </p:txBody>
        </p:sp>
        <p:sp>
          <p:nvSpPr>
            <p:cNvPr id="34828" name="Rectangle 11">
              <a:extLst>
                <a:ext uri="{FF2B5EF4-FFF2-40B4-BE49-F238E27FC236}">
                  <a16:creationId xmlns:a16="http://schemas.microsoft.com/office/drawing/2014/main" id="{705568B2-A4D0-E64C-4A7F-0346B0ADF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2840"/>
              <a:ext cx="624" cy="28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0x34</a:t>
              </a:r>
            </a:p>
          </p:txBody>
        </p:sp>
        <p:sp>
          <p:nvSpPr>
            <p:cNvPr id="34829" name="Rectangle 12">
              <a:extLst>
                <a:ext uri="{FF2B5EF4-FFF2-40B4-BE49-F238E27FC236}">
                  <a16:creationId xmlns:a16="http://schemas.microsoft.com/office/drawing/2014/main" id="{CEEF4AF8-3F1C-0BA3-2D85-ABD262F21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840"/>
              <a:ext cx="624" cy="28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</a:rPr>
                <a:t>0x12</a:t>
              </a:r>
            </a:p>
          </p:txBody>
        </p:sp>
        <p:sp>
          <p:nvSpPr>
            <p:cNvPr id="34830" name="Rectangle 13">
              <a:extLst>
                <a:ext uri="{FF2B5EF4-FFF2-40B4-BE49-F238E27FC236}">
                  <a16:creationId xmlns:a16="http://schemas.microsoft.com/office/drawing/2014/main" id="{63257251-52F5-8AF5-A765-91CA489AD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392"/>
              <a:ext cx="768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빅 엔디안</a:t>
              </a:r>
            </a:p>
          </p:txBody>
        </p:sp>
        <p:sp>
          <p:nvSpPr>
            <p:cNvPr id="34831" name="Rectangle 14">
              <a:extLst>
                <a:ext uri="{FF2B5EF4-FFF2-40B4-BE49-F238E27FC236}">
                  <a16:creationId xmlns:a16="http://schemas.microsoft.com/office/drawing/2014/main" id="{41E8EC83-A1E3-D033-5FF0-AF2E8EF73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840"/>
              <a:ext cx="768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리틀 엔디안</a:t>
              </a:r>
            </a:p>
          </p:txBody>
        </p:sp>
        <p:sp>
          <p:nvSpPr>
            <p:cNvPr id="34832" name="Rectangle 15">
              <a:extLst>
                <a:ext uri="{FF2B5EF4-FFF2-40B4-BE49-F238E27FC236}">
                  <a16:creationId xmlns:a16="http://schemas.microsoft.com/office/drawing/2014/main" id="{5828FE3B-91FE-4CFF-256C-515C8F76B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776"/>
              <a:ext cx="624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0x1000</a:t>
              </a:r>
            </a:p>
          </p:txBody>
        </p:sp>
        <p:sp>
          <p:nvSpPr>
            <p:cNvPr id="34833" name="Rectangle 16">
              <a:extLst>
                <a:ext uri="{FF2B5EF4-FFF2-40B4-BE49-F238E27FC236}">
                  <a16:creationId xmlns:a16="http://schemas.microsoft.com/office/drawing/2014/main" id="{7B0B82DE-2CE5-E913-17B3-25C45C28D9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776"/>
              <a:ext cx="624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0x1001</a:t>
              </a:r>
            </a:p>
          </p:txBody>
        </p:sp>
        <p:sp>
          <p:nvSpPr>
            <p:cNvPr id="34834" name="Rectangle 17">
              <a:extLst>
                <a:ext uri="{FF2B5EF4-FFF2-40B4-BE49-F238E27FC236}">
                  <a16:creationId xmlns:a16="http://schemas.microsoft.com/office/drawing/2014/main" id="{B7E56C52-E853-91EF-D5C1-5F4B0FF56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776"/>
              <a:ext cx="624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0x1002</a:t>
              </a:r>
            </a:p>
          </p:txBody>
        </p:sp>
        <p:sp>
          <p:nvSpPr>
            <p:cNvPr id="34835" name="Rectangle 18">
              <a:extLst>
                <a:ext uri="{FF2B5EF4-FFF2-40B4-BE49-F238E27FC236}">
                  <a16:creationId xmlns:a16="http://schemas.microsoft.com/office/drawing/2014/main" id="{2FFD3707-0D05-B8D6-19B1-8110C3234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776"/>
              <a:ext cx="624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>
                  <a:latin typeface="굴림" panose="020B0600000101010101" pitchFamily="50" charset="-127"/>
                  <a:ea typeface="굴림" panose="020B0600000101010101" pitchFamily="50" charset="-127"/>
                </a:rPr>
                <a:t>0x1003</a:t>
              </a:r>
            </a:p>
          </p:txBody>
        </p:sp>
        <p:sp>
          <p:nvSpPr>
            <p:cNvPr id="34836" name="Line 19">
              <a:extLst>
                <a:ext uri="{FF2B5EF4-FFF2-40B4-BE49-F238E27FC236}">
                  <a16:creationId xmlns:a16="http://schemas.microsoft.com/office/drawing/2014/main" id="{F7FF5E0A-F27C-0970-B690-DD3FF4B8EB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47"/>
              <a:ext cx="0" cy="2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837" name="Line 20">
              <a:extLst>
                <a:ext uri="{FF2B5EF4-FFF2-40B4-BE49-F238E27FC236}">
                  <a16:creationId xmlns:a16="http://schemas.microsoft.com/office/drawing/2014/main" id="{B6731EAC-049E-8AB0-8913-12A7F5671B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047"/>
              <a:ext cx="0" cy="2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838" name="Line 21">
              <a:extLst>
                <a:ext uri="{FF2B5EF4-FFF2-40B4-BE49-F238E27FC236}">
                  <a16:creationId xmlns:a16="http://schemas.microsoft.com/office/drawing/2014/main" id="{2CE02EBC-719F-F048-EB8A-823590C0DA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047"/>
              <a:ext cx="0" cy="2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839" name="Line 22">
              <a:extLst>
                <a:ext uri="{FF2B5EF4-FFF2-40B4-BE49-F238E27FC236}">
                  <a16:creationId xmlns:a16="http://schemas.microsoft.com/office/drawing/2014/main" id="{0DD13EC2-61FE-7930-3959-1D6D795D8A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047"/>
              <a:ext cx="0" cy="2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840" name="Rectangle 23">
              <a:extLst>
                <a:ext uri="{FF2B5EF4-FFF2-40B4-BE49-F238E27FC236}">
                  <a16:creationId xmlns:a16="http://schemas.microsoft.com/office/drawing/2014/main" id="{A6FFC2A4-6CCA-6137-210E-EBBA9FAE0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392"/>
              <a:ext cx="576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  <a:sym typeface="Wingdings" panose="05000000000000000000" pitchFamily="2" charset="2"/>
                </a:rPr>
                <a:t>  </a:t>
              </a:r>
            </a:p>
          </p:txBody>
        </p:sp>
        <p:sp>
          <p:nvSpPr>
            <p:cNvPr id="34841" name="Rectangle 24">
              <a:extLst>
                <a:ext uri="{FF2B5EF4-FFF2-40B4-BE49-F238E27FC236}">
                  <a16:creationId xmlns:a16="http://schemas.microsoft.com/office/drawing/2014/main" id="{04B6D730-9DFE-2066-F82A-38C7407D8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840"/>
              <a:ext cx="576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  <a:sym typeface="Wingdings" panose="05000000000000000000" pitchFamily="2" charset="2"/>
                </a:rPr>
                <a:t>  </a:t>
              </a:r>
            </a:p>
          </p:txBody>
        </p:sp>
        <p:sp>
          <p:nvSpPr>
            <p:cNvPr id="34842" name="Line 25">
              <a:extLst>
                <a:ext uri="{FF2B5EF4-FFF2-40B4-BE49-F238E27FC236}">
                  <a16:creationId xmlns:a16="http://schemas.microsoft.com/office/drawing/2014/main" id="{D7F76238-ED4D-A815-8E81-80BF7BC4B2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39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843" name="Line 26">
              <a:extLst>
                <a:ext uri="{FF2B5EF4-FFF2-40B4-BE49-F238E27FC236}">
                  <a16:creationId xmlns:a16="http://schemas.microsoft.com/office/drawing/2014/main" id="{10EB1363-C338-1F4D-4111-A84B4629BB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67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844" name="Line 27">
              <a:extLst>
                <a:ext uri="{FF2B5EF4-FFF2-40B4-BE49-F238E27FC236}">
                  <a16:creationId xmlns:a16="http://schemas.microsoft.com/office/drawing/2014/main" id="{D1896497-402D-1EA2-130C-5ED9287D3F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84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845" name="Line 28">
              <a:extLst>
                <a:ext uri="{FF2B5EF4-FFF2-40B4-BE49-F238E27FC236}">
                  <a16:creationId xmlns:a16="http://schemas.microsoft.com/office/drawing/2014/main" id="{6A3186C3-7325-9614-225B-11350AEE03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12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846" name="Rectangle 29">
              <a:extLst>
                <a:ext uri="{FF2B5EF4-FFF2-40B4-BE49-F238E27FC236}">
                  <a16:creationId xmlns:a16="http://schemas.microsoft.com/office/drawing/2014/main" id="{71AC1853-CEA3-B751-E020-4866E9FC7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2392"/>
              <a:ext cx="576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  <a:sym typeface="Wingdings" panose="05000000000000000000" pitchFamily="2" charset="2"/>
                </a:rPr>
                <a:t>  </a:t>
              </a:r>
            </a:p>
          </p:txBody>
        </p:sp>
        <p:sp>
          <p:nvSpPr>
            <p:cNvPr id="34847" name="Rectangle 30">
              <a:extLst>
                <a:ext uri="{FF2B5EF4-FFF2-40B4-BE49-F238E27FC236}">
                  <a16:creationId xmlns:a16="http://schemas.microsoft.com/office/drawing/2014/main" id="{8F5FE80C-C040-8997-DFB5-9538AC5CD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2840"/>
              <a:ext cx="576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굴림" panose="020B0600000101010101" pitchFamily="50" charset="-127"/>
                  <a:ea typeface="굴림" panose="020B0600000101010101" pitchFamily="50" charset="-127"/>
                  <a:sym typeface="Wingdings" panose="05000000000000000000" pitchFamily="2" charset="2"/>
                </a:rPr>
                <a:t>  </a:t>
              </a:r>
            </a:p>
          </p:txBody>
        </p:sp>
        <p:sp>
          <p:nvSpPr>
            <p:cNvPr id="34848" name="Line 31">
              <a:extLst>
                <a:ext uri="{FF2B5EF4-FFF2-40B4-BE49-F238E27FC236}">
                  <a16:creationId xmlns:a16="http://schemas.microsoft.com/office/drawing/2014/main" id="{496F9267-8B16-295D-5484-28D5D23894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239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849" name="Line 32">
              <a:extLst>
                <a:ext uri="{FF2B5EF4-FFF2-40B4-BE49-F238E27FC236}">
                  <a16:creationId xmlns:a16="http://schemas.microsoft.com/office/drawing/2014/main" id="{44663AED-5D8E-B3BB-A34C-75C26E6295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267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850" name="Line 33">
              <a:extLst>
                <a:ext uri="{FF2B5EF4-FFF2-40B4-BE49-F238E27FC236}">
                  <a16:creationId xmlns:a16="http://schemas.microsoft.com/office/drawing/2014/main" id="{DE4D700E-E206-5A24-8AA8-E6BC444974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284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851" name="Line 34">
              <a:extLst>
                <a:ext uri="{FF2B5EF4-FFF2-40B4-BE49-F238E27FC236}">
                  <a16:creationId xmlns:a16="http://schemas.microsoft.com/office/drawing/2014/main" id="{EAB93FA5-42AD-022D-7189-C794A262E3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312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바닥글 개체 틀 3">
            <a:extLst>
              <a:ext uri="{FF2B5EF4-FFF2-40B4-BE49-F238E27FC236}">
                <a16:creationId xmlns:a16="http://schemas.microsoft.com/office/drawing/2014/main" id="{691A6CA8-B665-9181-4364-5A3493E4E5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AC3FD6A5-A206-B35D-AF45-2435ED571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 TCP </a:t>
            </a:r>
            <a:r>
              <a:rPr lang="en-US" altLang="ko-KR" sz="2400">
                <a:latin typeface="Times New Roman" panose="02020603050405020304" pitchFamily="18" charset="0"/>
              </a:rPr>
              <a:t>–</a:t>
            </a:r>
            <a:r>
              <a:rPr lang="en-US" altLang="ko-KR" sz="2400"/>
              <a:t> </a:t>
            </a:r>
            <a:r>
              <a:rPr lang="ko-KR" altLang="en-US" sz="2400"/>
              <a:t>바이트 정렬 함수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0EA307EF-08C3-E311-EFD0-19DC80D1FB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/>
              <a:t>바이트 정렬 함수</a:t>
            </a:r>
            <a:r>
              <a:rPr lang="en-US" altLang="ko-KR"/>
              <a:t>(</a:t>
            </a:r>
            <a:r>
              <a:rPr lang="ko-KR" altLang="en-US"/>
              <a:t>유닉스 호환</a:t>
            </a:r>
            <a:r>
              <a:rPr lang="en-US" altLang="ko-KR"/>
              <a:t>)</a:t>
            </a:r>
          </a:p>
          <a:p>
            <a:pPr eaLnBrk="1" hangingPunct="1"/>
            <a:endParaRPr lang="en-US" altLang="ko-KR"/>
          </a:p>
          <a:p>
            <a:pPr eaLnBrk="1" hangingPunct="1"/>
            <a:endParaRPr lang="en-US" altLang="ko-KR" sz="3600"/>
          </a:p>
          <a:p>
            <a:pPr eaLnBrk="1" hangingPunct="1"/>
            <a:endParaRPr lang="en-US" altLang="ko-KR" sz="4000"/>
          </a:p>
          <a:p>
            <a:pPr eaLnBrk="1" hangingPunct="1"/>
            <a:endParaRPr lang="en-US" altLang="ko-KR"/>
          </a:p>
          <a:p>
            <a:pPr eaLnBrk="1" hangingPunct="1"/>
            <a:r>
              <a:rPr lang="ko-KR" altLang="en-US"/>
              <a:t>바이트 정렬 함수</a:t>
            </a:r>
            <a:r>
              <a:rPr lang="en-US" altLang="ko-KR"/>
              <a:t>(</a:t>
            </a:r>
            <a:r>
              <a:rPr lang="ko-KR" altLang="en-US"/>
              <a:t>윈속 확장</a:t>
            </a:r>
            <a:r>
              <a:rPr lang="en-US" altLang="ko-KR"/>
              <a:t>)</a:t>
            </a:r>
          </a:p>
          <a:p>
            <a:pPr eaLnBrk="1" hangingPunct="1"/>
            <a:endParaRPr lang="en-US" altLang="ko-KR"/>
          </a:p>
        </p:txBody>
      </p:sp>
      <p:sp>
        <p:nvSpPr>
          <p:cNvPr id="35845" name="Rectangle 4">
            <a:extLst>
              <a:ext uri="{FF2B5EF4-FFF2-40B4-BE49-F238E27FC236}">
                <a16:creationId xmlns:a16="http://schemas.microsoft.com/office/drawing/2014/main" id="{996F56E8-4C77-CB74-4D64-93E541096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341438"/>
            <a:ext cx="7835900" cy="15240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400050"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defTabSz="4000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defTabSz="40005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defTabSz="40005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defTabSz="40005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000">
                <a:latin typeface="Arial Unicode MS" pitchFamily="50" charset="-127"/>
                <a:ea typeface="Arial Unicode MS" pitchFamily="50" charset="-127"/>
              </a:rPr>
              <a:t>u_short htons (u_short hostshort); </a:t>
            </a:r>
            <a:r>
              <a:rPr lang="en-US" altLang="ko-KR" sz="2000">
                <a:solidFill>
                  <a:srgbClr val="009900"/>
                </a:solidFill>
                <a:latin typeface="Arial Unicode MS" pitchFamily="50" charset="-127"/>
                <a:ea typeface="Arial Unicode MS" pitchFamily="50" charset="-127"/>
              </a:rPr>
              <a:t>// </a:t>
            </a:r>
            <a:r>
              <a:rPr lang="en-US" altLang="ko-KR" sz="2000">
                <a:solidFill>
                  <a:srgbClr val="CC3300"/>
                </a:solidFill>
                <a:latin typeface="Arial Unicode MS" pitchFamily="50" charset="-127"/>
                <a:ea typeface="Arial Unicode MS" pitchFamily="50" charset="-127"/>
              </a:rPr>
              <a:t>h</a:t>
            </a:r>
            <a:r>
              <a:rPr lang="en-US" altLang="ko-KR" sz="2000">
                <a:solidFill>
                  <a:srgbClr val="009900"/>
                </a:solidFill>
                <a:latin typeface="Arial Unicode MS" pitchFamily="50" charset="-127"/>
                <a:ea typeface="Arial Unicode MS" pitchFamily="50" charset="-127"/>
              </a:rPr>
              <a:t>ost-</a:t>
            </a:r>
            <a:r>
              <a:rPr lang="en-US" altLang="ko-KR" sz="2000">
                <a:solidFill>
                  <a:srgbClr val="CC3300"/>
                </a:solidFill>
                <a:latin typeface="Arial Unicode MS" pitchFamily="50" charset="-127"/>
                <a:ea typeface="Arial Unicode MS" pitchFamily="50" charset="-127"/>
              </a:rPr>
              <a:t>t</a:t>
            </a:r>
            <a:r>
              <a:rPr lang="en-US" altLang="ko-KR" sz="2000">
                <a:solidFill>
                  <a:srgbClr val="009900"/>
                </a:solidFill>
                <a:latin typeface="Arial Unicode MS" pitchFamily="50" charset="-127"/>
                <a:ea typeface="Arial Unicode MS" pitchFamily="50" charset="-127"/>
              </a:rPr>
              <a:t>o-</a:t>
            </a:r>
            <a:r>
              <a:rPr lang="en-US" altLang="ko-KR" sz="2000">
                <a:solidFill>
                  <a:srgbClr val="CC3300"/>
                </a:solidFill>
                <a:latin typeface="Arial Unicode MS" pitchFamily="50" charset="-127"/>
                <a:ea typeface="Arial Unicode MS" pitchFamily="50" charset="-127"/>
              </a:rPr>
              <a:t>n</a:t>
            </a:r>
            <a:r>
              <a:rPr lang="en-US" altLang="ko-KR" sz="2000">
                <a:solidFill>
                  <a:srgbClr val="009900"/>
                </a:solidFill>
                <a:latin typeface="Arial Unicode MS" pitchFamily="50" charset="-127"/>
                <a:ea typeface="Arial Unicode MS" pitchFamily="50" charset="-127"/>
              </a:rPr>
              <a:t>etwork-</a:t>
            </a:r>
            <a:r>
              <a:rPr lang="en-US" altLang="ko-KR" sz="2000">
                <a:solidFill>
                  <a:srgbClr val="CC3300"/>
                </a:solidFill>
                <a:latin typeface="Arial Unicode MS" pitchFamily="50" charset="-127"/>
                <a:ea typeface="Arial Unicode MS" pitchFamily="50" charset="-127"/>
              </a:rPr>
              <a:t>s</a:t>
            </a:r>
            <a:r>
              <a:rPr lang="en-US" altLang="ko-KR" sz="2000">
                <a:solidFill>
                  <a:srgbClr val="009900"/>
                </a:solidFill>
                <a:latin typeface="Arial Unicode MS" pitchFamily="50" charset="-127"/>
                <a:ea typeface="Arial Unicode MS" pitchFamily="50" charset="-127"/>
              </a:rPr>
              <a:t>hort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000">
                <a:latin typeface="Arial Unicode MS" pitchFamily="50" charset="-127"/>
                <a:ea typeface="Arial Unicode MS" pitchFamily="50" charset="-127"/>
              </a:rPr>
              <a:t>u_long htonl (u_long hostlong); </a:t>
            </a:r>
            <a:r>
              <a:rPr lang="en-US" altLang="ko-KR" sz="2000">
                <a:solidFill>
                  <a:srgbClr val="009900"/>
                </a:solidFill>
                <a:latin typeface="Arial Unicode MS" pitchFamily="50" charset="-127"/>
                <a:ea typeface="Arial Unicode MS" pitchFamily="50" charset="-127"/>
              </a:rPr>
              <a:t>// </a:t>
            </a:r>
            <a:r>
              <a:rPr lang="en-US" altLang="ko-KR" sz="2000">
                <a:solidFill>
                  <a:srgbClr val="CC3300"/>
                </a:solidFill>
                <a:latin typeface="Arial Unicode MS" pitchFamily="50" charset="-127"/>
                <a:ea typeface="Arial Unicode MS" pitchFamily="50" charset="-127"/>
              </a:rPr>
              <a:t>h</a:t>
            </a:r>
            <a:r>
              <a:rPr lang="en-US" altLang="ko-KR" sz="2000">
                <a:solidFill>
                  <a:srgbClr val="009900"/>
                </a:solidFill>
                <a:latin typeface="Arial Unicode MS" pitchFamily="50" charset="-127"/>
                <a:ea typeface="Arial Unicode MS" pitchFamily="50" charset="-127"/>
              </a:rPr>
              <a:t>ost-</a:t>
            </a:r>
            <a:r>
              <a:rPr lang="en-US" altLang="ko-KR" sz="2000">
                <a:solidFill>
                  <a:srgbClr val="CC3300"/>
                </a:solidFill>
                <a:latin typeface="Arial Unicode MS" pitchFamily="50" charset="-127"/>
                <a:ea typeface="Arial Unicode MS" pitchFamily="50" charset="-127"/>
              </a:rPr>
              <a:t>t</a:t>
            </a:r>
            <a:r>
              <a:rPr lang="en-US" altLang="ko-KR" sz="2000">
                <a:solidFill>
                  <a:srgbClr val="009900"/>
                </a:solidFill>
                <a:latin typeface="Arial Unicode MS" pitchFamily="50" charset="-127"/>
                <a:ea typeface="Arial Unicode MS" pitchFamily="50" charset="-127"/>
              </a:rPr>
              <a:t>o-</a:t>
            </a:r>
            <a:r>
              <a:rPr lang="en-US" altLang="ko-KR" sz="2000">
                <a:solidFill>
                  <a:srgbClr val="CC3300"/>
                </a:solidFill>
                <a:latin typeface="Arial Unicode MS" pitchFamily="50" charset="-127"/>
                <a:ea typeface="Arial Unicode MS" pitchFamily="50" charset="-127"/>
              </a:rPr>
              <a:t>n</a:t>
            </a:r>
            <a:r>
              <a:rPr lang="en-US" altLang="ko-KR" sz="2000">
                <a:solidFill>
                  <a:srgbClr val="009900"/>
                </a:solidFill>
                <a:latin typeface="Arial Unicode MS" pitchFamily="50" charset="-127"/>
                <a:ea typeface="Arial Unicode MS" pitchFamily="50" charset="-127"/>
              </a:rPr>
              <a:t>etwork-</a:t>
            </a:r>
            <a:r>
              <a:rPr lang="en-US" altLang="ko-KR" sz="2000">
                <a:solidFill>
                  <a:srgbClr val="CC3300"/>
                </a:solidFill>
                <a:latin typeface="Arial Unicode MS" pitchFamily="50" charset="-127"/>
                <a:ea typeface="Arial Unicode MS" pitchFamily="50" charset="-127"/>
              </a:rPr>
              <a:t>l</a:t>
            </a:r>
            <a:r>
              <a:rPr lang="en-US" altLang="ko-KR" sz="2000">
                <a:solidFill>
                  <a:srgbClr val="009900"/>
                </a:solidFill>
                <a:latin typeface="Arial Unicode MS" pitchFamily="50" charset="-127"/>
                <a:ea typeface="Arial Unicode MS" pitchFamily="50" charset="-127"/>
              </a:rPr>
              <a:t>ong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000">
                <a:latin typeface="Arial Unicode MS" pitchFamily="50" charset="-127"/>
                <a:ea typeface="Arial Unicode MS" pitchFamily="50" charset="-127"/>
              </a:rPr>
              <a:t>u_short ntohs (u_short netshort); </a:t>
            </a:r>
            <a:r>
              <a:rPr lang="en-US" altLang="ko-KR" sz="2000">
                <a:solidFill>
                  <a:srgbClr val="009900"/>
                </a:solidFill>
                <a:latin typeface="Arial Unicode MS" pitchFamily="50" charset="-127"/>
                <a:ea typeface="Arial Unicode MS" pitchFamily="50" charset="-127"/>
              </a:rPr>
              <a:t>// </a:t>
            </a:r>
            <a:r>
              <a:rPr lang="en-US" altLang="ko-KR" sz="2000">
                <a:solidFill>
                  <a:srgbClr val="CC3300"/>
                </a:solidFill>
                <a:latin typeface="Arial Unicode MS" pitchFamily="50" charset="-127"/>
                <a:ea typeface="Arial Unicode MS" pitchFamily="50" charset="-127"/>
              </a:rPr>
              <a:t>n</a:t>
            </a:r>
            <a:r>
              <a:rPr lang="en-US" altLang="ko-KR" sz="2000">
                <a:solidFill>
                  <a:srgbClr val="009900"/>
                </a:solidFill>
                <a:latin typeface="Arial Unicode MS" pitchFamily="50" charset="-127"/>
                <a:ea typeface="Arial Unicode MS" pitchFamily="50" charset="-127"/>
              </a:rPr>
              <a:t>etwork-</a:t>
            </a:r>
            <a:r>
              <a:rPr lang="en-US" altLang="ko-KR" sz="2000">
                <a:solidFill>
                  <a:srgbClr val="CC3300"/>
                </a:solidFill>
                <a:latin typeface="Arial Unicode MS" pitchFamily="50" charset="-127"/>
                <a:ea typeface="Arial Unicode MS" pitchFamily="50" charset="-127"/>
              </a:rPr>
              <a:t>t</a:t>
            </a:r>
            <a:r>
              <a:rPr lang="en-US" altLang="ko-KR" sz="2000">
                <a:solidFill>
                  <a:srgbClr val="009900"/>
                </a:solidFill>
                <a:latin typeface="Arial Unicode MS" pitchFamily="50" charset="-127"/>
                <a:ea typeface="Arial Unicode MS" pitchFamily="50" charset="-127"/>
              </a:rPr>
              <a:t>o-</a:t>
            </a:r>
            <a:r>
              <a:rPr lang="en-US" altLang="ko-KR" sz="2000">
                <a:solidFill>
                  <a:srgbClr val="CC3300"/>
                </a:solidFill>
                <a:latin typeface="Arial Unicode MS" pitchFamily="50" charset="-127"/>
                <a:ea typeface="Arial Unicode MS" pitchFamily="50" charset="-127"/>
              </a:rPr>
              <a:t>h</a:t>
            </a:r>
            <a:r>
              <a:rPr lang="en-US" altLang="ko-KR" sz="2000">
                <a:solidFill>
                  <a:srgbClr val="009900"/>
                </a:solidFill>
                <a:latin typeface="Arial Unicode MS" pitchFamily="50" charset="-127"/>
                <a:ea typeface="Arial Unicode MS" pitchFamily="50" charset="-127"/>
              </a:rPr>
              <a:t>ost-</a:t>
            </a:r>
            <a:r>
              <a:rPr lang="en-US" altLang="ko-KR" sz="2000">
                <a:solidFill>
                  <a:srgbClr val="CC3300"/>
                </a:solidFill>
                <a:latin typeface="Arial Unicode MS" pitchFamily="50" charset="-127"/>
                <a:ea typeface="Arial Unicode MS" pitchFamily="50" charset="-127"/>
              </a:rPr>
              <a:t>s</a:t>
            </a:r>
            <a:r>
              <a:rPr lang="en-US" altLang="ko-KR" sz="2000">
                <a:solidFill>
                  <a:srgbClr val="009900"/>
                </a:solidFill>
                <a:latin typeface="Arial Unicode MS" pitchFamily="50" charset="-127"/>
                <a:ea typeface="Arial Unicode MS" pitchFamily="50" charset="-127"/>
              </a:rPr>
              <a:t>hort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000">
                <a:latin typeface="Arial Unicode MS" pitchFamily="50" charset="-127"/>
                <a:ea typeface="Arial Unicode MS" pitchFamily="50" charset="-127"/>
              </a:rPr>
              <a:t>u_long ntohl (u_long netlong); </a:t>
            </a:r>
            <a:r>
              <a:rPr lang="en-US" altLang="ko-KR" sz="2000">
                <a:solidFill>
                  <a:srgbClr val="009900"/>
                </a:solidFill>
                <a:latin typeface="Arial Unicode MS" pitchFamily="50" charset="-127"/>
                <a:ea typeface="Arial Unicode MS" pitchFamily="50" charset="-127"/>
              </a:rPr>
              <a:t>// </a:t>
            </a:r>
            <a:r>
              <a:rPr lang="en-US" altLang="ko-KR" sz="2000">
                <a:solidFill>
                  <a:srgbClr val="CC3300"/>
                </a:solidFill>
                <a:latin typeface="Arial Unicode MS" pitchFamily="50" charset="-127"/>
                <a:ea typeface="Arial Unicode MS" pitchFamily="50" charset="-127"/>
              </a:rPr>
              <a:t>n</a:t>
            </a:r>
            <a:r>
              <a:rPr lang="en-US" altLang="ko-KR" sz="2000">
                <a:solidFill>
                  <a:srgbClr val="009900"/>
                </a:solidFill>
                <a:latin typeface="Arial Unicode MS" pitchFamily="50" charset="-127"/>
                <a:ea typeface="Arial Unicode MS" pitchFamily="50" charset="-127"/>
              </a:rPr>
              <a:t>etwork-</a:t>
            </a:r>
            <a:r>
              <a:rPr lang="en-US" altLang="ko-KR" sz="2000">
                <a:solidFill>
                  <a:srgbClr val="CC3300"/>
                </a:solidFill>
                <a:latin typeface="Arial Unicode MS" pitchFamily="50" charset="-127"/>
                <a:ea typeface="Arial Unicode MS" pitchFamily="50" charset="-127"/>
              </a:rPr>
              <a:t>t</a:t>
            </a:r>
            <a:r>
              <a:rPr lang="en-US" altLang="ko-KR" sz="2000">
                <a:solidFill>
                  <a:srgbClr val="009900"/>
                </a:solidFill>
                <a:latin typeface="Arial Unicode MS" pitchFamily="50" charset="-127"/>
                <a:ea typeface="Arial Unicode MS" pitchFamily="50" charset="-127"/>
              </a:rPr>
              <a:t>o-</a:t>
            </a:r>
            <a:r>
              <a:rPr lang="en-US" altLang="ko-KR" sz="2000">
                <a:solidFill>
                  <a:srgbClr val="CC3300"/>
                </a:solidFill>
                <a:latin typeface="Arial Unicode MS" pitchFamily="50" charset="-127"/>
                <a:ea typeface="Arial Unicode MS" pitchFamily="50" charset="-127"/>
              </a:rPr>
              <a:t>h</a:t>
            </a:r>
            <a:r>
              <a:rPr lang="en-US" altLang="ko-KR" sz="2000">
                <a:solidFill>
                  <a:srgbClr val="009900"/>
                </a:solidFill>
                <a:latin typeface="Arial Unicode MS" pitchFamily="50" charset="-127"/>
                <a:ea typeface="Arial Unicode MS" pitchFamily="50" charset="-127"/>
              </a:rPr>
              <a:t>ost-</a:t>
            </a:r>
            <a:r>
              <a:rPr lang="en-US" altLang="ko-KR" sz="2000">
                <a:solidFill>
                  <a:srgbClr val="CC3300"/>
                </a:solidFill>
                <a:latin typeface="Arial Unicode MS" pitchFamily="50" charset="-127"/>
                <a:ea typeface="Arial Unicode MS" pitchFamily="50" charset="-127"/>
              </a:rPr>
              <a:t>l</a:t>
            </a:r>
            <a:r>
              <a:rPr lang="en-US" altLang="ko-KR" sz="2000">
                <a:solidFill>
                  <a:srgbClr val="009900"/>
                </a:solidFill>
                <a:latin typeface="Arial Unicode MS" pitchFamily="50" charset="-127"/>
                <a:ea typeface="Arial Unicode MS" pitchFamily="50" charset="-127"/>
              </a:rPr>
              <a:t>ong</a:t>
            </a:r>
          </a:p>
        </p:txBody>
      </p:sp>
      <p:sp>
        <p:nvSpPr>
          <p:cNvPr id="35846" name="Rectangle 5">
            <a:extLst>
              <a:ext uri="{FF2B5EF4-FFF2-40B4-BE49-F238E27FC236}">
                <a16:creationId xmlns:a16="http://schemas.microsoft.com/office/drawing/2014/main" id="{F6B22A43-8045-571F-3930-972591082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352925"/>
            <a:ext cx="7835900" cy="15240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400050"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defTabSz="4000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defTabSz="40005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defTabSz="40005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defTabSz="40005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000">
                <a:latin typeface="Arial Unicode MS" pitchFamily="50" charset="-127"/>
                <a:ea typeface="Arial Unicode MS" pitchFamily="50" charset="-127"/>
              </a:rPr>
              <a:t>int WSAHtons (SOCKET s, u_short hostshort, u_short* lpnetshort);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000">
                <a:latin typeface="Arial Unicode MS" pitchFamily="50" charset="-127"/>
                <a:ea typeface="Arial Unicode MS" pitchFamily="50" charset="-127"/>
              </a:rPr>
              <a:t>int WSAHtonl (SOCKET s, u_long hostlong, u_long* lpnetlong);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000">
                <a:latin typeface="Arial Unicode MS" pitchFamily="50" charset="-127"/>
                <a:ea typeface="Arial Unicode MS" pitchFamily="50" charset="-127"/>
              </a:rPr>
              <a:t>int WSANtohs (SOCKET s, u_short netshort, u_short* lphostshort);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000">
                <a:latin typeface="Arial Unicode MS" pitchFamily="50" charset="-127"/>
                <a:ea typeface="Arial Unicode MS" pitchFamily="50" charset="-127"/>
              </a:rPr>
              <a:t>int WSANtohl (SOCKET s, u_long netlong, u_long* lphostlong);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바닥글 개체 틀 3">
            <a:extLst>
              <a:ext uri="{FF2B5EF4-FFF2-40B4-BE49-F238E27FC236}">
                <a16:creationId xmlns:a16="http://schemas.microsoft.com/office/drawing/2014/main" id="{BC43D47A-61B3-4079-CD36-EBE315E652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019F12F9-5243-FC9D-11BA-4BFAA6BD6A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sz="2400"/>
              <a:t> TCP </a:t>
            </a:r>
            <a:r>
              <a:rPr lang="en-US" altLang="ko-KR" sz="2400">
                <a:latin typeface="Times New Roman" panose="02020603050405020304" pitchFamily="18" charset="0"/>
              </a:rPr>
              <a:t>–</a:t>
            </a:r>
            <a:r>
              <a:rPr lang="en-US" altLang="ko-KR" sz="2400"/>
              <a:t> </a:t>
            </a:r>
            <a:r>
              <a:rPr lang="ko-KR" altLang="en-US" sz="2400"/>
              <a:t>기타 함수</a:t>
            </a:r>
            <a:endParaRPr lang="ko-KR" altLang="en-US"/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BC24B100-CF6D-92E4-B896-B1CB00F76D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/>
              <a:t>IP </a:t>
            </a:r>
            <a:r>
              <a:rPr lang="ko-KR" altLang="en-US"/>
              <a:t>주소 변환 함수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/>
              <a:t>unsigned long inet_addr (const char* cp);</a:t>
            </a:r>
          </a:p>
          <a:p>
            <a:pPr lvl="2" eaLnBrk="1" hangingPunct="1">
              <a:lnSpc>
                <a:spcPct val="90000"/>
              </a:lnSpc>
            </a:pPr>
            <a:r>
              <a:rPr lang="ko-KR" altLang="en-US"/>
              <a:t>문자열 형태로 </a:t>
            </a:r>
            <a:r>
              <a:rPr lang="en-US" altLang="ko-KR"/>
              <a:t>IP </a:t>
            </a:r>
            <a:r>
              <a:rPr lang="ko-KR" altLang="en-US"/>
              <a:t>주소를 입력받아 </a:t>
            </a:r>
            <a:r>
              <a:rPr lang="en-US" altLang="ko-KR"/>
              <a:t>32</a:t>
            </a:r>
            <a:r>
              <a:rPr lang="ko-KR" altLang="en-US"/>
              <a:t>비트 숫자</a:t>
            </a:r>
            <a:r>
              <a:rPr lang="en-US" altLang="ko-KR"/>
              <a:t>(</a:t>
            </a:r>
            <a:r>
              <a:rPr lang="ko-KR" altLang="en-US">
                <a:solidFill>
                  <a:srgbClr val="0000CC"/>
                </a:solidFill>
              </a:rPr>
              <a:t>네트워크 바이트 정렬</a:t>
            </a:r>
            <a:r>
              <a:rPr lang="en-US" altLang="ko-KR"/>
              <a:t>)</a:t>
            </a:r>
            <a:r>
              <a:rPr lang="ko-KR" altLang="en-US"/>
              <a:t>로 리턴</a:t>
            </a:r>
          </a:p>
          <a:p>
            <a:pPr lvl="1" eaLnBrk="1" hangingPunct="1">
              <a:lnSpc>
                <a:spcPct val="90000"/>
              </a:lnSpc>
            </a:pPr>
            <a:endParaRPr lang="ko-KR" altLang="en-US"/>
          </a:p>
          <a:p>
            <a:pPr lvl="1" eaLnBrk="1" hangingPunct="1">
              <a:lnSpc>
                <a:spcPct val="90000"/>
              </a:lnSpc>
            </a:pPr>
            <a:r>
              <a:rPr lang="en-US" altLang="ko-KR"/>
              <a:t>char* inet_ntoa (struct in_addr in);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>
                <a:solidFill>
                  <a:srgbClr val="CC3300"/>
                </a:solidFill>
              </a:rPr>
              <a:t>n</a:t>
            </a:r>
            <a:r>
              <a:rPr lang="en-US" altLang="ko-KR">
                <a:solidFill>
                  <a:srgbClr val="009900"/>
                </a:solidFill>
              </a:rPr>
              <a:t>etwork-</a:t>
            </a:r>
            <a:r>
              <a:rPr lang="en-US" altLang="ko-KR">
                <a:solidFill>
                  <a:srgbClr val="CC3300"/>
                </a:solidFill>
              </a:rPr>
              <a:t>to</a:t>
            </a:r>
            <a:r>
              <a:rPr lang="en-US" altLang="ko-KR">
                <a:solidFill>
                  <a:srgbClr val="009900"/>
                </a:solidFill>
              </a:rPr>
              <a:t>-</a:t>
            </a:r>
            <a:r>
              <a:rPr lang="en-US" altLang="ko-KR">
                <a:solidFill>
                  <a:srgbClr val="CC3300"/>
                </a:solidFill>
              </a:rPr>
              <a:t>a</a:t>
            </a:r>
            <a:r>
              <a:rPr lang="en-US" altLang="ko-KR">
                <a:solidFill>
                  <a:srgbClr val="009900"/>
                </a:solidFill>
              </a:rPr>
              <a:t>scii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/>
              <a:t>32</a:t>
            </a:r>
            <a:r>
              <a:rPr lang="ko-KR" altLang="en-US"/>
              <a:t>비트 숫자</a:t>
            </a:r>
            <a:r>
              <a:rPr lang="en-US" altLang="ko-KR"/>
              <a:t>(</a:t>
            </a:r>
            <a:r>
              <a:rPr lang="ko-KR" altLang="en-US">
                <a:solidFill>
                  <a:srgbClr val="0000CC"/>
                </a:solidFill>
              </a:rPr>
              <a:t>네트워크 바이트 정렬</a:t>
            </a:r>
            <a:r>
              <a:rPr lang="en-US" altLang="ko-KR"/>
              <a:t>)</a:t>
            </a:r>
            <a:r>
              <a:rPr lang="ko-KR" altLang="en-US"/>
              <a:t>로 </a:t>
            </a:r>
            <a:r>
              <a:rPr lang="en-US" altLang="ko-KR"/>
              <a:t>IP </a:t>
            </a:r>
            <a:r>
              <a:rPr lang="ko-KR" altLang="en-US"/>
              <a:t>주소를 문자열 형태로 리턴</a:t>
            </a:r>
          </a:p>
          <a:p>
            <a:pPr lvl="2" eaLnBrk="1" hangingPunct="1">
              <a:lnSpc>
                <a:spcPct val="90000"/>
              </a:lnSpc>
            </a:pPr>
            <a:endParaRPr lang="ko-KR" altLang="en-US"/>
          </a:p>
          <a:p>
            <a:pPr lvl="1" eaLnBrk="1" hangingPunct="1">
              <a:lnSpc>
                <a:spcPct val="90000"/>
              </a:lnSpc>
            </a:pPr>
            <a:r>
              <a:rPr lang="en-US" altLang="ko-KR"/>
              <a:t>struct hostent* gethostbyname ();</a:t>
            </a:r>
          </a:p>
          <a:p>
            <a:pPr lvl="2" eaLnBrk="1" hangingPunct="1">
              <a:lnSpc>
                <a:spcPct val="90000"/>
              </a:lnSpc>
            </a:pPr>
            <a:r>
              <a:rPr lang="ko-KR" altLang="en-US"/>
              <a:t>도메인 이름 </a:t>
            </a:r>
            <a:r>
              <a:rPr lang="ko-KR" altLang="en-US">
                <a:sym typeface="Wingdings 3" panose="05040102010807070707" pitchFamily="18" charset="2"/>
              </a:rPr>
              <a:t></a:t>
            </a:r>
            <a:r>
              <a:rPr lang="ko-KR" altLang="en-US"/>
              <a:t> </a:t>
            </a:r>
            <a:r>
              <a:rPr lang="en-US" altLang="ko-KR"/>
              <a:t>IP </a:t>
            </a:r>
            <a:r>
              <a:rPr lang="ko-KR" altLang="en-US"/>
              <a:t>주소</a:t>
            </a:r>
            <a:r>
              <a:rPr lang="en-US" altLang="ko-KR"/>
              <a:t>(</a:t>
            </a:r>
            <a:r>
              <a:rPr lang="ko-KR" altLang="en-US"/>
              <a:t>네트워크 바이트 정렬</a:t>
            </a:r>
            <a:r>
              <a:rPr lang="en-US" altLang="ko-KR"/>
              <a:t>)</a:t>
            </a:r>
          </a:p>
          <a:p>
            <a:pPr lvl="1" eaLnBrk="1" hangingPunct="1">
              <a:lnSpc>
                <a:spcPct val="90000"/>
              </a:lnSpc>
            </a:pPr>
            <a:endParaRPr lang="en-US" altLang="ko-KR"/>
          </a:p>
          <a:p>
            <a:pPr lvl="1" eaLnBrk="1" hangingPunct="1">
              <a:lnSpc>
                <a:spcPct val="90000"/>
              </a:lnSpc>
            </a:pPr>
            <a:r>
              <a:rPr lang="en-US" altLang="ko-KR"/>
              <a:t>struct hostent* gethostbyaddr (</a:t>
            </a:r>
            <a:r>
              <a:rPr lang="en-US" altLang="ko-KR">
                <a:latin typeface="Times New Roman" panose="02020603050405020304" pitchFamily="18" charset="0"/>
              </a:rPr>
              <a:t>…</a:t>
            </a:r>
            <a:r>
              <a:rPr lang="en-US" altLang="ko-KR"/>
              <a:t>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/>
              <a:t>IP </a:t>
            </a:r>
            <a:r>
              <a:rPr lang="ko-KR" altLang="en-US"/>
              <a:t>주소</a:t>
            </a:r>
            <a:r>
              <a:rPr lang="en-US" altLang="ko-KR"/>
              <a:t>(</a:t>
            </a:r>
            <a:r>
              <a:rPr lang="ko-KR" altLang="en-US"/>
              <a:t>네트워크 바이트 정렬</a:t>
            </a:r>
            <a:r>
              <a:rPr lang="en-US" altLang="ko-KR"/>
              <a:t>) </a:t>
            </a:r>
            <a:r>
              <a:rPr lang="en-US" altLang="ko-KR">
                <a:sym typeface="Wingdings 3" panose="05040102010807070707" pitchFamily="18" charset="2"/>
              </a:rPr>
              <a:t></a:t>
            </a:r>
            <a:r>
              <a:rPr lang="en-US" altLang="ko-KR"/>
              <a:t> </a:t>
            </a:r>
            <a:r>
              <a:rPr lang="ko-KR" altLang="en-US"/>
              <a:t>도메인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가을체"/>
        <a:ea typeface="가을체"/>
        <a:cs typeface=""/>
      </a:majorFont>
      <a:minorFont>
        <a:latin typeface="가을체"/>
        <a:ea typeface="가을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2486</TotalTime>
  <Words>2768</Words>
  <Application>Microsoft Office PowerPoint</Application>
  <PresentationFormat>화면 슬라이드 쇼(4:3)</PresentationFormat>
  <Paragraphs>610</Paragraphs>
  <Slides>39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9" baseType="lpstr">
      <vt:lpstr>Arial Unicode MS</vt:lpstr>
      <vt:lpstr>HY견고딕</vt:lpstr>
      <vt:lpstr>가을체</vt:lpstr>
      <vt:lpstr>굴림</vt:lpstr>
      <vt:lpstr>Arial</vt:lpstr>
      <vt:lpstr>Times New Roman</vt:lpstr>
      <vt:lpstr>Wingdings</vt:lpstr>
      <vt:lpstr>Wingdings 2</vt:lpstr>
      <vt:lpstr>Wingdings 3</vt:lpstr>
      <vt:lpstr>기본 디자인</vt:lpstr>
      <vt:lpstr>Network Programming - 01  afewhee@gmail.com</vt:lpstr>
      <vt:lpstr>0. 목차</vt:lpstr>
      <vt:lpstr>1. 네트워크</vt:lpstr>
      <vt:lpstr>1. 네트워크</vt:lpstr>
      <vt:lpstr>1. 네트워크 - TCP/IP 프로토콜 구조</vt:lpstr>
      <vt:lpstr>1. 네트워크 - TCP/IP 프로토콜 구조</vt:lpstr>
      <vt:lpstr>1. 네트워크 - TCP/IP 프로토콜 구조</vt:lpstr>
      <vt:lpstr>1. 네트워크 - TCP/IP 프로토콜 구조</vt:lpstr>
      <vt:lpstr>1. 네트워크 - TCP/IP 프로토콜 구조</vt:lpstr>
      <vt:lpstr>1. 네트워크 - 패킷</vt:lpstr>
      <vt:lpstr> 네트워크 - 패킷</vt:lpstr>
      <vt:lpstr> 네트워크 - 패킷</vt:lpstr>
      <vt:lpstr> 네트워크 – TCP -Header</vt:lpstr>
      <vt:lpstr> 네트워크 – TCP -Header</vt:lpstr>
      <vt:lpstr> 네트워크 – IP - Header</vt:lpstr>
      <vt:lpstr> 네트워크 – IP - Header</vt:lpstr>
      <vt:lpstr> 네트워크 – IP - Header</vt:lpstr>
      <vt:lpstr> 네트워크 - IP, Port</vt:lpstr>
      <vt:lpstr> 네트워크 - IP, Port</vt:lpstr>
      <vt:lpstr> 소켓 - 개요</vt:lpstr>
      <vt:lpstr> 소켓 - 개요</vt:lpstr>
      <vt:lpstr> 소켓 - 개요</vt:lpstr>
      <vt:lpstr> 소켓 - 개요</vt:lpstr>
      <vt:lpstr> 소켓 - 개요</vt:lpstr>
      <vt:lpstr> 소켓 - 윈속</vt:lpstr>
      <vt:lpstr> 소켓 - 윈속</vt:lpstr>
      <vt:lpstr> 소켓 - 윈속</vt:lpstr>
      <vt:lpstr> 소켓 - 윈속</vt:lpstr>
      <vt:lpstr> 소켓 - 윈속</vt:lpstr>
      <vt:lpstr> 소켓 - 윈속</vt:lpstr>
      <vt:lpstr> 소켓 - 윈속</vt:lpstr>
      <vt:lpstr>TCP – Winsock 기반</vt:lpstr>
      <vt:lpstr>TCP - 윈속 함수</vt:lpstr>
      <vt:lpstr>TCP - 윈속 함수</vt:lpstr>
      <vt:lpstr>TCP – 함수</vt:lpstr>
      <vt:lpstr>TCP – 함수</vt:lpstr>
      <vt:lpstr>TCP – 바이트 정렬 함수</vt:lpstr>
      <vt:lpstr> TCP – 바이트 정렬 함수</vt:lpstr>
      <vt:lpstr> TCP – 기타 함수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166</cp:revision>
  <dcterms:created xsi:type="dcterms:W3CDTF">2003-11-30T16:03:20Z</dcterms:created>
  <dcterms:modified xsi:type="dcterms:W3CDTF">2026-03-11T10:35:36Z</dcterms:modified>
</cp:coreProperties>
</file>