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56" r:id="rId2"/>
    <p:sldId id="268" r:id="rId3"/>
    <p:sldId id="270" r:id="rId4"/>
    <p:sldId id="272" r:id="rId5"/>
    <p:sldId id="273" r:id="rId6"/>
    <p:sldId id="310" r:id="rId7"/>
    <p:sldId id="274" r:id="rId8"/>
    <p:sldId id="275" r:id="rId9"/>
    <p:sldId id="311" r:id="rId10"/>
    <p:sldId id="312" r:id="rId11"/>
    <p:sldId id="316" r:id="rId12"/>
    <p:sldId id="317" r:id="rId13"/>
    <p:sldId id="318" r:id="rId14"/>
    <p:sldId id="313" r:id="rId15"/>
    <p:sldId id="314" r:id="rId16"/>
    <p:sldId id="321" r:id="rId17"/>
    <p:sldId id="319" r:id="rId18"/>
    <p:sldId id="322" r:id="rId19"/>
    <p:sldId id="320" r:id="rId20"/>
    <p:sldId id="323" r:id="rId21"/>
    <p:sldId id="324" r:id="rId22"/>
    <p:sldId id="325" r:id="rId23"/>
    <p:sldId id="294" r:id="rId24"/>
    <p:sldId id="326" r:id="rId25"/>
    <p:sldId id="327" r:id="rId26"/>
    <p:sldId id="299" r:id="rId27"/>
    <p:sldId id="306" r:id="rId28"/>
    <p:sldId id="328" r:id="rId29"/>
    <p:sldId id="276" r:id="rId30"/>
    <p:sldId id="329" r:id="rId31"/>
    <p:sldId id="330" r:id="rId32"/>
    <p:sldId id="304" r:id="rId33"/>
    <p:sldId id="305" r:id="rId34"/>
    <p:sldId id="302" r:id="rId35"/>
    <p:sldId id="287" r:id="rId36"/>
    <p:sldId id="288" r:id="rId37"/>
    <p:sldId id="289" r:id="rId38"/>
    <p:sldId id="307" r:id="rId39"/>
    <p:sldId id="308" r:id="rId40"/>
    <p:sldId id="309" r:id="rId41"/>
  </p:sldIdLst>
  <p:sldSz cx="9144000" cy="6858000" type="screen4x3"/>
  <p:notesSz cx="6858000" cy="9144000"/>
  <p:embeddedFontLst>
    <p:embeddedFont>
      <p:font typeface="D2Coding" panose="020B0600000101010101" charset="-127"/>
      <p:regular r:id="rId43"/>
      <p:bold r:id="rId44"/>
    </p:embeddedFont>
    <p:embeddedFont>
      <p:font typeface="나눔바른고딕" panose="020B0600000101010101" charset="-127"/>
      <p:regular r:id="rId45"/>
      <p:bold r:id="rId46"/>
    </p:embeddedFont>
    <p:embeddedFont>
      <p:font typeface="Arial Black" panose="020B0A04020102020204" pitchFamily="34" charset="0"/>
      <p:bold r:id="rId47"/>
    </p:embeddedFont>
    <p:embeddedFont>
      <p:font typeface="Bitstream Vera Sans Mono" panose="020B0609030804020204" pitchFamily="49" charset="-127"/>
      <p:regular r:id="rId48"/>
    </p:embeddedFont>
    <p:embeddedFont>
      <p:font typeface="HY견고딕" panose="02030600000101010101" pitchFamily="18" charset="-127"/>
      <p:regular r:id="rId49"/>
    </p:embeddedFont>
    <p:embeddedFont>
      <p:font typeface="가을체" panose="02030600000101010101" pitchFamily="18" charset="-127"/>
      <p:regular r:id="rId5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216F85"/>
    <a:srgbClr val="FFFFCC"/>
    <a:srgbClr val="CCFFFF"/>
    <a:srgbClr val="FFFF99"/>
    <a:srgbClr val="FF9900"/>
    <a:srgbClr val="66FF33"/>
    <a:srgbClr val="FF33CC"/>
    <a:srgbClr val="00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9" autoAdjust="0"/>
    <p:restoredTop sz="94603" autoAdjust="0"/>
  </p:normalViewPr>
  <p:slideViewPr>
    <p:cSldViewPr>
      <p:cViewPr>
        <p:scale>
          <a:sx n="100" d="100"/>
          <a:sy n="100" d="100"/>
        </p:scale>
        <p:origin x="2406" y="156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17C9091-ADC4-FDA3-B459-1EF515A753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4D34714-BD5B-35DF-1B0A-E39894A5BD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9419A26-ACD3-28AA-730B-2063CEF7FC8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5A9364B-5D8F-7FFD-A8E8-5C94F5FE1C5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F7D65D0C-439F-6EB4-1697-3C4EDDEB28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F3CB6E4E-E5BA-8A92-6B03-DEA0C63F93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B63426EC-C727-4356-BE1D-89EA6482A4D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4025507E-F972-10CC-C775-801C5E108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D0C6E2D-8EB9-492C-A2C2-68CB8754FDED}" type="slidenum">
              <a:rPr lang="en-US" altLang="ko-KR" smtClean="0"/>
              <a:pPr>
                <a:spcBef>
                  <a:spcPct val="0"/>
                </a:spcBef>
              </a:pPr>
              <a:t>34</a:t>
            </a:fld>
            <a:endParaRPr lang="en-US" altLang="ko-KR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C9376E2-30CD-1AD6-B683-6E939CBD7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87388"/>
            <a:ext cx="4567237" cy="3425825"/>
          </a:xfrm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9832BB3-22E1-C31B-0FC6-73012B430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4988"/>
            <a:ext cx="5029200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ko-KR" alt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A6E089D-51B3-1008-8E5F-A2A2967AF9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8692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692150"/>
            <a:ext cx="8496622" cy="58324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32476F5-63FD-E041-03BB-529A4A243A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4284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716DD9D-7D8E-463B-BDC1-E7D661CE64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8533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5BF3736-A910-E62D-8C71-E5249B9F0E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6072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E37FD7F-1505-B5E4-5D66-FB28C2E98C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5650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992DBC9-FF3D-BEE5-FD76-9B190A3982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4507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08BDD95-193F-6A40-75EC-B1142D56DD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35815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699C211-28B1-15E0-439F-3D6F1338CC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41786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9867AF6-0D43-E640-1856-B9ACD7A1B2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7916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57AAF14-E05D-0BC6-7FB9-E12438DE92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4021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1167EA5-26EA-4136-CFE6-14E5213F44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881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CBEB53-BAEA-F728-66FF-517E406E7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14F852-7B83-40D8-1B99-553BEAADCD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18C0C56-9E17-B874-3532-6CEBABDCAC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714DBB7D-F13F-F7DE-5988-EC23965FCA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anose="020B0600000101010101" pitchFamily="50" charset="-127"/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바닥글 개체 틀 3">
            <a:extLst>
              <a:ext uri="{FF2B5EF4-FFF2-40B4-BE49-F238E27FC236}">
                <a16:creationId xmlns:a16="http://schemas.microsoft.com/office/drawing/2014/main" id="{697B0879-33D9-7151-84A7-458E84169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C523DA16-44D6-123E-18D8-C897F45758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708275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200" dirty="0">
                <a:solidFill>
                  <a:schemeClr val="tx1"/>
                </a:solidFill>
              </a:rPr>
              <a:t>Network Programming - 04</a:t>
            </a:r>
            <a:br>
              <a:rPr lang="en-US" altLang="ko-KR" sz="3200" dirty="0">
                <a:solidFill>
                  <a:schemeClr val="tx1"/>
                </a:solidFill>
              </a:rPr>
            </a:b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afewhee@gmail.com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바닥글 개체 틀 3">
            <a:extLst>
              <a:ext uri="{FF2B5EF4-FFF2-40B4-BE49-F238E27FC236}">
                <a16:creationId xmlns:a16="http://schemas.microsoft.com/office/drawing/2014/main" id="{79C6FF25-FF15-D54D-B894-3A6F6F98B4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0D3FC74-1033-3F28-E69A-044F6CB2C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0. </a:t>
            </a:r>
            <a:r>
              <a:rPr lang="ko-KR" altLang="en-US" sz="2400" dirty="0"/>
              <a:t>목차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3213FE76-0744-46BF-FBC5-D84850076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I/O </a:t>
            </a:r>
            <a:r>
              <a:rPr lang="ko-KR" altLang="en-US" dirty="0"/>
              <a:t>모델</a:t>
            </a:r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en-US" altLang="en-US" dirty="0"/>
              <a:t>IOCP</a:t>
            </a:r>
            <a:endParaRPr lang="en-US" altLang="ko-KR" dirty="0"/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네트워크 </a:t>
            </a:r>
            <a:r>
              <a:rPr lang="en-US" altLang="ko-KR" dirty="0"/>
              <a:t>Util</a:t>
            </a:r>
          </a:p>
          <a:p>
            <a:pPr lvl="1" eaLnBrk="1" hangingPunct="1"/>
            <a:r>
              <a:rPr lang="en-US" altLang="en-US" dirty="0"/>
              <a:t>메시지 큐, 링 버퍼</a:t>
            </a:r>
            <a:endParaRPr lang="ko-KR" altLang="en-US" dirty="0"/>
          </a:p>
          <a:p>
            <a:pPr lvl="1" eaLnBrk="1" hangingPunct="1"/>
            <a:r>
              <a:rPr lang="en-US" altLang="en-US" dirty="0"/>
              <a:t>패킷 디자인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바닥글 개체 틀 3">
            <a:extLst>
              <a:ext uri="{FF2B5EF4-FFF2-40B4-BE49-F238E27FC236}">
                <a16:creationId xmlns:a16="http://schemas.microsoft.com/office/drawing/2014/main" id="{E63D0032-989D-1101-16F3-8C68EDF159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DCE3F51-00C9-8925-B847-01AEBE783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</a:t>
            </a:r>
            <a:r>
              <a:rPr lang="en-US" altLang="ko-KR" sz="2400" dirty="0"/>
              <a:t>: </a:t>
            </a:r>
            <a:r>
              <a:rPr lang="ko-KR" altLang="en-US" sz="2400" dirty="0"/>
              <a:t>동기식</a:t>
            </a:r>
            <a:r>
              <a:rPr lang="en-US" altLang="ko-KR" sz="2400" dirty="0"/>
              <a:t>-</a:t>
            </a:r>
            <a:r>
              <a:rPr lang="ko-KR" altLang="en-US" sz="2400" dirty="0"/>
              <a:t>비동기식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4D832437-56F3-D9D0-BA04-CE815B7EE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z="2000" dirty="0"/>
              <a:t>동기식</a:t>
            </a:r>
            <a:r>
              <a:rPr lang="en-US" altLang="ko-KR" sz="2000" dirty="0"/>
              <a:t>(Synchronous)</a:t>
            </a:r>
            <a:r>
              <a:rPr lang="ko-KR" altLang="en-US" sz="2000" dirty="0"/>
              <a:t> 입출력</a:t>
            </a:r>
          </a:p>
          <a:p>
            <a:pPr eaLnBrk="1" hangingPunct="1"/>
            <a:endParaRPr lang="ko-KR" altLang="en-US" sz="2000" dirty="0"/>
          </a:p>
          <a:p>
            <a:pPr eaLnBrk="1" hangingPunct="1"/>
            <a:endParaRPr lang="ko-KR" altLang="en-US" sz="2000" dirty="0"/>
          </a:p>
          <a:p>
            <a:pPr eaLnBrk="1" hangingPunct="1"/>
            <a:endParaRPr lang="ko-KR" altLang="en-US" sz="2000" dirty="0"/>
          </a:p>
          <a:p>
            <a:pPr eaLnBrk="1" hangingPunct="1"/>
            <a:endParaRPr lang="ko-KR" altLang="en-US" sz="2000" dirty="0"/>
          </a:p>
          <a:p>
            <a:pPr eaLnBrk="1" hangingPunct="1"/>
            <a:endParaRPr lang="ko-KR" altLang="en-US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lvl="1" eaLnBrk="1" hangingPunct="1"/>
            <a:endParaRPr lang="ko-KR" altLang="en-US" sz="1600" dirty="0"/>
          </a:p>
          <a:p>
            <a:pPr eaLnBrk="1" hangingPunct="1"/>
            <a:r>
              <a:rPr lang="ko-KR" altLang="en-US" sz="2000" dirty="0"/>
              <a:t>비동기식</a:t>
            </a:r>
            <a:r>
              <a:rPr lang="en-US" altLang="ko-KR" sz="2000" dirty="0"/>
              <a:t>(Asynchronous)</a:t>
            </a:r>
            <a:r>
              <a:rPr lang="ko-KR" altLang="en-US" sz="2000" dirty="0"/>
              <a:t> 입출력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ko-KR" sz="2400" dirty="0"/>
          </a:p>
        </p:txBody>
      </p:sp>
      <p:grpSp>
        <p:nvGrpSpPr>
          <p:cNvPr id="5125" name="Group 4">
            <a:extLst>
              <a:ext uri="{FF2B5EF4-FFF2-40B4-BE49-F238E27FC236}">
                <a16:creationId xmlns:a16="http://schemas.microsoft.com/office/drawing/2014/main" id="{8DE8F379-7EDD-C63C-3585-744E3EDFE8ED}"/>
              </a:ext>
            </a:extLst>
          </p:cNvPr>
          <p:cNvGrpSpPr>
            <a:grpSpLocks/>
          </p:cNvGrpSpPr>
          <p:nvPr/>
        </p:nvGrpSpPr>
        <p:grpSpPr bwMode="auto">
          <a:xfrm>
            <a:off x="2843808" y="1324925"/>
            <a:ext cx="4485697" cy="2200173"/>
            <a:chOff x="336" y="816"/>
            <a:chExt cx="5088" cy="2304"/>
          </a:xfrm>
        </p:grpSpPr>
        <p:grpSp>
          <p:nvGrpSpPr>
            <p:cNvPr id="5155" name="Group 5">
              <a:extLst>
                <a:ext uri="{FF2B5EF4-FFF2-40B4-BE49-F238E27FC236}">
                  <a16:creationId xmlns:a16="http://schemas.microsoft.com/office/drawing/2014/main" id="{33733BCE-AAF4-DF72-19D9-750EC11287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488"/>
              <a:ext cx="3984" cy="768"/>
              <a:chOff x="624" y="1488"/>
              <a:chExt cx="4368" cy="768"/>
            </a:xfrm>
          </p:grpSpPr>
          <p:sp>
            <p:nvSpPr>
              <p:cNvPr id="5177" name="Line 6">
                <a:extLst>
                  <a:ext uri="{FF2B5EF4-FFF2-40B4-BE49-F238E27FC236}">
                    <a16:creationId xmlns:a16="http://schemas.microsoft.com/office/drawing/2014/main" id="{52004E6D-F2FA-EB1A-29EC-A911E8F0BA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488"/>
                <a:ext cx="43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178" name="Line 7">
                <a:extLst>
                  <a:ext uri="{FF2B5EF4-FFF2-40B4-BE49-F238E27FC236}">
                    <a16:creationId xmlns:a16="http://schemas.microsoft.com/office/drawing/2014/main" id="{B857188E-D32F-2F44-EE4A-4DB38291CC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256"/>
                <a:ext cx="43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5156" name="Line 8">
              <a:extLst>
                <a:ext uri="{FF2B5EF4-FFF2-40B4-BE49-F238E27FC236}">
                  <a16:creationId xmlns:a16="http://schemas.microsoft.com/office/drawing/2014/main" id="{01215882-99C1-AEA7-EC31-7A8D4F3D63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7" name="Line 9">
              <a:extLst>
                <a:ext uri="{FF2B5EF4-FFF2-40B4-BE49-F238E27FC236}">
                  <a16:creationId xmlns:a16="http://schemas.microsoft.com/office/drawing/2014/main" id="{4C264688-71A1-0783-AE38-0C4566B23A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8" name="Line 10">
              <a:extLst>
                <a:ext uri="{FF2B5EF4-FFF2-40B4-BE49-F238E27FC236}">
                  <a16:creationId xmlns:a16="http://schemas.microsoft.com/office/drawing/2014/main" id="{8688857D-E88B-8F54-965D-026BAF755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9" name="Line 11">
              <a:extLst>
                <a:ext uri="{FF2B5EF4-FFF2-40B4-BE49-F238E27FC236}">
                  <a16:creationId xmlns:a16="http://schemas.microsoft.com/office/drawing/2014/main" id="{102E8322-AFF6-CD60-588E-0FDB54635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60" name="Line 12">
              <a:extLst>
                <a:ext uri="{FF2B5EF4-FFF2-40B4-BE49-F238E27FC236}">
                  <a16:creationId xmlns:a16="http://schemas.microsoft.com/office/drawing/2014/main" id="{D64CFBD2-3484-0328-D7E4-5182A7E68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61" name="Line 13">
              <a:extLst>
                <a:ext uri="{FF2B5EF4-FFF2-40B4-BE49-F238E27FC236}">
                  <a16:creationId xmlns:a16="http://schemas.microsoft.com/office/drawing/2014/main" id="{C529F875-C422-3E4B-DCB2-6FC6D42B8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62" name="Rectangle 14">
              <a:extLst>
                <a:ext uri="{FF2B5EF4-FFF2-40B4-BE49-F238E27FC236}">
                  <a16:creationId xmlns:a16="http://schemas.microsoft.com/office/drawing/2014/main" id="{2F3DA018-091A-50F1-BEE7-0667F5921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3" name="Rectangle 15">
              <a:extLst>
                <a:ext uri="{FF2B5EF4-FFF2-40B4-BE49-F238E27FC236}">
                  <a16:creationId xmlns:a16="http://schemas.microsoft.com/office/drawing/2014/main" id="{2F2F02B8-D580-FC6C-9B7C-F296C80EC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4" name="Rectangle 16">
              <a:extLst>
                <a:ext uri="{FF2B5EF4-FFF2-40B4-BE49-F238E27FC236}">
                  <a16:creationId xmlns:a16="http://schemas.microsoft.com/office/drawing/2014/main" id="{03BE6B96-28E4-3995-82D7-C1A6DFA08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2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5" name="Rectangle 17">
              <a:extLst>
                <a:ext uri="{FF2B5EF4-FFF2-40B4-BE49-F238E27FC236}">
                  <a16:creationId xmlns:a16="http://schemas.microsoft.com/office/drawing/2014/main" id="{D9CE843C-E240-FA8E-FE04-D6EFAC632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392"/>
              <a:ext cx="192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6" name="Rectangle 18">
              <a:extLst>
                <a:ext uri="{FF2B5EF4-FFF2-40B4-BE49-F238E27FC236}">
                  <a16:creationId xmlns:a16="http://schemas.microsoft.com/office/drawing/2014/main" id="{C41A10C5-5379-6B5F-1AA0-5073315BF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56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7" name="Rectangle 19">
              <a:extLst>
                <a:ext uri="{FF2B5EF4-FFF2-40B4-BE49-F238E27FC236}">
                  <a16:creationId xmlns:a16="http://schemas.microsoft.com/office/drawing/2014/main" id="{F140D386-700D-34E8-FE23-509AA0DCC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256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8" name="Rectangle 20">
              <a:extLst>
                <a:ext uri="{FF2B5EF4-FFF2-40B4-BE49-F238E27FC236}">
                  <a16:creationId xmlns:a16="http://schemas.microsoft.com/office/drawing/2014/main" id="{B9BE30F6-E07C-10D5-8075-D233176E2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92"/>
              <a:ext cx="192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69" name="Line 21">
              <a:extLst>
                <a:ext uri="{FF2B5EF4-FFF2-40B4-BE49-F238E27FC236}">
                  <a16:creationId xmlns:a16="http://schemas.microsoft.com/office/drawing/2014/main" id="{4793F1CA-FFAB-3C07-71D5-DBFDCF5BB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56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70" name="Rectangle 22">
              <a:extLst>
                <a:ext uri="{FF2B5EF4-FFF2-40B4-BE49-F238E27FC236}">
                  <a16:creationId xmlns:a16="http://schemas.microsoft.com/office/drawing/2014/main" id="{4A8856B5-ED51-57F2-77B8-6746232F1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392"/>
              <a:ext cx="144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000" b="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000" b="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endParaRPr lang="en-US" altLang="ko-KR" sz="1000" b="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171" name="Rectangle 23">
              <a:extLst>
                <a:ext uri="{FF2B5EF4-FFF2-40B4-BE49-F238E27FC236}">
                  <a16:creationId xmlns:a16="http://schemas.microsoft.com/office/drawing/2014/main" id="{E52C9B95-0300-CEFD-2380-139F9D3B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96"/>
              <a:ext cx="1056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 코드</a:t>
              </a:r>
            </a:p>
          </p:txBody>
        </p:sp>
        <p:sp>
          <p:nvSpPr>
            <p:cNvPr id="5172" name="Rectangle 24">
              <a:extLst>
                <a:ext uri="{FF2B5EF4-FFF2-40B4-BE49-F238E27FC236}">
                  <a16:creationId xmlns:a16="http://schemas.microsoft.com/office/drawing/2014/main" id="{464D6CE6-C5E2-1FAE-4581-D6CD4D260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60"/>
              <a:ext cx="1056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운영체제 코드</a:t>
              </a:r>
            </a:p>
          </p:txBody>
        </p:sp>
        <p:sp>
          <p:nvSpPr>
            <p:cNvPr id="5173" name="Rectangle 25">
              <a:extLst>
                <a:ext uri="{FF2B5EF4-FFF2-40B4-BE49-F238E27FC236}">
                  <a16:creationId xmlns:a16="http://schemas.microsoft.com/office/drawing/2014/main" id="{59EA91E9-95D5-C279-0A6C-C157D61D4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816"/>
              <a:ext cx="81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입출력 시작</a:t>
              </a:r>
            </a:p>
          </p:txBody>
        </p:sp>
        <p:sp>
          <p:nvSpPr>
            <p:cNvPr id="5174" name="Rectangle 26">
              <a:extLst>
                <a:ext uri="{FF2B5EF4-FFF2-40B4-BE49-F238E27FC236}">
                  <a16:creationId xmlns:a16="http://schemas.microsoft.com/office/drawing/2014/main" id="{B4B4EBDE-4875-D9A2-47FB-6D4D4C870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0"/>
              <a:ext cx="81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입출력 완료</a:t>
              </a:r>
            </a:p>
          </p:txBody>
        </p:sp>
        <p:sp>
          <p:nvSpPr>
            <p:cNvPr id="5175" name="Freeform 27">
              <a:extLst>
                <a:ext uri="{FF2B5EF4-FFF2-40B4-BE49-F238E27FC236}">
                  <a16:creationId xmlns:a16="http://schemas.microsoft.com/office/drawing/2014/main" id="{DAAC9F3D-CB87-A9C7-E98C-9107DE3E5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352"/>
              <a:ext cx="288" cy="528"/>
            </a:xfrm>
            <a:custGeom>
              <a:avLst/>
              <a:gdLst>
                <a:gd name="T0" fmla="*/ 128 w 288"/>
                <a:gd name="T1" fmla="*/ 0 h 528"/>
                <a:gd name="T2" fmla="*/ 272 w 288"/>
                <a:gd name="T3" fmla="*/ 336 h 528"/>
                <a:gd name="T4" fmla="*/ 32 w 288"/>
                <a:gd name="T5" fmla="*/ 336 h 528"/>
                <a:gd name="T6" fmla="*/ 80 w 288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" h="528">
                  <a:moveTo>
                    <a:pt x="128" y="0"/>
                  </a:moveTo>
                  <a:cubicBezTo>
                    <a:pt x="208" y="140"/>
                    <a:pt x="288" y="280"/>
                    <a:pt x="272" y="336"/>
                  </a:cubicBezTo>
                  <a:cubicBezTo>
                    <a:pt x="256" y="392"/>
                    <a:pt x="64" y="304"/>
                    <a:pt x="32" y="336"/>
                  </a:cubicBezTo>
                  <a:cubicBezTo>
                    <a:pt x="0" y="368"/>
                    <a:pt x="40" y="448"/>
                    <a:pt x="80" y="52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76" name="Freeform 28">
              <a:extLst>
                <a:ext uri="{FF2B5EF4-FFF2-40B4-BE49-F238E27FC236}">
                  <a16:creationId xmlns:a16="http://schemas.microsoft.com/office/drawing/2014/main" id="{D52D8B24-42B9-8790-9E7D-C9ABD88EA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056"/>
              <a:ext cx="432" cy="336"/>
            </a:xfrm>
            <a:custGeom>
              <a:avLst/>
              <a:gdLst>
                <a:gd name="T0" fmla="*/ 0 w 432"/>
                <a:gd name="T1" fmla="*/ 336 h 336"/>
                <a:gd name="T2" fmla="*/ 144 w 432"/>
                <a:gd name="T3" fmla="*/ 96 h 336"/>
                <a:gd name="T4" fmla="*/ 288 w 432"/>
                <a:gd name="T5" fmla="*/ 192 h 336"/>
                <a:gd name="T6" fmla="*/ 432 w 432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336">
                  <a:moveTo>
                    <a:pt x="0" y="336"/>
                  </a:moveTo>
                  <a:cubicBezTo>
                    <a:pt x="48" y="228"/>
                    <a:pt x="96" y="120"/>
                    <a:pt x="144" y="96"/>
                  </a:cubicBezTo>
                  <a:cubicBezTo>
                    <a:pt x="192" y="72"/>
                    <a:pt x="240" y="208"/>
                    <a:pt x="288" y="192"/>
                  </a:cubicBezTo>
                  <a:cubicBezTo>
                    <a:pt x="336" y="176"/>
                    <a:pt x="384" y="88"/>
                    <a:pt x="432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126" name="Group 29">
            <a:extLst>
              <a:ext uri="{FF2B5EF4-FFF2-40B4-BE49-F238E27FC236}">
                <a16:creationId xmlns:a16="http://schemas.microsoft.com/office/drawing/2014/main" id="{89057D0B-3D17-C85A-2C3D-6B069B67A388}"/>
              </a:ext>
            </a:extLst>
          </p:cNvPr>
          <p:cNvGrpSpPr>
            <a:grpSpLocks/>
          </p:cNvGrpSpPr>
          <p:nvPr/>
        </p:nvGrpSpPr>
        <p:grpSpPr bwMode="auto">
          <a:xfrm>
            <a:off x="2843808" y="4331665"/>
            <a:ext cx="4608983" cy="1617615"/>
            <a:chOff x="336" y="1056"/>
            <a:chExt cx="5184" cy="1680"/>
          </a:xfrm>
        </p:grpSpPr>
        <p:grpSp>
          <p:nvGrpSpPr>
            <p:cNvPr id="5127" name="Group 30">
              <a:extLst>
                <a:ext uri="{FF2B5EF4-FFF2-40B4-BE49-F238E27FC236}">
                  <a16:creationId xmlns:a16="http://schemas.microsoft.com/office/drawing/2014/main" id="{53797B3F-5069-D6F6-297B-46C0FD7784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488"/>
              <a:ext cx="2736" cy="768"/>
              <a:chOff x="1008" y="1488"/>
              <a:chExt cx="3552" cy="768"/>
            </a:xfrm>
          </p:grpSpPr>
          <p:sp>
            <p:nvSpPr>
              <p:cNvPr id="5153" name="Line 31">
                <a:extLst>
                  <a:ext uri="{FF2B5EF4-FFF2-40B4-BE49-F238E27FC236}">
                    <a16:creationId xmlns:a16="http://schemas.microsoft.com/office/drawing/2014/main" id="{F872E79A-48F8-0EC0-1320-F3E02CE7D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1488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154" name="Line 32">
                <a:extLst>
                  <a:ext uri="{FF2B5EF4-FFF2-40B4-BE49-F238E27FC236}">
                    <a16:creationId xmlns:a16="http://schemas.microsoft.com/office/drawing/2014/main" id="{128D3C0E-1FB7-669A-39C2-C87B915CE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256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5128" name="Line 33">
              <a:extLst>
                <a:ext uri="{FF2B5EF4-FFF2-40B4-BE49-F238E27FC236}">
                  <a16:creationId xmlns:a16="http://schemas.microsoft.com/office/drawing/2014/main" id="{54896AAF-779A-78DE-C05E-8254D6D28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29" name="Line 34">
              <a:extLst>
                <a:ext uri="{FF2B5EF4-FFF2-40B4-BE49-F238E27FC236}">
                  <a16:creationId xmlns:a16="http://schemas.microsoft.com/office/drawing/2014/main" id="{B6F629E7-7D43-DC2C-3EB2-F01DD09F4E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14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30" name="Rectangle 35">
              <a:extLst>
                <a:ext uri="{FF2B5EF4-FFF2-40B4-BE49-F238E27FC236}">
                  <a16:creationId xmlns:a16="http://schemas.microsoft.com/office/drawing/2014/main" id="{7BA58622-8973-31FB-5FF2-DE588F847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1" name="Rectangle 36">
              <a:extLst>
                <a:ext uri="{FF2B5EF4-FFF2-40B4-BE49-F238E27FC236}">
                  <a16:creationId xmlns:a16="http://schemas.microsoft.com/office/drawing/2014/main" id="{9671D9F4-372F-38FF-18A6-18C02C883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92"/>
              <a:ext cx="192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2" name="Rectangle 37">
              <a:extLst>
                <a:ext uri="{FF2B5EF4-FFF2-40B4-BE49-F238E27FC236}">
                  <a16:creationId xmlns:a16="http://schemas.microsoft.com/office/drawing/2014/main" id="{F901F89C-913C-9F15-6432-9CE0ACC9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392"/>
              <a:ext cx="38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3" name="Rectangle 38">
              <a:extLst>
                <a:ext uri="{FF2B5EF4-FFF2-40B4-BE49-F238E27FC236}">
                  <a16:creationId xmlns:a16="http://schemas.microsoft.com/office/drawing/2014/main" id="{2ED42191-10FD-4587-9C89-4559871C7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392"/>
              <a:ext cx="432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4" name="Rectangle 39">
              <a:extLst>
                <a:ext uri="{FF2B5EF4-FFF2-40B4-BE49-F238E27FC236}">
                  <a16:creationId xmlns:a16="http://schemas.microsoft.com/office/drawing/2014/main" id="{1EF0C488-8619-CA07-3D75-FCF63B66D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392"/>
              <a:ext cx="240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5" name="Rectangle 40">
              <a:extLst>
                <a:ext uri="{FF2B5EF4-FFF2-40B4-BE49-F238E27FC236}">
                  <a16:creationId xmlns:a16="http://schemas.microsoft.com/office/drawing/2014/main" id="{57ED450A-DC71-6B40-A50E-324276559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392"/>
              <a:ext cx="576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36" name="Rectangle 41">
              <a:extLst>
                <a:ext uri="{FF2B5EF4-FFF2-40B4-BE49-F238E27FC236}">
                  <a16:creationId xmlns:a16="http://schemas.microsoft.com/office/drawing/2014/main" id="{09E8375F-113A-21FA-CF4E-80C9A1712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92"/>
              <a:ext cx="144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000" b="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r>
                <a:rPr lang="en-US" altLang="ko-KR" sz="1000" b="0" dirty="0">
                  <a:latin typeface="굴림" panose="020B0600000101010101" pitchFamily="50" charset="-127"/>
                  <a:ea typeface="굴림" panose="020B0600000101010101" pitchFamily="50" charset="-127"/>
                </a:rPr>
                <a:t> </a:t>
              </a:r>
              <a:r>
                <a:rPr lang="en-US" altLang="ko-KR" sz="1000" b="0" dirty="0">
                  <a:latin typeface="Times New Roman" panose="02020603050405020304" pitchFamily="18" charset="0"/>
                  <a:ea typeface="굴림" panose="020B0600000101010101" pitchFamily="50" charset="-127"/>
                </a:rPr>
                <a:t>•</a:t>
              </a:r>
              <a:endParaRPr lang="en-US" altLang="ko-KR" sz="1000" b="0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137" name="Rectangle 42">
              <a:extLst>
                <a:ext uri="{FF2B5EF4-FFF2-40B4-BE49-F238E27FC236}">
                  <a16:creationId xmlns:a16="http://schemas.microsoft.com/office/drawing/2014/main" id="{B14480E4-4037-6CFA-4CD4-81810BD7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96"/>
              <a:ext cx="1056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애플리케이션 코드</a:t>
              </a:r>
            </a:p>
          </p:txBody>
        </p:sp>
        <p:sp>
          <p:nvSpPr>
            <p:cNvPr id="5138" name="Rectangle 43">
              <a:extLst>
                <a:ext uri="{FF2B5EF4-FFF2-40B4-BE49-F238E27FC236}">
                  <a16:creationId xmlns:a16="http://schemas.microsoft.com/office/drawing/2014/main" id="{56B4791F-2B69-D441-B908-930D2C3FC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60"/>
              <a:ext cx="1056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운영체제 코드</a:t>
              </a:r>
            </a:p>
          </p:txBody>
        </p:sp>
        <p:sp>
          <p:nvSpPr>
            <p:cNvPr id="5139" name="Rectangle 44">
              <a:extLst>
                <a:ext uri="{FF2B5EF4-FFF2-40B4-BE49-F238E27FC236}">
                  <a16:creationId xmlns:a16="http://schemas.microsoft.com/office/drawing/2014/main" id="{B14C27F5-3AF3-B97F-3C58-ABAC462FF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40" name="Rectangle 45">
              <a:extLst>
                <a:ext uri="{FF2B5EF4-FFF2-40B4-BE49-F238E27FC236}">
                  <a16:creationId xmlns:a16="http://schemas.microsoft.com/office/drawing/2014/main" id="{9D84482B-2CA5-24F9-EDD9-06199F1B6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48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41" name="Rectangle 46">
              <a:extLst>
                <a:ext uri="{FF2B5EF4-FFF2-40B4-BE49-F238E27FC236}">
                  <a16:creationId xmlns:a16="http://schemas.microsoft.com/office/drawing/2014/main" id="{96B8FF9A-609F-12ED-3AF1-A2F242292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0"/>
              <a:ext cx="816" cy="96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42" name="Line 47">
              <a:extLst>
                <a:ext uri="{FF2B5EF4-FFF2-40B4-BE49-F238E27FC236}">
                  <a16:creationId xmlns:a16="http://schemas.microsoft.com/office/drawing/2014/main" id="{FC2107DB-3B97-B82A-34C7-75030F8C2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48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3" name="Line 48">
              <a:extLst>
                <a:ext uri="{FF2B5EF4-FFF2-40B4-BE49-F238E27FC236}">
                  <a16:creationId xmlns:a16="http://schemas.microsoft.com/office/drawing/2014/main" id="{8F7D058C-B07B-E0F4-4709-FD225471D9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148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4" name="Line 49">
              <a:extLst>
                <a:ext uri="{FF2B5EF4-FFF2-40B4-BE49-F238E27FC236}">
                  <a16:creationId xmlns:a16="http://schemas.microsoft.com/office/drawing/2014/main" id="{5DA53FF9-D595-CD76-CD8C-68009B067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48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5" name="Line 50">
              <a:extLst>
                <a:ext uri="{FF2B5EF4-FFF2-40B4-BE49-F238E27FC236}">
                  <a16:creationId xmlns:a16="http://schemas.microsoft.com/office/drawing/2014/main" id="{9CEEFEC6-919F-0AAC-ACF5-EB50C1BD38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148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6" name="Rectangle 51">
              <a:extLst>
                <a:ext uri="{FF2B5EF4-FFF2-40B4-BE49-F238E27FC236}">
                  <a16:creationId xmlns:a16="http://schemas.microsoft.com/office/drawing/2014/main" id="{434B86B8-D06E-4CDE-3726-F45B7BBB7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144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47" name="Line 52">
              <a:extLst>
                <a:ext uri="{FF2B5EF4-FFF2-40B4-BE49-F238E27FC236}">
                  <a16:creationId xmlns:a16="http://schemas.microsoft.com/office/drawing/2014/main" id="{30A1C040-12D7-0E8D-6E55-E92E4FC6E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56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8" name="Line 53">
              <a:extLst>
                <a:ext uri="{FF2B5EF4-FFF2-40B4-BE49-F238E27FC236}">
                  <a16:creationId xmlns:a16="http://schemas.microsoft.com/office/drawing/2014/main" id="{FC2E6D1A-7BE6-5ED1-B508-D969C62F5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2016"/>
              <a:ext cx="15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49" name="Line 54">
              <a:extLst>
                <a:ext uri="{FF2B5EF4-FFF2-40B4-BE49-F238E27FC236}">
                  <a16:creationId xmlns:a16="http://schemas.microsoft.com/office/drawing/2014/main" id="{AD124AF5-E206-CBE1-00F6-7DB86251F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20"/>
              <a:ext cx="1152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0" name="Line 55">
              <a:extLst>
                <a:ext uri="{FF2B5EF4-FFF2-40B4-BE49-F238E27FC236}">
                  <a16:creationId xmlns:a16="http://schemas.microsoft.com/office/drawing/2014/main" id="{0B34FC76-47C2-B2E5-6CFA-1D253D2E5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824"/>
              <a:ext cx="57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51" name="AutoShape 56">
              <a:extLst>
                <a:ext uri="{FF2B5EF4-FFF2-40B4-BE49-F238E27FC236}">
                  <a16:creationId xmlns:a16="http://schemas.microsoft.com/office/drawing/2014/main" id="{91912FA3-3656-9C48-8A83-B0666900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824"/>
              <a:ext cx="96" cy="192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 b="0" dirty="0"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sp>
          <p:nvSpPr>
            <p:cNvPr id="5152" name="Rectangle 57">
              <a:extLst>
                <a:ext uri="{FF2B5EF4-FFF2-40B4-BE49-F238E27FC236}">
                  <a16:creationId xmlns:a16="http://schemas.microsoft.com/office/drawing/2014/main" id="{937097DD-A7A7-8D57-033D-BB1DA0600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728"/>
              <a:ext cx="1344" cy="3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입출력 작업 완료를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>
                  <a:latin typeface="굴림" panose="020B0600000101010101" pitchFamily="50" charset="-127"/>
                  <a:ea typeface="굴림" panose="020B0600000101010101" pitchFamily="50" charset="-127"/>
                </a:rPr>
                <a:t>운영체제가 알려줌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바닥글 개체 틀 3">
            <a:extLst>
              <a:ext uri="{FF2B5EF4-FFF2-40B4-BE49-F238E27FC236}">
                <a16:creationId xmlns:a16="http://schemas.microsoft.com/office/drawing/2014/main" id="{CBDB134C-8992-231F-5F45-023FAAACBC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FDCC069-3AAA-E5DF-207F-EF6A6178C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</a:t>
            </a:r>
            <a:r>
              <a:rPr lang="en-US" altLang="ko-KR" sz="2400" dirty="0"/>
              <a:t>: </a:t>
            </a:r>
            <a:r>
              <a:rPr lang="ko-KR" altLang="en-US" sz="2400" dirty="0"/>
              <a:t>동기식</a:t>
            </a:r>
            <a:r>
              <a:rPr lang="en-US" altLang="ko-KR" sz="2400" dirty="0"/>
              <a:t>-</a:t>
            </a:r>
            <a:r>
              <a:rPr lang="ko-KR" altLang="en-US" sz="2400" dirty="0"/>
              <a:t>비동기식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AF74C8A-C57E-C86D-84FC-5C6FE0BCF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sz="2400" dirty="0"/>
              <a:t>동기식 입출력</a:t>
            </a:r>
            <a:r>
              <a:rPr lang="en-US" altLang="ko-KR" sz="2400" dirty="0"/>
              <a:t>(synchronous I/O)</a:t>
            </a:r>
          </a:p>
          <a:p>
            <a:pPr lvl="1" eaLnBrk="1" hangingPunct="1"/>
            <a:r>
              <a:rPr lang="ko-KR" altLang="en-US" sz="2000" dirty="0"/>
              <a:t>애플리케이션은 입출력 함수를 호출한 후 입출력 작업이 끝날 때까지 대기</a:t>
            </a:r>
          </a:p>
          <a:p>
            <a:pPr lvl="1" eaLnBrk="1" hangingPunct="1"/>
            <a:r>
              <a:rPr lang="ko-KR" altLang="en-US" sz="2000" dirty="0"/>
              <a:t>입출력 작업이 끝나면 입출력 함수는 리턴하고 애플리케이션은 입출력 결과를 처리하거나 다른 작업을 진행</a:t>
            </a:r>
          </a:p>
          <a:p>
            <a:pPr lvl="1" eaLnBrk="1" hangingPunct="1"/>
            <a:endParaRPr lang="ko-KR" altLang="en-US" sz="2000" dirty="0"/>
          </a:p>
          <a:p>
            <a:pPr eaLnBrk="1" hangingPunct="1"/>
            <a:r>
              <a:rPr lang="ko-KR" altLang="en-US" sz="2400" dirty="0"/>
              <a:t>비동기식 입출력</a:t>
            </a:r>
            <a:r>
              <a:rPr lang="en-US" altLang="ko-KR" sz="2400" dirty="0"/>
              <a:t>(asynchronous I/O)</a:t>
            </a:r>
          </a:p>
          <a:p>
            <a:pPr lvl="1" eaLnBrk="1" hangingPunct="1"/>
            <a:r>
              <a:rPr lang="ko-KR" altLang="en-US" sz="2000" dirty="0"/>
              <a:t>윈도우의 </a:t>
            </a:r>
            <a:r>
              <a:rPr lang="en-US" altLang="ko-KR" sz="2000" dirty="0"/>
              <a:t>Overlapped I/O</a:t>
            </a:r>
          </a:p>
          <a:p>
            <a:pPr lvl="1" eaLnBrk="1" hangingPunct="1"/>
            <a:r>
              <a:rPr lang="ko-KR" altLang="en-US" sz="2000" dirty="0"/>
              <a:t>애플리케이션은 입출력 함수를 호출한 후 입출력 작업의 완료 여부와 무관하게 다른 작업을 진행</a:t>
            </a:r>
          </a:p>
          <a:p>
            <a:pPr lvl="1" eaLnBrk="1" hangingPunct="1"/>
            <a:r>
              <a:rPr lang="ko-KR" altLang="en-US" sz="2000" dirty="0"/>
              <a:t>입출력 작업이 끝나면 운영체제는 작업 완료를 애플리케이션에게 알려줌</a:t>
            </a:r>
            <a:r>
              <a:rPr lang="en-US" altLang="ko-KR" sz="2000" dirty="0"/>
              <a:t>. </a:t>
            </a:r>
            <a:r>
              <a:rPr lang="ko-KR" altLang="en-US" sz="2000" dirty="0"/>
              <a:t>이때 애플리케이션은 다른 작업을 중단하고 입출력 결과를 처리</a:t>
            </a:r>
          </a:p>
          <a:p>
            <a:pPr lvl="1" eaLnBrk="1" hangingPunct="1"/>
            <a:endParaRPr lang="ko-KR" altLang="en-US" sz="2000" dirty="0"/>
          </a:p>
          <a:p>
            <a:pPr lvl="1" eaLnBrk="1" hangingPunct="1"/>
            <a:r>
              <a:rPr lang="ko-KR" altLang="en-US" sz="2000" dirty="0"/>
              <a:t>윈도우의 특화 </a:t>
            </a:r>
            <a:r>
              <a:rPr lang="ko-KR" altLang="en-US" sz="2000" dirty="0">
                <a:sym typeface="Wingdings" panose="05000000000000000000" pitchFamily="2" charset="2"/>
              </a:rPr>
              <a:t> </a:t>
            </a:r>
            <a:r>
              <a:rPr lang="en-US" altLang="ko-KR" sz="2000" dirty="0">
                <a:sym typeface="Wingdings" panose="05000000000000000000" pitchFamily="2" charset="2"/>
              </a:rPr>
              <a:t>IOCP</a:t>
            </a:r>
            <a:endParaRPr lang="en-US" altLang="ko-KR" sz="2000" dirty="0"/>
          </a:p>
          <a:p>
            <a:pPr lvl="1" eaLnBrk="1" hangingPunct="1"/>
            <a:endParaRPr lang="en-US" altLang="ko-KR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20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3">
            <a:extLst>
              <a:ext uri="{FF2B5EF4-FFF2-40B4-BE49-F238E27FC236}">
                <a16:creationId xmlns:a16="http://schemas.microsoft.com/office/drawing/2014/main" id="{B1730AFB-8E1F-849C-6A22-218EC1AB1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62CDDE8-38AB-058D-1D04-8F434D239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</a:t>
            </a:r>
            <a:r>
              <a:rPr lang="en-US" altLang="ko-KR" sz="2400" dirty="0"/>
              <a:t>: </a:t>
            </a:r>
            <a:r>
              <a:rPr lang="ko-KR" altLang="en-US" sz="2400" dirty="0"/>
              <a:t>동기식</a:t>
            </a:r>
            <a:r>
              <a:rPr lang="en-US" altLang="ko-KR" sz="2400" dirty="0"/>
              <a:t>-</a:t>
            </a:r>
            <a:r>
              <a:rPr lang="ko-KR" altLang="en-US" sz="2400" dirty="0"/>
              <a:t>비동기식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E8CE5B3-4058-1061-5CA4-C34FA3B61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입출력 방식에 따른 소켓 입출력 모델 분류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동기 입출력 </a:t>
            </a:r>
            <a:r>
              <a:rPr lang="en-US" altLang="ko-KR" dirty="0"/>
              <a:t>+ </a:t>
            </a:r>
            <a:r>
              <a:rPr lang="ko-KR" altLang="en-US" dirty="0"/>
              <a:t>비동기 통지</a:t>
            </a:r>
          </a:p>
          <a:p>
            <a:pPr lvl="2" eaLnBrk="1" hangingPunct="1"/>
            <a:r>
              <a:rPr lang="en-US" altLang="ko-KR" dirty="0"/>
              <a:t>Select </a:t>
            </a:r>
            <a:r>
              <a:rPr lang="ko-KR" altLang="en-US" dirty="0"/>
              <a:t>모델</a:t>
            </a:r>
            <a:r>
              <a:rPr lang="en-US" altLang="ko-KR" dirty="0"/>
              <a:t>, WSAAsyncSelect </a:t>
            </a:r>
            <a:r>
              <a:rPr lang="ko-KR" altLang="en-US" dirty="0"/>
              <a:t>모델</a:t>
            </a:r>
            <a:r>
              <a:rPr lang="en-US" altLang="ko-KR" dirty="0"/>
              <a:t>, WSAEventSelect </a:t>
            </a:r>
            <a:r>
              <a:rPr lang="ko-KR" altLang="en-US" dirty="0"/>
              <a:t>모델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비동기 입출력 </a:t>
            </a:r>
            <a:r>
              <a:rPr lang="en-US" altLang="ko-KR" dirty="0"/>
              <a:t>+ </a:t>
            </a:r>
            <a:r>
              <a:rPr lang="ko-KR" altLang="en-US" dirty="0"/>
              <a:t>비동기 통지</a:t>
            </a:r>
          </a:p>
          <a:p>
            <a:pPr lvl="2" eaLnBrk="1" hangingPunct="1"/>
            <a:r>
              <a:rPr lang="en-US" altLang="ko-KR" dirty="0"/>
              <a:t>Overlapped </a:t>
            </a:r>
            <a:r>
              <a:rPr lang="ko-KR" altLang="en-US" dirty="0"/>
              <a:t>모델</a:t>
            </a:r>
            <a:r>
              <a:rPr lang="en-US" altLang="ko-KR" dirty="0"/>
              <a:t>(I), Overlapped </a:t>
            </a:r>
            <a:r>
              <a:rPr lang="ko-KR" altLang="en-US" dirty="0"/>
              <a:t>모델</a:t>
            </a:r>
            <a:r>
              <a:rPr lang="en-US" altLang="ko-KR" dirty="0"/>
              <a:t>(II), Completion Port </a:t>
            </a:r>
            <a:r>
              <a:rPr lang="ko-KR" altLang="en-US" dirty="0"/>
              <a:t>모델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E2FD5-1DB4-A643-656B-5019F2D2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바닥글 개체 틀 3">
            <a:extLst>
              <a:ext uri="{FF2B5EF4-FFF2-40B4-BE49-F238E27FC236}">
                <a16:creationId xmlns:a16="http://schemas.microsoft.com/office/drawing/2014/main" id="{D4639FAF-0D9B-A116-E005-7996F5E641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BCC9DED-01AC-CE92-9D65-EC60EBFE3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</a:t>
            </a:r>
            <a:r>
              <a:rPr lang="en-US" altLang="ko-KR" sz="2400" dirty="0"/>
              <a:t>: </a:t>
            </a:r>
            <a:r>
              <a:rPr lang="ko-KR" altLang="en-US" sz="2400" dirty="0"/>
              <a:t>블로킹</a:t>
            </a:r>
            <a:r>
              <a:rPr lang="en-US" altLang="ko-KR" sz="2400" dirty="0"/>
              <a:t>/</a:t>
            </a:r>
            <a:r>
              <a:rPr lang="ko-KR" altLang="en-US" sz="2400" dirty="0"/>
              <a:t>넌</a:t>
            </a:r>
            <a:r>
              <a:rPr lang="en-US" altLang="ko-KR" sz="2400" dirty="0"/>
              <a:t>-</a:t>
            </a:r>
            <a:r>
              <a:rPr lang="ko-KR" altLang="en-US" sz="2400" dirty="0"/>
              <a:t>블로킹</a:t>
            </a:r>
            <a:r>
              <a:rPr lang="en-US" altLang="ko-KR" sz="2400" dirty="0"/>
              <a:t>, </a:t>
            </a:r>
            <a:r>
              <a:rPr lang="ko-KR" altLang="en-US" sz="2400" dirty="0"/>
              <a:t>동기식</a:t>
            </a:r>
            <a:r>
              <a:rPr lang="en-US" altLang="ko-KR" sz="2400" dirty="0"/>
              <a:t>/</a:t>
            </a:r>
            <a:r>
              <a:rPr lang="ko-KR" altLang="en-US" sz="2400" dirty="0"/>
              <a:t>비동기식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EDD9C8FD-23E6-E9FE-C1D3-338FD4668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Blocking / Non-blocking </a:t>
            </a:r>
          </a:p>
          <a:p>
            <a:pPr lvl="1" eaLnBrk="1" hangingPunct="1"/>
            <a:r>
              <a:rPr lang="ko-KR" altLang="en-US" dirty="0"/>
              <a:t>소켓 함수 호출 후 제어권 반환 방식</a:t>
            </a:r>
          </a:p>
          <a:p>
            <a:pPr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동기 </a:t>
            </a:r>
            <a:r>
              <a:rPr lang="en-US" altLang="ko-KR" dirty="0"/>
              <a:t>I/O </a:t>
            </a:r>
            <a:r>
              <a:rPr lang="ko-KR" altLang="en-US" dirty="0"/>
              <a:t>모델 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입출력 요청이 순차적으로 처리되고</a:t>
            </a:r>
          </a:p>
          <a:p>
            <a:pPr lvl="1" eaLnBrk="1" hangingPunct="1"/>
            <a:r>
              <a:rPr lang="ko-KR" altLang="en-US" dirty="0"/>
              <a:t>결과에 의존해서 다음 작업이 진행</a:t>
            </a:r>
            <a:endParaRPr lang="en-US" altLang="ko-KR" dirty="0"/>
          </a:p>
          <a:p>
            <a:pPr lvl="1" eaLnBrk="1" hangingPunct="1"/>
            <a:endParaRPr lang="ko-KR" altLang="en-US" dirty="0"/>
          </a:p>
          <a:p>
            <a:pPr eaLnBrk="1" hangingPunct="1"/>
            <a:r>
              <a:rPr lang="ko-KR" altLang="en-US" dirty="0"/>
              <a:t>비동기 </a:t>
            </a:r>
            <a:r>
              <a:rPr lang="en-US" altLang="ko-KR" dirty="0"/>
              <a:t>I/O </a:t>
            </a:r>
            <a:r>
              <a:rPr lang="ko-KR" altLang="en-US" dirty="0"/>
              <a:t>모델 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입출력 요청을 중첩해서 동시에 걸어두고</a:t>
            </a:r>
          </a:p>
          <a:p>
            <a:pPr lvl="1" eaLnBrk="1" hangingPunct="1"/>
            <a:r>
              <a:rPr lang="ko-KR" altLang="en-US" dirty="0"/>
              <a:t>완료를 나중에 각각 처리</a:t>
            </a:r>
          </a:p>
        </p:txBody>
      </p:sp>
    </p:spTree>
    <p:extLst>
      <p:ext uri="{BB962C8B-B14F-4D97-AF65-F5344CB8AC3E}">
        <p14:creationId xmlns:p14="http://schemas.microsoft.com/office/powerpoint/2010/main" val="84384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바닥글 개체 틀 3">
            <a:extLst>
              <a:ext uri="{FF2B5EF4-FFF2-40B4-BE49-F238E27FC236}">
                <a16:creationId xmlns:a16="http://schemas.microsoft.com/office/drawing/2014/main" id="{678F70CC-99B8-5219-7D38-1E3C3E7E0D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D5164C7-118B-B59B-C9C3-B6CA793D6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 </a:t>
            </a:r>
            <a:r>
              <a:rPr lang="en-US" altLang="ko-KR" dirty="0"/>
              <a:t>- Overlapped I/O</a:t>
            </a:r>
            <a:endParaRPr lang="ko-KR" altLang="en-US" sz="2400" dirty="0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4C1C506-BEB3-DE61-215F-755D80391F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Overlapped </a:t>
            </a:r>
            <a:r>
              <a:rPr lang="ko-KR" altLang="en-US" dirty="0"/>
              <a:t>모델 사용 절차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비동기 입출력을 지원하는 소켓 생성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비동기 입출력을 지원하는 소켓 함수 호출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운영체제가 소켓 입출력 작업 완료를 애플리케이션에게 비동기로 통지</a:t>
            </a:r>
          </a:p>
          <a:p>
            <a:pPr lvl="1" eaLnBrk="1" hangingPunct="1"/>
            <a:endParaRPr lang="ko-KR" altLang="en-US" dirty="0"/>
          </a:p>
          <a:p>
            <a:pPr lvl="1" eaLnBrk="1" hangingPunct="1"/>
            <a:r>
              <a:rPr lang="ko-KR" altLang="en-US" dirty="0"/>
              <a:t>애플리케이션은 결과를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111A549F-D5AA-0FF1-D40C-48854394C2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E8EB6CF-8949-584D-A906-D5B12A927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1. I/O </a:t>
            </a:r>
            <a:r>
              <a:rPr lang="ko-KR" altLang="en-US" sz="2400" dirty="0"/>
              <a:t>모델 </a:t>
            </a:r>
            <a:r>
              <a:rPr lang="en-US" altLang="ko-KR" sz="2400" dirty="0"/>
              <a:t>- Overlapped I/O </a:t>
            </a:r>
            <a:r>
              <a:rPr lang="ko-KR" altLang="en-US" sz="2400" dirty="0"/>
              <a:t>모델 분류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C4CBC8E-F509-A8C7-71CD-8B114D016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Overlapped </a:t>
            </a:r>
            <a:r>
              <a:rPr lang="ko-KR" altLang="en-US" sz="2400" dirty="0"/>
              <a:t>모델</a:t>
            </a:r>
            <a:r>
              <a:rPr lang="en-US" altLang="ko-KR" sz="2400" dirty="0"/>
              <a:t>(I) - </a:t>
            </a:r>
            <a:r>
              <a:rPr lang="ko-KR" altLang="en-US" sz="2400" dirty="0"/>
              <a:t>이벤트 방식</a:t>
            </a:r>
          </a:p>
          <a:p>
            <a:pPr lvl="1" eaLnBrk="1" hangingPunct="1"/>
            <a:r>
              <a:rPr lang="en-US" altLang="ko-KR" sz="2000" dirty="0"/>
              <a:t>I/O </a:t>
            </a:r>
            <a:r>
              <a:rPr lang="ko-KR" altLang="en-US" sz="2000" dirty="0"/>
              <a:t>완료와 바인딩 된 이벤트 객체를 이용해서 애플리케이션이 이벤트 객체로 작업 완료를 감지</a:t>
            </a:r>
            <a:r>
              <a:rPr lang="en-US" altLang="ko-KR" sz="2000" dirty="0"/>
              <a:t>.</a:t>
            </a:r>
          </a:p>
          <a:p>
            <a:pPr lvl="1" eaLnBrk="1" hangingPunct="1"/>
            <a:endParaRPr lang="en-US" altLang="ko-KR" sz="2000" dirty="0"/>
          </a:p>
          <a:p>
            <a:pPr eaLnBrk="1" hangingPunct="1"/>
            <a:r>
              <a:rPr lang="en-US" altLang="ko-KR" sz="2400" dirty="0"/>
              <a:t>Overlapped </a:t>
            </a:r>
            <a:r>
              <a:rPr lang="ko-KR" altLang="en-US" sz="2400" dirty="0"/>
              <a:t>모델</a:t>
            </a:r>
            <a:r>
              <a:rPr lang="en-US" altLang="ko-KR" sz="2400" dirty="0"/>
              <a:t>(II) - </a:t>
            </a:r>
            <a:r>
              <a:rPr lang="ko-KR" altLang="en-US" sz="2400" dirty="0"/>
              <a:t>완료 루틴 방식</a:t>
            </a:r>
          </a:p>
          <a:p>
            <a:pPr lvl="1" eaLnBrk="1" hangingPunct="1"/>
            <a:r>
              <a:rPr lang="ko-KR" altLang="en-US" sz="2000" dirty="0"/>
              <a:t>소켓 입출력 작업이 완료되면</a:t>
            </a:r>
            <a:r>
              <a:rPr lang="en-US" altLang="ko-KR" sz="2000" dirty="0"/>
              <a:t>, </a:t>
            </a:r>
            <a:r>
              <a:rPr lang="ko-KR" altLang="en-US" sz="2000" dirty="0"/>
              <a:t>콜백 함수</a:t>
            </a:r>
            <a:r>
              <a:rPr lang="en-US" altLang="ko-KR" sz="2000" dirty="0"/>
              <a:t>(callback function)</a:t>
            </a:r>
            <a:r>
              <a:rPr lang="ko-KR" altLang="en-US" sz="2000" dirty="0"/>
              <a:t>로 구현된 완료 루틴 함수를 자동으로 호출</a:t>
            </a:r>
          </a:p>
          <a:p>
            <a:pPr lvl="1" eaLnBrk="1" hangingPunct="1"/>
            <a:endParaRPr lang="ko-KR" altLang="en-US" sz="2000" dirty="0"/>
          </a:p>
          <a:p>
            <a:pPr eaLnBrk="1" hangingPunct="1"/>
            <a:r>
              <a:rPr lang="en-US" altLang="ko-KR" sz="2400" dirty="0"/>
              <a:t>Overlapped </a:t>
            </a:r>
            <a:r>
              <a:rPr lang="ko-KR" altLang="en-US" sz="2400" dirty="0"/>
              <a:t>모델</a:t>
            </a:r>
            <a:r>
              <a:rPr lang="en-US" altLang="ko-KR" sz="2400" dirty="0"/>
              <a:t>(III) - IOCP</a:t>
            </a:r>
          </a:p>
          <a:p>
            <a:pPr lvl="1" eaLnBrk="1" hangingPunct="1"/>
            <a:r>
              <a:rPr lang="en-US" altLang="ko-KR" sz="2000" dirty="0"/>
              <a:t>I/O </a:t>
            </a:r>
            <a:r>
              <a:rPr lang="ko-KR" altLang="en-US" sz="2000" dirty="0"/>
              <a:t>완료를 담당하는 </a:t>
            </a:r>
            <a:r>
              <a:rPr lang="en-US" altLang="ko-KR" sz="2000" dirty="0"/>
              <a:t>Completion Port</a:t>
            </a:r>
            <a:r>
              <a:rPr lang="ko-KR" altLang="en-US" sz="2000" dirty="0"/>
              <a:t>를 이용한 모델</a:t>
            </a:r>
          </a:p>
          <a:p>
            <a:pPr lvl="1" eaLnBrk="1" hangingPunct="1"/>
            <a:r>
              <a:rPr lang="en-US" altLang="ko-KR" sz="2000" dirty="0"/>
              <a:t>IOCP: </a:t>
            </a:r>
            <a:r>
              <a:rPr lang="en-US" altLang="en-US" sz="2000" dirty="0"/>
              <a:t>비동기 입출력 결과와 이 결과를 처리할 스레드에대한 정보를 담고 있는 구조</a:t>
            </a:r>
            <a:endParaRPr lang="ko-KR" altLang="en-US" sz="2000" dirty="0"/>
          </a:p>
          <a:p>
            <a:pPr lvl="1" eaLnBrk="1" hangingPunct="1"/>
            <a:r>
              <a:rPr lang="ko-KR" altLang="en-US" sz="2000" dirty="0"/>
              <a:t>특징</a:t>
            </a:r>
            <a:r>
              <a:rPr lang="en-US" altLang="ko-KR" sz="2000" dirty="0"/>
              <a:t>: Overlapped I/O + </a:t>
            </a:r>
            <a:r>
              <a:rPr lang="ko-KR" altLang="en-US" sz="2000" dirty="0"/>
              <a:t>비동기 </a:t>
            </a:r>
            <a:r>
              <a:rPr lang="en-US" altLang="ko-KR" sz="2000" dirty="0"/>
              <a:t>Notification I/O </a:t>
            </a:r>
          </a:p>
          <a:p>
            <a:pPr lvl="1" eaLnBrk="1" hangingPunct="1"/>
            <a:r>
              <a:rPr lang="ko-KR" altLang="en-US" sz="2000" dirty="0"/>
              <a:t>장점</a:t>
            </a:r>
            <a:r>
              <a:rPr lang="en-US" altLang="ko-KR" sz="2000" dirty="0"/>
              <a:t>: </a:t>
            </a:r>
            <a:r>
              <a:rPr lang="ko-KR" altLang="en-US" sz="2000" dirty="0"/>
              <a:t>제한된 쓰레드</a:t>
            </a:r>
            <a:r>
              <a:rPr lang="en-US" altLang="ko-KR" sz="2000" dirty="0"/>
              <a:t>(Work Thread)</a:t>
            </a:r>
            <a:r>
              <a:rPr lang="ko-KR" altLang="en-US" sz="2000" dirty="0"/>
              <a:t>를 통해서 여러 소켓의 입출력 처리</a:t>
            </a:r>
            <a:r>
              <a:rPr lang="en-US" altLang="ko-KR" sz="2000" dirty="0"/>
              <a:t>. </a:t>
            </a:r>
            <a:r>
              <a:rPr lang="ko-KR" altLang="en-US" sz="2000" dirty="0"/>
              <a:t>컨텍스트 스위칭에 소비되는 시간을 줄임</a:t>
            </a:r>
          </a:p>
          <a:p>
            <a:pPr lvl="2" eaLnBrk="1" hangingPunct="1"/>
            <a:endParaRPr lang="en-US" altLang="ko-KR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EB71A-1490-79E1-A90F-4465D0A9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97806940-B28E-8E29-F0F7-778FB8654F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16E5A3F-0218-6F0C-4BED-804D1D605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2.1 Overlapped I/O</a:t>
            </a:r>
            <a:endParaRPr lang="ko-KR" altLang="en-US" sz="24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496FC13-4E70-60A5-F096-8F60A14EE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Overlapped </a:t>
            </a:r>
            <a:r>
              <a:rPr lang="ko-KR" altLang="en-US" dirty="0"/>
              <a:t>모델</a:t>
            </a:r>
          </a:p>
          <a:p>
            <a:pPr lvl="1" eaLnBrk="1" hangingPunct="1"/>
            <a:r>
              <a:rPr lang="ko-KR" altLang="en-US" dirty="0"/>
              <a:t>이전 입출력 미완료 상태에서도 다음 입출력 요청 가능</a:t>
            </a:r>
          </a:p>
          <a:p>
            <a:pPr lvl="1" eaLnBrk="1" hangingPunct="1"/>
            <a:r>
              <a:rPr lang="ko-KR" altLang="en-US" dirty="0"/>
              <a:t>동시 입출력 진행 방식</a:t>
            </a:r>
          </a:p>
          <a:p>
            <a:endParaRPr lang="en-US" altLang="ko-KR" dirty="0"/>
          </a:p>
          <a:p>
            <a:r>
              <a:rPr lang="en-US" altLang="ko-KR" dirty="0"/>
              <a:t>BSD </a:t>
            </a:r>
            <a:r>
              <a:rPr lang="ko-KR" altLang="en-US" dirty="0"/>
              <a:t>소켓 함수 </a:t>
            </a:r>
            <a:r>
              <a:rPr lang="en-US" altLang="ko-KR" dirty="0"/>
              <a:t>I/O</a:t>
            </a:r>
            <a:endParaRPr lang="ko-KR" altLang="en-US" dirty="0"/>
          </a:p>
          <a:p>
            <a:pPr lvl="1"/>
            <a:r>
              <a:rPr lang="en-US" altLang="ko-KR" dirty="0"/>
              <a:t>send(): </a:t>
            </a:r>
            <a:r>
              <a:rPr lang="ko-KR" altLang="en-US" dirty="0"/>
              <a:t>송신 버퍼 → 소켓 전송 버퍼 복사</a:t>
            </a:r>
          </a:p>
          <a:p>
            <a:pPr lvl="1"/>
            <a:r>
              <a:rPr lang="en-US" altLang="ko-KR" dirty="0"/>
              <a:t>recv():</a:t>
            </a:r>
            <a:r>
              <a:rPr lang="ko-KR" altLang="en-US" dirty="0"/>
              <a:t>소켓 수신 버퍼 → 사용자 버퍼 복사 </a:t>
            </a:r>
          </a:p>
          <a:p>
            <a:pPr eaLnBrk="1" hangingPunct="1"/>
            <a:endParaRPr lang="en-US" altLang="ko-KR" dirty="0"/>
          </a:p>
          <a:p>
            <a:r>
              <a:rPr lang="ko-KR" altLang="en-US" dirty="0"/>
              <a:t>중첩 </a:t>
            </a:r>
            <a:r>
              <a:rPr lang="en-US" altLang="ko-KR" dirty="0"/>
              <a:t>I/O</a:t>
            </a:r>
            <a:r>
              <a:rPr lang="ko-KR" altLang="en-US" dirty="0"/>
              <a:t> 전용 함수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</a:rPr>
              <a:t>WSASend</a:t>
            </a:r>
            <a:r>
              <a:rPr lang="en-US" altLang="ko-KR" dirty="0"/>
              <a:t>()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</a:rPr>
              <a:t>WSARecv</a:t>
            </a:r>
            <a:r>
              <a:rPr lang="en-US" altLang="ko-KR" dirty="0"/>
              <a:t>()</a:t>
            </a:r>
          </a:p>
          <a:p>
            <a:pPr eaLnBrk="1" hangingPunct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257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251A-76F3-6D24-0ADC-2BB0FB5A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9B346628-DE4C-479D-B130-472AAB32E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08FD05E-0DF6-72CC-D81B-E2CFD0580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2.2 Overlapped I/O - </a:t>
            </a:r>
            <a:r>
              <a:rPr lang="ko-KR" altLang="en-US" sz="2400" dirty="0"/>
              <a:t>주의 사항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3E070DF-E54A-C3B6-A9DE-5BD383C80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I/O </a:t>
            </a:r>
            <a:r>
              <a:rPr lang="ko-KR" altLang="en-US" dirty="0"/>
              <a:t>버퍼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입출력 완료 전 버퍼 변경 금지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지역 변수 버퍼 사용 → 스택 해제 → 오류 발생</a:t>
            </a:r>
            <a:endParaRPr lang="en-US" altLang="ko-KR" dirty="0"/>
          </a:p>
          <a:p>
            <a:pPr lvl="1" eaLnBrk="1" hangingPunct="1"/>
            <a:endParaRPr lang="en-US" altLang="ko-KR" dirty="0"/>
          </a:p>
          <a:p>
            <a:r>
              <a:rPr lang="ko-KR" altLang="en-US" dirty="0"/>
              <a:t>동일 </a:t>
            </a:r>
            <a:r>
              <a:rPr lang="en-US" altLang="ko-KR" dirty="0"/>
              <a:t>I/O</a:t>
            </a:r>
            <a:r>
              <a:rPr lang="ko-KR" altLang="en-US" dirty="0"/>
              <a:t>버퍼</a:t>
            </a:r>
          </a:p>
          <a:p>
            <a:pPr lvl="1"/>
            <a:r>
              <a:rPr lang="ko-KR" altLang="en-US" dirty="0"/>
              <a:t>동일 버퍼 연속 송신 → 송신 미완료 상태 데이터 변경</a:t>
            </a:r>
          </a:p>
          <a:p>
            <a:pPr lvl="1"/>
            <a:r>
              <a:rPr lang="ko-KR" altLang="en-US" dirty="0"/>
              <a:t>수신 데이터 불일치 가능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OVERLAPPED</a:t>
            </a:r>
          </a:p>
          <a:p>
            <a:pPr lvl="1"/>
            <a:r>
              <a:rPr lang="ko-KR" altLang="en-US" dirty="0"/>
              <a:t>입출력 완료 시까지 유지 필수</a:t>
            </a:r>
          </a:p>
          <a:p>
            <a:pPr lvl="1"/>
            <a:r>
              <a:rPr lang="ko-KR" altLang="en-US" dirty="0"/>
              <a:t>송신 </a:t>
            </a:r>
            <a:r>
              <a:rPr lang="en-US" altLang="ko-KR" dirty="0"/>
              <a:t>/ </a:t>
            </a:r>
            <a:r>
              <a:rPr lang="ko-KR" altLang="en-US" dirty="0"/>
              <a:t>수신 구조체 분리 ← 재사용 금지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4431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3F193-221C-D02F-340F-4AF02842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 Overlapped I/O – </a:t>
            </a:r>
            <a:r>
              <a:rPr lang="ko-KR" altLang="en-US" dirty="0"/>
              <a:t>이벤트 방식 </a:t>
            </a:r>
            <a:r>
              <a:rPr lang="en-US" altLang="ko-KR" dirty="0"/>
              <a:t>File Read </a:t>
            </a:r>
            <a:r>
              <a:rPr lang="ko-KR" altLang="en-US" dirty="0">
                <a:latin typeface="+mn-ea"/>
              </a:rPr>
              <a:t>준비물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76ABF2-8AE6-0CEE-D354-912DB9DC7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+mn-ea"/>
                <a:ea typeface="+mn-ea"/>
              </a:rPr>
              <a:t>OVERLAPPED </a:t>
            </a:r>
            <a:r>
              <a:rPr lang="ko-KR" altLang="en-US" sz="2400" dirty="0">
                <a:latin typeface="+mn-ea"/>
                <a:ea typeface="+mn-ea"/>
              </a:rPr>
              <a:t>구조체</a:t>
            </a:r>
            <a:endParaRPr lang="en-US" altLang="ko-KR" sz="2400" dirty="0">
              <a:latin typeface="+mn-ea"/>
              <a:ea typeface="+mn-ea"/>
            </a:endParaRPr>
          </a:p>
          <a:p>
            <a:pPr lvl="1"/>
            <a:r>
              <a:rPr lang="en-US" altLang="ko-KR" sz="22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OVERLAPPED </a:t>
            </a:r>
            <a:r>
              <a:rPr lang="en-US" altLang="ko-KR" sz="22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g_rOL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 lvl="2"/>
            <a:endParaRPr lang="en-US" altLang="ko-KR" sz="18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Event </a:t>
            </a:r>
            <a:r>
              <a:rPr lang="ko-KR" altLang="en-US" sz="2400" dirty="0">
                <a:latin typeface="+mn-ea"/>
                <a:ea typeface="+mn-ea"/>
              </a:rPr>
              <a:t>객체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2400" dirty="0">
                <a:solidFill>
                  <a:srgbClr val="000000"/>
                </a:solidFill>
              </a:rPr>
              <a:t>자동 리셋 </a:t>
            </a:r>
            <a:r>
              <a:rPr lang="en-US" altLang="ko-KR" sz="2400" dirty="0">
                <a:solidFill>
                  <a:srgbClr val="000000"/>
                </a:solidFill>
              </a:rPr>
              <a:t>/ non-signaled</a:t>
            </a:r>
            <a:endParaRPr lang="en-US" altLang="ko-KR" sz="2400" dirty="0"/>
          </a:p>
          <a:p>
            <a:pPr lvl="1"/>
            <a:r>
              <a:rPr lang="en-US" altLang="ko-KR" sz="2200" dirty="0">
                <a:solidFill>
                  <a:srgbClr val="88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CreateEvent</a:t>
            </a:r>
            <a:r>
              <a:rPr lang="en-US" altLang="ko-KR" sz="22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2200" dirty="0">
                <a:solidFill>
                  <a:srgbClr val="0000FF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nullptr</a:t>
            </a:r>
            <a:r>
              <a:rPr lang="en-US" altLang="ko-KR" sz="22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2200" dirty="0">
                <a:solidFill>
                  <a:srgbClr val="6F008A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FALSE</a:t>
            </a:r>
            <a:r>
              <a:rPr lang="en-US" altLang="ko-KR" sz="22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2200" dirty="0">
                <a:solidFill>
                  <a:srgbClr val="6F008A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FALSE</a:t>
            </a:r>
            <a:r>
              <a:rPr lang="en-US" altLang="ko-KR" sz="22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2200" dirty="0">
                <a:solidFill>
                  <a:srgbClr val="0000FF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nullptr</a:t>
            </a:r>
            <a:r>
              <a:rPr lang="en-US" altLang="ko-KR" sz="2200" dirty="0">
                <a:solidFill>
                  <a:srgbClr val="000000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endParaRPr lang="en-US" altLang="ko-KR" sz="24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Read Buffer</a:t>
            </a:r>
          </a:p>
          <a:p>
            <a:pPr lvl="1"/>
            <a:r>
              <a:rPr lang="en-US" altLang="ko-KR" sz="22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char </a:t>
            </a:r>
            <a:r>
              <a:rPr lang="en-US" altLang="ko-KR" sz="22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g_rBuf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[</a:t>
            </a:r>
            <a:r>
              <a:rPr lang="en-US" altLang="ko-KR" sz="2200" dirty="0">
                <a:solidFill>
                  <a:srgbClr val="6F008A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MAX_BUF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22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4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];</a:t>
            </a:r>
          </a:p>
          <a:p>
            <a:pPr lvl="1"/>
            <a:endParaRPr lang="en-US" altLang="ko-KR" sz="2200" dirty="0">
              <a:latin typeface="+mn-ea"/>
              <a:ea typeface="+mn-ea"/>
            </a:endParaRPr>
          </a:p>
          <a:p>
            <a:r>
              <a:rPr lang="en-US" altLang="ko-KR" sz="2400" dirty="0">
                <a:latin typeface="+mn-ea"/>
                <a:ea typeface="+mn-ea"/>
              </a:rPr>
              <a:t>File Handle: </a:t>
            </a:r>
          </a:p>
          <a:p>
            <a:pPr lvl="1"/>
            <a:r>
              <a:rPr lang="en-US" altLang="ko-KR" sz="22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CreateFile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(…,</a:t>
            </a:r>
            <a:b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</a:br>
            <a:r>
              <a:rPr lang="en-US" altLang="ko-KR" sz="2200" dirty="0">
                <a:solidFill>
                  <a:srgbClr val="6F008A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FILE_ATTRIBUTE_NORMAL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|</a:t>
            </a:r>
            <a:r>
              <a:rPr lang="en-US" altLang="ko-KR" sz="2200" dirty="0">
                <a:solidFill>
                  <a:srgbClr val="6F008A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FILE_FLAG_OVERLAPPED</a:t>
            </a:r>
            <a:r>
              <a:rPr lang="en-US" altLang="ko-KR" sz="22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99CEFE-4580-DD12-0D60-A2136F1EEC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39463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19F72-64A0-D25D-6BF7-A3779EF1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Overlapped I/O – </a:t>
            </a:r>
            <a:r>
              <a:rPr lang="ko-KR" altLang="en-US" dirty="0"/>
              <a:t>이벤트 방식 </a:t>
            </a:r>
            <a:r>
              <a:rPr lang="en-US" altLang="ko-KR" dirty="0"/>
              <a:t>File Read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4C34C-4785-BB54-62A4-503AF9D5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ReadFile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168F97-8EAF-4875-2A8E-EE6E163038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4245B-7914-A5BC-B1DC-73E613AC0AD8}"/>
              </a:ext>
            </a:extLst>
          </p:cNvPr>
          <p:cNvSpPr txBox="1"/>
          <p:nvPr/>
        </p:nvSpPr>
        <p:spPr>
          <a:xfrm>
            <a:off x="565349" y="1196752"/>
            <a:ext cx="767906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비동기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요청</a:t>
            </a:r>
            <a:endParaRPr lang="ko-KR" altLang="en-US" sz="18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 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25743-BBD4-64D5-4D91-4CE31071EFD3}"/>
              </a:ext>
            </a:extLst>
          </p:cNvPr>
          <p:cNvSpPr txBox="1"/>
          <p:nvPr/>
        </p:nvSpPr>
        <p:spPr>
          <a:xfrm>
            <a:off x="565349" y="1781527"/>
            <a:ext cx="7679060" cy="424731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WINAPI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WorkThread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pParam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=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8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while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입출력 완료를 기다림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WaitForSingleObject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hEvent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INFINITE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...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완료 결과 해석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전송된 길이 얻기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GetOverlappedResult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...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비동기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 </a:t>
            </a:r>
            <a:r>
              <a:rPr lang="ko-KR" altLang="en-US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요청</a:t>
            </a:r>
            <a:endParaRPr lang="ko-KR" altLang="en-US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r>
              <a:rPr lang="ko-KR" altLang="en-US" sz="18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...</a:t>
            </a:r>
            <a:r>
              <a:rPr lang="ko-KR" altLang="en-US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endParaRPr lang="en-US" altLang="ko-KR" sz="1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14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6F71-7504-AD7A-3AED-264E07E5E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5618C-6523-2DA3-8165-90355176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Overlapped I/O – </a:t>
            </a:r>
            <a:r>
              <a:rPr lang="ko-KR" altLang="en-US" dirty="0"/>
              <a:t>이벤트 방식 </a:t>
            </a:r>
            <a:r>
              <a:rPr lang="en-US" altLang="ko-KR" dirty="0"/>
              <a:t>I/O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1F4D6-7A94-5AA0-712C-013F635E9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rgbClr val="216F85"/>
                </a:solidFill>
                <a:latin typeface="+mn-ea"/>
              </a:rPr>
              <a:t>WSAOVERLAPPED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en-US" altLang="ko-KR" sz="1800" dirty="0">
                <a:solidFill>
                  <a:srgbClr val="216F85"/>
                </a:solidFill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OVERLAPPED </a:t>
            </a:r>
            <a:r>
              <a:rPr lang="ko-KR" altLang="en-US" sz="1800" dirty="0">
                <a:latin typeface="+mn-ea"/>
              </a:rPr>
              <a:t>와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동일</a:t>
            </a:r>
            <a:endParaRPr lang="en-US" altLang="ko-KR" sz="1800" dirty="0">
              <a:latin typeface="+mn-ea"/>
            </a:endParaRPr>
          </a:p>
          <a:p>
            <a:pPr lvl="1"/>
            <a:r>
              <a:rPr lang="ko-KR" altLang="en-US" sz="1800" dirty="0"/>
              <a:t>비동기 </a:t>
            </a:r>
            <a:r>
              <a:rPr lang="en-US" altLang="ko-KR" sz="1800" dirty="0"/>
              <a:t>I/O </a:t>
            </a:r>
            <a:r>
              <a:rPr lang="ko-KR" altLang="en-US" sz="1800" dirty="0"/>
              <a:t>상태 관리 구조체</a:t>
            </a:r>
            <a:endParaRPr lang="en-US" altLang="ko-KR" sz="1800" dirty="0">
              <a:latin typeface="+mn-ea"/>
            </a:endParaRPr>
          </a:p>
          <a:p>
            <a:pPr lvl="2"/>
            <a:endParaRPr lang="en-US" altLang="ko-KR" sz="1050" dirty="0">
              <a:latin typeface="+mn-ea"/>
            </a:endParaRPr>
          </a:p>
          <a:p>
            <a:r>
              <a:rPr lang="en-US" altLang="ko-KR" sz="2000" dirty="0">
                <a:solidFill>
                  <a:srgbClr val="216F85"/>
                </a:solidFill>
                <a:effectLst/>
                <a:latin typeface="+mn-ea"/>
                <a:ea typeface="+mn-ea"/>
              </a:rPr>
              <a:t>WSABUF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ko-KR" altLang="en-US" sz="1800" dirty="0"/>
              <a:t>윈속 비동기 </a:t>
            </a:r>
            <a:r>
              <a:rPr lang="en-US" altLang="ko-KR" sz="1800" dirty="0"/>
              <a:t>I/O </a:t>
            </a:r>
            <a:r>
              <a:rPr lang="ko-KR" altLang="en-US" sz="1800" dirty="0"/>
              <a:t>전용 구조체</a:t>
            </a:r>
            <a:endParaRPr lang="en-US" altLang="ko-KR" sz="1800" dirty="0"/>
          </a:p>
          <a:p>
            <a:pPr lvl="1"/>
            <a:r>
              <a:rPr lang="ko-KR" altLang="en-US" sz="1800" dirty="0"/>
              <a:t>데이터 버퍼 시작 주소</a:t>
            </a:r>
            <a:endParaRPr lang="en-US" altLang="ko-KR" sz="1800" dirty="0"/>
          </a:p>
          <a:p>
            <a:pPr lvl="1"/>
            <a:r>
              <a:rPr lang="ko-KR" altLang="en-US" sz="1800" dirty="0"/>
              <a:t>데이터 길이 정보</a:t>
            </a:r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pPr lvl="2"/>
            <a:endParaRPr lang="en-US" altLang="ko-KR" sz="500" dirty="0">
              <a:latin typeface="+mn-ea"/>
              <a:ea typeface="+mn-ea"/>
            </a:endParaRPr>
          </a:p>
          <a:p>
            <a:r>
              <a:rPr lang="en-US" altLang="ko-KR" sz="2000" dirty="0">
                <a:solidFill>
                  <a:srgbClr val="880000"/>
                </a:solidFill>
                <a:latin typeface="+mn-ea"/>
              </a:rPr>
              <a:t>WSACeateEvent </a:t>
            </a:r>
            <a:r>
              <a:rPr lang="en-US" altLang="ko-KR" sz="2000" dirty="0"/>
              <a:t>(</a:t>
            </a:r>
            <a:r>
              <a:rPr lang="ko-KR" altLang="en-US" sz="2000" dirty="0"/>
              <a:t>수동 리셋 이벤트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1800" dirty="0"/>
              <a:t>수동 리셋 이벤트 생성</a:t>
            </a:r>
            <a:endParaRPr lang="en-US" altLang="ko-KR" sz="1800" dirty="0"/>
          </a:p>
          <a:p>
            <a:pPr lvl="3"/>
            <a:endParaRPr lang="en-US" altLang="ko-KR" sz="1050" dirty="0"/>
          </a:p>
          <a:p>
            <a:r>
              <a:rPr lang="en-US" altLang="ko-KR" sz="2000" dirty="0"/>
              <a:t>※ </a:t>
            </a:r>
            <a:r>
              <a:rPr lang="ko-KR" altLang="en-US" sz="2000" dirty="0"/>
              <a:t>참고</a:t>
            </a:r>
            <a:endParaRPr lang="en-US" altLang="ko-KR" sz="2000" dirty="0"/>
          </a:p>
          <a:p>
            <a:pPr lvl="1"/>
            <a:r>
              <a:rPr lang="ko-KR" altLang="en-US" sz="1800" dirty="0"/>
              <a:t>자동 리셋</a:t>
            </a:r>
          </a:p>
          <a:p>
            <a:pPr lvl="2"/>
            <a:r>
              <a:rPr lang="en-US" altLang="ko-KR" sz="1400" dirty="0"/>
              <a:t>Wait </a:t>
            </a:r>
            <a:r>
              <a:rPr lang="ko-KR" altLang="en-US" sz="1400" dirty="0"/>
              <a:t>반환 시 자동 비신호 상태 전환 </a:t>
            </a:r>
          </a:p>
          <a:p>
            <a:pPr lvl="2"/>
            <a:r>
              <a:rPr lang="ko-KR" altLang="en-US" sz="1400" dirty="0"/>
              <a:t>미처리 </a:t>
            </a:r>
            <a:r>
              <a:rPr lang="en-US" altLang="ko-KR" sz="1400" dirty="0"/>
              <a:t>I/O </a:t>
            </a:r>
            <a:r>
              <a:rPr lang="ko-KR" altLang="en-US" sz="1400" dirty="0"/>
              <a:t>존재 가능 </a:t>
            </a:r>
          </a:p>
          <a:p>
            <a:pPr lvl="1"/>
            <a:r>
              <a:rPr lang="ko-KR" altLang="en-US" sz="1800" dirty="0"/>
              <a:t>수동 리셋</a:t>
            </a:r>
          </a:p>
          <a:p>
            <a:pPr lvl="2"/>
            <a:r>
              <a:rPr lang="en-US" altLang="ko-KR" sz="1400" dirty="0"/>
              <a:t>ResetEvent </a:t>
            </a:r>
            <a:r>
              <a:rPr lang="ko-KR" altLang="en-US" sz="1400" dirty="0"/>
              <a:t>호출 전까지 신호 상태 유지 </a:t>
            </a:r>
          </a:p>
          <a:p>
            <a:pPr lvl="2"/>
            <a:r>
              <a:rPr lang="ko-KR" altLang="en-US" sz="1400" dirty="0"/>
              <a:t>여러 개 완료 </a:t>
            </a:r>
            <a:r>
              <a:rPr lang="en-US" altLang="ko-KR" sz="1400" dirty="0"/>
              <a:t>I/O </a:t>
            </a:r>
            <a:r>
              <a:rPr lang="ko-KR" altLang="en-US" sz="1400" dirty="0"/>
              <a:t>확인 가능 </a:t>
            </a:r>
          </a:p>
          <a:p>
            <a:pPr lvl="2"/>
            <a:r>
              <a:rPr lang="ko-KR" altLang="en-US" sz="1400" dirty="0"/>
              <a:t>목적</a:t>
            </a:r>
            <a:r>
              <a:rPr lang="en-US" altLang="ko-KR" sz="1400" dirty="0"/>
              <a:t>: Overlapped I/O </a:t>
            </a:r>
            <a:r>
              <a:rPr lang="ko-KR" altLang="en-US" sz="1400" dirty="0"/>
              <a:t>완료 누락 방지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5EA261-BE42-CCC8-433A-EC88F017DF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39749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251A-76F3-6D24-0ADC-2BB0FB5A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9B346628-DE4C-479D-B130-472AAB32E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08FD05E-0DF6-72CC-D81B-E2CFD0580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3.3 Overlapped I/O –</a:t>
            </a:r>
            <a:r>
              <a:rPr lang="ko-KR" altLang="en-US" dirty="0"/>
              <a:t>소켓</a:t>
            </a:r>
            <a:endParaRPr lang="ko-KR" altLang="en-US" sz="24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3E070DF-E54A-C3B6-A9DE-5BD383C80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이벤트 객체 기반 완료 통지 구조</a:t>
            </a:r>
          </a:p>
          <a:p>
            <a:pPr lvl="1"/>
            <a:r>
              <a:rPr lang="ko-KR" altLang="en-US" dirty="0"/>
              <a:t>입출력 요청 시 이벤트 객체 연결</a:t>
            </a:r>
            <a:endParaRPr lang="en-US" altLang="ko-KR" dirty="0"/>
          </a:p>
          <a:p>
            <a:pPr lvl="1"/>
            <a:r>
              <a:rPr lang="ko-KR" altLang="en-US" dirty="0"/>
              <a:t>완료 시 이벤트 신호 상태 변경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소켓 생성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42D59-E182-4A91-AA82-60F97DE7BA39}"/>
              </a:ext>
            </a:extLst>
          </p:cNvPr>
          <p:cNvSpPr txBox="1"/>
          <p:nvPr/>
        </p:nvSpPr>
        <p:spPr>
          <a:xfrm>
            <a:off x="1115616" y="3118862"/>
            <a:ext cx="5544616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scHost = </a:t>
            </a:r>
            <a:r>
              <a:rPr lang="en-US" altLang="ko-KR" sz="2400" b="1" i="0" u="none" strike="noStrike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WSASocket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AF_INET,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SOCK_STREAM,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IPPROTO_TCP,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400" b="1" i="0" u="none" strike="noStrike" dirty="0">
                <a:solidFill>
                  <a:srgbClr val="0184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2400" b="1" i="0" u="none" strike="noStrike" dirty="0">
                <a:solidFill>
                  <a:srgbClr val="99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WSA_FLAG_OVERLAPPED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4637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4E577-6DA5-E6E3-2781-0E47EC9B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Overlapped I/O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38626-8E84-4475-910D-0D4F36F5C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WSABUF</a:t>
            </a:r>
          </a:p>
          <a:p>
            <a:pPr lvl="1"/>
            <a:r>
              <a:rPr lang="en-US" altLang="ko-KR" dirty="0"/>
              <a:t>WinSocket2 </a:t>
            </a:r>
            <a:r>
              <a:rPr lang="ko-KR" altLang="en-US" dirty="0"/>
              <a:t>데이터 버퍼 관리용 구조체</a:t>
            </a:r>
          </a:p>
          <a:p>
            <a:pPr lvl="1"/>
            <a:r>
              <a:rPr lang="ko-KR" altLang="en-US" dirty="0"/>
              <a:t>버퍼 주소</a:t>
            </a:r>
            <a:r>
              <a:rPr lang="en-US" altLang="ko-KR" dirty="0"/>
              <a:t>, </a:t>
            </a:r>
            <a:r>
              <a:rPr lang="ko-KR" altLang="en-US" dirty="0"/>
              <a:t>길이 포함</a:t>
            </a:r>
            <a:endParaRPr lang="en-US" altLang="ko-KR" dirty="0"/>
          </a:p>
          <a:p>
            <a:pPr lvl="1"/>
            <a:r>
              <a:rPr lang="ko-KR" altLang="en-US" dirty="0"/>
              <a:t>실제 데이터가 저장된 버퍼의 위치와 크기를 </a:t>
            </a:r>
            <a:r>
              <a:rPr lang="en-US" altLang="ko-KR" dirty="0"/>
              <a:t>OS</a:t>
            </a:r>
            <a:r>
              <a:rPr lang="ko-KR" altLang="en-US" dirty="0"/>
              <a:t>에 전달</a:t>
            </a:r>
            <a:endParaRPr lang="en-US" altLang="ko-KR" dirty="0"/>
          </a:p>
          <a:p>
            <a:pPr lvl="1"/>
            <a:r>
              <a:rPr lang="ko-KR" altLang="en-US" dirty="0"/>
              <a:t>비 연속 메모리 처리 </a:t>
            </a:r>
            <a:r>
              <a:rPr lang="en-US" altLang="ko-KR" dirty="0"/>
              <a:t>(Gather / Scatter)  </a:t>
            </a:r>
            <a:r>
              <a:rPr lang="ko-KR" altLang="en-US" dirty="0"/>
              <a:t>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3F488F-F3F8-7C1F-9597-2CC265878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F3430-09A8-E0AB-0F5E-ADDACA2E6B55}"/>
              </a:ext>
            </a:extLst>
          </p:cNvPr>
          <p:cNvSpPr txBox="1"/>
          <p:nvPr/>
        </p:nvSpPr>
        <p:spPr>
          <a:xfrm>
            <a:off x="755576" y="3411961"/>
            <a:ext cx="7416824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typedef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800" b="1" dirty="0">
                <a:solidFill>
                  <a:srgbClr val="216F8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WSABUF 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ULONG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</a:t>
            </a:r>
            <a:r>
              <a:rPr lang="en-US" altLang="ko-KR" sz="2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2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2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버퍼의 길이</a:t>
            </a:r>
            <a:endParaRPr lang="en-US" altLang="ko-KR" sz="2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8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 </a:t>
            </a:r>
            <a:r>
              <a:rPr lang="en-US" altLang="ko-KR" sz="2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buf</a:t>
            </a: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</a:t>
            </a:r>
            <a:r>
              <a:rPr lang="en-US" altLang="ko-KR" sz="28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28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메모리 주소</a:t>
            </a:r>
            <a:endParaRPr lang="en-US" altLang="ko-KR" sz="28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171070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455B-01FB-8551-6C4F-F89651CD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7B97E-95E7-E2DE-CE19-F3694499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3.5 Overlapped I/O – OVERLAP_EX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5CCFD-1253-A7F0-7CFF-4C679DE5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WSAOVERLAPPED</a:t>
            </a:r>
          </a:p>
          <a:p>
            <a:pPr lvl="1"/>
            <a:r>
              <a:rPr lang="en-US" altLang="ko-KR" sz="2000" dirty="0">
                <a:solidFill>
                  <a:srgbClr val="216F85"/>
                </a:solidFill>
                <a:effectLst/>
                <a:latin typeface="+mn-ea"/>
                <a:ea typeface="+mn-ea"/>
              </a:rPr>
              <a:t>OVERLAPPED </a:t>
            </a:r>
            <a:r>
              <a:rPr lang="ko-KR" altLang="en-US" sz="2000" dirty="0"/>
              <a:t>와 동일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>
                <a:solidFill>
                  <a:srgbClr val="216F85"/>
                </a:solidFill>
              </a:rPr>
              <a:t>OVERLAP_EX</a:t>
            </a:r>
          </a:p>
          <a:p>
            <a:pPr lvl="1"/>
            <a:r>
              <a:rPr lang="en-US" altLang="ko-KR" sz="2000" dirty="0"/>
              <a:t>WSAOVERLAPPED </a:t>
            </a:r>
            <a:r>
              <a:rPr lang="ko-KR" altLang="en-US" sz="2000" dirty="0"/>
              <a:t>확장</a:t>
            </a:r>
            <a:endParaRPr lang="en-US" altLang="ko-KR" sz="2000" dirty="0"/>
          </a:p>
          <a:p>
            <a:pPr lvl="1"/>
            <a:r>
              <a:rPr lang="en-US" altLang="ko-KR" sz="2000" dirty="0"/>
              <a:t>WSABUF, Transferred, send/recv flag, csBuf</a:t>
            </a:r>
            <a:r>
              <a:rPr lang="ko-KR" altLang="en-US" sz="2000" dirty="0"/>
              <a:t> 포함</a:t>
            </a:r>
            <a:endParaRPr lang="en-US" altLang="ko-KR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66DACF-C377-9637-AF21-5306F77FE7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D4822-4A99-C594-1C10-926CE5420B69}"/>
              </a:ext>
            </a:extLst>
          </p:cNvPr>
          <p:cNvSpPr txBox="1"/>
          <p:nvPr/>
        </p:nvSpPr>
        <p:spPr>
          <a:xfrm>
            <a:off x="1259632" y="3364537"/>
            <a:ext cx="5976466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OVERLAP_EX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Transfered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Flag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OVERLAP_EX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memset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sizeof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OVERLAP_EX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</p:txBody>
      </p:sp>
    </p:spTree>
    <p:extLst>
      <p:ext uri="{BB962C8B-B14F-4D97-AF65-F5344CB8AC3E}">
        <p14:creationId xmlns:p14="http://schemas.microsoft.com/office/powerpoint/2010/main" val="691105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AAA7-F530-5607-6908-2FE41E2AC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0F5C777C-24E8-5C03-9F95-147AC8C372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3F9A5D8-AA1B-7AC8-CCAE-8A096D883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3.6 Overlapped I/O – </a:t>
            </a:r>
            <a:r>
              <a:rPr lang="ko-KR" altLang="en-US" sz="2400" dirty="0"/>
              <a:t>이벤트 방식 </a:t>
            </a:r>
            <a:r>
              <a:rPr lang="en-US" altLang="ko-KR" dirty="0"/>
              <a:t>I/O </a:t>
            </a:r>
            <a:r>
              <a:rPr lang="ko-KR" altLang="en-US" dirty="0"/>
              <a:t>처리</a:t>
            </a:r>
            <a:endParaRPr lang="ko-KR" altLang="en-US" sz="24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EA9F284-43C6-97BF-7101-ECD79AA24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400" dirty="0"/>
              <a:t>이벤트</a:t>
            </a:r>
            <a:r>
              <a:rPr lang="en-US" altLang="ko-KR" sz="2400" dirty="0"/>
              <a:t>: </a:t>
            </a:r>
            <a:r>
              <a:rPr lang="en-US" altLang="ko-KR" sz="2400" dirty="0">
                <a:solidFill>
                  <a:srgbClr val="9900FF"/>
                </a:solidFill>
              </a:rPr>
              <a:t>WSAWaitForMultipleEvents</a:t>
            </a:r>
          </a:p>
          <a:p>
            <a:r>
              <a:rPr lang="ko-KR" altLang="en-US" sz="2400" dirty="0"/>
              <a:t>비동기 </a:t>
            </a:r>
            <a:r>
              <a:rPr lang="en-US" altLang="ko-KR" sz="2400" dirty="0"/>
              <a:t>I/O </a:t>
            </a:r>
            <a:r>
              <a:rPr lang="ko-KR" altLang="en-US" sz="2400" dirty="0"/>
              <a:t>결과</a:t>
            </a:r>
            <a:r>
              <a:rPr lang="en-US" altLang="ko-KR" sz="2400" dirty="0"/>
              <a:t>: </a:t>
            </a:r>
            <a:r>
              <a:rPr lang="en-US" altLang="ko-KR" sz="2400" dirty="0">
                <a:solidFill>
                  <a:srgbClr val="9900FF"/>
                </a:solidFill>
              </a:rPr>
              <a:t>WSAGetOverlappedResult</a:t>
            </a:r>
          </a:p>
          <a:p>
            <a:endParaRPr lang="en-US" altLang="ko-KR" dirty="0">
              <a:solidFill>
                <a:srgbClr val="C00000"/>
              </a:solidFill>
            </a:endParaRPr>
          </a:p>
          <a:p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09DE98-5B70-B4CC-93BA-B4B232A22F6D}"/>
              </a:ext>
            </a:extLst>
          </p:cNvPr>
          <p:cNvSpPr txBox="1"/>
          <p:nvPr/>
        </p:nvSpPr>
        <p:spPr>
          <a:xfrm>
            <a:off x="755576" y="1863983"/>
            <a:ext cx="691276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WSAWaitForMultipleEvents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-= 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WSA_WAIT_EVENT_0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인덱스 재조정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OVL_TOT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WSAWaitForMultipleEvents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vEvn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 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 입출력 결과 확인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WSAGetOverlappedResult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ResetEvent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이벤트 비 신호 상태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OVL_CONNECT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          </a:t>
            </a:r>
            <a:r>
              <a:rPr lang="en-US" altLang="ko-KR" sz="14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Connect Notify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Send Notify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Recv Notify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(…);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</p:txBody>
      </p:sp>
    </p:spTree>
    <p:extLst>
      <p:ext uri="{BB962C8B-B14F-4D97-AF65-F5344CB8AC3E}">
        <p14:creationId xmlns:p14="http://schemas.microsoft.com/office/powerpoint/2010/main" val="240025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CF71-9B37-9324-D593-B3E7BCE2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바닥글 개체 틀 3">
            <a:extLst>
              <a:ext uri="{FF2B5EF4-FFF2-40B4-BE49-F238E27FC236}">
                <a16:creationId xmlns:a16="http://schemas.microsoft.com/office/drawing/2014/main" id="{383D81F4-DE65-4FA0-C991-E459B277A9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D568AC6-3CA4-4151-1B70-F198201E4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3.7 Overlapped I/O – </a:t>
            </a:r>
            <a:r>
              <a:rPr lang="ko-KR" altLang="en-US" sz="2400" dirty="0"/>
              <a:t>이벤트 방식 </a:t>
            </a:r>
            <a:r>
              <a:rPr lang="en-US" altLang="ko-KR" dirty="0"/>
              <a:t>Write/Read File</a:t>
            </a:r>
            <a:endParaRPr lang="ko-KR" altLang="en-US" sz="24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741A46B-EB96-00EB-9BE5-EC8007426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Send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Recv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0B786-2DC6-5C6B-078E-7DDC2725C85D}"/>
              </a:ext>
            </a:extLst>
          </p:cNvPr>
          <p:cNvSpPr txBox="1"/>
          <p:nvPr/>
        </p:nvSpPr>
        <p:spPr>
          <a:xfrm>
            <a:off x="887697" y="1196752"/>
            <a:ext cx="7704534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WriteFile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g_scHost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송신 소켓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송신 버퍼 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  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iLen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OVERLAPPED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구조체 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3C95C-3C0C-10BE-15CD-CA02703F7F9D}"/>
              </a:ext>
            </a:extLst>
          </p:cNvPr>
          <p:cNvSpPr txBox="1"/>
          <p:nvPr/>
        </p:nvSpPr>
        <p:spPr>
          <a:xfrm>
            <a:off x="887696" y="4293096"/>
            <a:ext cx="7704535" cy="193899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g_scHost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수신 소켓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수신 버퍼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OVERLAPPED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구조체 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42534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7F36-C2AF-B1D8-F8FE-337B26CD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37DE2-83EF-6D56-9DF7-E72BB040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3.8 </a:t>
            </a:r>
            <a:r>
              <a:rPr lang="en-US" altLang="ko-KR" sz="2400" dirty="0"/>
              <a:t>Overlapped</a:t>
            </a:r>
            <a:r>
              <a:rPr lang="en-US" altLang="ko-KR" dirty="0"/>
              <a:t> I/O – </a:t>
            </a:r>
            <a:r>
              <a:rPr lang="ko-KR" altLang="en-US" dirty="0"/>
              <a:t>이벤트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96CF6-952C-8809-DB17-ACEE555C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WSASend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WSARecv</a:t>
            </a:r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795EB5-4C6A-B245-846A-00468D389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BCC43-BDDF-49A4-4D99-1120FB32F007}"/>
              </a:ext>
            </a:extLst>
          </p:cNvPr>
          <p:cNvSpPr txBox="1"/>
          <p:nvPr/>
        </p:nvSpPr>
        <p:spPr>
          <a:xfrm>
            <a:off x="558980" y="1352846"/>
            <a:ext cx="8136904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g_scHost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송신 소켓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 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WSBUF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WSBUF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 수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OVL_SEND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OVERLAPPED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구조체 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C2462-089F-13B1-BBA3-AADDA9EB6125}"/>
              </a:ext>
            </a:extLst>
          </p:cNvPr>
          <p:cNvSpPr txBox="1"/>
          <p:nvPr/>
        </p:nvSpPr>
        <p:spPr>
          <a:xfrm>
            <a:off x="558980" y="4352565"/>
            <a:ext cx="8136904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g_scHost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수신 소켓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WSBUF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WSBUF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 수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OVL_RECV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     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OVERLAPPED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구조체 포인터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  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96472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50866-7C75-44E2-B476-75893DB9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Overlapped I/O – </a:t>
            </a:r>
            <a:r>
              <a:rPr lang="ko-KR" altLang="en-US" dirty="0"/>
              <a:t>완료 루틴 </a:t>
            </a:r>
            <a:r>
              <a:rPr lang="en-US" altLang="ko-KR" dirty="0"/>
              <a:t>File 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8CCA4D-F6DE-1929-EC08-259A0794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OVERLAPPED, Buffer</a:t>
            </a:r>
          </a:p>
          <a:p>
            <a:pPr lvl="1"/>
            <a:r>
              <a:rPr lang="ko-KR" altLang="en-US" dirty="0"/>
              <a:t>이벤트 방식과 동일하게 유지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완료 루틴 콜백 함수 추가</a:t>
            </a:r>
            <a:endParaRPr lang="en-US" altLang="ko-KR" dirty="0"/>
          </a:p>
          <a:p>
            <a:pPr lvl="1"/>
            <a:r>
              <a:rPr lang="en-US" altLang="ko-KR" dirty="0"/>
              <a:t>I/O </a:t>
            </a:r>
            <a:r>
              <a:rPr lang="ko-KR" altLang="en-US" dirty="0"/>
              <a:t>완료 콜백 함수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ReadFile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4AF7FE-25D4-0872-B11D-8DD8E11AA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59265-C684-8313-E336-56E9BFDD5320}"/>
              </a:ext>
            </a:extLst>
          </p:cNvPr>
          <p:cNvSpPr txBox="1"/>
          <p:nvPr/>
        </p:nvSpPr>
        <p:spPr>
          <a:xfrm>
            <a:off x="611559" y="3356992"/>
            <a:ext cx="8137153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CALLBACK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CompletionRoutine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LPOVERLAPPED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B2905-F385-8E1D-BE17-AFE27F13803B}"/>
              </a:ext>
            </a:extLst>
          </p:cNvPr>
          <p:cNvSpPr txBox="1"/>
          <p:nvPr/>
        </p:nvSpPr>
        <p:spPr>
          <a:xfrm>
            <a:off x="611559" y="4653136"/>
            <a:ext cx="8137153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ReadFileEx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6F008A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CompletionRoutine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40825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C8F90-0661-3D87-6E42-3C0412BF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2CC6B-C1D2-6A51-D713-4FD3DB12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Overlapped I/O – </a:t>
            </a:r>
            <a:r>
              <a:rPr lang="ko-KR" altLang="en-US" dirty="0"/>
              <a:t>완료 루틴 </a:t>
            </a:r>
            <a:r>
              <a:rPr lang="en-US" altLang="ko-KR" dirty="0"/>
              <a:t>File Read Callback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680E7C-0698-9121-758D-08DEF89B2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091F-6A91-97BC-97C7-9B9FF1368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F4A20-CD23-072D-E618-81DB9E0AA409}"/>
              </a:ext>
            </a:extLst>
          </p:cNvPr>
          <p:cNvSpPr txBox="1"/>
          <p:nvPr/>
        </p:nvSpPr>
        <p:spPr>
          <a:xfrm>
            <a:off x="542792" y="797510"/>
            <a:ext cx="7798654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Completion Routine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CALLBACK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CompletionRoutine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dErr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LPOVERLAPPED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g_TotalRead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g_TotalSize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g_TotalRead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CloseHandle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Read file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 요청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Offset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AsyncRead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6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Sleep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8220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3EF0B-83C5-95D5-B5DF-D9D51F27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Overlapped I/O – </a:t>
            </a:r>
            <a:r>
              <a:rPr lang="ko-KR" altLang="en-US" dirty="0"/>
              <a:t>완료 루틴 </a:t>
            </a:r>
            <a:r>
              <a:rPr lang="en-US" altLang="ko-KR" dirty="0"/>
              <a:t>I/O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4D7E1-5565-88EC-3D9E-6EE65E76D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solidFill>
                  <a:srgbClr val="0000FF"/>
                </a:solidFill>
                <a:effectLst/>
                <a:latin typeface="+mn-ea"/>
                <a:ea typeface="+mn-ea"/>
              </a:rPr>
              <a:t>typedef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+mn-ea"/>
                <a:ea typeface="+mn-ea"/>
              </a:rPr>
              <a:t> </a:t>
            </a:r>
            <a:r>
              <a:rPr lang="en-US" altLang="ko-KR" sz="1800" dirty="0">
                <a:solidFill>
                  <a:srgbClr val="880000"/>
                </a:solidFill>
                <a:effectLst/>
                <a:latin typeface="+mn-ea"/>
                <a:ea typeface="+mn-ea"/>
              </a:rPr>
              <a:t>LPWSAOVERLAPPED_COMPLETION_ROUTINE</a:t>
            </a:r>
            <a:br>
              <a:rPr lang="en-US" altLang="ko-KR" sz="1800" dirty="0">
                <a:solidFill>
                  <a:srgbClr val="880000"/>
                </a:solidFill>
                <a:effectLst/>
                <a:latin typeface="+mn-ea"/>
                <a:ea typeface="+mn-ea"/>
              </a:rPr>
            </a:br>
            <a:r>
              <a:rPr lang="en-US" altLang="ko-KR" sz="1800" dirty="0">
                <a:solidFill>
                  <a:srgbClr val="216F85"/>
                </a:solidFill>
                <a:effectLst/>
                <a:latin typeface="+mn-ea"/>
                <a:ea typeface="+mn-ea"/>
              </a:rPr>
              <a:t>PWSA_COMP_R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+mn-ea"/>
                <a:ea typeface="+mn-ea"/>
              </a:rPr>
              <a:t>;</a:t>
            </a: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OVERLAP_EX</a:t>
            </a: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Recv</a:t>
            </a: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Send</a:t>
            </a:r>
          </a:p>
          <a:p>
            <a:endParaRPr lang="en-US" altLang="ko-KR" sz="1800" dirty="0">
              <a:solidFill>
                <a:srgbClr val="000000"/>
              </a:solidFill>
              <a:effectLst/>
              <a:latin typeface="+mn-ea"/>
              <a:ea typeface="+mn-ea"/>
            </a:endParaRPr>
          </a:p>
          <a:p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9DC020-393E-D43B-7137-85E1B50E7D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E8114-D477-1B53-056C-AFC708FB321E}"/>
              </a:ext>
            </a:extLst>
          </p:cNvPr>
          <p:cNvSpPr txBox="1"/>
          <p:nvPr/>
        </p:nvSpPr>
        <p:spPr>
          <a:xfrm>
            <a:off x="971600" y="1996642"/>
            <a:ext cx="432048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OVERLAP_EX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: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WSAOVERLAPPED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dType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DWORD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csBuf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PWSA_COMP_R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pcsFunc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4537C-0F78-5966-0FFD-7FB3F172A11C}"/>
              </a:ext>
            </a:extLst>
          </p:cNvPr>
          <p:cNvSpPr txBox="1"/>
          <p:nvPr/>
        </p:nvSpPr>
        <p:spPr>
          <a:xfrm>
            <a:off x="971600" y="5018147"/>
            <a:ext cx="676875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WSARecv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pcsFunc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2F42-8A47-5DB9-1862-BECCC43E6181}"/>
              </a:ext>
            </a:extLst>
          </p:cNvPr>
          <p:cNvSpPr txBox="1"/>
          <p:nvPr/>
        </p:nvSpPr>
        <p:spPr>
          <a:xfrm>
            <a:off x="971600" y="6011996"/>
            <a:ext cx="676875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WSASend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wsBuf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dFlag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8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pcsFunc</a:t>
            </a:r>
            <a:r>
              <a:rPr lang="en-US" altLang="ko-KR" sz="18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3327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바닥글 개체 틀 1">
            <a:extLst>
              <a:ext uri="{FF2B5EF4-FFF2-40B4-BE49-F238E27FC236}">
                <a16:creationId xmlns:a16="http://schemas.microsoft.com/office/drawing/2014/main" id="{487979B6-B289-DD87-C45C-BFB009AD2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cxnSp>
        <p:nvCxnSpPr>
          <p:cNvPr id="10243" name="AutoShape 9">
            <a:extLst>
              <a:ext uri="{FF2B5EF4-FFF2-40B4-BE49-F238E27FC236}">
                <a16:creationId xmlns:a16="http://schemas.microsoft.com/office/drawing/2014/main" id="{2E4684BA-FFF3-58B9-7284-EAB539ADF7AB}"/>
              </a:ext>
            </a:extLst>
          </p:cNvPr>
          <p:cNvCxnSpPr>
            <a:cxnSpLocks noChangeShapeType="1"/>
            <a:stCxn id="10253" idx="3"/>
            <a:endCxn id="10265" idx="1"/>
          </p:cNvCxnSpPr>
          <p:nvPr/>
        </p:nvCxnSpPr>
        <p:spPr bwMode="auto">
          <a:xfrm>
            <a:off x="2424113" y="2205038"/>
            <a:ext cx="554037" cy="1117600"/>
          </a:xfrm>
          <a:prstGeom prst="straightConnector1">
            <a:avLst/>
          </a:prstGeom>
          <a:noFill/>
          <a:ln w="63500">
            <a:solidFill>
              <a:srgbClr val="80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44" name="AutoShape 10">
            <a:extLst>
              <a:ext uri="{FF2B5EF4-FFF2-40B4-BE49-F238E27FC236}">
                <a16:creationId xmlns:a16="http://schemas.microsoft.com/office/drawing/2014/main" id="{31501A0B-5BBE-8FB2-E8BE-69A18E684391}"/>
              </a:ext>
            </a:extLst>
          </p:cNvPr>
          <p:cNvCxnSpPr>
            <a:cxnSpLocks noChangeShapeType="1"/>
            <a:stCxn id="10256" idx="3"/>
            <a:endCxn id="10265" idx="1"/>
          </p:cNvCxnSpPr>
          <p:nvPr/>
        </p:nvCxnSpPr>
        <p:spPr bwMode="auto">
          <a:xfrm flipV="1">
            <a:off x="2424113" y="3322638"/>
            <a:ext cx="554037" cy="4762"/>
          </a:xfrm>
          <a:prstGeom prst="straightConnector1">
            <a:avLst/>
          </a:prstGeom>
          <a:noFill/>
          <a:ln w="63500">
            <a:solidFill>
              <a:srgbClr val="80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45" name="AutoShape 11">
            <a:extLst>
              <a:ext uri="{FF2B5EF4-FFF2-40B4-BE49-F238E27FC236}">
                <a16:creationId xmlns:a16="http://schemas.microsoft.com/office/drawing/2014/main" id="{551865B1-8366-B8EA-5452-EE87884EEC87}"/>
              </a:ext>
            </a:extLst>
          </p:cNvPr>
          <p:cNvCxnSpPr>
            <a:cxnSpLocks noChangeShapeType="1"/>
            <a:stCxn id="10259" idx="3"/>
            <a:endCxn id="10265" idx="1"/>
          </p:cNvCxnSpPr>
          <p:nvPr/>
        </p:nvCxnSpPr>
        <p:spPr bwMode="auto">
          <a:xfrm flipV="1">
            <a:off x="2424113" y="3322638"/>
            <a:ext cx="554037" cy="1146175"/>
          </a:xfrm>
          <a:prstGeom prst="straightConnector1">
            <a:avLst/>
          </a:prstGeom>
          <a:noFill/>
          <a:ln w="63500">
            <a:solidFill>
              <a:srgbClr val="8000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6" name="Rectangle 21">
            <a:extLst>
              <a:ext uri="{FF2B5EF4-FFF2-40B4-BE49-F238E27FC236}">
                <a16:creationId xmlns:a16="http://schemas.microsoft.com/office/drawing/2014/main" id="{17EE7F4D-D5AA-25FB-4CA9-7FEDE7AC4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solidFill>
                  <a:schemeClr val="bg1"/>
                </a:solidFill>
                <a:latin typeface="+mn-ea"/>
                <a:ea typeface="+mn-ea"/>
              </a:rPr>
              <a:t>5. IOCP - </a:t>
            </a:r>
            <a:r>
              <a:rPr lang="ko-KR" altLang="en-US" sz="2400" dirty="0">
                <a:solidFill>
                  <a:schemeClr val="bg1"/>
                </a:solidFill>
                <a:latin typeface="+mn-ea"/>
                <a:ea typeface="+mn-ea"/>
              </a:rPr>
              <a:t>구현원리</a:t>
            </a:r>
          </a:p>
        </p:txBody>
      </p:sp>
      <p:sp>
        <p:nvSpPr>
          <p:cNvPr id="10247" name="Rectangle 24">
            <a:extLst>
              <a:ext uri="{FF2B5EF4-FFF2-40B4-BE49-F238E27FC236}">
                <a16:creationId xmlns:a16="http://schemas.microsoft.com/office/drawing/2014/main" id="{B6E09D32-789C-9A51-3AC1-46B2E042B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550863"/>
            <a:ext cx="1439863" cy="6477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400" dirty="0">
                <a:latin typeface="+mn-ea"/>
                <a:ea typeface="+mn-ea"/>
              </a:rPr>
              <a:t>IOCP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Completion Port</a:t>
            </a:r>
          </a:p>
        </p:txBody>
      </p:sp>
      <p:sp>
        <p:nvSpPr>
          <p:cNvPr id="10248" name="Oval 26">
            <a:extLst>
              <a:ext uri="{FF2B5EF4-FFF2-40B4-BE49-F238E27FC236}">
                <a16:creationId xmlns:a16="http://schemas.microsoft.com/office/drawing/2014/main" id="{15057B29-B14B-9F6D-DECB-44E1971F5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1701800"/>
            <a:ext cx="1368425" cy="627063"/>
          </a:xfrm>
          <a:prstGeom prst="ellipse">
            <a:avLst/>
          </a:prstGeom>
          <a:solidFill>
            <a:srgbClr val="FFCC00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 dirty="0">
                <a:latin typeface="+mn-ea"/>
                <a:ea typeface="+mn-ea"/>
              </a:rPr>
              <a:t>IOCP</a:t>
            </a:r>
          </a:p>
        </p:txBody>
      </p:sp>
      <p:cxnSp>
        <p:nvCxnSpPr>
          <p:cNvPr id="10249" name="AutoShape 33">
            <a:extLst>
              <a:ext uri="{FF2B5EF4-FFF2-40B4-BE49-F238E27FC236}">
                <a16:creationId xmlns:a16="http://schemas.microsoft.com/office/drawing/2014/main" id="{AD6D37FC-EF20-CD79-C9FE-7307B04EE42D}"/>
              </a:ext>
            </a:extLst>
          </p:cNvPr>
          <p:cNvCxnSpPr>
            <a:cxnSpLocks noChangeShapeType="1"/>
            <a:stCxn id="10248" idx="4"/>
            <a:endCxn id="10265" idx="0"/>
          </p:cNvCxnSpPr>
          <p:nvPr/>
        </p:nvCxnSpPr>
        <p:spPr bwMode="auto">
          <a:xfrm>
            <a:off x="4030663" y="2338388"/>
            <a:ext cx="1587" cy="506412"/>
          </a:xfrm>
          <a:prstGeom prst="straightConnector1">
            <a:avLst/>
          </a:prstGeom>
          <a:noFill/>
          <a:ln w="63500">
            <a:solidFill>
              <a:srgbClr val="8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50" name="AutoShape 34">
            <a:extLst>
              <a:ext uri="{FF2B5EF4-FFF2-40B4-BE49-F238E27FC236}">
                <a16:creationId xmlns:a16="http://schemas.microsoft.com/office/drawing/2014/main" id="{F8CF95A5-8FBF-3431-AD9A-F1196AA1EE7D}"/>
              </a:ext>
            </a:extLst>
          </p:cNvPr>
          <p:cNvCxnSpPr>
            <a:cxnSpLocks noChangeShapeType="1"/>
            <a:stCxn id="10247" idx="2"/>
            <a:endCxn id="10248" idx="0"/>
          </p:cNvCxnSpPr>
          <p:nvPr/>
        </p:nvCxnSpPr>
        <p:spPr bwMode="auto">
          <a:xfrm flipH="1">
            <a:off x="4030663" y="1208088"/>
            <a:ext cx="1587" cy="484187"/>
          </a:xfrm>
          <a:prstGeom prst="straightConnector1">
            <a:avLst/>
          </a:prstGeom>
          <a:noFill/>
          <a:ln w="63500">
            <a:solidFill>
              <a:srgbClr val="80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1" name="AutoShape 23">
            <a:extLst>
              <a:ext uri="{FF2B5EF4-FFF2-40B4-BE49-F238E27FC236}">
                <a16:creationId xmlns:a16="http://schemas.microsoft.com/office/drawing/2014/main" id="{5658F877-460A-F9DE-79E1-C6DDC887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278063"/>
            <a:ext cx="2592388" cy="4103687"/>
          </a:xfrm>
          <a:prstGeom prst="roundRect">
            <a:avLst>
              <a:gd name="adj" fmla="val 6843"/>
            </a:avLst>
          </a:prstGeom>
          <a:solidFill>
            <a:srgbClr val="00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dirty="0">
                <a:latin typeface="+mn-ea"/>
                <a:ea typeface="+mn-ea"/>
              </a:rPr>
              <a:t>Work Thread</a:t>
            </a:r>
          </a:p>
        </p:txBody>
      </p:sp>
      <p:sp>
        <p:nvSpPr>
          <p:cNvPr id="10252" name="Rectangle 28">
            <a:extLst>
              <a:ext uri="{FF2B5EF4-FFF2-40B4-BE49-F238E27FC236}">
                <a16:creationId xmlns:a16="http://schemas.microsoft.com/office/drawing/2014/main" id="{BB9D633F-2AB4-FE46-7CED-A0CF0DDA3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2781300"/>
            <a:ext cx="2452687" cy="869950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400" dirty="0">
                <a:latin typeface="+mn-ea"/>
                <a:ea typeface="+mn-ea"/>
              </a:rPr>
              <a:t>I/O </a:t>
            </a:r>
            <a:r>
              <a:rPr lang="ko-KR" altLang="en-US" sz="1400" dirty="0">
                <a:latin typeface="+mn-ea"/>
                <a:ea typeface="+mn-ea"/>
              </a:rPr>
              <a:t>완료를 기다림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1400" dirty="0">
                <a:latin typeface="+mn-ea"/>
                <a:ea typeface="+mn-ea"/>
              </a:rPr>
              <a:t>GetQueuedCompletionStatus</a:t>
            </a:r>
          </a:p>
        </p:txBody>
      </p:sp>
      <p:sp>
        <p:nvSpPr>
          <p:cNvPr id="10253" name="AutoShape 41">
            <a:extLst>
              <a:ext uri="{FF2B5EF4-FFF2-40B4-BE49-F238E27FC236}">
                <a16:creationId xmlns:a16="http://schemas.microsoft.com/office/drawing/2014/main" id="{8D113536-EC66-3D87-8495-EA3E5DB5A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1773238"/>
            <a:ext cx="2154238" cy="863600"/>
          </a:xfrm>
          <a:prstGeom prst="roundRect">
            <a:avLst>
              <a:gd name="adj" fmla="val 6843"/>
            </a:avLst>
          </a:prstGeom>
          <a:solidFill>
            <a:srgbClr val="00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2000" dirty="0">
              <a:latin typeface="+mn-ea"/>
              <a:ea typeface="+mn-ea"/>
            </a:endParaRPr>
          </a:p>
        </p:txBody>
      </p:sp>
      <p:sp>
        <p:nvSpPr>
          <p:cNvPr id="10254" name="Rectangle 4">
            <a:extLst>
              <a:ext uri="{FF2B5EF4-FFF2-40B4-BE49-F238E27FC236}">
                <a16:creationId xmlns:a16="http://schemas.microsoft.com/office/drawing/2014/main" id="{D5D3C4E7-7F76-D2AE-B61B-C101D75B1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1989138"/>
            <a:ext cx="647700" cy="4318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소켓</a:t>
            </a:r>
          </a:p>
        </p:txBody>
      </p:sp>
      <p:sp>
        <p:nvSpPr>
          <p:cNvPr id="10255" name="Rectangle 38">
            <a:extLst>
              <a:ext uri="{FF2B5EF4-FFF2-40B4-BE49-F238E27FC236}">
                <a16:creationId xmlns:a16="http://schemas.microsoft.com/office/drawing/2014/main" id="{31C88910-7A8F-BCAE-A8E9-2503BFCE9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1989138"/>
            <a:ext cx="846137" cy="4318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객체</a:t>
            </a:r>
          </a:p>
        </p:txBody>
      </p:sp>
      <p:sp>
        <p:nvSpPr>
          <p:cNvPr id="10256" name="AutoShape 44">
            <a:extLst>
              <a:ext uri="{FF2B5EF4-FFF2-40B4-BE49-F238E27FC236}">
                <a16:creationId xmlns:a16="http://schemas.microsoft.com/office/drawing/2014/main" id="{45F49E80-0AC0-03ED-D023-D49C42E9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2895600"/>
            <a:ext cx="2154238" cy="863600"/>
          </a:xfrm>
          <a:prstGeom prst="roundRect">
            <a:avLst>
              <a:gd name="adj" fmla="val 6843"/>
            </a:avLst>
          </a:prstGeom>
          <a:solidFill>
            <a:srgbClr val="00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2000" dirty="0">
              <a:latin typeface="+mn-ea"/>
              <a:ea typeface="+mn-ea"/>
            </a:endParaRPr>
          </a:p>
        </p:txBody>
      </p:sp>
      <p:sp>
        <p:nvSpPr>
          <p:cNvPr id="10257" name="Rectangle 45">
            <a:extLst>
              <a:ext uri="{FF2B5EF4-FFF2-40B4-BE49-F238E27FC236}">
                <a16:creationId xmlns:a16="http://schemas.microsoft.com/office/drawing/2014/main" id="{5B335219-3D9C-B15A-E042-96A06C8F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3111500"/>
            <a:ext cx="647700" cy="4318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소켓</a:t>
            </a:r>
          </a:p>
        </p:txBody>
      </p:sp>
      <p:sp>
        <p:nvSpPr>
          <p:cNvPr id="10258" name="Rectangle 46">
            <a:extLst>
              <a:ext uri="{FF2B5EF4-FFF2-40B4-BE49-F238E27FC236}">
                <a16:creationId xmlns:a16="http://schemas.microsoft.com/office/drawing/2014/main" id="{8CA7A769-1A13-433D-0E36-D42D97ED8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3111500"/>
            <a:ext cx="846137" cy="4318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객체</a:t>
            </a:r>
          </a:p>
        </p:txBody>
      </p:sp>
      <p:sp>
        <p:nvSpPr>
          <p:cNvPr id="10259" name="AutoShape 48">
            <a:extLst>
              <a:ext uri="{FF2B5EF4-FFF2-40B4-BE49-F238E27FC236}">
                <a16:creationId xmlns:a16="http://schemas.microsoft.com/office/drawing/2014/main" id="{4C29EB6D-6C75-29BD-7225-4789C4D25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4037013"/>
            <a:ext cx="2154238" cy="863600"/>
          </a:xfrm>
          <a:prstGeom prst="roundRect">
            <a:avLst>
              <a:gd name="adj" fmla="val 6843"/>
            </a:avLst>
          </a:prstGeom>
          <a:solidFill>
            <a:srgbClr val="00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2000" dirty="0">
              <a:latin typeface="+mn-ea"/>
              <a:ea typeface="+mn-ea"/>
            </a:endParaRPr>
          </a:p>
        </p:txBody>
      </p:sp>
      <p:sp>
        <p:nvSpPr>
          <p:cNvPr id="10260" name="Rectangle 49">
            <a:extLst>
              <a:ext uri="{FF2B5EF4-FFF2-40B4-BE49-F238E27FC236}">
                <a16:creationId xmlns:a16="http://schemas.microsoft.com/office/drawing/2014/main" id="{45AA6E95-30C3-EF07-54AC-D808F29D1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4252913"/>
            <a:ext cx="647700" cy="431800"/>
          </a:xfrm>
          <a:prstGeom prst="rect">
            <a:avLst/>
          </a:prstGeom>
          <a:solidFill>
            <a:srgbClr val="FF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소켓</a:t>
            </a:r>
          </a:p>
        </p:txBody>
      </p:sp>
      <p:sp>
        <p:nvSpPr>
          <p:cNvPr id="10261" name="Rectangle 50">
            <a:extLst>
              <a:ext uri="{FF2B5EF4-FFF2-40B4-BE49-F238E27FC236}">
                <a16:creationId xmlns:a16="http://schemas.microsoft.com/office/drawing/2014/main" id="{DAFD741F-5B0B-AFF9-2619-B8A5F3520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4252913"/>
            <a:ext cx="846137" cy="4318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 dirty="0">
                <a:latin typeface="+mn-ea"/>
                <a:ea typeface="+mn-ea"/>
              </a:rPr>
              <a:t>객체</a:t>
            </a:r>
          </a:p>
        </p:txBody>
      </p:sp>
      <p:sp>
        <p:nvSpPr>
          <p:cNvPr id="10262" name="AutoShape 58">
            <a:extLst>
              <a:ext uri="{FF2B5EF4-FFF2-40B4-BE49-F238E27FC236}">
                <a16:creationId xmlns:a16="http://schemas.microsoft.com/office/drawing/2014/main" id="{DBCF8F5A-31E5-B718-A1FD-BEDBFC3DA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2781300"/>
            <a:ext cx="1152525" cy="935038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876093161 h 21600"/>
              <a:gd name="T4" fmla="*/ 2147483646 w 21600"/>
              <a:gd name="T5" fmla="*/ 1752186322 h 21600"/>
              <a:gd name="T6" fmla="*/ 2147483646 w 21600"/>
              <a:gd name="T7" fmla="*/ 87609316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3631 h 21600"/>
              <a:gd name="T14" fmla="*/ 17354 w 21600"/>
              <a:gd name="T15" fmla="*/ 17969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5203" y="0"/>
                </a:moveTo>
                <a:lnTo>
                  <a:pt x="15203" y="3631"/>
                </a:lnTo>
                <a:lnTo>
                  <a:pt x="3375" y="3631"/>
                </a:lnTo>
                <a:lnTo>
                  <a:pt x="3375" y="17969"/>
                </a:lnTo>
                <a:lnTo>
                  <a:pt x="15203" y="17969"/>
                </a:lnTo>
                <a:lnTo>
                  <a:pt x="15203" y="21600"/>
                </a:lnTo>
                <a:lnTo>
                  <a:pt x="21600" y="10800"/>
                </a:lnTo>
                <a:lnTo>
                  <a:pt x="15203" y="0"/>
                </a:lnTo>
                <a:close/>
              </a:path>
              <a:path w="21600" h="21600">
                <a:moveTo>
                  <a:pt x="1350" y="3631"/>
                </a:moveTo>
                <a:lnTo>
                  <a:pt x="1350" y="17969"/>
                </a:lnTo>
                <a:lnTo>
                  <a:pt x="2700" y="17969"/>
                </a:lnTo>
                <a:lnTo>
                  <a:pt x="2700" y="3631"/>
                </a:lnTo>
                <a:lnTo>
                  <a:pt x="1350" y="3631"/>
                </a:lnTo>
                <a:close/>
              </a:path>
              <a:path w="21600" h="21600">
                <a:moveTo>
                  <a:pt x="0" y="3631"/>
                </a:moveTo>
                <a:lnTo>
                  <a:pt x="0" y="17969"/>
                </a:lnTo>
                <a:lnTo>
                  <a:pt x="675" y="17969"/>
                </a:lnTo>
                <a:lnTo>
                  <a:pt x="675" y="3631"/>
                </a:lnTo>
                <a:lnTo>
                  <a:pt x="0" y="3631"/>
                </a:lnTo>
                <a:close/>
              </a:path>
            </a:pathLst>
          </a:cu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0263" name="AutoShape 61">
            <a:extLst>
              <a:ext uri="{FF2B5EF4-FFF2-40B4-BE49-F238E27FC236}">
                <a16:creationId xmlns:a16="http://schemas.microsoft.com/office/drawing/2014/main" id="{86DBBCC3-A2B5-2563-EF04-45DA3BF236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02512" y="3551238"/>
            <a:ext cx="576263" cy="909638"/>
          </a:xfrm>
          <a:custGeom>
            <a:avLst/>
            <a:gdLst>
              <a:gd name="T0" fmla="*/ 175647577 w 21600"/>
              <a:gd name="T1" fmla="*/ 0 h 21600"/>
              <a:gd name="T2" fmla="*/ 0 w 21600"/>
              <a:gd name="T3" fmla="*/ 806618717 h 21600"/>
              <a:gd name="T4" fmla="*/ 175647577 w 21600"/>
              <a:gd name="T5" fmla="*/ 1613237392 h 21600"/>
              <a:gd name="T6" fmla="*/ 410161326 w 21600"/>
              <a:gd name="T7" fmla="*/ 80661871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4033 h 21600"/>
              <a:gd name="T14" fmla="*/ 13862 w 21600"/>
              <a:gd name="T15" fmla="*/ 1756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9250" y="0"/>
                </a:moveTo>
                <a:lnTo>
                  <a:pt x="9250" y="4033"/>
                </a:lnTo>
                <a:lnTo>
                  <a:pt x="3375" y="4033"/>
                </a:lnTo>
                <a:lnTo>
                  <a:pt x="3375" y="17567"/>
                </a:lnTo>
                <a:lnTo>
                  <a:pt x="9250" y="17567"/>
                </a:lnTo>
                <a:lnTo>
                  <a:pt x="9250" y="21600"/>
                </a:lnTo>
                <a:lnTo>
                  <a:pt x="21600" y="10800"/>
                </a:lnTo>
                <a:lnTo>
                  <a:pt x="9250" y="0"/>
                </a:lnTo>
                <a:close/>
              </a:path>
              <a:path w="21600" h="21600">
                <a:moveTo>
                  <a:pt x="1350" y="4033"/>
                </a:moveTo>
                <a:lnTo>
                  <a:pt x="1350" y="17567"/>
                </a:lnTo>
                <a:lnTo>
                  <a:pt x="2700" y="17567"/>
                </a:lnTo>
                <a:lnTo>
                  <a:pt x="2700" y="4033"/>
                </a:lnTo>
                <a:lnTo>
                  <a:pt x="1350" y="4033"/>
                </a:lnTo>
                <a:close/>
              </a:path>
              <a:path w="21600" h="21600">
                <a:moveTo>
                  <a:pt x="0" y="4033"/>
                </a:moveTo>
                <a:lnTo>
                  <a:pt x="0" y="17567"/>
                </a:lnTo>
                <a:lnTo>
                  <a:pt x="675" y="17567"/>
                </a:lnTo>
                <a:lnTo>
                  <a:pt x="675" y="4033"/>
                </a:lnTo>
                <a:lnTo>
                  <a:pt x="0" y="4033"/>
                </a:lnTo>
                <a:close/>
              </a:path>
            </a:pathLst>
          </a:cu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0264" name="Rectangle 62">
            <a:extLst>
              <a:ext uri="{FF2B5EF4-FFF2-40B4-BE49-F238E27FC236}">
                <a16:creationId xmlns:a16="http://schemas.microsoft.com/office/drawing/2014/main" id="{E5DB0D15-9967-F5C5-3033-D1AB6D12E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365625"/>
            <a:ext cx="2452687" cy="576263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400" dirty="0">
                <a:latin typeface="+mn-ea"/>
                <a:ea typeface="+mn-ea"/>
              </a:rPr>
              <a:t>객체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완료 처리 버퍼 반환</a:t>
            </a:r>
          </a:p>
        </p:txBody>
      </p:sp>
      <p:sp>
        <p:nvSpPr>
          <p:cNvPr id="10265" name="Rectangle 6">
            <a:extLst>
              <a:ext uri="{FF2B5EF4-FFF2-40B4-BE49-F238E27FC236}">
                <a16:creationId xmlns:a16="http://schemas.microsoft.com/office/drawing/2014/main" id="{CA9ED343-F609-5481-A2A7-047D59DDA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854325"/>
            <a:ext cx="2087563" cy="935038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400" dirty="0">
                <a:latin typeface="+mn-ea"/>
                <a:ea typeface="+mn-ea"/>
              </a:rPr>
              <a:t>{</a:t>
            </a:r>
            <a:r>
              <a:rPr lang="ko-KR" altLang="en-US" sz="1400" dirty="0">
                <a:latin typeface="+mn-ea"/>
                <a:ea typeface="+mn-ea"/>
              </a:rPr>
              <a:t>소켓</a:t>
            </a:r>
            <a:r>
              <a:rPr lang="en-US" altLang="ko-KR" sz="1400" dirty="0">
                <a:latin typeface="+mn-ea"/>
                <a:ea typeface="+mn-ea"/>
              </a:rPr>
              <a:t>+</a:t>
            </a:r>
            <a:r>
              <a:rPr lang="ko-KR" altLang="en-US" sz="1400" dirty="0">
                <a:latin typeface="+mn-ea"/>
                <a:ea typeface="+mn-ea"/>
              </a:rPr>
              <a:t>객체</a:t>
            </a:r>
            <a:r>
              <a:rPr lang="en-US" altLang="ko-KR" sz="1400" dirty="0">
                <a:latin typeface="+mn-ea"/>
                <a:ea typeface="+mn-ea"/>
              </a:rPr>
              <a:t>+IOCP} </a:t>
            </a:r>
            <a:r>
              <a:rPr lang="ko-KR" altLang="en-US" sz="1400" dirty="0">
                <a:latin typeface="+mn-ea"/>
                <a:ea typeface="+mn-ea"/>
              </a:rPr>
              <a:t>바인딩</a:t>
            </a:r>
            <a:br>
              <a:rPr lang="ko-KR" altLang="en-US" sz="1400" dirty="0">
                <a:latin typeface="+mn-ea"/>
                <a:ea typeface="+mn-ea"/>
              </a:rPr>
            </a:br>
            <a:r>
              <a:rPr lang="en-US" altLang="ko-KR" sz="2000" dirty="0">
                <a:latin typeface="+mn-ea"/>
                <a:ea typeface="+mn-ea"/>
              </a:rPr>
              <a:t>Completion Port</a:t>
            </a:r>
          </a:p>
        </p:txBody>
      </p:sp>
      <p:sp>
        <p:nvSpPr>
          <p:cNvPr id="10266" name="AutoShape 63">
            <a:extLst>
              <a:ext uri="{FF2B5EF4-FFF2-40B4-BE49-F238E27FC236}">
                <a16:creationId xmlns:a16="http://schemas.microsoft.com/office/drawing/2014/main" id="{6A6BA019-4D16-7ECC-AB48-2F6F9A70530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02512" y="4846638"/>
            <a:ext cx="576263" cy="909638"/>
          </a:xfrm>
          <a:custGeom>
            <a:avLst/>
            <a:gdLst>
              <a:gd name="T0" fmla="*/ 175647577 w 21600"/>
              <a:gd name="T1" fmla="*/ 0 h 21600"/>
              <a:gd name="T2" fmla="*/ 0 w 21600"/>
              <a:gd name="T3" fmla="*/ 806618717 h 21600"/>
              <a:gd name="T4" fmla="*/ 175647577 w 21600"/>
              <a:gd name="T5" fmla="*/ 1613237392 h 21600"/>
              <a:gd name="T6" fmla="*/ 410161326 w 21600"/>
              <a:gd name="T7" fmla="*/ 80661871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4033 h 21600"/>
              <a:gd name="T14" fmla="*/ 13862 w 21600"/>
              <a:gd name="T15" fmla="*/ 1756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9250" y="0"/>
                </a:moveTo>
                <a:lnTo>
                  <a:pt x="9250" y="4033"/>
                </a:lnTo>
                <a:lnTo>
                  <a:pt x="3375" y="4033"/>
                </a:lnTo>
                <a:lnTo>
                  <a:pt x="3375" y="17567"/>
                </a:lnTo>
                <a:lnTo>
                  <a:pt x="9250" y="17567"/>
                </a:lnTo>
                <a:lnTo>
                  <a:pt x="9250" y="21600"/>
                </a:lnTo>
                <a:lnTo>
                  <a:pt x="21600" y="10800"/>
                </a:lnTo>
                <a:lnTo>
                  <a:pt x="9250" y="0"/>
                </a:lnTo>
                <a:close/>
              </a:path>
              <a:path w="21600" h="21600">
                <a:moveTo>
                  <a:pt x="1350" y="4033"/>
                </a:moveTo>
                <a:lnTo>
                  <a:pt x="1350" y="17567"/>
                </a:lnTo>
                <a:lnTo>
                  <a:pt x="2700" y="17567"/>
                </a:lnTo>
                <a:lnTo>
                  <a:pt x="2700" y="4033"/>
                </a:lnTo>
                <a:lnTo>
                  <a:pt x="1350" y="4033"/>
                </a:lnTo>
                <a:close/>
              </a:path>
              <a:path w="21600" h="21600">
                <a:moveTo>
                  <a:pt x="0" y="4033"/>
                </a:moveTo>
                <a:lnTo>
                  <a:pt x="0" y="17567"/>
                </a:lnTo>
                <a:lnTo>
                  <a:pt x="675" y="17567"/>
                </a:lnTo>
                <a:lnTo>
                  <a:pt x="675" y="4033"/>
                </a:lnTo>
                <a:lnTo>
                  <a:pt x="0" y="4033"/>
                </a:lnTo>
                <a:close/>
              </a:path>
            </a:pathLst>
          </a:cu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0267" name="Rectangle 64">
            <a:extLst>
              <a:ext uri="{FF2B5EF4-FFF2-40B4-BE49-F238E27FC236}">
                <a16:creationId xmlns:a16="http://schemas.microsoft.com/office/drawing/2014/main" id="{ACD2B159-7C3E-B59A-3D64-7EA7F481B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662613"/>
            <a:ext cx="2452687" cy="576262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400" dirty="0">
                <a:latin typeface="+mn-ea"/>
                <a:ea typeface="+mn-ea"/>
              </a:rPr>
              <a:t>Other Process</a:t>
            </a:r>
          </a:p>
        </p:txBody>
      </p:sp>
      <p:cxnSp>
        <p:nvCxnSpPr>
          <p:cNvPr id="10268" name="AutoShape 37">
            <a:extLst>
              <a:ext uri="{FF2B5EF4-FFF2-40B4-BE49-F238E27FC236}">
                <a16:creationId xmlns:a16="http://schemas.microsoft.com/office/drawing/2014/main" id="{7276E847-D845-49F0-64F6-6297FFB08E6F}"/>
              </a:ext>
            </a:extLst>
          </p:cNvPr>
          <p:cNvCxnSpPr>
            <a:cxnSpLocks noChangeShapeType="1"/>
            <a:stCxn id="10260" idx="2"/>
          </p:cNvCxnSpPr>
          <p:nvPr/>
        </p:nvCxnSpPr>
        <p:spPr bwMode="auto">
          <a:xfrm rot="16200000" flipH="1">
            <a:off x="2916238" y="2638425"/>
            <a:ext cx="1255712" cy="5367338"/>
          </a:xfrm>
          <a:prstGeom prst="bentConnector2">
            <a:avLst/>
          </a:prstGeom>
          <a:noFill/>
          <a:ln w="139700">
            <a:solidFill>
              <a:srgbClr val="FF00FF"/>
            </a:solidFill>
            <a:prstDash val="sysDot"/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69" name="Rectangle 55">
            <a:extLst>
              <a:ext uri="{FF2B5EF4-FFF2-40B4-BE49-F238E27FC236}">
                <a16:creationId xmlns:a16="http://schemas.microsoft.com/office/drawing/2014/main" id="{031E6AB1-B375-9D80-02AB-F90AD7B42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373688"/>
            <a:ext cx="2663825" cy="1039812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 dirty="0">
                <a:latin typeface="+mn-ea"/>
                <a:ea typeface="+mn-ea"/>
              </a:rPr>
              <a:t>WSASend / WSARecv</a:t>
            </a:r>
            <a:br>
              <a:rPr lang="en-US" altLang="ko-KR" sz="2000" dirty="0">
                <a:latin typeface="+mn-ea"/>
                <a:ea typeface="+mn-ea"/>
              </a:rPr>
            </a:br>
            <a:r>
              <a:rPr lang="en-US" altLang="ko-KR" sz="2000" dirty="0">
                <a:latin typeface="+mn-ea"/>
                <a:ea typeface="+mn-ea"/>
              </a:rPr>
              <a:t>I/O </a:t>
            </a:r>
            <a:r>
              <a:rPr lang="ko-KR" altLang="en-US" sz="2000" dirty="0">
                <a:latin typeface="+mn-ea"/>
                <a:ea typeface="+mn-ea"/>
              </a:rPr>
              <a:t>완료요청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E9EC-C78F-5825-9467-21C50BD6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AB353-0DDF-703B-9AD3-FB640B30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5. IOCP - </a:t>
            </a:r>
            <a:r>
              <a:rPr lang="en-US" altLang="ko-KR" dirty="0"/>
              <a:t>File Read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34D4B-ECDC-1EC2-FDAC-19D74D8C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IOCP</a:t>
            </a:r>
            <a:r>
              <a:rPr lang="ko-KR" altLang="en-US" dirty="0"/>
              <a:t> 객체 생성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I/O </a:t>
            </a:r>
            <a:r>
              <a:rPr lang="ko-KR" altLang="en-US" dirty="0"/>
              <a:t>용 </a:t>
            </a:r>
            <a:r>
              <a:rPr lang="en-US" altLang="ko-KR" dirty="0"/>
              <a:t>Work</a:t>
            </a:r>
            <a:r>
              <a:rPr lang="ko-KR" altLang="en-US" dirty="0"/>
              <a:t> </a:t>
            </a:r>
            <a:r>
              <a:rPr lang="en-US" altLang="ko-KR" dirty="0"/>
              <a:t>Thread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ko-KR" altLang="en-US" dirty="0"/>
              <a:t>논리적 </a:t>
            </a:r>
            <a:r>
              <a:rPr lang="en-US" altLang="ko-KR" dirty="0"/>
              <a:t>cpu *1.5;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IOCP</a:t>
            </a:r>
            <a:r>
              <a:rPr lang="ko-KR" altLang="en-US" dirty="0"/>
              <a:t> 바인딩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3EF29E-6E1C-5750-E067-3E821D0D64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EF2CD7-A147-7670-0848-17C42FE27869}"/>
              </a:ext>
            </a:extLst>
          </p:cNvPr>
          <p:cNvSpPr txBox="1"/>
          <p:nvPr/>
        </p:nvSpPr>
        <p:spPr>
          <a:xfrm>
            <a:off x="755576" y="1268760"/>
            <a:ext cx="7776864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IOCP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 생성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g_hIocp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CreateIoCompletionPort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INVALID_HANDLE_VALUE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D896C-593E-F4DF-4712-6B812CE3042F}"/>
              </a:ext>
            </a:extLst>
          </p:cNvPr>
          <p:cNvSpPr txBox="1"/>
          <p:nvPr/>
        </p:nvSpPr>
        <p:spPr>
          <a:xfrm>
            <a:off x="755576" y="3356992"/>
            <a:ext cx="7776864" cy="116955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nWrkPrc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GetSystemProcessorCount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nWrkPrc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hThWrk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_beginthreadex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    , 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unsigned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__stdcall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*))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WorkThread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9CEF3-0F0B-DD1B-7E55-9F4C62948140}"/>
              </a:ext>
            </a:extLst>
          </p:cNvPr>
          <p:cNvSpPr txBox="1"/>
          <p:nvPr/>
        </p:nvSpPr>
        <p:spPr>
          <a:xfrm>
            <a:off x="760768" y="5522020"/>
            <a:ext cx="7776864" cy="73866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ULONG_PTR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pIoKey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ULONG_PTR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)&amp;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            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IO Key is File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hRet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=</a:t>
            </a: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CreateIoCompletionPort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g_hIocp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pIoKey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  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&lt;IOCP, File, key&gt;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바인딩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08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7CCA-A37B-C249-2CDB-9F0FF3EA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1829F-D7D0-530C-F3D6-8B5FE2E0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5. IOCP - </a:t>
            </a:r>
            <a:r>
              <a:rPr lang="en-US" altLang="ko-KR" dirty="0"/>
              <a:t>File Read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50DCF-0987-4484-4921-F83C0086F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Read File (</a:t>
            </a:r>
            <a:r>
              <a:rPr lang="ko-KR" altLang="en-US" dirty="0"/>
              <a:t>비동기</a:t>
            </a:r>
            <a:r>
              <a:rPr lang="en-US" altLang="ko-KR" dirty="0"/>
              <a:t> read</a:t>
            </a:r>
            <a:r>
              <a:rPr lang="ko-KR" altLang="en-US" dirty="0"/>
              <a:t> 요청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WorkThread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F553B4-1FBB-524B-14A2-0155E97D45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BA2DD-2FDC-B7EA-13C8-406919793271}"/>
              </a:ext>
            </a:extLst>
          </p:cNvPr>
          <p:cNvSpPr txBox="1"/>
          <p:nvPr/>
        </p:nvSpPr>
        <p:spPr>
          <a:xfrm>
            <a:off x="827584" y="1268760"/>
            <a:ext cx="7416824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0608F-0036-19DB-AB78-9C1052F4774A}"/>
              </a:ext>
            </a:extLst>
          </p:cNvPr>
          <p:cNvSpPr txBox="1"/>
          <p:nvPr/>
        </p:nvSpPr>
        <p:spPr>
          <a:xfrm>
            <a:off x="827583" y="2780928"/>
            <a:ext cx="7416824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GetQueuedCompletionStatus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g_hIocp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Completion Port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, &amp;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전송 된 바이트 수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PULONG_PTR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)&amp;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pIoKey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완료키 주소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LPOVERLAPPED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*)&amp;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OVERLAPPED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구조체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INFINITE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);</a:t>
            </a:r>
          </a:p>
          <a:p>
            <a:pPr>
              <a:buNone/>
            </a:pP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...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비동기 </a:t>
            </a:r>
            <a:r>
              <a:rPr lang="en-US" altLang="ko-KR" sz="16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 </a:t>
            </a:r>
            <a:r>
              <a:rPr lang="ko-KR" altLang="en-US" sz="1600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요청</a:t>
            </a:r>
            <a:endParaRPr lang="ko-KR" altLang="en-US" sz="16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hr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88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ReadFile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g_hFile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g_rBuf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6F008A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MAX_BUF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dTran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 &amp;</a:t>
            </a: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g_rOL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1187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바닥글 개체 틀 1">
            <a:extLst>
              <a:ext uri="{FF2B5EF4-FFF2-40B4-BE49-F238E27FC236}">
                <a16:creationId xmlns:a16="http://schemas.microsoft.com/office/drawing/2014/main" id="{23D4CA5A-7BEF-9761-D226-31A36F5E09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1267" name="Rectangle 7">
            <a:extLst>
              <a:ext uri="{FF2B5EF4-FFF2-40B4-BE49-F238E27FC236}">
                <a16:creationId xmlns:a16="http://schemas.microsoft.com/office/drawing/2014/main" id="{978F502F-F844-906D-506E-66588034A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solidFill>
                  <a:schemeClr val="bg1"/>
                </a:solidFill>
                <a:latin typeface="+mn-ea"/>
                <a:ea typeface="+mn-ea"/>
              </a:rPr>
              <a:t>5. IOCP - I/O</a:t>
            </a:r>
            <a:r>
              <a:rPr lang="ko-KR" altLang="en-US" sz="2400" dirty="0">
                <a:solidFill>
                  <a:schemeClr val="bg1"/>
                </a:solidFill>
                <a:latin typeface="+mn-ea"/>
                <a:ea typeface="+mn-ea"/>
              </a:rPr>
              <a:t>구현</a:t>
            </a:r>
          </a:p>
        </p:txBody>
      </p:sp>
      <p:sp>
        <p:nvSpPr>
          <p:cNvPr id="11268" name="Rectangle 11">
            <a:extLst>
              <a:ext uri="{FF2B5EF4-FFF2-40B4-BE49-F238E27FC236}">
                <a16:creationId xmlns:a16="http://schemas.microsoft.com/office/drawing/2014/main" id="{A02C998F-EB20-445C-3883-0A6CE85AD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665163"/>
            <a:ext cx="3959225" cy="139541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struct OVERLAPPED_EX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    OVERLAPPED </a:t>
            </a:r>
            <a:r>
              <a:rPr lang="en-US" altLang="ko-KR" sz="1200" dirty="0">
                <a:solidFill>
                  <a:srgbClr val="9900FF"/>
                </a:solidFill>
                <a:latin typeface="Arial Black" panose="020B0A04020102020204" pitchFamily="34" charset="0"/>
              </a:rPr>
              <a:t>OL</a:t>
            </a:r>
            <a:r>
              <a:rPr lang="en-US" altLang="ko-KR" sz="1200" dirty="0">
                <a:latin typeface="Arial Black" panose="020B0A040201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    DWORD  dTran; // Transfered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    DWORD dFlag; // Flag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    WSABUF </a:t>
            </a:r>
            <a:r>
              <a:rPr lang="en-US" altLang="ko-KR" sz="1200" dirty="0">
                <a:solidFill>
                  <a:srgbClr val="FF0000"/>
                </a:solidFill>
                <a:latin typeface="Arial Black" panose="020B0A04020102020204" pitchFamily="34" charset="0"/>
              </a:rPr>
              <a:t>WsBuf</a:t>
            </a:r>
            <a:r>
              <a:rPr lang="en-US" altLang="ko-KR" sz="1200" dirty="0">
                <a:latin typeface="Arial Black" panose="020B0A040201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</a:rPr>
              <a:t>    …};</a:t>
            </a:r>
          </a:p>
        </p:txBody>
      </p:sp>
      <p:sp>
        <p:nvSpPr>
          <p:cNvPr id="11269" name="Rectangle 12">
            <a:extLst>
              <a:ext uri="{FF2B5EF4-FFF2-40B4-BE49-F238E27FC236}">
                <a16:creationId xmlns:a16="http://schemas.microsoft.com/office/drawing/2014/main" id="{FD360989-2482-69C9-F5E9-A5078380A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136775"/>
            <a:ext cx="3959225" cy="4316413"/>
          </a:xfrm>
          <a:prstGeom prst="rect">
            <a:avLst/>
          </a:prstGeom>
          <a:solidFill>
            <a:schemeClr val="accent3">
              <a:lumMod val="8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struct RemoteHost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SOCKET  </a:t>
            </a:r>
            <a:r>
              <a:rPr lang="en-US" altLang="ko-KR" sz="1200" dirty="0">
                <a:solidFill>
                  <a:srgbClr val="00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scH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;     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소켓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OVERLAPPED_EX   olSnd;  // For WSASend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OVERLAPPED_EX   olRcv;  // For WSARecv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INT AsyncSend(char* sBuf/*in*/, int* iSize){ 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hr = </a:t>
            </a:r>
            <a:r>
              <a:rPr lang="en-US" altLang="ko-KR" sz="1200" dirty="0">
                <a:solidFill>
                  <a:srgbClr val="99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WSASend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( </a:t>
            </a:r>
            <a:r>
              <a:rPr lang="en-US" altLang="ko-KR" sz="1200" dirty="0">
                <a:solidFill>
                  <a:srgbClr val="00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scH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송신 소켓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&amp;(olSnd.WsBuf)   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송신 버퍼 포인터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1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송신 버퍼의 수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&amp;olSnd.dTran, olSnd.dFlag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, (OVERLAPPED*)&amp;(olSnd) , nullptr);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...}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200" dirty="0">
              <a:latin typeface="Arial Black" panose="020B0A04020102020204" pitchFamily="34" charset="0"/>
              <a:ea typeface="굴림" panose="020B0600000101010101" pitchFamily="50" charset="-127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INT AsyncRecv() {...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hr = </a:t>
            </a:r>
            <a:r>
              <a:rPr lang="en-US" altLang="ko-KR" sz="1200" dirty="0">
                <a:solidFill>
                  <a:srgbClr val="99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WSARecv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( </a:t>
            </a:r>
            <a:r>
              <a:rPr lang="en-US" altLang="ko-KR" sz="1200" dirty="0">
                <a:solidFill>
                  <a:srgbClr val="00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scH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수신 소켓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&amp;(olRcv.WsBuf)   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수신 버퍼 포인터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1 // </a:t>
            </a: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수신 버퍼의 수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</a:t>
            </a: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, &amp;olRcv.dTran, &amp;olRcv.dFlag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, (OVERLAPPED*)&amp;(olRcv) , nullptr);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        ...}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dirty="0">
                <a:latin typeface="Arial Black" panose="020B0A04020102020204" pitchFamily="34" charset="0"/>
                <a:ea typeface="굴림" panose="020B0600000101010101" pitchFamily="50" charset="-127"/>
              </a:rPr>
              <a:t>};</a:t>
            </a:r>
          </a:p>
        </p:txBody>
      </p:sp>
      <p:sp>
        <p:nvSpPr>
          <p:cNvPr id="11270" name="Rectangle 14">
            <a:extLst>
              <a:ext uri="{FF2B5EF4-FFF2-40B4-BE49-F238E27FC236}">
                <a16:creationId xmlns:a16="http://schemas.microsoft.com/office/drawing/2014/main" id="{29FF3C6E-3B17-D3A4-9887-CD658859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836613"/>
            <a:ext cx="4752975" cy="1979612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RemoteHost* </a:t>
            </a:r>
            <a:r>
              <a:rPr lang="en-US" altLang="ko-KR" sz="1600" b="0" dirty="0">
                <a:solidFill>
                  <a:srgbClr val="FF0000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pRmH</a:t>
            </a: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= new RemoteHost;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600" b="0" dirty="0">
              <a:latin typeface="Arial Black" panose="020B0A04020102020204" pitchFamily="34" charset="0"/>
              <a:ea typeface="굴림" panose="020B0600000101010101" pitchFamily="50" charset="-127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solidFill>
                  <a:srgbClr val="99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CreateIoCompletionPort</a:t>
            </a: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((HANDLE)</a:t>
            </a:r>
            <a:r>
              <a:rPr lang="en-US" altLang="ko-KR" sz="1600" b="0" dirty="0">
                <a:solidFill>
                  <a:srgbClr val="00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scH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, hIocp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, (DWORD)</a:t>
            </a:r>
            <a:r>
              <a:rPr lang="en-US" altLang="ko-KR" sz="1600" b="0" dirty="0">
                <a:solidFill>
                  <a:srgbClr val="FF0000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pRmH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, 0);</a:t>
            </a:r>
          </a:p>
        </p:txBody>
      </p:sp>
      <p:sp>
        <p:nvSpPr>
          <p:cNvPr id="11271" name="Rectangle 15">
            <a:extLst>
              <a:ext uri="{FF2B5EF4-FFF2-40B4-BE49-F238E27FC236}">
                <a16:creationId xmlns:a16="http://schemas.microsoft.com/office/drawing/2014/main" id="{3E300763-FD07-B17C-7179-5CCA4EE1E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997200"/>
            <a:ext cx="4752975" cy="720725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pRmH-&gt;AsyncRecv();</a:t>
            </a:r>
          </a:p>
        </p:txBody>
      </p:sp>
      <p:sp>
        <p:nvSpPr>
          <p:cNvPr id="11272" name="Rectangle 16">
            <a:extLst>
              <a:ext uri="{FF2B5EF4-FFF2-40B4-BE49-F238E27FC236}">
                <a16:creationId xmlns:a16="http://schemas.microsoft.com/office/drawing/2014/main" id="{7ADAF037-C625-31B5-911D-0460B1B3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860800"/>
            <a:ext cx="4752975" cy="259238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RemoteHost* pRmH	= nullptr;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OVERLAPPED_EX* pOL 	= nullptr;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DWORD dTran	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…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hr = </a:t>
            </a:r>
            <a:r>
              <a:rPr lang="en-US" altLang="ko-KR" sz="1600" b="0" dirty="0">
                <a:solidFill>
                  <a:srgbClr val="99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GetQueuedCompletionStatus</a:t>
            </a: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(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         hIocp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         , &amp;dTran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         , (LPDWORD)&amp;</a:t>
            </a:r>
            <a:r>
              <a:rPr lang="en-US" altLang="ko-KR" sz="1600" b="0" dirty="0">
                <a:solidFill>
                  <a:srgbClr val="FF0000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pRmH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         , (LPOVERLAPPED*)&amp;</a:t>
            </a:r>
            <a:r>
              <a:rPr lang="en-US" altLang="ko-KR" sz="1600" b="0" dirty="0">
                <a:solidFill>
                  <a:srgbClr val="9900FF"/>
                </a:solidFill>
                <a:latin typeface="Arial Black" panose="020B0A04020102020204" pitchFamily="34" charset="0"/>
                <a:ea typeface="굴림" panose="020B0600000101010101" pitchFamily="50" charset="-127"/>
              </a:rPr>
              <a:t>pOL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600" b="0" dirty="0">
                <a:latin typeface="Arial Black" panose="020B0A04020102020204" pitchFamily="34" charset="0"/>
                <a:ea typeface="굴림" panose="020B0600000101010101" pitchFamily="50" charset="-127"/>
              </a:rPr>
              <a:t>          , INFINITE);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>
            <a:extLst>
              <a:ext uri="{FF2B5EF4-FFF2-40B4-BE49-F238E27FC236}">
                <a16:creationId xmlns:a16="http://schemas.microsoft.com/office/drawing/2014/main" id="{8CA44A93-FA0F-C7BA-A739-0A101AF341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EE8DBD2-F88E-1857-9948-C334F6BA8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en-US" altLang="en-US" sz="2400" dirty="0"/>
              <a:t>소켓 입출력 절차1</a:t>
            </a:r>
            <a:endParaRPr lang="ko-KR" altLang="en-US" sz="2400" dirty="0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0977B64D-8F62-E32F-3712-9E0A645AF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I/O 완료 포트 생성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CreateIoCompletionPort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Work Thread</a:t>
            </a:r>
            <a:r>
              <a:rPr lang="en-US" altLang="en-US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CPU에 맞게 </a:t>
            </a:r>
            <a:r>
              <a:rPr lang="ko-KR" altLang="en-US" dirty="0"/>
              <a:t>→ 보통 </a:t>
            </a:r>
            <a:r>
              <a:rPr lang="en-US" altLang="ko-KR" dirty="0"/>
              <a:t>1~2</a:t>
            </a:r>
            <a:r>
              <a:rPr lang="ko-KR" altLang="en-US" dirty="0"/>
              <a:t>배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GetQueuedCompletionStatus</a:t>
            </a:r>
            <a:r>
              <a:rPr lang="en-US" altLang="en-US" dirty="0"/>
              <a:t>() 함수를 호출, 대기 상태로 만듬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ko-KR" altLang="en-US" dirty="0"/>
              <a:t>중첩된 </a:t>
            </a:r>
            <a:r>
              <a:rPr lang="en-US" altLang="en-US" dirty="0"/>
              <a:t>비동기 입출력 소켓 생성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WSASocket</a:t>
            </a:r>
            <a:r>
              <a:rPr lang="en-US" altLang="en-US" dirty="0"/>
              <a:t>(</a:t>
            </a:r>
            <a:r>
              <a:rPr lang="en-US" altLang="en-US" dirty="0">
                <a:latin typeface="Times New Roman" panose="02020603050405020304" pitchFamily="18" charset="0"/>
              </a:rPr>
              <a:t>…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9900FF"/>
                </a:solidFill>
              </a:rPr>
              <a:t>WSA_FLAG_OVERLAPPED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4A30-CC7B-C1BC-188C-9A4EA4F8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바닥글 개체 틀 3">
            <a:extLst>
              <a:ext uri="{FF2B5EF4-FFF2-40B4-BE49-F238E27FC236}">
                <a16:creationId xmlns:a16="http://schemas.microsoft.com/office/drawing/2014/main" id="{45603923-3240-4D5B-B501-1599BB63B0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E83888B-71FA-3928-A540-551D14DEA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en-US" altLang="en-US" sz="2400" dirty="0"/>
              <a:t>소켓 입출력 절차2</a:t>
            </a:r>
            <a:endParaRPr lang="ko-KR" altLang="en-US" sz="2400" dirty="0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CFC8406-816C-C252-BF21-37D18E4A35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{소켓 + IOCP + 객체}</a:t>
            </a:r>
            <a:r>
              <a:rPr lang="en-US" altLang="en-US" dirty="0"/>
              <a:t> 바인딩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비동기 입출력 </a:t>
            </a:r>
            <a:r>
              <a:rPr lang="ko-KR" altLang="en-US" dirty="0"/>
              <a:t>결과는</a:t>
            </a:r>
            <a:r>
              <a:rPr lang="en-US" altLang="en-US" dirty="0"/>
              <a:t> 입출력 완료 포트에 저장</a:t>
            </a:r>
            <a:r>
              <a:rPr lang="ko-KR" altLang="en-US" dirty="0"/>
              <a:t>됨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CreateIoCompletionPort</a:t>
            </a:r>
            <a:r>
              <a:rPr lang="en-US" altLang="en-US" dirty="0"/>
              <a:t>()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{소켓 + 완료 처리 버퍼}</a:t>
            </a:r>
            <a:r>
              <a:rPr lang="en-US" altLang="en-US" dirty="0"/>
              <a:t> 비동기 요청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WSASend</a:t>
            </a:r>
            <a:r>
              <a:rPr lang="en-US" altLang="en-US" dirty="0"/>
              <a:t>(), </a:t>
            </a:r>
            <a:r>
              <a:rPr lang="en-US" altLang="en-US" dirty="0">
                <a:solidFill>
                  <a:srgbClr val="9900FF"/>
                </a:solidFill>
              </a:rPr>
              <a:t>WSARecv</a:t>
            </a:r>
            <a:r>
              <a:rPr lang="en-US" altLang="en-US" dirty="0"/>
              <a:t>()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비동기 입출력 작업이 곧바로 완료되지 않으면,</a:t>
            </a:r>
            <a:br>
              <a:rPr lang="en-US" altLang="en-US" dirty="0"/>
            </a:br>
            <a:r>
              <a:rPr lang="en-US" altLang="en-US" dirty="0"/>
              <a:t>소켓 함수는 오류를 리턴 </a:t>
            </a:r>
            <a:r>
              <a:rPr lang="ko-KR" altLang="en-US" dirty="0"/>
              <a:t>→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오류 코드는 </a:t>
            </a:r>
            <a:r>
              <a:rPr lang="en-US" altLang="en-US" dirty="0">
                <a:solidFill>
                  <a:srgbClr val="9900FF"/>
                </a:solidFill>
              </a:rPr>
              <a:t>WSA_IO_PENDING</a:t>
            </a:r>
            <a:r>
              <a:rPr lang="en-US" altLang="en-US" dirty="0"/>
              <a:t>으로 설정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0070C0"/>
                </a:solidFill>
              </a:rPr>
              <a:t>{객체 + 완료 처리 버퍼}</a:t>
            </a:r>
            <a:r>
              <a:rPr lang="en-US" altLang="ko-KR" dirty="0"/>
              <a:t> </a:t>
            </a:r>
            <a:r>
              <a:rPr lang="ko-KR" altLang="en-US" dirty="0"/>
              <a:t>결과를 </a:t>
            </a:r>
            <a:r>
              <a:rPr lang="en-US" altLang="en-US" dirty="0"/>
              <a:t>비동기 완료 반환: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9900FF"/>
                </a:solidFill>
              </a:rPr>
              <a:t>GetQueuedCompletionStatus</a:t>
            </a:r>
            <a:r>
              <a:rPr lang="en-US" altLang="en-US" dirty="0"/>
              <a:t>() 함수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객체, 완료 처리 버퍼 등을 반환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480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FE680DE3-7B90-B0E0-54C8-09136A926F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A414224-586F-5D11-CC0C-41FD44FCA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ko-KR" altLang="en-US" sz="2400" dirty="0"/>
              <a:t>주요함수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14CE48A-78D7-FA03-CF6E-F0B777136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dirty="0"/>
              <a:t>논리 프로세서 수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4A820-818D-8EC4-E568-9E72A90F7FC7}"/>
              </a:ext>
            </a:extLst>
          </p:cNvPr>
          <p:cNvSpPr txBox="1"/>
          <p:nvPr/>
        </p:nvSpPr>
        <p:spPr>
          <a:xfrm>
            <a:off x="683568" y="1428452"/>
            <a:ext cx="7200800" cy="2000548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GetSystemProcessorCount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SYSTEM_INFO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SystemInfo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GetSystemInfo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(&amp;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SystemInfo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20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SystemInfo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dwNumberOfProcessors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920D-A8A4-9273-8273-40BEF7D4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1DE60109-BB91-810E-461D-31DE179371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401FCA9-D46B-7452-BCA1-7D15C9B35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ko-KR" altLang="en-US" sz="2400" dirty="0"/>
              <a:t>주요함수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517041E9-E99B-C33A-8A7A-FB4650C94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dirty="0"/>
              <a:t>Work Thread </a:t>
            </a:r>
            <a:r>
              <a:rPr lang="ko-KR" altLang="en-US" dirty="0"/>
              <a:t>생성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dirty="0"/>
              <a:t>경험적 </a:t>
            </a:r>
            <a:r>
              <a:rPr lang="en-US" altLang="ko-KR" dirty="0"/>
              <a:t>==&gt; CPU * 1~2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B5C6B-1F95-9136-A3B4-B48DD09C1917}"/>
              </a:ext>
            </a:extLst>
          </p:cNvPr>
          <p:cNvSpPr txBox="1"/>
          <p:nvPr/>
        </p:nvSpPr>
        <p:spPr>
          <a:xfrm>
            <a:off x="683567" y="1916832"/>
            <a:ext cx="777686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2 * processor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개수만큼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Work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쓰레드 생성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nWrkPrc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GetSystemProcessorCount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nWrkPrc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2000" b="1" dirty="0">
                <a:solidFill>
                  <a:srgbClr val="216F8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hThWrk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_beginthreadex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 err="1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,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WorkThread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      ,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CloseHandle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hThWrk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1453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A59A-82BC-8324-660C-6A3210B7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바닥글 개체 틀 3">
            <a:extLst>
              <a:ext uri="{FF2B5EF4-FFF2-40B4-BE49-F238E27FC236}">
                <a16:creationId xmlns:a16="http://schemas.microsoft.com/office/drawing/2014/main" id="{ED757752-FCB3-41AB-C1C2-DE6A52540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7C4B007-45A6-6BEC-8ADD-4BD68F93C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ko-KR" altLang="en-US" sz="2400" dirty="0"/>
              <a:t>주요함수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48910E5A-AABE-7B5F-9D64-B75879A6B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dirty="0"/>
              <a:t>중첩된 비동기 입출력 소켓 생성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>
                <a:solidFill>
                  <a:srgbClr val="C00000"/>
                </a:solidFill>
              </a:rPr>
              <a:t>WSASocket</a:t>
            </a:r>
            <a:r>
              <a:rPr lang="en-US" altLang="ko-KR" dirty="0"/>
              <a:t>(PF_INET, SOCK_STREAM, 0, nullptr, 0, WSA_FLAG_OVERLAPPED);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eaLnBrk="1" hangingPunct="1">
              <a:lnSpc>
                <a:spcPct val="80000"/>
              </a:lnSpc>
            </a:pPr>
            <a:endParaRPr lang="en-US" altLang="ko-KR" dirty="0"/>
          </a:p>
          <a:p>
            <a:pPr eaLnBrk="1" hangingPunct="1">
              <a:lnSpc>
                <a:spcPct val="80000"/>
              </a:lnSpc>
            </a:pPr>
            <a:r>
              <a:rPr lang="en-US" altLang="ko-KR" dirty="0"/>
              <a:t>IOCP </a:t>
            </a:r>
            <a:r>
              <a:rPr lang="ko-KR" altLang="en-US" dirty="0"/>
              <a:t>객체 생성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/>
              <a:t>hIocp = </a:t>
            </a:r>
            <a:r>
              <a:rPr lang="en-US" altLang="ko-KR" dirty="0">
                <a:solidFill>
                  <a:srgbClr val="C00000"/>
                </a:solidFill>
              </a:rPr>
              <a:t>CreateIoCompletionPort</a:t>
            </a:r>
            <a:r>
              <a:rPr lang="en-US" altLang="ko-KR" dirty="0"/>
              <a:t>(INVALID_HANDLE_VALUE, nullptr, 0, 0);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</a:pPr>
            <a:endParaRPr lang="en-US" altLang="ko-KR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39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바닥글 개체 틀 3">
            <a:extLst>
              <a:ext uri="{FF2B5EF4-FFF2-40B4-BE49-F238E27FC236}">
                <a16:creationId xmlns:a16="http://schemas.microsoft.com/office/drawing/2014/main" id="{F4669C41-35DC-5846-9084-9E94DB2E5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9941F88-F27B-68AC-9D74-6275AC2DB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ko-KR" altLang="en-US" sz="2400" dirty="0"/>
              <a:t>주요함수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80C7A4E-18C5-481E-B377-0986527B4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400" dirty="0"/>
              <a:t>입출력 완료 포트 생성</a:t>
            </a:r>
            <a:r>
              <a:rPr lang="en-US" altLang="ko-KR" sz="1400" dirty="0"/>
              <a:t>: </a:t>
            </a:r>
            <a:r>
              <a:rPr lang="en-US" altLang="ko-KR" sz="1400" dirty="0">
                <a:solidFill>
                  <a:srgbClr val="FF0000"/>
                </a:solidFill>
              </a:rPr>
              <a:t>{</a:t>
            </a:r>
            <a:r>
              <a:rPr lang="ko-KR" altLang="en-US" sz="1400" dirty="0">
                <a:solidFill>
                  <a:srgbClr val="FF0000"/>
                </a:solidFill>
              </a:rPr>
              <a:t>소켓 </a:t>
            </a:r>
            <a:r>
              <a:rPr lang="en-US" altLang="ko-KR" sz="1400" dirty="0">
                <a:solidFill>
                  <a:srgbClr val="FF0000"/>
                </a:solidFill>
              </a:rPr>
              <a:t>+ IOCP + </a:t>
            </a:r>
            <a:r>
              <a:rPr lang="ko-KR" altLang="en-US" sz="1400" dirty="0">
                <a:solidFill>
                  <a:srgbClr val="FF0000"/>
                </a:solidFill>
              </a:rPr>
              <a:t>객체</a:t>
            </a:r>
            <a:r>
              <a:rPr lang="en-US" altLang="ko-KR" sz="1400" dirty="0">
                <a:solidFill>
                  <a:srgbClr val="FF0000"/>
                </a:solidFill>
              </a:rPr>
              <a:t>}</a:t>
            </a:r>
            <a:r>
              <a:rPr lang="en-US" altLang="ko-KR" sz="1400" dirty="0"/>
              <a:t> </a:t>
            </a:r>
            <a:r>
              <a:rPr lang="ko-KR" altLang="en-US" sz="1400" dirty="0"/>
              <a:t>바인딩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200" dirty="0"/>
              <a:t>HANDLE </a:t>
            </a:r>
            <a:r>
              <a:rPr lang="en-US" altLang="ko-KR" sz="1200" dirty="0">
                <a:solidFill>
                  <a:srgbClr val="0000FF"/>
                </a:solidFill>
              </a:rPr>
              <a:t>CreateIoCompletionPort</a:t>
            </a:r>
            <a:r>
              <a:rPr lang="en-US" altLang="ko-KR" sz="1200" dirty="0"/>
              <a:t> (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HANDLE FileHandle,		// IOCP</a:t>
            </a:r>
            <a:r>
              <a:rPr lang="ko-KR" altLang="en-US" sz="1200" dirty="0"/>
              <a:t>와 바인딩할 소켓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HANDLE ExistingCompletionPort,	// IOCP </a:t>
            </a:r>
            <a:r>
              <a:rPr lang="ko-KR" altLang="en-US" sz="1200" dirty="0"/>
              <a:t>핸들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ULONG_PTR CompletionKey,	// I/O</a:t>
            </a:r>
            <a:r>
              <a:rPr lang="ko-KR" altLang="en-US" sz="1200" dirty="0"/>
              <a:t>를 요청한 객체 또는 완료를 구분해주는 객체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DWORD NumberOfConcurrentThreads	// </a:t>
            </a:r>
            <a:r>
              <a:rPr lang="ko-KR" altLang="en-US" sz="1200" dirty="0"/>
              <a:t>동시에 실행될 수 있는 작업 스레드 수 </a:t>
            </a:r>
            <a:r>
              <a:rPr lang="en-US" altLang="ko-KR" sz="1200" dirty="0"/>
              <a:t>= </a:t>
            </a:r>
            <a:r>
              <a:rPr lang="ko-KR" altLang="en-US" sz="1200" dirty="0"/>
              <a:t>보통 </a:t>
            </a:r>
            <a:r>
              <a:rPr lang="en-US" altLang="ko-KR" sz="1200" dirty="0"/>
              <a:t>0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200" dirty="0"/>
              <a:t>성공</a:t>
            </a:r>
            <a:r>
              <a:rPr lang="en-US" altLang="ko-KR" sz="1200" dirty="0"/>
              <a:t>: </a:t>
            </a:r>
            <a:r>
              <a:rPr lang="ko-KR" altLang="en-US" sz="1200" dirty="0"/>
              <a:t>입출력 완료 포트 핸들</a:t>
            </a:r>
            <a:r>
              <a:rPr lang="en-US" altLang="ko-KR" sz="1200" dirty="0"/>
              <a:t>, </a:t>
            </a:r>
            <a:r>
              <a:rPr lang="ko-KR" altLang="en-US" sz="1200" dirty="0"/>
              <a:t>실패</a:t>
            </a:r>
            <a:r>
              <a:rPr lang="en-US" altLang="ko-KR" sz="1200" dirty="0"/>
              <a:t>: nullptr</a:t>
            </a:r>
          </a:p>
          <a:p>
            <a:pPr eaLnBrk="1" hangingPunct="1">
              <a:lnSpc>
                <a:spcPct val="80000"/>
              </a:lnSpc>
            </a:pPr>
            <a:endParaRPr lang="en-US" altLang="ko-KR" sz="1400" dirty="0"/>
          </a:p>
          <a:p>
            <a:pPr eaLnBrk="1" hangingPunct="1">
              <a:lnSpc>
                <a:spcPct val="80000"/>
              </a:lnSpc>
            </a:pPr>
            <a:r>
              <a:rPr lang="ko-KR" altLang="en-US" sz="1400" dirty="0"/>
              <a:t>전송에 대한 비동기 요청</a:t>
            </a:r>
            <a:r>
              <a:rPr lang="en-US" altLang="ko-KR" sz="1400" dirty="0"/>
              <a:t>: </a:t>
            </a:r>
            <a:r>
              <a:rPr lang="en-US" altLang="ko-KR" sz="1400" dirty="0">
                <a:solidFill>
                  <a:srgbClr val="FF0000"/>
                </a:solidFill>
              </a:rPr>
              <a:t>{</a:t>
            </a:r>
            <a:r>
              <a:rPr lang="ko-KR" altLang="en-US" sz="1400" dirty="0">
                <a:solidFill>
                  <a:srgbClr val="FF0000"/>
                </a:solidFill>
              </a:rPr>
              <a:t>소켓 </a:t>
            </a:r>
            <a:r>
              <a:rPr lang="en-US" altLang="ko-KR" sz="1400" dirty="0">
                <a:solidFill>
                  <a:srgbClr val="FF0000"/>
                </a:solidFill>
              </a:rPr>
              <a:t>+ </a:t>
            </a:r>
            <a:r>
              <a:rPr lang="ko-KR" altLang="en-US" sz="1400" dirty="0">
                <a:solidFill>
                  <a:srgbClr val="FF0000"/>
                </a:solidFill>
              </a:rPr>
              <a:t>송신 처리 버퍼</a:t>
            </a:r>
            <a:r>
              <a:rPr lang="en-US" altLang="ko-KR" sz="1400" dirty="0">
                <a:solidFill>
                  <a:srgbClr val="FF0000"/>
                </a:solidFill>
              </a:rPr>
              <a:t>}</a:t>
            </a:r>
            <a:r>
              <a:rPr lang="en-US" altLang="ko-KR" sz="1400" dirty="0"/>
              <a:t> </a:t>
            </a:r>
            <a:r>
              <a:rPr lang="ko-KR" altLang="en-US" sz="1400" dirty="0"/>
              <a:t>비동기 요청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200" dirty="0"/>
              <a:t>int </a:t>
            </a:r>
            <a:r>
              <a:rPr lang="en-US" altLang="ko-KR" sz="1200" dirty="0">
                <a:solidFill>
                  <a:srgbClr val="0000FF"/>
                </a:solidFill>
              </a:rPr>
              <a:t>WSASend</a:t>
            </a:r>
            <a:r>
              <a:rPr lang="en-US" altLang="ko-KR" sz="1200" dirty="0"/>
              <a:t> (	SOCKET s,			// </a:t>
            </a:r>
            <a:r>
              <a:rPr lang="ko-KR" altLang="en-US" sz="1200" dirty="0"/>
              <a:t>송신 버퍼 소켓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LPWSABUF lpBuffers,		// </a:t>
            </a:r>
            <a:r>
              <a:rPr lang="ko-KR" altLang="en-US" sz="1200" dirty="0"/>
              <a:t>송신 버퍼 포인터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DWORD dwBufferCount,		// </a:t>
            </a:r>
            <a:r>
              <a:rPr lang="ko-KR" altLang="en-US" sz="1200" dirty="0"/>
              <a:t>송신 버퍼 수</a:t>
            </a:r>
            <a:r>
              <a:rPr lang="en-US" altLang="ko-KR" sz="1200" dirty="0"/>
              <a:t>. </a:t>
            </a:r>
            <a:r>
              <a:rPr lang="ko-KR" altLang="en-US" sz="1200" dirty="0"/>
              <a:t>보통 </a:t>
            </a:r>
            <a:r>
              <a:rPr lang="en-US" altLang="ko-KR" sz="1200" dirty="0"/>
              <a:t>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LPDWORD lpNumberOfBytesSent,	// </a:t>
            </a:r>
            <a:r>
              <a:rPr lang="ko-KR" altLang="en-US" sz="1200" dirty="0"/>
              <a:t>송신 버퍼 크기 </a:t>
            </a:r>
            <a:r>
              <a:rPr lang="ko-KR" altLang="en-US" sz="1200" dirty="0">
                <a:sym typeface="Wingdings" panose="05000000000000000000" pitchFamily="2" charset="2"/>
              </a:rPr>
              <a:t> 계산해서 전달</a:t>
            </a:r>
            <a:endParaRPr lang="ko-KR" altLang="en-US" sz="1200" dirty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DWORD dwFlags,		// 0</a:t>
            </a:r>
            <a:r>
              <a:rPr lang="ko-KR" altLang="en-US" sz="1200" dirty="0"/>
              <a:t>으로 설정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LPWSAOVERLAPPED lpOverlapped,	// OVERLAPPED </a:t>
            </a:r>
            <a:r>
              <a:rPr lang="ko-KR" altLang="en-US" sz="1200" dirty="0"/>
              <a:t>구조체 포인터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LPWSAOVERLAPPED_COMPLETION_ROUTINE lpCompletionRoutine    // IOCP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nullptr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            ) 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200" dirty="0"/>
              <a:t>성공</a:t>
            </a:r>
            <a:r>
              <a:rPr lang="en-US" altLang="ko-KR" sz="1200" dirty="0"/>
              <a:t>: 0, </a:t>
            </a:r>
            <a:r>
              <a:rPr lang="ko-KR" altLang="en-US" sz="1200" dirty="0"/>
              <a:t>실패</a:t>
            </a:r>
            <a:r>
              <a:rPr lang="en-US" altLang="ko-KR" sz="1200" dirty="0"/>
              <a:t>: SOCKET_ERROR</a:t>
            </a:r>
          </a:p>
          <a:p>
            <a:pPr eaLnBrk="1" hangingPunct="1">
              <a:lnSpc>
                <a:spcPct val="80000"/>
              </a:lnSpc>
            </a:pPr>
            <a:endParaRPr lang="en-US" altLang="ko-KR" sz="1400" dirty="0"/>
          </a:p>
          <a:p>
            <a:pPr eaLnBrk="1" hangingPunct="1">
              <a:lnSpc>
                <a:spcPct val="80000"/>
              </a:lnSpc>
            </a:pPr>
            <a:r>
              <a:rPr lang="ko-KR" altLang="en-US" sz="1400" dirty="0"/>
              <a:t>수신에 대한 비동기 요청</a:t>
            </a:r>
            <a:r>
              <a:rPr lang="en-US" altLang="ko-KR" sz="1400" dirty="0"/>
              <a:t>: {</a:t>
            </a:r>
            <a:r>
              <a:rPr lang="ko-KR" altLang="en-US" sz="1400" dirty="0">
                <a:solidFill>
                  <a:srgbClr val="FF0000"/>
                </a:solidFill>
              </a:rPr>
              <a:t>소켓 </a:t>
            </a:r>
            <a:r>
              <a:rPr lang="en-US" altLang="ko-KR" sz="1400" dirty="0">
                <a:solidFill>
                  <a:srgbClr val="FF0000"/>
                </a:solidFill>
              </a:rPr>
              <a:t>+ </a:t>
            </a:r>
            <a:r>
              <a:rPr lang="ko-KR" altLang="en-US" sz="1400" dirty="0">
                <a:solidFill>
                  <a:srgbClr val="FF0000"/>
                </a:solidFill>
              </a:rPr>
              <a:t>수신 처리 버퍼</a:t>
            </a:r>
            <a:r>
              <a:rPr lang="en-US" altLang="ko-KR" sz="1400" dirty="0">
                <a:solidFill>
                  <a:srgbClr val="FF0000"/>
                </a:solidFill>
              </a:rPr>
              <a:t>}</a:t>
            </a:r>
            <a:r>
              <a:rPr lang="en-US" altLang="ko-KR" sz="1400" dirty="0"/>
              <a:t> </a:t>
            </a:r>
            <a:r>
              <a:rPr lang="ko-KR" altLang="en-US" sz="1400" dirty="0"/>
              <a:t>비동기 요청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200" dirty="0"/>
              <a:t>int </a:t>
            </a:r>
            <a:r>
              <a:rPr lang="en-US" altLang="ko-KR" sz="1200" dirty="0">
                <a:solidFill>
                  <a:srgbClr val="0000FF"/>
                </a:solidFill>
              </a:rPr>
              <a:t>WSARecv</a:t>
            </a:r>
            <a:r>
              <a:rPr lang="en-US" altLang="ko-KR" sz="1200" dirty="0"/>
              <a:t> (	SOCKET s,		// </a:t>
            </a:r>
            <a:r>
              <a:rPr lang="ko-KR" altLang="en-US" sz="1200" dirty="0"/>
              <a:t>수신 소켓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LPWSABUF lpBuffers,		// </a:t>
            </a:r>
            <a:r>
              <a:rPr lang="ko-KR" altLang="en-US" sz="1200" dirty="0"/>
              <a:t>수신 버퍼 포인터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DWORD dwBufferCount,		// </a:t>
            </a:r>
            <a:r>
              <a:rPr lang="ko-KR" altLang="en-US" sz="1200" dirty="0"/>
              <a:t>수신 버퍼 수</a:t>
            </a:r>
            <a:r>
              <a:rPr lang="en-US" altLang="ko-KR" sz="1200" dirty="0"/>
              <a:t>, </a:t>
            </a:r>
            <a:r>
              <a:rPr lang="ko-KR" altLang="en-US" sz="1200" dirty="0"/>
              <a:t>보통 </a:t>
            </a:r>
            <a:r>
              <a:rPr lang="en-US" altLang="ko-KR" sz="1200" dirty="0"/>
              <a:t>1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LPDWORD lpNumberOfBytesRecvd,	// 0</a:t>
            </a:r>
            <a:r>
              <a:rPr lang="ko-KR" altLang="en-US" sz="1200" dirty="0"/>
              <a:t>으로 설정 </a:t>
            </a:r>
            <a:r>
              <a:rPr lang="en-US" altLang="ko-KR" sz="1200" dirty="0"/>
              <a:t>DWORD dTran= 0; &amp;dTran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LPDWORD lpFlags,		// 0</a:t>
            </a:r>
            <a:r>
              <a:rPr lang="ko-KR" altLang="en-US" sz="1200" dirty="0"/>
              <a:t>으로 설정 </a:t>
            </a:r>
            <a:r>
              <a:rPr lang="en-US" altLang="ko-KR" sz="1200" dirty="0"/>
              <a:t>DWORD dFlag= 0; &amp;dFlag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	LPWSAOVERLAPPED lpOverlapped,	// </a:t>
            </a:r>
            <a:r>
              <a:rPr lang="ko-KR" altLang="en-US" sz="1200" dirty="0"/>
              <a:t>보통 </a:t>
            </a:r>
            <a:r>
              <a:rPr lang="en-US" altLang="ko-KR" sz="1200" dirty="0"/>
              <a:t>OVERLAPPED </a:t>
            </a:r>
            <a:r>
              <a:rPr lang="ko-KR" altLang="en-US" sz="1200" dirty="0"/>
              <a:t>구조체 포인터로 캐스팅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200" dirty="0"/>
              <a:t>			</a:t>
            </a:r>
            <a:r>
              <a:rPr lang="en-US" altLang="ko-KR" sz="1200" dirty="0"/>
              <a:t>LPWSAOVERLAPPED_COMPLETION_ROUTINE lpCompletionRoutine    // IOCP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nullptr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200" dirty="0"/>
              <a:t>		            ) 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200" dirty="0"/>
              <a:t>성공</a:t>
            </a:r>
            <a:r>
              <a:rPr lang="en-US" altLang="ko-KR" sz="1200" dirty="0"/>
              <a:t>: 0, </a:t>
            </a:r>
            <a:r>
              <a:rPr lang="ko-KR" altLang="en-US" sz="1200" dirty="0"/>
              <a:t>실패</a:t>
            </a:r>
            <a:r>
              <a:rPr lang="en-US" altLang="ko-KR" sz="1200" dirty="0"/>
              <a:t>: SOCKET_ERROR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바닥글 개체 틀 3">
            <a:extLst>
              <a:ext uri="{FF2B5EF4-FFF2-40B4-BE49-F238E27FC236}">
                <a16:creationId xmlns:a16="http://schemas.microsoft.com/office/drawing/2014/main" id="{B26A3974-D6C5-F14C-3A22-26028FF269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2CB8BB-526E-A96B-DFD0-1CD17639C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 - </a:t>
            </a:r>
            <a:r>
              <a:rPr lang="ko-KR" altLang="en-US" sz="2400" dirty="0"/>
              <a:t>주요함수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6215C6D-7DA2-6484-87AA-C6C3681A4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1800" dirty="0"/>
              <a:t>비동기 입출력 결과 확인</a:t>
            </a:r>
            <a:r>
              <a:rPr lang="en-US" altLang="ko-KR" sz="1800" dirty="0"/>
              <a:t>:</a:t>
            </a:r>
            <a:r>
              <a:rPr lang="en-US" altLang="ko-KR" sz="1800" dirty="0">
                <a:solidFill>
                  <a:srgbClr val="FF0000"/>
                </a:solidFill>
              </a:rPr>
              <a:t>{</a:t>
            </a:r>
            <a:r>
              <a:rPr lang="ko-KR" altLang="en-US" sz="1800" dirty="0">
                <a:solidFill>
                  <a:srgbClr val="FF0000"/>
                </a:solidFill>
              </a:rPr>
              <a:t>객체 </a:t>
            </a:r>
            <a:r>
              <a:rPr lang="en-US" altLang="ko-KR" sz="1800" dirty="0">
                <a:solidFill>
                  <a:srgbClr val="FF0000"/>
                </a:solidFill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</a:rPr>
              <a:t>완료 처리 요청 버퍼</a:t>
            </a:r>
            <a:r>
              <a:rPr lang="en-US" altLang="ko-KR" sz="1800" dirty="0">
                <a:solidFill>
                  <a:srgbClr val="FF0000"/>
                </a:solidFill>
              </a:rPr>
              <a:t>} </a:t>
            </a:r>
            <a:r>
              <a:rPr lang="ko-KR" altLang="en-US" sz="1800" dirty="0">
                <a:solidFill>
                  <a:srgbClr val="FF0000"/>
                </a:solidFill>
              </a:rPr>
              <a:t>결과 비동기로 반환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600" dirty="0"/>
              <a:t>BOOL </a:t>
            </a:r>
            <a:r>
              <a:rPr lang="en-US" altLang="ko-KR" sz="1600" dirty="0">
                <a:solidFill>
                  <a:srgbClr val="0000FF"/>
                </a:solidFill>
              </a:rPr>
              <a:t>GetQueuedCompletionStatus</a:t>
            </a:r>
            <a:r>
              <a:rPr lang="en-US" altLang="ko-KR" sz="1600" dirty="0"/>
              <a:t> (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    HANDLE CompletionPort,	      // IOCP </a:t>
            </a:r>
            <a:r>
              <a:rPr lang="ko-KR" altLang="en-US" sz="1600" dirty="0"/>
              <a:t>핸들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    </a:t>
            </a:r>
            <a:r>
              <a:rPr lang="en-US" altLang="ko-KR" sz="1600" dirty="0"/>
              <a:t>LPDWORD lpNumberOfBytes,   // </a:t>
            </a:r>
            <a:r>
              <a:rPr lang="ko-KR" altLang="en-US" sz="1600" dirty="0"/>
              <a:t>완료된 </a:t>
            </a:r>
            <a:r>
              <a:rPr lang="en-US" altLang="ko-KR" sz="1600" dirty="0"/>
              <a:t>I/O</a:t>
            </a:r>
            <a:r>
              <a:rPr lang="ko-KR" altLang="en-US" sz="1600" dirty="0"/>
              <a:t>의 총 바이트 수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    </a:t>
            </a:r>
            <a:r>
              <a:rPr lang="en-US" altLang="ko-KR" sz="1600" dirty="0"/>
              <a:t>PULONG_PTR lpCompletionKey, // I/O</a:t>
            </a:r>
            <a:r>
              <a:rPr lang="ko-KR" altLang="en-US" sz="1600" dirty="0"/>
              <a:t>를 요청한 객체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    </a:t>
            </a:r>
            <a:r>
              <a:rPr lang="en-US" altLang="ko-KR" sz="1600" dirty="0"/>
              <a:t>LPOVERLAPPED *lpOverlapped, // Overlapped </a:t>
            </a:r>
            <a:r>
              <a:rPr lang="ko-KR" altLang="en-US" sz="1600" dirty="0"/>
              <a:t>구조체의 주소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    </a:t>
            </a:r>
            <a:r>
              <a:rPr lang="en-US" altLang="ko-KR" sz="1600" dirty="0"/>
              <a:t>DWORD dwMilliseconds	    // </a:t>
            </a:r>
            <a:r>
              <a:rPr lang="ko-KR" altLang="en-US" sz="1600" dirty="0"/>
              <a:t>타임아웃 </a:t>
            </a:r>
            <a:r>
              <a:rPr lang="en-US" altLang="ko-KR" sz="1600" dirty="0"/>
              <a:t>INFINITE </a:t>
            </a:r>
            <a:r>
              <a:rPr lang="en-US" altLang="ko-KR" sz="1600" dirty="0">
                <a:sym typeface="Wingdings" panose="05000000000000000000" pitchFamily="2" charset="2"/>
              </a:rPr>
              <a:t></a:t>
            </a:r>
            <a:r>
              <a:rPr lang="en-US" altLang="ko-KR" sz="1600" dirty="0"/>
              <a:t> I/O </a:t>
            </a:r>
            <a:r>
              <a:rPr lang="ko-KR" altLang="en-US" sz="1600" dirty="0"/>
              <a:t>완료까지 기다림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 dirty="0"/>
              <a:t>성공</a:t>
            </a:r>
            <a:r>
              <a:rPr lang="en-US" altLang="ko-KR" sz="1600" dirty="0"/>
              <a:t>: 0</a:t>
            </a:r>
            <a:r>
              <a:rPr lang="ko-KR" altLang="en-US" sz="1600" dirty="0"/>
              <a:t>이 아닌 값</a:t>
            </a:r>
            <a:r>
              <a:rPr lang="en-US" altLang="ko-KR" sz="1600" dirty="0"/>
              <a:t>, </a:t>
            </a:r>
            <a:r>
              <a:rPr lang="ko-KR" altLang="en-US" sz="1600" dirty="0"/>
              <a:t>실패</a:t>
            </a:r>
            <a:r>
              <a:rPr lang="en-US" altLang="ko-KR" sz="1600" dirty="0"/>
              <a:t>: 0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 dirty="0"/>
              <a:t>쓰레드에서 호출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 dirty="0"/>
              <a:t>완료 결과를 </a:t>
            </a:r>
            <a:r>
              <a:rPr lang="en-US" altLang="ko-KR" sz="1600" dirty="0"/>
              <a:t>IOCP </a:t>
            </a:r>
            <a:r>
              <a:rPr lang="ko-KR" altLang="en-US" sz="1600" dirty="0"/>
              <a:t>내의 </a:t>
            </a:r>
            <a:r>
              <a:rPr lang="en-US" altLang="ko-KR" sz="1600" dirty="0"/>
              <a:t>I/O </a:t>
            </a:r>
            <a:r>
              <a:rPr lang="ko-KR" altLang="en-US" sz="1600" dirty="0"/>
              <a:t>완료 패킷 큐로부터 하나씩 꺼내옴</a:t>
            </a:r>
          </a:p>
          <a:p>
            <a:pPr eaLnBrk="1" hangingPunct="1">
              <a:lnSpc>
                <a:spcPct val="80000"/>
              </a:lnSpc>
            </a:pPr>
            <a:endParaRPr lang="ko-KR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ko-KR" sz="1800" dirty="0"/>
              <a:t>IOCP Queue</a:t>
            </a:r>
            <a:r>
              <a:rPr lang="ko-KR" altLang="en-US" sz="1800" dirty="0"/>
              <a:t>에 직접 데이터를 넣는 경우</a:t>
            </a:r>
            <a:r>
              <a:rPr lang="en-US" altLang="ko-KR" sz="1800" dirty="0"/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1600" dirty="0"/>
              <a:t>BOOL </a:t>
            </a:r>
            <a:r>
              <a:rPr lang="en-US" altLang="ko-KR" sz="1600" dirty="0">
                <a:solidFill>
                  <a:srgbClr val="0000FF"/>
                </a:solidFill>
              </a:rPr>
              <a:t>PostQueuedCompletionStatus</a:t>
            </a:r>
            <a:r>
              <a:rPr lang="en-US" altLang="ko-KR" sz="1600" dirty="0"/>
              <a:t> (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    HANDLE CompletionPort,               // IOCP </a:t>
            </a:r>
            <a:r>
              <a:rPr lang="ko-KR" altLang="en-US" sz="1600" dirty="0"/>
              <a:t>핸들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600" dirty="0"/>
              <a:t>		    </a:t>
            </a:r>
            <a:r>
              <a:rPr lang="en-US" altLang="ko-KR" sz="1600" dirty="0"/>
              <a:t>DWORD dwNumberOfBytesTransferred, // bytes transferred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    ULONG_PTR dwCompletionKey,	    // completion key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    LPOVERLAPPED lpOverlapped	    // overlapped buffer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600" dirty="0"/>
              <a:t>		);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 dirty="0"/>
              <a:t>성공</a:t>
            </a:r>
            <a:r>
              <a:rPr lang="en-US" altLang="ko-KR" sz="1600" dirty="0"/>
              <a:t>: 0</a:t>
            </a:r>
            <a:r>
              <a:rPr lang="ko-KR" altLang="en-US" sz="1600" dirty="0"/>
              <a:t>이 아닌 값</a:t>
            </a:r>
            <a:r>
              <a:rPr lang="en-US" altLang="ko-KR" sz="1600" dirty="0"/>
              <a:t>, </a:t>
            </a:r>
            <a:r>
              <a:rPr lang="ko-KR" altLang="en-US" sz="1600" dirty="0"/>
              <a:t>실패</a:t>
            </a:r>
            <a:r>
              <a:rPr lang="en-US" altLang="ko-KR" sz="1600" dirty="0"/>
              <a:t>: 0 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600" dirty="0"/>
              <a:t>작업 스레드에게 </a:t>
            </a:r>
            <a:r>
              <a:rPr lang="en-US" altLang="ko-KR" sz="1600" dirty="0"/>
              <a:t>I/O </a:t>
            </a:r>
            <a:r>
              <a:rPr lang="ko-KR" altLang="en-US" sz="1600" dirty="0"/>
              <a:t>완료 처리와 상관없이 메시지 전달할 때 사용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3">
            <a:extLst>
              <a:ext uri="{FF2B5EF4-FFF2-40B4-BE49-F238E27FC236}">
                <a16:creationId xmlns:a16="http://schemas.microsoft.com/office/drawing/2014/main" id="{EEC98E85-1B49-F57F-21B1-F10A8A8C5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66D8E1F-B4DF-488B-671D-49467F3AF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</a:t>
            </a:r>
          </a:p>
        </p:txBody>
      </p:sp>
      <p:pic>
        <p:nvPicPr>
          <p:cNvPr id="16388" name="Picture 3">
            <a:extLst>
              <a:ext uri="{FF2B5EF4-FFF2-40B4-BE49-F238E27FC236}">
                <a16:creationId xmlns:a16="http://schemas.microsoft.com/office/drawing/2014/main" id="{95E5E8AC-ACCC-D01E-BCC8-DFF12C0E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57338"/>
            <a:ext cx="6118225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4">
            <a:extLst>
              <a:ext uri="{FF2B5EF4-FFF2-40B4-BE49-F238E27FC236}">
                <a16:creationId xmlns:a16="http://schemas.microsoft.com/office/drawing/2014/main" id="{468488C8-E47F-DCB2-28AA-01F3F6153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 dirty="0"/>
              <a:t>Completion Port </a:t>
            </a:r>
            <a:r>
              <a:rPr lang="ko-KR" altLang="en-US" dirty="0"/>
              <a:t>모델 동작 원리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3">
            <a:extLst>
              <a:ext uri="{FF2B5EF4-FFF2-40B4-BE49-F238E27FC236}">
                <a16:creationId xmlns:a16="http://schemas.microsoft.com/office/drawing/2014/main" id="{6EFC77A4-2255-75A8-3176-CB29DAFDE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C40A964-9A72-7C61-B513-D3C228FCE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D126E0E-74E2-8A07-EA6B-15EB04126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Completion Port </a:t>
            </a:r>
            <a:r>
              <a:rPr lang="ko-KR" altLang="en-US" dirty="0"/>
              <a:t>모델 동작 원리</a:t>
            </a: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7C29717F-5991-E3ED-B8B3-B8FE61D60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2743200"/>
            <a:ext cx="1309688" cy="1173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EAF57E6C-59B9-E16A-2C05-E69AA6A0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088" y="3246438"/>
            <a:ext cx="2249487" cy="1173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입출력 완료 포트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77C143EA-2397-A010-FAC8-F8D251802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3246438"/>
            <a:ext cx="1265237" cy="1173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윈도우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I/O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</a:p>
        </p:txBody>
      </p:sp>
      <p:sp>
        <p:nvSpPr>
          <p:cNvPr id="18440" name="Line 7">
            <a:extLst>
              <a:ext uri="{FF2B5EF4-FFF2-40B4-BE49-F238E27FC236}">
                <a16:creationId xmlns:a16="http://schemas.microsoft.com/office/drawing/2014/main" id="{3E9E459B-6F73-D764-2359-68539AD7AF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62138" y="2239963"/>
            <a:ext cx="1587" cy="498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41" name="Line 8">
            <a:extLst>
              <a:ext uri="{FF2B5EF4-FFF2-40B4-BE49-F238E27FC236}">
                <a16:creationId xmlns:a16="http://schemas.microsoft.com/office/drawing/2014/main" id="{E0E743A8-A275-1AD0-937F-28882A348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3725" y="2239963"/>
            <a:ext cx="5838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42" name="Line 9">
            <a:extLst>
              <a:ext uri="{FF2B5EF4-FFF2-40B4-BE49-F238E27FC236}">
                <a16:creationId xmlns:a16="http://schemas.microsoft.com/office/drawing/2014/main" id="{79973756-3020-B90C-370E-4A34488EC7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2550" y="2239963"/>
            <a:ext cx="0" cy="1006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43" name="Rectangle 10">
            <a:extLst>
              <a:ext uri="{FF2B5EF4-FFF2-40B4-BE49-F238E27FC236}">
                <a16:creationId xmlns:a16="http://schemas.microsoft.com/office/drawing/2014/main" id="{1B2127F0-AFA8-6D50-E84E-4541F4AF1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2450" y="3916363"/>
            <a:ext cx="352425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44" name="Rectangle 11">
            <a:extLst>
              <a:ext uri="{FF2B5EF4-FFF2-40B4-BE49-F238E27FC236}">
                <a16:creationId xmlns:a16="http://schemas.microsoft.com/office/drawing/2014/main" id="{FA802493-E00A-53AE-5AA2-81CC0F475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7913" y="3916363"/>
            <a:ext cx="352425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45" name="Rectangle 12">
            <a:extLst>
              <a:ext uri="{FF2B5EF4-FFF2-40B4-BE49-F238E27FC236}">
                <a16:creationId xmlns:a16="http://schemas.microsoft.com/office/drawing/2014/main" id="{471BE47C-A139-EF32-00DB-66979031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1820863"/>
            <a:ext cx="21113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시작</a:t>
            </a:r>
          </a:p>
        </p:txBody>
      </p:sp>
      <p:sp>
        <p:nvSpPr>
          <p:cNvPr id="18446" name="Line 13">
            <a:extLst>
              <a:ext uri="{FF2B5EF4-FFF2-40B4-BE49-F238E27FC236}">
                <a16:creationId xmlns:a16="http://schemas.microsoft.com/office/drawing/2014/main" id="{2D5689E3-78CB-9736-3A3E-49B49DD065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0813" y="4208463"/>
            <a:ext cx="17573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47" name="Rectangle 14">
            <a:extLst>
              <a:ext uri="{FF2B5EF4-FFF2-40B4-BE49-F238E27FC236}">
                <a16:creationId xmlns:a16="http://schemas.microsoft.com/office/drawing/2014/main" id="{B04D56F5-1652-7281-233B-CB768A65C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4419600"/>
            <a:ext cx="217963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③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완료</a:t>
            </a:r>
          </a:p>
        </p:txBody>
      </p:sp>
      <p:sp>
        <p:nvSpPr>
          <p:cNvPr id="18448" name="Line 15">
            <a:extLst>
              <a:ext uri="{FF2B5EF4-FFF2-40B4-BE49-F238E27FC236}">
                <a16:creationId xmlns:a16="http://schemas.microsoft.com/office/drawing/2014/main" id="{452455CA-2768-940B-0E34-51A675E03A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1838" y="2408238"/>
            <a:ext cx="3175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49" name="Line 16">
            <a:extLst>
              <a:ext uri="{FF2B5EF4-FFF2-40B4-BE49-F238E27FC236}">
                <a16:creationId xmlns:a16="http://schemas.microsoft.com/office/drawing/2014/main" id="{EAF9A1BF-32A2-34F3-EF15-E6FA1D36F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5013" y="2408238"/>
            <a:ext cx="555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0" name="Line 17">
            <a:extLst>
              <a:ext uri="{FF2B5EF4-FFF2-40B4-BE49-F238E27FC236}">
                <a16:creationId xmlns:a16="http://schemas.microsoft.com/office/drawing/2014/main" id="{14A30C3B-20EE-B08F-83FC-C06C82930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40823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1" name="Line 18">
            <a:extLst>
              <a:ext uri="{FF2B5EF4-FFF2-40B4-BE49-F238E27FC236}">
                <a16:creationId xmlns:a16="http://schemas.microsoft.com/office/drawing/2014/main" id="{1AAEE143-D6C8-DD87-F833-DB03E50213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4875" y="4025900"/>
            <a:ext cx="227806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2" name="Line 19">
            <a:extLst>
              <a:ext uri="{FF2B5EF4-FFF2-40B4-BE49-F238E27FC236}">
                <a16:creationId xmlns:a16="http://schemas.microsoft.com/office/drawing/2014/main" id="{09063168-DAE5-7434-152D-6637B9C20E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5488" y="4348163"/>
            <a:ext cx="1587" cy="1076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3" name="Line 20">
            <a:extLst>
              <a:ext uri="{FF2B5EF4-FFF2-40B4-BE49-F238E27FC236}">
                <a16:creationId xmlns:a16="http://schemas.microsoft.com/office/drawing/2014/main" id="{874A7F4E-17E6-DCCF-53E7-2237FECA33F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43213" y="5422900"/>
            <a:ext cx="1693862" cy="3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4" name="Line 21">
            <a:extLst>
              <a:ext uri="{FF2B5EF4-FFF2-40B4-BE49-F238E27FC236}">
                <a16:creationId xmlns:a16="http://schemas.microsoft.com/office/drawing/2014/main" id="{CD3EFF21-D381-E1A2-900C-B46D1CE43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335463"/>
            <a:ext cx="0" cy="13446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5" name="Line 22">
            <a:extLst>
              <a:ext uri="{FF2B5EF4-FFF2-40B4-BE49-F238E27FC236}">
                <a16:creationId xmlns:a16="http://schemas.microsoft.com/office/drawing/2014/main" id="{C034440D-DF0D-C9D1-E476-A5247A829E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47975" y="5676900"/>
            <a:ext cx="22367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56" name="Rectangle 23">
            <a:extLst>
              <a:ext uri="{FF2B5EF4-FFF2-40B4-BE49-F238E27FC236}">
                <a16:creationId xmlns:a16="http://schemas.microsoft.com/office/drawing/2014/main" id="{C23EFEA6-501C-FD67-9FCA-AE88C1E80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4587875"/>
            <a:ext cx="1309688" cy="11731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57" name="Rectangle 24">
            <a:extLst>
              <a:ext uri="{FF2B5EF4-FFF2-40B4-BE49-F238E27FC236}">
                <a16:creationId xmlns:a16="http://schemas.microsoft.com/office/drawing/2014/main" id="{53E7B43C-3526-4B09-A1A0-3320C5131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588" y="4754563"/>
            <a:ext cx="1309687" cy="1173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8458" name="Rectangle 25">
            <a:extLst>
              <a:ext uri="{FF2B5EF4-FFF2-40B4-BE49-F238E27FC236}">
                <a16:creationId xmlns:a16="http://schemas.microsoft.com/office/drawing/2014/main" id="{92BF644C-7EE8-19B0-E29C-01CB8EDC4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288" y="4922838"/>
            <a:ext cx="1309687" cy="1173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작업자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18459" name="Line 26">
            <a:extLst>
              <a:ext uri="{FF2B5EF4-FFF2-40B4-BE49-F238E27FC236}">
                <a16:creationId xmlns:a16="http://schemas.microsoft.com/office/drawing/2014/main" id="{B036CC11-8561-4B52-9B6E-1EB45CE6BA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84400" y="4251325"/>
            <a:ext cx="4763" cy="671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0" name="Line 27">
            <a:extLst>
              <a:ext uri="{FF2B5EF4-FFF2-40B4-BE49-F238E27FC236}">
                <a16:creationId xmlns:a16="http://schemas.microsoft.com/office/drawing/2014/main" id="{D97A4D52-9991-CA25-2D45-058378196E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4225" y="413702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1" name="Line 28">
            <a:extLst>
              <a:ext uri="{FF2B5EF4-FFF2-40B4-BE49-F238E27FC236}">
                <a16:creationId xmlns:a16="http://schemas.microsoft.com/office/drawing/2014/main" id="{F123405C-1688-5D33-3C8A-2183551B8A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7700" y="4013200"/>
            <a:ext cx="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2" name="Line 29">
            <a:extLst>
              <a:ext uri="{FF2B5EF4-FFF2-40B4-BE49-F238E27FC236}">
                <a16:creationId xmlns:a16="http://schemas.microsoft.com/office/drawing/2014/main" id="{BA3D23A4-63F7-EC09-5A42-86A5B0D7B6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1225" y="4251325"/>
            <a:ext cx="2082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3" name="Rectangle 30">
            <a:extLst>
              <a:ext uri="{FF2B5EF4-FFF2-40B4-BE49-F238E27FC236}">
                <a16:creationId xmlns:a16="http://schemas.microsoft.com/office/drawing/2014/main" id="{73C229E3-4E57-3769-1CF8-86083D5CA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4291013"/>
            <a:ext cx="2954337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bIns="82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② GetQueuedCompletionStatus()</a:t>
            </a:r>
          </a:p>
        </p:txBody>
      </p:sp>
      <p:sp>
        <p:nvSpPr>
          <p:cNvPr id="18464" name="Line 31">
            <a:extLst>
              <a:ext uri="{FF2B5EF4-FFF2-40B4-BE49-F238E27FC236}">
                <a16:creationId xmlns:a16="http://schemas.microsoft.com/office/drawing/2014/main" id="{948392B3-42A9-823A-2081-EAB1481D15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9463" y="4138613"/>
            <a:ext cx="22129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5" name="Line 32">
            <a:extLst>
              <a:ext uri="{FF2B5EF4-FFF2-40B4-BE49-F238E27FC236}">
                <a16:creationId xmlns:a16="http://schemas.microsoft.com/office/drawing/2014/main" id="{C4FAC5D9-AD7C-DDF3-8ACE-9ECD27826A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14525" y="4013200"/>
            <a:ext cx="2349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6" name="Line 33">
            <a:extLst>
              <a:ext uri="{FF2B5EF4-FFF2-40B4-BE49-F238E27FC236}">
                <a16:creationId xmlns:a16="http://schemas.microsoft.com/office/drawing/2014/main" id="{68D3B0CB-198A-294D-B17E-C3AF86619F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6000" y="5426075"/>
            <a:ext cx="52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7" name="Line 34">
            <a:extLst>
              <a:ext uri="{FF2B5EF4-FFF2-40B4-BE49-F238E27FC236}">
                <a16:creationId xmlns:a16="http://schemas.microsoft.com/office/drawing/2014/main" id="{098CA730-52CA-3BBE-29A7-0AD2D13813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14413" y="2408238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8" name="Line 35">
            <a:extLst>
              <a:ext uri="{FF2B5EF4-FFF2-40B4-BE49-F238E27FC236}">
                <a16:creationId xmlns:a16="http://schemas.microsoft.com/office/drawing/2014/main" id="{C72BD139-6A48-F4FB-9958-607F7655E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6000" y="2409825"/>
            <a:ext cx="0" cy="3008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69" name="Line 36">
            <a:extLst>
              <a:ext uri="{FF2B5EF4-FFF2-40B4-BE49-F238E27FC236}">
                <a16:creationId xmlns:a16="http://schemas.microsoft.com/office/drawing/2014/main" id="{EB9C17E9-FA3A-6831-781F-83D482AEAD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7888" y="5637213"/>
            <a:ext cx="654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70" name="Line 37">
            <a:extLst>
              <a:ext uri="{FF2B5EF4-FFF2-40B4-BE49-F238E27FC236}">
                <a16:creationId xmlns:a16="http://schemas.microsoft.com/office/drawing/2014/main" id="{8FE0030F-E85B-D7BF-E679-D3D141A8A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475" y="2252663"/>
            <a:ext cx="0" cy="3387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71" name="Line 38">
            <a:extLst>
              <a:ext uri="{FF2B5EF4-FFF2-40B4-BE49-F238E27FC236}">
                <a16:creationId xmlns:a16="http://schemas.microsoft.com/office/drawing/2014/main" id="{FFF1653B-76AE-2455-3FCF-404C413228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9475" y="2239963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472" name="Rectangle 39">
            <a:extLst>
              <a:ext uri="{FF2B5EF4-FFF2-40B4-BE49-F238E27FC236}">
                <a16:creationId xmlns:a16="http://schemas.microsoft.com/office/drawing/2014/main" id="{64E815F0-6D27-7EA6-60E7-FAD523C1B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845175"/>
            <a:ext cx="1970087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    ④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결과 처리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바닥글 개체 틀 3">
            <a:extLst>
              <a:ext uri="{FF2B5EF4-FFF2-40B4-BE49-F238E27FC236}">
                <a16:creationId xmlns:a16="http://schemas.microsoft.com/office/drawing/2014/main" id="{493CB4AD-76F2-30B8-6994-AD7F1A55F1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90DC9C6-3F76-AC31-B500-6308D652C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79C64E6-5687-01FD-9947-8FCEF974D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Completion Port </a:t>
            </a:r>
            <a:r>
              <a:rPr lang="ko-KR" altLang="en-US" dirty="0"/>
              <a:t>모델 동작 원리</a:t>
            </a: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9AA22038-05F2-CDC2-4F73-9D1FC88379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3125" y="2674938"/>
            <a:ext cx="1441450" cy="1173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486CF941-DB7E-0A5D-C450-603B11FA92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70363" y="3178175"/>
            <a:ext cx="2476500" cy="1173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입출력 완료 포트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9CB654A3-57BE-F1B4-AD0C-6D2A0D608B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9788" y="3178175"/>
            <a:ext cx="1392237" cy="1173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윈도우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I/O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927E51AB-3668-266B-CAF4-191DAE8D95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9425" y="3848100"/>
            <a:ext cx="387350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314ABD12-9C7A-99B9-B04D-18E3280EFF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7275" y="3848100"/>
            <a:ext cx="387350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66" name="Rectangle 9">
            <a:extLst>
              <a:ext uri="{FF2B5EF4-FFF2-40B4-BE49-F238E27FC236}">
                <a16:creationId xmlns:a16="http://schemas.microsoft.com/office/drawing/2014/main" id="{9EA84EC1-18C9-3D10-DC9E-AC68A9EBCF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9025" y="1752600"/>
            <a:ext cx="2322513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시작</a:t>
            </a:r>
          </a:p>
        </p:txBody>
      </p:sp>
      <p:sp>
        <p:nvSpPr>
          <p:cNvPr id="19467" name="Rectangle 10">
            <a:extLst>
              <a:ext uri="{FF2B5EF4-FFF2-40B4-BE49-F238E27FC236}">
                <a16:creationId xmlns:a16="http://schemas.microsoft.com/office/drawing/2014/main" id="{D3FFEF89-14A0-1365-D341-817C2C5F8B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8175" y="4351338"/>
            <a:ext cx="2398713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③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완료</a:t>
            </a:r>
          </a:p>
        </p:txBody>
      </p:sp>
      <p:sp>
        <p:nvSpPr>
          <p:cNvPr id="19468" name="Line 11">
            <a:extLst>
              <a:ext uri="{FF2B5EF4-FFF2-40B4-BE49-F238E27FC236}">
                <a16:creationId xmlns:a16="http://schemas.microsoft.com/office/drawing/2014/main" id="{859FB26A-C05E-F6B4-24BC-0477C785BC7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538288" y="2157413"/>
            <a:ext cx="1587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69" name="Line 12">
            <a:extLst>
              <a:ext uri="{FF2B5EF4-FFF2-40B4-BE49-F238E27FC236}">
                <a16:creationId xmlns:a16="http://schemas.microsoft.com/office/drawing/2014/main" id="{011DFD46-B8B8-624F-DF88-A13F39520EA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27175" y="2171700"/>
            <a:ext cx="6435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0" name="Line 13">
            <a:extLst>
              <a:ext uri="{FF2B5EF4-FFF2-40B4-BE49-F238E27FC236}">
                <a16:creationId xmlns:a16="http://schemas.microsoft.com/office/drawing/2014/main" id="{2370D6EB-951F-4FDB-D3CD-E677921A8AA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962900" y="2154238"/>
            <a:ext cx="0" cy="1023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1" name="Line 14">
            <a:extLst>
              <a:ext uri="{FF2B5EF4-FFF2-40B4-BE49-F238E27FC236}">
                <a16:creationId xmlns:a16="http://schemas.microsoft.com/office/drawing/2014/main" id="{1CD1B2B8-FE08-E9A5-F529-DE683D9E9E3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84338" y="2339975"/>
            <a:ext cx="6122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2" name="Line 15">
            <a:extLst>
              <a:ext uri="{FF2B5EF4-FFF2-40B4-BE49-F238E27FC236}">
                <a16:creationId xmlns:a16="http://schemas.microsoft.com/office/drawing/2014/main" id="{20510426-6043-58F6-6757-2D7610C27AB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807325" y="2320925"/>
            <a:ext cx="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3" name="Line 16">
            <a:extLst>
              <a:ext uri="{FF2B5EF4-FFF2-40B4-BE49-F238E27FC236}">
                <a16:creationId xmlns:a16="http://schemas.microsoft.com/office/drawing/2014/main" id="{92EA6219-9441-425F-E1CA-E1DAB24D80B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245100" y="4140200"/>
            <a:ext cx="1946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4" name="Line 17">
            <a:extLst>
              <a:ext uri="{FF2B5EF4-FFF2-40B4-BE49-F238E27FC236}">
                <a16:creationId xmlns:a16="http://schemas.microsoft.com/office/drawing/2014/main" id="{64B8DC28-FA5D-3AAE-DE5D-DBF2E4D2ACC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676775" y="3957638"/>
            <a:ext cx="2505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5" name="Line 18">
            <a:extLst>
              <a:ext uri="{FF2B5EF4-FFF2-40B4-BE49-F238E27FC236}">
                <a16:creationId xmlns:a16="http://schemas.microsoft.com/office/drawing/2014/main" id="{18F3A686-51B8-631D-CD8A-401B42A5D70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481513" y="4279900"/>
            <a:ext cx="4762" cy="109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6" name="Line 19">
            <a:extLst>
              <a:ext uri="{FF2B5EF4-FFF2-40B4-BE49-F238E27FC236}">
                <a16:creationId xmlns:a16="http://schemas.microsoft.com/office/drawing/2014/main" id="{91624BB2-2097-54AC-7F8D-3F5F9F86406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630488" y="5354638"/>
            <a:ext cx="1866900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7" name="Line 20">
            <a:extLst>
              <a:ext uri="{FF2B5EF4-FFF2-40B4-BE49-F238E27FC236}">
                <a16:creationId xmlns:a16="http://schemas.microsoft.com/office/drawing/2014/main" id="{7A600736-CF9E-A9EC-BEED-3A565780A9B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086350" y="4267200"/>
            <a:ext cx="0" cy="1344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8" name="Line 21">
            <a:extLst>
              <a:ext uri="{FF2B5EF4-FFF2-40B4-BE49-F238E27FC236}">
                <a16:creationId xmlns:a16="http://schemas.microsoft.com/office/drawing/2014/main" id="{9FC0A580-3BEE-DB51-5D2F-10542C732F3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622550" y="5608638"/>
            <a:ext cx="24812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79" name="Rectangle 22">
            <a:extLst>
              <a:ext uri="{FF2B5EF4-FFF2-40B4-BE49-F238E27FC236}">
                <a16:creationId xmlns:a16="http://schemas.microsoft.com/office/drawing/2014/main" id="{229E568B-0D41-F10E-2536-806815497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3125" y="4519613"/>
            <a:ext cx="1441450" cy="1173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80" name="Rectangle 23">
            <a:extLst>
              <a:ext uri="{FF2B5EF4-FFF2-40B4-BE49-F238E27FC236}">
                <a16:creationId xmlns:a16="http://schemas.microsoft.com/office/drawing/2014/main" id="{1188A3C2-F8CB-CD85-C26F-5AEC27525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27113" y="4686300"/>
            <a:ext cx="1441450" cy="11731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81" name="Rectangle 24">
            <a:extLst>
              <a:ext uri="{FF2B5EF4-FFF2-40B4-BE49-F238E27FC236}">
                <a16:creationId xmlns:a16="http://schemas.microsoft.com/office/drawing/2014/main" id="{6D0D8228-C44A-0883-4363-27C7C72DBC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2688" y="4854575"/>
            <a:ext cx="1439862" cy="11731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작업자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19482" name="Line 25">
            <a:extLst>
              <a:ext uri="{FF2B5EF4-FFF2-40B4-BE49-F238E27FC236}">
                <a16:creationId xmlns:a16="http://schemas.microsoft.com/office/drawing/2014/main" id="{994CEB0C-7078-C9E1-7573-9ED68D16119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1897063" y="4187825"/>
            <a:ext cx="0" cy="66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3" name="Line 26">
            <a:extLst>
              <a:ext uri="{FF2B5EF4-FFF2-40B4-BE49-F238E27FC236}">
                <a16:creationId xmlns:a16="http://schemas.microsoft.com/office/drawing/2014/main" id="{6B71FA45-11B0-A00D-E946-7E1D68B2232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749425" y="4068763"/>
            <a:ext cx="0" cy="604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4" name="Line 27">
            <a:extLst>
              <a:ext uri="{FF2B5EF4-FFF2-40B4-BE49-F238E27FC236}">
                <a16:creationId xmlns:a16="http://schemas.microsoft.com/office/drawing/2014/main" id="{94CF1E17-A4E1-306C-C79B-BDF93F8F490E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00200" y="3949700"/>
            <a:ext cx="0" cy="569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5" name="Line 28">
            <a:extLst>
              <a:ext uri="{FF2B5EF4-FFF2-40B4-BE49-F238E27FC236}">
                <a16:creationId xmlns:a16="http://schemas.microsoft.com/office/drawing/2014/main" id="{ABE189FA-30C3-687F-9396-C7CB57B60AE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897063" y="4183063"/>
            <a:ext cx="22875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6" name="Rectangle 29">
            <a:extLst>
              <a:ext uri="{FF2B5EF4-FFF2-40B4-BE49-F238E27FC236}">
                <a16:creationId xmlns:a16="http://schemas.microsoft.com/office/drawing/2014/main" id="{B7BB32E6-1558-BEA4-72D5-940D446C13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4550" y="4222750"/>
            <a:ext cx="324961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bIns="82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② GetQueuedCompletionStatus()</a:t>
            </a:r>
          </a:p>
        </p:txBody>
      </p:sp>
      <p:sp>
        <p:nvSpPr>
          <p:cNvPr id="19487" name="Line 30">
            <a:extLst>
              <a:ext uri="{FF2B5EF4-FFF2-40B4-BE49-F238E27FC236}">
                <a16:creationId xmlns:a16="http://schemas.microsoft.com/office/drawing/2014/main" id="{CF01AA45-6B84-F7A6-2791-15597DDB8F2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749425" y="4070350"/>
            <a:ext cx="24304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8" name="Line 31">
            <a:extLst>
              <a:ext uri="{FF2B5EF4-FFF2-40B4-BE49-F238E27FC236}">
                <a16:creationId xmlns:a16="http://schemas.microsoft.com/office/drawing/2014/main" id="{DB217158-2C34-8E3D-C4B2-E8561B8A7D2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01788" y="3944938"/>
            <a:ext cx="25796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489" name="Rectangle 32">
            <a:extLst>
              <a:ext uri="{FF2B5EF4-FFF2-40B4-BE49-F238E27FC236}">
                <a16:creationId xmlns:a16="http://schemas.microsoft.com/office/drawing/2014/main" id="{1FB28581-E66F-7CA0-3A05-245F85A49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5913" y="5776913"/>
            <a:ext cx="2165350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④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결과 처리</a:t>
            </a:r>
          </a:p>
        </p:txBody>
      </p:sp>
      <p:sp>
        <p:nvSpPr>
          <p:cNvPr id="19490" name="Line 33">
            <a:extLst>
              <a:ext uri="{FF2B5EF4-FFF2-40B4-BE49-F238E27FC236}">
                <a16:creationId xmlns:a16="http://schemas.microsoft.com/office/drawing/2014/main" id="{082F482A-DC86-A6C3-6441-CB912F617AF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79575" y="2325688"/>
            <a:ext cx="1588" cy="344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3">
            <a:extLst>
              <a:ext uri="{FF2B5EF4-FFF2-40B4-BE49-F238E27FC236}">
                <a16:creationId xmlns:a16="http://schemas.microsoft.com/office/drawing/2014/main" id="{57E3E264-0C4C-8E44-74B6-22DCF018CD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B48C07D-0916-4953-6E3E-9D569146E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5. IOCP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B4A3456-50CF-1075-2743-D7B406E60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Completion Port </a:t>
            </a:r>
            <a:r>
              <a:rPr lang="ko-KR" altLang="en-US" dirty="0"/>
              <a:t>모델 동작 원리 </a:t>
            </a:r>
          </a:p>
          <a:p>
            <a:pPr eaLnBrk="1" hangingPunct="1"/>
            <a:endParaRPr lang="en-US" altLang="ko-KR" dirty="0"/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724DB82B-DA7F-A410-F21B-6EA5DFC2E9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3125" y="2667000"/>
            <a:ext cx="1441450" cy="1173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BDB71C16-2315-FFE5-AAFE-0267CC64E5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70363" y="3170238"/>
            <a:ext cx="2476500" cy="1173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입출력 완료 포트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0EBB57C6-5AA4-D7C7-9927-A1444B5D14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9788" y="3170238"/>
            <a:ext cx="1392237" cy="11731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윈도우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I/O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시스템</a:t>
            </a:r>
          </a:p>
        </p:txBody>
      </p:sp>
      <p:sp>
        <p:nvSpPr>
          <p:cNvPr id="20488" name="Rectangle 7">
            <a:extLst>
              <a:ext uri="{FF2B5EF4-FFF2-40B4-BE49-F238E27FC236}">
                <a16:creationId xmlns:a16="http://schemas.microsoft.com/office/drawing/2014/main" id="{B2FB6FFD-7E5F-31FF-B4B5-DFFBC731E5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9425" y="3840163"/>
            <a:ext cx="387350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489" name="Rectangle 8">
            <a:extLst>
              <a:ext uri="{FF2B5EF4-FFF2-40B4-BE49-F238E27FC236}">
                <a16:creationId xmlns:a16="http://schemas.microsoft.com/office/drawing/2014/main" id="{5713E9CC-1A0C-0778-A801-B4409826B2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67275" y="3840163"/>
            <a:ext cx="387350" cy="4191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490" name="Rectangle 9">
            <a:extLst>
              <a:ext uri="{FF2B5EF4-FFF2-40B4-BE49-F238E27FC236}">
                <a16:creationId xmlns:a16="http://schemas.microsoft.com/office/drawing/2014/main" id="{8D5048BE-0083-C7B3-62E1-86B72D32CD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33700" y="1744663"/>
            <a:ext cx="232092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시작</a:t>
            </a:r>
          </a:p>
        </p:txBody>
      </p:sp>
      <p:sp>
        <p:nvSpPr>
          <p:cNvPr id="20491" name="Rectangle 10">
            <a:extLst>
              <a:ext uri="{FF2B5EF4-FFF2-40B4-BE49-F238E27FC236}">
                <a16:creationId xmlns:a16="http://schemas.microsoft.com/office/drawing/2014/main" id="{2B016B60-BC7C-8087-9C22-40E510FB92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8175" y="4343400"/>
            <a:ext cx="2398713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③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완료</a:t>
            </a:r>
          </a:p>
        </p:txBody>
      </p:sp>
      <p:sp>
        <p:nvSpPr>
          <p:cNvPr id="20492" name="Line 11">
            <a:extLst>
              <a:ext uri="{FF2B5EF4-FFF2-40B4-BE49-F238E27FC236}">
                <a16:creationId xmlns:a16="http://schemas.microsoft.com/office/drawing/2014/main" id="{1969D8AB-385F-5DD2-E368-71EE788014C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57200" y="2163763"/>
            <a:ext cx="7505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3" name="Line 12">
            <a:extLst>
              <a:ext uri="{FF2B5EF4-FFF2-40B4-BE49-F238E27FC236}">
                <a16:creationId xmlns:a16="http://schemas.microsoft.com/office/drawing/2014/main" id="{7E6BF9C5-0F47-32FF-D1D4-6C2998A13CF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962900" y="2146300"/>
            <a:ext cx="0" cy="1023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4" name="Line 13">
            <a:extLst>
              <a:ext uri="{FF2B5EF4-FFF2-40B4-BE49-F238E27FC236}">
                <a16:creationId xmlns:a16="http://schemas.microsoft.com/office/drawing/2014/main" id="{87BF611C-886B-2F13-DA6A-6548230E2B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2775" y="2332038"/>
            <a:ext cx="7194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5" name="Line 14">
            <a:extLst>
              <a:ext uri="{FF2B5EF4-FFF2-40B4-BE49-F238E27FC236}">
                <a16:creationId xmlns:a16="http://schemas.microsoft.com/office/drawing/2014/main" id="{1CC4CD76-3452-9991-A472-052FE110268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7807325" y="2312988"/>
            <a:ext cx="0" cy="857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6" name="Line 15">
            <a:extLst>
              <a:ext uri="{FF2B5EF4-FFF2-40B4-BE49-F238E27FC236}">
                <a16:creationId xmlns:a16="http://schemas.microsoft.com/office/drawing/2014/main" id="{E8D1D820-B373-4FAF-F97A-D4E05DC61FB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245100" y="4132263"/>
            <a:ext cx="1946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7" name="Line 16">
            <a:extLst>
              <a:ext uri="{FF2B5EF4-FFF2-40B4-BE49-F238E27FC236}">
                <a16:creationId xmlns:a16="http://schemas.microsoft.com/office/drawing/2014/main" id="{D3A72514-DC61-FB83-BB0B-DF32B372E9E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676775" y="3949700"/>
            <a:ext cx="2505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8" name="Line 17">
            <a:extLst>
              <a:ext uri="{FF2B5EF4-FFF2-40B4-BE49-F238E27FC236}">
                <a16:creationId xmlns:a16="http://schemas.microsoft.com/office/drawing/2014/main" id="{26237BC4-F4F0-B9D4-FF23-53FE071417F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086350" y="4259263"/>
            <a:ext cx="0" cy="1344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99" name="Line 18">
            <a:extLst>
              <a:ext uri="{FF2B5EF4-FFF2-40B4-BE49-F238E27FC236}">
                <a16:creationId xmlns:a16="http://schemas.microsoft.com/office/drawing/2014/main" id="{2538BFEE-5AAD-536F-40C6-B6BCD7250CD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622550" y="5600700"/>
            <a:ext cx="24812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0" name="Rectangle 19">
            <a:extLst>
              <a:ext uri="{FF2B5EF4-FFF2-40B4-BE49-F238E27FC236}">
                <a16:creationId xmlns:a16="http://schemas.microsoft.com/office/drawing/2014/main" id="{5F614E67-0F6A-771E-2074-38B117B808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3125" y="4511675"/>
            <a:ext cx="1441450" cy="1173163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501" name="Rectangle 20">
            <a:extLst>
              <a:ext uri="{FF2B5EF4-FFF2-40B4-BE49-F238E27FC236}">
                <a16:creationId xmlns:a16="http://schemas.microsoft.com/office/drawing/2014/main" id="{763C96C8-1074-632B-6CE8-548E3AB324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27113" y="4678363"/>
            <a:ext cx="1441450" cy="1173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502" name="Rectangle 21">
            <a:extLst>
              <a:ext uri="{FF2B5EF4-FFF2-40B4-BE49-F238E27FC236}">
                <a16:creationId xmlns:a16="http://schemas.microsoft.com/office/drawing/2014/main" id="{20F73112-94C2-34A5-7EFE-5FD6B2754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2688" y="4846638"/>
            <a:ext cx="1439862" cy="11731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작업자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스레드</a:t>
            </a:r>
          </a:p>
        </p:txBody>
      </p:sp>
      <p:sp>
        <p:nvSpPr>
          <p:cNvPr id="20503" name="Line 22">
            <a:extLst>
              <a:ext uri="{FF2B5EF4-FFF2-40B4-BE49-F238E27FC236}">
                <a16:creationId xmlns:a16="http://schemas.microsoft.com/office/drawing/2014/main" id="{4B8A6C5D-ECCA-648A-8C05-721D85C29F4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1897063" y="4189413"/>
            <a:ext cx="0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4" name="Line 23">
            <a:extLst>
              <a:ext uri="{FF2B5EF4-FFF2-40B4-BE49-F238E27FC236}">
                <a16:creationId xmlns:a16="http://schemas.microsoft.com/office/drawing/2014/main" id="{0C50D1C4-1285-CEEB-AABC-B3B7F5CF615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749425" y="406082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5" name="Line 24">
            <a:extLst>
              <a:ext uri="{FF2B5EF4-FFF2-40B4-BE49-F238E27FC236}">
                <a16:creationId xmlns:a16="http://schemas.microsoft.com/office/drawing/2014/main" id="{E1758F3C-7603-1519-9590-315286ECD5A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00200" y="3956050"/>
            <a:ext cx="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6" name="Line 25">
            <a:extLst>
              <a:ext uri="{FF2B5EF4-FFF2-40B4-BE49-F238E27FC236}">
                <a16:creationId xmlns:a16="http://schemas.microsoft.com/office/drawing/2014/main" id="{10BE6968-C6D6-3F77-B68D-1265D05396AF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889125" y="4175125"/>
            <a:ext cx="2295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7" name="Rectangle 26">
            <a:extLst>
              <a:ext uri="{FF2B5EF4-FFF2-40B4-BE49-F238E27FC236}">
                <a16:creationId xmlns:a16="http://schemas.microsoft.com/office/drawing/2014/main" id="{B1498F64-42DA-214F-3A23-ADE4FBA09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44550" y="4214813"/>
            <a:ext cx="3249613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bIns="82800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② GetQueuedCompletionStatus()</a:t>
            </a:r>
          </a:p>
        </p:txBody>
      </p:sp>
      <p:sp>
        <p:nvSpPr>
          <p:cNvPr id="20508" name="Line 27">
            <a:extLst>
              <a:ext uri="{FF2B5EF4-FFF2-40B4-BE49-F238E27FC236}">
                <a16:creationId xmlns:a16="http://schemas.microsoft.com/office/drawing/2014/main" id="{1342D156-9182-2575-B2BB-CD21109B942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749425" y="4062413"/>
            <a:ext cx="24304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09" name="Line 28">
            <a:extLst>
              <a:ext uri="{FF2B5EF4-FFF2-40B4-BE49-F238E27FC236}">
                <a16:creationId xmlns:a16="http://schemas.microsoft.com/office/drawing/2014/main" id="{78478F62-F9BC-8DDE-A810-F8394192902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06550" y="3937000"/>
            <a:ext cx="2574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0" name="Rectangle 29">
            <a:extLst>
              <a:ext uri="{FF2B5EF4-FFF2-40B4-BE49-F238E27FC236}">
                <a16:creationId xmlns:a16="http://schemas.microsoft.com/office/drawing/2014/main" id="{1F9AC41D-050E-664F-6DF2-EAF7080B97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5913" y="5768975"/>
            <a:ext cx="2165350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④ </a:t>
            </a:r>
            <a:r>
              <a:rPr lang="ko-KR" altLang="en-US" sz="1800" dirty="0">
                <a:latin typeface="굴림" panose="020B0600000101010101" pitchFamily="50" charset="-127"/>
                <a:ea typeface="굴림" panose="020B0600000101010101" pitchFamily="50" charset="-127"/>
              </a:rPr>
              <a:t>비동기 입출력 결과 처리</a:t>
            </a:r>
          </a:p>
        </p:txBody>
      </p:sp>
      <p:sp>
        <p:nvSpPr>
          <p:cNvPr id="20511" name="Line 30">
            <a:extLst>
              <a:ext uri="{FF2B5EF4-FFF2-40B4-BE49-F238E27FC236}">
                <a16:creationId xmlns:a16="http://schemas.microsoft.com/office/drawing/2014/main" id="{AF9FC43A-971F-3344-A5F0-734AB52E94F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06425" y="5349875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2" name="Line 31">
            <a:extLst>
              <a:ext uri="{FF2B5EF4-FFF2-40B4-BE49-F238E27FC236}">
                <a16:creationId xmlns:a16="http://schemas.microsoft.com/office/drawing/2014/main" id="{1EDA006F-DB44-98C0-B2E1-61B7BF11EC8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6425" y="2316163"/>
            <a:ext cx="0" cy="3051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3" name="Line 32">
            <a:extLst>
              <a:ext uri="{FF2B5EF4-FFF2-40B4-BE49-F238E27FC236}">
                <a16:creationId xmlns:a16="http://schemas.microsoft.com/office/drawing/2014/main" id="{5C8BD4EC-6107-33B5-EA5D-83A5290B08F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55613" y="5561013"/>
            <a:ext cx="730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4" name="Line 33">
            <a:extLst>
              <a:ext uri="{FF2B5EF4-FFF2-40B4-BE49-F238E27FC236}">
                <a16:creationId xmlns:a16="http://schemas.microsoft.com/office/drawing/2014/main" id="{D39B04B0-BA55-B887-DC1F-6F693E812D4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57200" y="2144713"/>
            <a:ext cx="0" cy="3436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5" name="Line 34">
            <a:extLst>
              <a:ext uri="{FF2B5EF4-FFF2-40B4-BE49-F238E27FC236}">
                <a16:creationId xmlns:a16="http://schemas.microsoft.com/office/drawing/2014/main" id="{E00C2CC9-7126-4261-9B8B-33A212DEEA2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479925" y="4267200"/>
            <a:ext cx="0" cy="1101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516" name="Line 35">
            <a:extLst>
              <a:ext uri="{FF2B5EF4-FFF2-40B4-BE49-F238E27FC236}">
                <a16:creationId xmlns:a16="http://schemas.microsoft.com/office/drawing/2014/main" id="{43C4A57B-DF1B-4158-575C-9E107F8C16F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 flipV="1">
            <a:off x="2630488" y="5356225"/>
            <a:ext cx="1863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3">
            <a:extLst>
              <a:ext uri="{FF2B5EF4-FFF2-40B4-BE49-F238E27FC236}">
                <a16:creationId xmlns:a16="http://schemas.microsoft.com/office/drawing/2014/main" id="{ECAEDCB5-7723-9B2C-119F-36DFDD30B4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5EF5126-41E6-B11E-6667-17A563D39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Util - </a:t>
            </a:r>
            <a:r>
              <a:rPr lang="ko-KR" altLang="en-US" sz="2400" dirty="0"/>
              <a:t>원형 큐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D9121B1-202A-BFF4-78ED-629D3B6C41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template&lt;class T&gt;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class TqueCircular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protected: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	T*	m_pBuf;		// </a:t>
            </a:r>
            <a:r>
              <a:rPr lang="ko-KR" altLang="en-US" sz="1800" dirty="0"/>
              <a:t>큐의 버퍼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 dirty="0"/>
              <a:t>	</a:t>
            </a:r>
            <a:r>
              <a:rPr lang="en-US" altLang="ko-KR" sz="1800" dirty="0"/>
              <a:t>int	m_iFront;	// </a:t>
            </a:r>
            <a:r>
              <a:rPr lang="ko-KR" altLang="en-US" sz="1800" dirty="0"/>
              <a:t>시작 위치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 dirty="0"/>
              <a:t>	</a:t>
            </a:r>
            <a:r>
              <a:rPr lang="en-US" altLang="ko-KR" sz="1800" dirty="0"/>
              <a:t>int	m_iRear;		// </a:t>
            </a:r>
            <a:r>
              <a:rPr lang="ko-KR" altLang="en-US" sz="1800" dirty="0"/>
              <a:t>끝 위치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 dirty="0"/>
              <a:t>	</a:t>
            </a:r>
            <a:r>
              <a:rPr lang="en-US" altLang="ko-KR" sz="1800" dirty="0"/>
              <a:t>int	m_iSpace;	// </a:t>
            </a:r>
            <a:r>
              <a:rPr lang="ko-KR" altLang="en-US" sz="1800" dirty="0"/>
              <a:t>남아있는 큐의 버퍼 크기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 dirty="0"/>
              <a:t>	</a:t>
            </a:r>
            <a:r>
              <a:rPr lang="en-US" altLang="ko-KR" sz="1800" dirty="0"/>
              <a:t>int	m_iWidth;	// </a:t>
            </a:r>
            <a:r>
              <a:rPr lang="ko-KR" altLang="en-US" sz="1800" dirty="0"/>
              <a:t>큐의 버퍼 크기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	TqueCircular();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	TqueCircular(int iWidth);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	virtual ~TqueCircular();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	int	Enqueue(T* p);	// </a:t>
            </a:r>
            <a:r>
              <a:rPr lang="ko-KR" altLang="en-US" sz="1800" dirty="0"/>
              <a:t>데이터 추가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800" dirty="0"/>
              <a:t>	</a:t>
            </a:r>
            <a:r>
              <a:rPr lang="en-US" altLang="ko-KR" sz="1800" dirty="0"/>
              <a:t>int	Dequeue(T* p);	// </a:t>
            </a:r>
            <a:r>
              <a:rPr lang="ko-KR" altLang="en-US" sz="1800" dirty="0"/>
              <a:t>데이터 꺼냄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template&lt;class T&gt;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/>
              <a:t>TqueCircular&lt;T&gt;::TqueCircular()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800" dirty="0">
                <a:latin typeface="Times New Roman" panose="02020603050405020304" pitchFamily="18" charset="0"/>
              </a:rPr>
              <a:t>…</a:t>
            </a:r>
            <a:endParaRPr lang="en-US" altLang="ko-KR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3">
            <a:extLst>
              <a:ext uri="{FF2B5EF4-FFF2-40B4-BE49-F238E27FC236}">
                <a16:creationId xmlns:a16="http://schemas.microsoft.com/office/drawing/2014/main" id="{386B57A3-A990-5503-2F77-A0285F67E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202D423-C41C-FCCB-15A1-09DE1FFD8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Util - </a:t>
            </a:r>
            <a:r>
              <a:rPr lang="ko-KR" altLang="en-US" sz="2400" dirty="0"/>
              <a:t>링 버퍼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69520C4-31D0-4510-7156-8841748AC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typedef	unsigned char	BYTE;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class CQueStr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protected: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	BYTE*	m_sBuf;			// </a:t>
            </a:r>
            <a:r>
              <a:rPr lang="ko-KR" altLang="en-US" sz="1400" dirty="0"/>
              <a:t>큐의 버퍼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m_iFront;			// Front </a:t>
            </a:r>
            <a:r>
              <a:rPr lang="ko-KR" altLang="en-US" sz="1400" dirty="0"/>
              <a:t>위치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m_iRear;			// Rear </a:t>
            </a:r>
            <a:r>
              <a:rPr lang="ko-KR" altLang="en-US" sz="1400" dirty="0"/>
              <a:t>위치위치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m_iSpace;			// </a:t>
            </a:r>
            <a:r>
              <a:rPr lang="ko-KR" altLang="en-US" sz="1400" dirty="0"/>
              <a:t>남아 있는 공간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m_iWidth;			// </a:t>
            </a:r>
            <a:r>
              <a:rPr lang="ko-KR" altLang="en-US" sz="1400" dirty="0"/>
              <a:t>큐의 버퍼 크기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ko-KR" altLang="en-US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public: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	CQueStr();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	CQueStr(int iWidth);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	virtual ~CQueStr();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ko-KR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	int	Enqueue(void* sIn,int iSize);	// </a:t>
            </a:r>
            <a:r>
              <a:rPr lang="ko-KR" altLang="en-US" sz="1400" dirty="0"/>
              <a:t>데이터 추가기</a:t>
            </a:r>
            <a:r>
              <a:rPr lang="en-US" altLang="ko-KR" sz="1400" dirty="0"/>
              <a:t>. </a:t>
            </a:r>
            <a:r>
              <a:rPr lang="ko-KR" altLang="en-US" sz="1400" dirty="0"/>
              <a:t>리턴 값은 추가 못한 나머지 사이즈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Dequeue(void*sOut,int* iSize);	// </a:t>
            </a:r>
            <a:r>
              <a:rPr lang="ko-KR" altLang="en-US" sz="1400" dirty="0"/>
              <a:t>데이터 가져오기</a:t>
            </a:r>
            <a:r>
              <a:rPr lang="en-US" altLang="ko-KR" sz="1400" dirty="0"/>
              <a:t>. </a:t>
            </a:r>
            <a:r>
              <a:rPr lang="ko-KR" altLang="en-US" sz="1400" dirty="0"/>
              <a:t>리턴 값은 꺼내온 사이즈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ko-KR" altLang="en-US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	Clear();			// </a:t>
            </a:r>
            <a:r>
              <a:rPr lang="ko-KR" altLang="en-US" sz="1400" dirty="0"/>
              <a:t>큐의 내용을 지움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GetWidth();		// </a:t>
            </a:r>
            <a:r>
              <a:rPr lang="ko-KR" altLang="en-US" sz="1400" dirty="0"/>
              <a:t>큐의 크기를 가져옴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int	GetRemain();		// </a:t>
            </a:r>
            <a:r>
              <a:rPr lang="ko-KR" altLang="en-US" sz="1400" dirty="0"/>
              <a:t>큐의 남아 있는 크기를 가져옴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ko-KR" altLang="en-US" sz="1400" dirty="0"/>
              <a:t>	</a:t>
            </a:r>
            <a:r>
              <a:rPr lang="en-US" altLang="ko-KR" sz="1400" dirty="0"/>
              <a:t>void	Resize(int iSize);		// </a:t>
            </a:r>
            <a:r>
              <a:rPr lang="ko-KR" altLang="en-US" sz="1400" dirty="0"/>
              <a:t>큐의 사이즈를 다시 설정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ko-KR" sz="1400" dirty="0"/>
              <a:t>};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3">
            <a:extLst>
              <a:ext uri="{FF2B5EF4-FFF2-40B4-BE49-F238E27FC236}">
                <a16:creationId xmlns:a16="http://schemas.microsoft.com/office/drawing/2014/main" id="{9FEA2461-F4FE-893E-DCC0-80BAFC9666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000" b="0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게임 프로그래밍 교육과정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F4B505D-968D-9682-C8B8-6DA3A71E7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/>
              <a:t>3. </a:t>
            </a:r>
            <a:r>
              <a:rPr lang="ko-KR" altLang="en-US" sz="2400" dirty="0"/>
              <a:t>네트워크 </a:t>
            </a:r>
            <a:r>
              <a:rPr lang="en-US" altLang="ko-KR" sz="2400" dirty="0"/>
              <a:t>Util - </a:t>
            </a:r>
            <a:r>
              <a:rPr lang="ko-KR" altLang="en-US" sz="2400" dirty="0"/>
              <a:t>패킷 디자인</a:t>
            </a:r>
          </a:p>
        </p:txBody>
      </p:sp>
      <p:grpSp>
        <p:nvGrpSpPr>
          <p:cNvPr id="23556" name="Group 23">
            <a:extLst>
              <a:ext uri="{FF2B5EF4-FFF2-40B4-BE49-F238E27FC236}">
                <a16:creationId xmlns:a16="http://schemas.microsoft.com/office/drawing/2014/main" id="{198B148B-AEDC-B71C-9056-8302F3B8C1B6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341438"/>
            <a:ext cx="3941762" cy="576262"/>
            <a:chOff x="113" y="664"/>
            <a:chExt cx="2483" cy="363"/>
          </a:xfrm>
        </p:grpSpPr>
        <p:sp>
          <p:nvSpPr>
            <p:cNvPr id="23567" name="Rectangle 6">
              <a:extLst>
                <a:ext uri="{FF2B5EF4-FFF2-40B4-BE49-F238E27FC236}">
                  <a16:creationId xmlns:a16="http://schemas.microsoft.com/office/drawing/2014/main" id="{7755F7F5-6077-C5EB-8248-859B6658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664"/>
              <a:ext cx="832" cy="363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길이</a:t>
              </a:r>
              <a:r>
                <a:rPr lang="en-US" altLang="ko-KR" sz="1800" dirty="0"/>
                <a:t>(2Byte)</a:t>
              </a:r>
            </a:p>
          </p:txBody>
        </p:sp>
        <p:sp>
          <p:nvSpPr>
            <p:cNvPr id="23568" name="Rectangle 7">
              <a:extLst>
                <a:ext uri="{FF2B5EF4-FFF2-40B4-BE49-F238E27FC236}">
                  <a16:creationId xmlns:a16="http://schemas.microsoft.com/office/drawing/2014/main" id="{E52BABF4-C8F6-2A67-CF90-ACE816F69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664"/>
              <a:ext cx="1651" cy="363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메시지</a:t>
              </a:r>
            </a:p>
          </p:txBody>
        </p:sp>
      </p:grpSp>
      <p:grpSp>
        <p:nvGrpSpPr>
          <p:cNvPr id="23557" name="Group 24">
            <a:extLst>
              <a:ext uri="{FF2B5EF4-FFF2-40B4-BE49-F238E27FC236}">
                <a16:creationId xmlns:a16="http://schemas.microsoft.com/office/drawing/2014/main" id="{B7AB8139-AE2A-F0DE-9C78-527F98094EA3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429000"/>
            <a:ext cx="6121400" cy="576263"/>
            <a:chOff x="113" y="1253"/>
            <a:chExt cx="3856" cy="363"/>
          </a:xfrm>
        </p:grpSpPr>
        <p:sp>
          <p:nvSpPr>
            <p:cNvPr id="23564" name="Rectangle 11">
              <a:extLst>
                <a:ext uri="{FF2B5EF4-FFF2-40B4-BE49-F238E27FC236}">
                  <a16:creationId xmlns:a16="http://schemas.microsoft.com/office/drawing/2014/main" id="{B26F5744-EA04-DA4A-149B-20666415A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253"/>
              <a:ext cx="832" cy="363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길이</a:t>
              </a:r>
              <a:r>
                <a:rPr lang="en-US" altLang="ko-KR" sz="1800" dirty="0"/>
                <a:t>(2Byte)</a:t>
              </a:r>
            </a:p>
          </p:txBody>
        </p:sp>
        <p:sp>
          <p:nvSpPr>
            <p:cNvPr id="23565" name="Rectangle 12">
              <a:extLst>
                <a:ext uri="{FF2B5EF4-FFF2-40B4-BE49-F238E27FC236}">
                  <a16:creationId xmlns:a16="http://schemas.microsoft.com/office/drawing/2014/main" id="{E4D7AB76-9BAD-52C4-3461-65768DE2C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253"/>
              <a:ext cx="1651" cy="363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메시지</a:t>
              </a:r>
            </a:p>
          </p:txBody>
        </p:sp>
        <p:sp>
          <p:nvSpPr>
            <p:cNvPr id="23566" name="Rectangle 13">
              <a:extLst>
                <a:ext uri="{FF2B5EF4-FFF2-40B4-BE49-F238E27FC236}">
                  <a16:creationId xmlns:a16="http://schemas.microsoft.com/office/drawing/2014/main" id="{7205D774-3571-FFDB-D7B8-84E74292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253"/>
              <a:ext cx="1373" cy="363"/>
            </a:xfrm>
            <a:prstGeom prst="rect">
              <a:avLst/>
            </a:prstGeom>
            <a:solidFill>
              <a:srgbClr val="66FF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종류</a:t>
              </a:r>
              <a:r>
                <a:rPr lang="en-US" altLang="ko-KR" sz="1800" dirty="0"/>
                <a:t>(4Byte)</a:t>
              </a:r>
            </a:p>
          </p:txBody>
        </p:sp>
      </p:grpSp>
      <p:grpSp>
        <p:nvGrpSpPr>
          <p:cNvPr id="23558" name="Group 25">
            <a:extLst>
              <a:ext uri="{FF2B5EF4-FFF2-40B4-BE49-F238E27FC236}">
                <a16:creationId xmlns:a16="http://schemas.microsoft.com/office/drawing/2014/main" id="{11A65198-294B-7FF1-CC58-1C898EC1FFFB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5445125"/>
            <a:ext cx="8301037" cy="576263"/>
            <a:chOff x="113" y="1842"/>
            <a:chExt cx="5229" cy="363"/>
          </a:xfrm>
        </p:grpSpPr>
        <p:sp>
          <p:nvSpPr>
            <p:cNvPr id="23560" name="Rectangle 19">
              <a:extLst>
                <a:ext uri="{FF2B5EF4-FFF2-40B4-BE49-F238E27FC236}">
                  <a16:creationId xmlns:a16="http://schemas.microsoft.com/office/drawing/2014/main" id="{63CF0C36-4B83-2975-0414-91B3A6949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842"/>
              <a:ext cx="832" cy="363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길이</a:t>
              </a:r>
              <a:r>
                <a:rPr lang="en-US" altLang="ko-KR" sz="1800" dirty="0"/>
                <a:t>(2Byte)</a:t>
              </a:r>
            </a:p>
          </p:txBody>
        </p:sp>
        <p:sp>
          <p:nvSpPr>
            <p:cNvPr id="23561" name="Rectangle 20">
              <a:extLst>
                <a:ext uri="{FF2B5EF4-FFF2-40B4-BE49-F238E27FC236}">
                  <a16:creationId xmlns:a16="http://schemas.microsoft.com/office/drawing/2014/main" id="{11FC80E7-072F-3319-93B5-9DC340C3F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842"/>
              <a:ext cx="1651" cy="363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메시지</a:t>
              </a:r>
            </a:p>
          </p:txBody>
        </p:sp>
        <p:sp>
          <p:nvSpPr>
            <p:cNvPr id="23562" name="Rectangle 21">
              <a:extLst>
                <a:ext uri="{FF2B5EF4-FFF2-40B4-BE49-F238E27FC236}">
                  <a16:creationId xmlns:a16="http://schemas.microsoft.com/office/drawing/2014/main" id="{DFEEA92F-9611-A099-CA0F-9793A2115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842"/>
              <a:ext cx="1373" cy="363"/>
            </a:xfrm>
            <a:prstGeom prst="rect">
              <a:avLst/>
            </a:prstGeom>
            <a:solidFill>
              <a:srgbClr val="66FF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 dirty="0"/>
                <a:t>종류</a:t>
              </a:r>
              <a:r>
                <a:rPr lang="en-US" altLang="ko-KR" sz="1800" dirty="0"/>
                <a:t>(4Byte)</a:t>
              </a:r>
            </a:p>
          </p:txBody>
        </p:sp>
        <p:sp>
          <p:nvSpPr>
            <p:cNvPr id="23563" name="Rectangle 22">
              <a:extLst>
                <a:ext uri="{FF2B5EF4-FFF2-40B4-BE49-F238E27FC236}">
                  <a16:creationId xmlns:a16="http://schemas.microsoft.com/office/drawing/2014/main" id="{7A76B8B5-76E4-0E31-36A5-B926741FA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842"/>
              <a:ext cx="1373" cy="363"/>
            </a:xfrm>
            <a:prstGeom prst="rect">
              <a:avLst/>
            </a:prstGeom>
            <a:solidFill>
              <a:srgbClr val="FF99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  <a:defRPr kumimoji="1" sz="28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rgbClr val="CC00CC"/>
                </a:buClr>
                <a:buSzPct val="80000"/>
                <a:buFont typeface="Wingdings" panose="05000000000000000000" pitchFamily="2" charset="2"/>
                <a:buChar char="u"/>
                <a:defRPr kumimoji="1" sz="24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l"/>
                <a:defRPr kumimoji="1" sz="20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rgbClr val="0000FF"/>
                </a:buClr>
                <a:buSzPct val="140000"/>
                <a:buFont typeface="Wingdings" panose="05000000000000000000" pitchFamily="2" charset="2"/>
                <a:buChar char="§"/>
                <a:defRPr kumimoji="1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Pct val="90000"/>
                <a:buFont typeface="Wingdings" panose="05000000000000000000" pitchFamily="2" charset="2"/>
                <a:buChar char="v"/>
                <a:defRPr kumimoji="1" sz="1600" b="1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 dirty="0"/>
                <a:t>End Marker(4Byte)</a:t>
              </a:r>
            </a:p>
          </p:txBody>
        </p:sp>
      </p:grpSp>
      <p:sp>
        <p:nvSpPr>
          <p:cNvPr id="23559" name="Rectangle 26">
            <a:extLst>
              <a:ext uri="{FF2B5EF4-FFF2-40B4-BE49-F238E27FC236}">
                <a16:creationId xmlns:a16="http://schemas.microsoft.com/office/drawing/2014/main" id="{BAF28182-FED0-3DE6-E421-DD8DFFCC07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ko-KR" altLang="en-US" dirty="0"/>
              <a:t>단순 패킷 구조</a:t>
            </a:r>
          </a:p>
          <a:p>
            <a:pPr eaLnBrk="1" hangingPunct="1"/>
            <a:endParaRPr lang="ko-KR" altLang="en-US" dirty="0"/>
          </a:p>
          <a:p>
            <a:pPr eaLnBrk="1" hangingPunct="1"/>
            <a:endParaRPr lang="ko-KR" altLang="en-US" dirty="0"/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ko-KR" altLang="en-US" dirty="0"/>
              <a:t>패킷 종류가 들어간 구조</a:t>
            </a:r>
          </a:p>
          <a:p>
            <a:pPr eaLnBrk="1" hangingPunct="1"/>
            <a:endParaRPr lang="ko-KR" altLang="en-US" dirty="0"/>
          </a:p>
          <a:p>
            <a:pPr eaLnBrk="1" hangingPunct="1"/>
            <a:endParaRPr lang="ko-KR" altLang="en-US" dirty="0"/>
          </a:p>
          <a:p>
            <a:pPr eaLnBrk="1" hangingPunct="1"/>
            <a:endParaRPr lang="ko-KR" altLang="en-US" dirty="0"/>
          </a:p>
          <a:p>
            <a:pPr eaLnBrk="1" hangingPunct="1"/>
            <a:r>
              <a:rPr lang="en-US" altLang="ko-KR" dirty="0"/>
              <a:t>End Marker</a:t>
            </a:r>
            <a:r>
              <a:rPr lang="ko-KR" altLang="en-US" dirty="0"/>
              <a:t>가 들어간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3811</TotalTime>
  <Words>3818</Words>
  <Application>Microsoft Office PowerPoint</Application>
  <PresentationFormat>화면 슬라이드 쇼(4:3)</PresentationFormat>
  <Paragraphs>688</Paragraphs>
  <Slides>40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D2Coding</vt:lpstr>
      <vt:lpstr>Arial Black</vt:lpstr>
      <vt:lpstr>나눔바른고딕</vt:lpstr>
      <vt:lpstr>가을체</vt:lpstr>
      <vt:lpstr>Times New Roman</vt:lpstr>
      <vt:lpstr>Wingdings</vt:lpstr>
      <vt:lpstr>HY견고딕</vt:lpstr>
      <vt:lpstr>굴림</vt:lpstr>
      <vt:lpstr>Arial</vt:lpstr>
      <vt:lpstr>Bitstream Vera Sans Mono</vt:lpstr>
      <vt:lpstr>기본 디자인</vt:lpstr>
      <vt:lpstr>Network Programming - 04  afewhee@gmail.com</vt:lpstr>
      <vt:lpstr>0. 목차</vt:lpstr>
      <vt:lpstr>1. I/O 모델: 동기식-비동기식</vt:lpstr>
      <vt:lpstr>1. I/O 모델: 동기식-비동기식</vt:lpstr>
      <vt:lpstr>1. I/O 모델: 동기식-비동기식</vt:lpstr>
      <vt:lpstr>1. I/O 모델: 블로킹/넌-블로킹, 동기식/비동기식</vt:lpstr>
      <vt:lpstr>1. I/O 모델 - Overlapped I/O</vt:lpstr>
      <vt:lpstr>1. I/O 모델 - Overlapped I/O 모델 분류</vt:lpstr>
      <vt:lpstr>2.1 Overlapped I/O</vt:lpstr>
      <vt:lpstr>2.2 Overlapped I/O - 주의 사항</vt:lpstr>
      <vt:lpstr>2.3 Overlapped I/O – 이벤트 방식 File Read 준비물</vt:lpstr>
      <vt:lpstr>3.1 Overlapped I/O – 이벤트 방식 File Read</vt:lpstr>
      <vt:lpstr>3.2 Overlapped I/O – 이벤트 방식 I/O</vt:lpstr>
      <vt:lpstr>3.3 Overlapped I/O –소켓</vt:lpstr>
      <vt:lpstr>3.4 Overlapped I/O</vt:lpstr>
      <vt:lpstr>3.5 Overlapped I/O – OVERLAP_EX</vt:lpstr>
      <vt:lpstr>3.6 Overlapped I/O – 이벤트 방식 I/O 처리</vt:lpstr>
      <vt:lpstr>3.7 Overlapped I/O – 이벤트 방식 Write/Read File</vt:lpstr>
      <vt:lpstr>3.8 Overlapped I/O – 이벤트 방식</vt:lpstr>
      <vt:lpstr>4.1 Overlapped I/O – 완료 루틴 File Read</vt:lpstr>
      <vt:lpstr>4.2 Overlapped I/O – 완료 루틴 File Read Callback</vt:lpstr>
      <vt:lpstr>4.3 Overlapped I/O – 완료 루틴 I/O</vt:lpstr>
      <vt:lpstr>PowerPoint 프레젠테이션</vt:lpstr>
      <vt:lpstr>5. IOCP - File Read</vt:lpstr>
      <vt:lpstr>5. IOCP - File Read</vt:lpstr>
      <vt:lpstr>PowerPoint 프레젠테이션</vt:lpstr>
      <vt:lpstr>5. IOCP - 소켓 입출력 절차1</vt:lpstr>
      <vt:lpstr>5. IOCP - 소켓 입출력 절차2</vt:lpstr>
      <vt:lpstr>5. IOCP - 주요함수</vt:lpstr>
      <vt:lpstr>5. IOCP - 주요함수</vt:lpstr>
      <vt:lpstr>5. IOCP - 주요함수</vt:lpstr>
      <vt:lpstr>5. IOCP - 주요함수</vt:lpstr>
      <vt:lpstr>5. IOCP - 주요함수</vt:lpstr>
      <vt:lpstr>5. IOCP</vt:lpstr>
      <vt:lpstr>5. IOCP</vt:lpstr>
      <vt:lpstr>5. IOCP</vt:lpstr>
      <vt:lpstr>5. IOCP</vt:lpstr>
      <vt:lpstr>3. 네트워크 Util - 원형 큐</vt:lpstr>
      <vt:lpstr>3. 네트워크 Util - 링 버퍼</vt:lpstr>
      <vt:lpstr>3. 네트워크 Util - 패킷 디자인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KOREAIT</cp:lastModifiedBy>
  <cp:revision>208</cp:revision>
  <cp:lastPrinted>2026-04-12T09:26:12Z</cp:lastPrinted>
  <dcterms:created xsi:type="dcterms:W3CDTF">2003-11-30T16:03:20Z</dcterms:created>
  <dcterms:modified xsi:type="dcterms:W3CDTF">2026-04-29T02:37:01Z</dcterms:modified>
</cp:coreProperties>
</file>