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71" r:id="rId15"/>
    <p:sldId id="269" r:id="rId16"/>
    <p:sldId id="270" r:id="rId17"/>
    <p:sldId id="272" r:id="rId18"/>
    <p:sldId id="273" r:id="rId19"/>
    <p:sldId id="293" r:id="rId20"/>
    <p:sldId id="274" r:id="rId21"/>
    <p:sldId id="275" r:id="rId22"/>
    <p:sldId id="276" r:id="rId23"/>
    <p:sldId id="294" r:id="rId24"/>
    <p:sldId id="277" r:id="rId25"/>
    <p:sldId id="278" r:id="rId26"/>
    <p:sldId id="295" r:id="rId27"/>
    <p:sldId id="279" r:id="rId28"/>
    <p:sldId id="296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x="9144000" cy="6858000" type="screen4x3"/>
  <p:notesSz cx="6858000" cy="9144000"/>
  <p:embeddedFontLst>
    <p:embeddedFont>
      <p:font typeface="Consolas" panose="020B0609020204030204" pitchFamily="49" charset="0"/>
      <p:regular r:id="rId43"/>
      <p:bold r:id="rId44"/>
      <p:italic r:id="rId45"/>
      <p:boldItalic r:id="rId46"/>
    </p:embeddedFont>
    <p:embeddedFont>
      <p:font typeface="D2Coding" panose="020B0609020101020101" pitchFamily="49" charset="-127"/>
      <p:regular r:id="rId47"/>
      <p:bold r:id="rId48"/>
    </p:embeddedFont>
    <p:embeddedFont>
      <p:font typeface="HY견고딕" panose="02030600000101010101" pitchFamily="18" charset="-127"/>
      <p:regular r:id="rId49"/>
    </p:embeddedFont>
    <p:embeddedFont>
      <p:font typeface="가을체" panose="02030600000101010101" pitchFamily="18" charset="-127"/>
      <p:regular r:id="rId50"/>
    </p:embeddedFont>
    <p:embeddedFont>
      <p:font typeface="나눔바른고딕" panose="020B0603020101020101" pitchFamily="50" charset="-127"/>
      <p:regular r:id="rId51"/>
      <p:bold r:id="rId52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orient="horz" pos="1026">
          <p15:clr>
            <a:srgbClr val="A4A3A4"/>
          </p15:clr>
        </p15:guide>
        <p15:guide id="4" pos="930">
          <p15:clr>
            <a:srgbClr val="A4A3A4"/>
          </p15:clr>
        </p15:guide>
        <p15:guide id="5" pos="476">
          <p15:clr>
            <a:srgbClr val="A4A3A4"/>
          </p15:clr>
        </p15:guide>
        <p15:guide id="6" pos="2880">
          <p15:clr>
            <a:srgbClr val="A4A3A4"/>
          </p15:clr>
        </p15:guide>
        <p15:guide id="7" pos="4105">
          <p15:clr>
            <a:srgbClr val="A4A3A4"/>
          </p15:clr>
        </p15:guide>
        <p15:guide id="8" pos="1519">
          <p15:clr>
            <a:srgbClr val="A4A3A4"/>
          </p15:clr>
        </p15:guide>
        <p15:guide id="9" pos="703">
          <p15:clr>
            <a:srgbClr val="A4A3A4"/>
          </p15:clr>
        </p15:guide>
        <p15:guide id="10" pos="1927">
          <p15:clr>
            <a:srgbClr val="A4A3A4"/>
          </p15:clr>
        </p15:guide>
        <p15:guide id="11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FF"/>
    <a:srgbClr val="216F85"/>
    <a:srgbClr val="FFFFCC"/>
    <a:srgbClr val="CCFFFF"/>
    <a:srgbClr val="FFFF99"/>
    <a:srgbClr val="FF9900"/>
    <a:srgbClr val="66FF33"/>
    <a:srgbClr val="FF33CC"/>
    <a:srgbClr val="0033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09" autoAdjust="0"/>
    <p:restoredTop sz="94603" autoAdjust="0"/>
  </p:normalViewPr>
  <p:slideViewPr>
    <p:cSldViewPr>
      <p:cViewPr varScale="1">
        <p:scale>
          <a:sx n="120" d="100"/>
          <a:sy n="120" d="100"/>
        </p:scale>
        <p:origin x="1836" y="90"/>
      </p:cViewPr>
      <p:guideLst>
        <p:guide orient="horz" pos="663"/>
        <p:guide orient="horz" pos="890"/>
        <p:guide orient="horz" pos="1026"/>
        <p:guide pos="930"/>
        <p:guide pos="476"/>
        <p:guide pos="2880"/>
        <p:guide pos="4105"/>
        <p:guide pos="1519"/>
        <p:guide pos="703"/>
        <p:guide pos="1927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52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9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17C9091-ADC4-FDA3-B459-1EF515A7536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04D34714-BD5B-35DF-1B0A-E39894A5BDA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B9419A26-ACD3-28AA-730B-2063CEF7FC8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5A9364B-5D8F-7FFD-A8E8-5C94F5FE1C5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F7D65D0C-439F-6EB4-1697-3C4EDDEB285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F3CB6E4E-E5BA-8A92-6B03-DEA0C63F93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panose="020B0600000101010101" pitchFamily="50" charset="-127"/>
              </a:defRPr>
            </a:lvl1pPr>
          </a:lstStyle>
          <a:p>
            <a:pPr>
              <a:defRPr/>
            </a:pPr>
            <a:fld id="{B63426EC-C727-4356-BE1D-89EA6482A4D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8A6E089D-51B3-1008-8E5F-A2A2967AF97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886926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3528" y="692150"/>
            <a:ext cx="8496622" cy="5832475"/>
          </a:xfrm>
        </p:spPr>
        <p:txBody>
          <a:bodyPr/>
          <a:lstStyle>
            <a:lvl1pPr>
              <a:buSzPct val="80000"/>
              <a:defRPr b="1"/>
            </a:lvl1pPr>
            <a:lvl2pPr>
              <a:buSzPct val="60000"/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132476F5-63FD-E041-03BB-529A4A243A5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542844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2716DD9D-7D8E-463B-BDC1-E7D661CE649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885331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C5BF3736-A910-E62D-8C71-E5249B9F0E3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260722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AE37FD7F-1505-B5E4-5D66-FB28C2E98CC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356503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3992DBC9-FF3D-BEE5-FD76-9B190A3982A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545072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508BDD95-193F-6A40-75EC-B1142D56DDC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335815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699C211-28B1-15E0-439F-3D6F1338CCC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417865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B9867AF6-0D43-E640-1856-B9ACD7A1B2E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379163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657AAF14-E05D-0BC6-7FB9-E12438DE921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84021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50050" y="44450"/>
            <a:ext cx="2070100" cy="64801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9750" y="44450"/>
            <a:ext cx="6057900" cy="64801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11167EA5-26EA-4136-CFE6-14E5213F443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78812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9CBEB53-BAEA-F728-66FF-517E406E7A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C14F852-7B83-40D8-1B99-553BEAADCD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692150"/>
            <a:ext cx="8280400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318C0C56-9E17-B874-3532-6CEBABDCAC5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821238" y="6597650"/>
            <a:ext cx="3927475" cy="2603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00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714DBB7D-F13F-F7DE-5988-EC23965FCA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11950" y="44450"/>
            <a:ext cx="2397125" cy="4048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900" b="1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Heesung Oh</a:t>
            </a:r>
            <a:endParaRPr lang="en-US" altLang="ko-KR" sz="900" dirty="0">
              <a:solidFill>
                <a:schemeClr val="bg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r" eaLnBrk="1" hangingPunct="1">
              <a:defRPr/>
            </a:pPr>
            <a:r>
              <a:rPr lang="en-US" altLang="ko-KR" sz="800" dirty="0">
                <a:solidFill>
                  <a:schemeClr val="bg2"/>
                </a:solidFill>
                <a:latin typeface="굴림" panose="020B0600000101010101" pitchFamily="50" charset="-127"/>
              </a:rPr>
              <a:t>Copyright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 kern="1200">
          <a:solidFill>
            <a:schemeClr val="bg1"/>
          </a:solidFill>
          <a:latin typeface="나눔바른고딕" panose="020B0603020101020101" pitchFamily="50" charset="-127"/>
          <a:ea typeface="나눔바른고딕" panose="020B0603020101020101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나눔바른고딕" panose="020B0603020101020101" pitchFamily="50" charset="-127"/>
          <a:ea typeface="나눔바른고딕" panose="020B0603020101020101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CC00CC"/>
        </a:buClr>
        <a:buSzPct val="80000"/>
        <a:buFont typeface="Wingdings" panose="05000000000000000000" pitchFamily="2" charset="2"/>
        <a:buChar char="u"/>
        <a:defRPr kumimoji="1" sz="2400" b="1" kern="1200">
          <a:solidFill>
            <a:schemeClr val="tx1"/>
          </a:solidFill>
          <a:latin typeface="나눔바른고딕" panose="020B0603020101020101" pitchFamily="50" charset="-127"/>
          <a:ea typeface="나눔바른고딕" panose="020B0603020101020101" pitchFamily="50" charset="-127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나눔바른고딕" panose="020B0603020101020101" pitchFamily="50" charset="-127"/>
          <a:ea typeface="나눔바른고딕" panose="020B0603020101020101" pitchFamily="50" charset="-127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140000"/>
        <a:buFont typeface="Wingdings" panose="05000000000000000000" pitchFamily="2" charset="2"/>
        <a:buChar char="§"/>
        <a:defRPr kumimoji="1" b="1" kern="1200">
          <a:solidFill>
            <a:schemeClr val="tx1"/>
          </a:solidFill>
          <a:latin typeface="나눔바른고딕" panose="020B0603020101020101" pitchFamily="50" charset="-127"/>
          <a:ea typeface="나눔바른고딕" panose="020B0603020101020101" pitchFamily="50" charset="-127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anose="05000000000000000000" pitchFamily="2" charset="2"/>
        <a:buChar char="v"/>
        <a:defRPr kumimoji="1" sz="1600" b="1" kern="1200">
          <a:solidFill>
            <a:schemeClr val="tx1"/>
          </a:solidFill>
          <a:latin typeface="나눔바른고딕" panose="020B0603020101020101" pitchFamily="50" charset="-127"/>
          <a:ea typeface="나눔바른고딕" panose="020B0603020101020101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file:///\\.\pipe\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바닥글 개체 틀 3">
            <a:extLst>
              <a:ext uri="{FF2B5EF4-FFF2-40B4-BE49-F238E27FC236}">
                <a16:creationId xmlns:a16="http://schemas.microsoft.com/office/drawing/2014/main" id="{697B0879-33D9-7151-84A7-458E84169F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C523DA16-44D6-123E-18D8-C897F457583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708275"/>
            <a:ext cx="7772400" cy="1143000"/>
          </a:xfrm>
        </p:spPr>
        <p:txBody>
          <a:bodyPr anchor="ctr"/>
          <a:lstStyle/>
          <a:p>
            <a:pPr eaLnBrk="1" hangingPunct="1"/>
            <a:r>
              <a:rPr lang="en-US" altLang="ko-KR" sz="3200" dirty="0">
                <a:solidFill>
                  <a:schemeClr val="tx1"/>
                </a:solidFill>
              </a:rPr>
              <a:t>Network Programming - 05</a:t>
            </a:r>
            <a:br>
              <a:rPr lang="en-US" altLang="ko-KR" sz="3200" dirty="0">
                <a:solidFill>
                  <a:schemeClr val="tx1"/>
                </a:solidFill>
              </a:rPr>
            </a:br>
            <a:r>
              <a:rPr lang="en-US" altLang="ko-KR" sz="32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afewhee@gmail.com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8B91CE-68E4-0DE6-CAC9-7923FA259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Pipe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C7F149-4241-859E-4243-FD6B4A4444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Pipe</a:t>
            </a:r>
            <a:endParaRPr lang="ko-KR" altLang="en-US" dirty="0"/>
          </a:p>
          <a:p>
            <a:pPr lvl="1"/>
            <a:r>
              <a:rPr lang="ko-KR" altLang="en-US" dirty="0"/>
              <a:t>프로세스 간 데이터 통로</a:t>
            </a:r>
          </a:p>
          <a:p>
            <a:pPr lvl="1"/>
            <a:r>
              <a:rPr lang="ko-KR" altLang="en-US" dirty="0"/>
              <a:t>한쪽 </a:t>
            </a:r>
            <a:r>
              <a:rPr lang="en-US" altLang="ko-KR" dirty="0"/>
              <a:t>Write</a:t>
            </a:r>
            <a:endParaRPr lang="ko-KR" altLang="en-US" dirty="0"/>
          </a:p>
          <a:p>
            <a:pPr lvl="1"/>
            <a:r>
              <a:rPr lang="ko-KR" altLang="en-US" dirty="0"/>
              <a:t>다른 쪽 </a:t>
            </a:r>
            <a:r>
              <a:rPr lang="en-US" altLang="ko-KR" dirty="0"/>
              <a:t>Read</a:t>
            </a:r>
            <a:endParaRPr lang="ko-KR" altLang="en-US" dirty="0"/>
          </a:p>
          <a:p>
            <a:r>
              <a:rPr lang="en-US" altLang="ko-KR" dirty="0"/>
              <a:t>IPC</a:t>
            </a:r>
            <a:endParaRPr lang="ko-KR" altLang="en-US" dirty="0"/>
          </a:p>
          <a:p>
            <a:pPr lvl="1"/>
            <a:r>
              <a:rPr lang="en-US" altLang="ko-KR" dirty="0"/>
              <a:t>Inter-Process Communication</a:t>
            </a:r>
            <a:endParaRPr lang="ko-KR" altLang="en-US" dirty="0"/>
          </a:p>
          <a:p>
            <a:pPr lvl="1"/>
            <a:r>
              <a:rPr lang="ko-KR" altLang="en-US" dirty="0"/>
              <a:t>프로세스 간 통신</a:t>
            </a:r>
          </a:p>
          <a:p>
            <a:r>
              <a:rPr lang="en-US" altLang="ko-KR" dirty="0"/>
              <a:t>Named Pipe</a:t>
            </a:r>
            <a:endParaRPr lang="ko-KR" altLang="en-US" dirty="0"/>
          </a:p>
          <a:p>
            <a:pPr lvl="1"/>
            <a:r>
              <a:rPr lang="ko-KR" altLang="en-US" dirty="0"/>
              <a:t>이름 있는 </a:t>
            </a:r>
            <a:r>
              <a:rPr lang="en-US" altLang="ko-KR" dirty="0"/>
              <a:t>Pipe</a:t>
            </a:r>
            <a:endParaRPr lang="ko-KR" altLang="en-US" dirty="0"/>
          </a:p>
          <a:p>
            <a:pPr lvl="1"/>
            <a:r>
              <a:rPr lang="ko-KR" altLang="en-US" dirty="0"/>
              <a:t>같은 </a:t>
            </a:r>
            <a:r>
              <a:rPr lang="en-US" altLang="ko-KR" dirty="0"/>
              <a:t>PC </a:t>
            </a:r>
            <a:r>
              <a:rPr lang="ko-KR" altLang="en-US" dirty="0"/>
              <a:t>내부 프로세스 통신</a:t>
            </a:r>
          </a:p>
          <a:p>
            <a:pPr lvl="1"/>
            <a:r>
              <a:rPr lang="ko-KR" altLang="en-US" dirty="0"/>
              <a:t>네트워크 경로 형식 사용 가능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FCE8ABC-29EF-0E8B-1EF2-C5F8C8F190D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169089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2EACC-BAC4-DCCD-1137-3535333F5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FE120F-B8B2-4C55-CAA0-3FB6C6C71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1.1 Pipe </a:t>
            </a:r>
            <a:r>
              <a:rPr lang="ko-KR" altLang="en-US" dirty="0"/>
              <a:t>구성 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E3C5FF-B350-5196-8C64-C410F7036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서버 프로세스 클라이언트 프로세스 파이프 이름 기준 연결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986B481-0791-76FD-FF8D-575F725C48B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917592-E657-5B10-776D-FAD17045000C}"/>
              </a:ext>
            </a:extLst>
          </p:cNvPr>
          <p:cNvSpPr txBox="1"/>
          <p:nvPr/>
        </p:nvSpPr>
        <p:spPr>
          <a:xfrm>
            <a:off x="611399" y="1556792"/>
            <a:ext cx="7920880" cy="341632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[Client Process]                 [Server Process]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b="1" i="0" u="none" strike="noStrike" dirty="0">
                <a:solidFill>
                  <a:srgbClr val="0070C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CreateFile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                       </a:t>
            </a:r>
            <a:r>
              <a:rPr lang="en-US" altLang="ko-KR" b="1" i="0" u="none" strike="noStrike" dirty="0">
                <a:solidFill>
                  <a:srgbClr val="0070C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CreateNamedPipe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|                                    |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|                                    </a:t>
            </a:r>
            <a:r>
              <a:rPr lang="ko-KR" altLang="en-US" b="1" dirty="0">
                <a:solidFill>
                  <a:srgbClr val="383A42"/>
                </a:solidFill>
                <a:latin typeface="Consolas" panose="020B0609020204030204" pitchFamily="49" charset="0"/>
              </a:rPr>
              <a:t>↓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+---- </a:t>
            </a:r>
            <a:r>
              <a:rPr lang="en-US" altLang="ko-KR" b="1" i="0" u="none" strike="noStrike" dirty="0">
                <a:solidFill>
                  <a:srgbClr val="C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\\.\pipe\mynamedpipe 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---→ Named Pipe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                               |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                               </a:t>
            </a:r>
            <a:r>
              <a:rPr lang="ko-KR" altLang="en-US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↓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                        ConnectNamedPipe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3248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6FD8A-A4B6-3866-27F5-969A76F91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59F4A7-E8E1-3278-AC06-C5CFFA8C3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1.2 Pipe vs Socket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E2A5D5-8CD3-D391-4017-164707D44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Pipe</a:t>
            </a:r>
            <a:r>
              <a:rPr lang="ko-KR" altLang="en-US" sz="2400" dirty="0"/>
              <a:t> 소켓 비교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453CAF8-EB2A-D74C-9FE1-EE4AE2C85D5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4C7F3F5-61D2-1663-4380-2E506E88E9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7223606"/>
              </p:ext>
            </p:extLst>
          </p:nvPr>
        </p:nvGraphicFramePr>
        <p:xfrm>
          <a:off x="395536" y="1279024"/>
          <a:ext cx="8424614" cy="4445365"/>
        </p:xfrm>
        <a:graphic>
          <a:graphicData uri="http://schemas.openxmlformats.org/drawingml/2006/table">
            <a:tbl>
              <a:tblPr/>
              <a:tblGrid>
                <a:gridCol w="837215">
                  <a:extLst>
                    <a:ext uri="{9D8B030D-6E8A-4147-A177-3AD203B41FA5}">
                      <a16:colId xmlns:a16="http://schemas.microsoft.com/office/drawing/2014/main" val="1940898560"/>
                    </a:ext>
                  </a:extLst>
                </a:gridCol>
                <a:gridCol w="3627281">
                  <a:extLst>
                    <a:ext uri="{9D8B030D-6E8A-4147-A177-3AD203B41FA5}">
                      <a16:colId xmlns:a16="http://schemas.microsoft.com/office/drawing/2014/main" val="3296910788"/>
                    </a:ext>
                  </a:extLst>
                </a:gridCol>
                <a:gridCol w="3960118">
                  <a:extLst>
                    <a:ext uri="{9D8B030D-6E8A-4147-A177-3AD203B41FA5}">
                      <a16:colId xmlns:a16="http://schemas.microsoft.com/office/drawing/2014/main" val="2470610900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구분</a:t>
                      </a:r>
                      <a:endParaRPr lang="ko-KR" altLang="en-US" sz="24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파이프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Pipe)</a:t>
                      </a:r>
                      <a:endParaRPr lang="en-US" sz="24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소켓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Socket)</a:t>
                      </a:r>
                      <a:endParaRPr lang="en-US" sz="2400" b="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1779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통신 범위</a:t>
                      </a:r>
                      <a:endParaRPr lang="ko-KR" altLang="en-US" sz="2400" b="0" dirty="0">
                        <a:effectLst/>
                      </a:endParaRPr>
                    </a:p>
                  </a:txBody>
                  <a:tcPr marL="72000" marR="35992" marT="180000" marB="180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동일 호스트 내부 중심</a:t>
                      </a:r>
                      <a:b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Windows Named Pipe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는 원격 통신 일부 지원</a:t>
                      </a:r>
                      <a:endParaRPr lang="ko-KR" altLang="en-US" sz="2400" b="1" dirty="0">
                        <a:effectLst/>
                      </a:endParaRPr>
                    </a:p>
                  </a:txBody>
                  <a:tcPr marL="72000" marR="35992" marT="180000" marB="180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로컬 및 원격 네트워크</a:t>
                      </a:r>
                      <a:endParaRPr lang="ko-KR" altLang="en-US" sz="2400" b="1" dirty="0">
                        <a:effectLst/>
                      </a:endParaRPr>
                    </a:p>
                  </a:txBody>
                  <a:tcPr marL="72000" marR="35992" marT="180000" marB="180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7954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통신 방향</a:t>
                      </a:r>
                      <a:endParaRPr lang="ko-KR" altLang="en-US" sz="2400" b="0" dirty="0">
                        <a:effectLst/>
                      </a:endParaRPr>
                    </a:p>
                  </a:txBody>
                  <a:tcPr marL="72000" marR="35992" marT="180000" marB="180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기본 단방향</a:t>
                      </a:r>
                      <a:b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Windows Named Pipe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는 양방향 지원</a:t>
                      </a:r>
                      <a:endParaRPr lang="ko-KR" altLang="en-US" sz="2400" b="1" dirty="0">
                        <a:effectLst/>
                      </a:endParaRPr>
                    </a:p>
                  </a:txBody>
                  <a:tcPr marL="72000" marR="35992" marT="180000" marB="180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기본 양방향</a:t>
                      </a:r>
                      <a:endParaRPr lang="ko-KR" altLang="en-US" sz="2400" b="1" dirty="0">
                        <a:effectLst/>
                      </a:endParaRPr>
                    </a:p>
                  </a:txBody>
                  <a:tcPr marL="72000" marR="35992" marT="180000" marB="180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9318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주소 체계</a:t>
                      </a:r>
                      <a:endParaRPr lang="ko-KR" altLang="en-US" sz="2400" b="0" dirty="0">
                        <a:effectLst/>
                      </a:endParaRPr>
                    </a:p>
                  </a:txBody>
                  <a:tcPr marL="72000" marR="35992" marT="180000" marB="180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파일 시스템 경로 또는 파이프 네임스페이스</a:t>
                      </a:r>
                      <a:b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예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: \\.\pipe\mypipe</a:t>
                      </a:r>
                      <a:endParaRPr lang="ko-KR" altLang="en-US" sz="2400" b="1" dirty="0">
                        <a:effectLst/>
                      </a:endParaRPr>
                    </a:p>
                  </a:txBody>
                  <a:tcPr marL="72000" marR="35992" marT="180000" marB="180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IP 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주소 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 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포트 번호</a:t>
                      </a:r>
                      <a:b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Unix Domain Socket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은 파일 경로 사용</a:t>
                      </a:r>
                      <a:endParaRPr lang="ko-KR" altLang="en-US" sz="2400" b="1" dirty="0">
                        <a:effectLst/>
                      </a:endParaRPr>
                    </a:p>
                  </a:txBody>
                  <a:tcPr marL="72000" marR="35992" marT="180000" marB="180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6916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오버헤드</a:t>
                      </a:r>
                      <a:endParaRPr lang="ko-KR" altLang="en-US" sz="2400" b="0" dirty="0">
                        <a:effectLst/>
                      </a:endParaRPr>
                    </a:p>
                  </a:txBody>
                  <a:tcPr marL="72000" marR="35992" marT="180000" marB="180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낮음</a:t>
                      </a:r>
                      <a:r>
                        <a:rPr lang="en-US" altLang="ko-KR" sz="14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. </a:t>
                      </a:r>
                      <a:r>
                        <a:rPr lang="ko-KR" altLang="en-US" sz="14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커널 버퍼 기반 프로세스 간 통신</a:t>
                      </a:r>
                      <a:endParaRPr lang="ko-KR" altLang="en-US" sz="24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2000" marR="35992" marT="180000" marB="180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상대적으로 높음</a:t>
                      </a:r>
                      <a:r>
                        <a:rPr lang="en-US" altLang="ko-KR" sz="14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. </a:t>
                      </a:r>
                      <a:r>
                        <a:rPr lang="ko-KR" altLang="en-US" sz="14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네트워크 스택</a:t>
                      </a:r>
                      <a:r>
                        <a:rPr lang="en-US" altLang="ko-KR" sz="14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altLang="en-US" sz="14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프로토콜 헤더 처리</a:t>
                      </a:r>
                      <a:endParaRPr lang="ko-KR" altLang="en-US" sz="24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2000" marR="35992" marT="180000" marB="180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4885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주요 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API</a:t>
                      </a:r>
                      <a:endParaRPr lang="en-US" sz="2400" b="0" dirty="0">
                        <a:effectLst/>
                      </a:endParaRPr>
                    </a:p>
                  </a:txBody>
                  <a:tcPr marL="72000" marR="35992" marT="180000" marB="180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파일 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I/O API: ReadFile, WriteFile</a:t>
                      </a:r>
                      <a:endParaRPr lang="en-US" sz="2400" b="1" dirty="0">
                        <a:effectLst/>
                      </a:endParaRPr>
                    </a:p>
                  </a:txBody>
                  <a:tcPr marL="72000" marR="35992" marT="180000" marB="180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네트워크 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API: send, recv, bind, listen</a:t>
                      </a:r>
                      <a:endParaRPr lang="en-US" sz="2400" b="1" dirty="0">
                        <a:effectLst/>
                      </a:endParaRPr>
                    </a:p>
                  </a:txBody>
                  <a:tcPr marL="72000" marR="35992" marT="180000" marB="180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17778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프로토콜</a:t>
                      </a:r>
                      <a:endParaRPr lang="ko-KR" altLang="en-US" sz="2400" b="0" dirty="0">
                        <a:effectLst/>
                      </a:endParaRPr>
                    </a:p>
                  </a:txBody>
                  <a:tcPr marL="72000" marR="35992" marT="180000" marB="180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단순 바이트 스트림 또는 메시지</a:t>
                      </a:r>
                      <a:endParaRPr lang="ko-KR" altLang="en-US" sz="2400" b="1" dirty="0">
                        <a:effectLst/>
                      </a:endParaRPr>
                    </a:p>
                  </a:txBody>
                  <a:tcPr marL="72000" marR="35992" marT="180000" marB="180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TCP, UDP 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등 전송 계층 프로토콜</a:t>
                      </a:r>
                      <a:endParaRPr lang="ko-KR" altLang="en-US" sz="2400" b="1" dirty="0">
                        <a:effectLst/>
                      </a:endParaRPr>
                    </a:p>
                  </a:txBody>
                  <a:tcPr marL="72000" marR="35992" marT="180000" marB="180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19027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8450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6A6BA-50B1-6DEE-822C-6C922C229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244E96-2C2B-8DE2-755A-D928110E4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1.3 Pipe vs Socket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62D688-49DF-8B74-D707-B3206F9CD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상황에 대한 소켓</a:t>
            </a:r>
            <a:r>
              <a:rPr lang="en-US" altLang="ko-KR" dirty="0"/>
              <a:t>, Pipe </a:t>
            </a:r>
            <a:r>
              <a:rPr lang="ko-KR" altLang="en-US" dirty="0"/>
              <a:t>선택</a:t>
            </a:r>
            <a:endParaRPr lang="en-US" altLang="ko-KR" dirty="0"/>
          </a:p>
          <a:p>
            <a:pPr lvl="1"/>
            <a:r>
              <a:rPr lang="ko-KR" altLang="en-US" dirty="0"/>
              <a:t>프로세스 간 통신 목적이 파이프</a:t>
            </a:r>
            <a:r>
              <a:rPr lang="en-US" altLang="ko-KR" dirty="0"/>
              <a:t>. </a:t>
            </a:r>
            <a:r>
              <a:rPr lang="ko-KR" altLang="en-US" dirty="0"/>
              <a:t>같은</a:t>
            </a:r>
            <a:r>
              <a:rPr lang="en-US" altLang="ko-KR" dirty="0"/>
              <a:t> PC</a:t>
            </a:r>
            <a:r>
              <a:rPr lang="ko-KR" altLang="en-US" dirty="0"/>
              <a:t>에서 유리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54EA311-BBE2-34B1-B701-18C3E79D987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AA8842E-4EDD-7715-ACDD-FE93679ABB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340089"/>
              </p:ext>
            </p:extLst>
          </p:nvPr>
        </p:nvGraphicFramePr>
        <p:xfrm>
          <a:off x="683407" y="1844824"/>
          <a:ext cx="7776864" cy="4288432"/>
        </p:xfrm>
        <a:graphic>
          <a:graphicData uri="http://schemas.openxmlformats.org/drawingml/2006/table">
            <a:tbl>
              <a:tblPr/>
              <a:tblGrid>
                <a:gridCol w="5472769">
                  <a:extLst>
                    <a:ext uri="{9D8B030D-6E8A-4147-A177-3AD203B41FA5}">
                      <a16:colId xmlns:a16="http://schemas.microsoft.com/office/drawing/2014/main" val="2346955176"/>
                    </a:ext>
                  </a:extLst>
                </a:gridCol>
                <a:gridCol w="2304095">
                  <a:extLst>
                    <a:ext uri="{9D8B030D-6E8A-4147-A177-3AD203B41FA5}">
                      <a16:colId xmlns:a16="http://schemas.microsoft.com/office/drawing/2014/main" val="3906683517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상황</a:t>
                      </a:r>
                      <a:endParaRPr lang="ko-KR" altLang="en-US" sz="3200" dirty="0">
                        <a:effectLst/>
                      </a:endParaRPr>
                    </a:p>
                  </a:txBody>
                  <a:tcPr marL="144000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적합 도</a:t>
                      </a:r>
                      <a:endParaRPr lang="ko-KR" altLang="en-US" sz="32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547502"/>
                  </a:ext>
                </a:extLst>
              </a:tr>
              <a:tr h="483765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같은 </a:t>
                      </a:r>
                      <a:r>
                        <a:rPr lang="en-US" altLang="ko-KR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PC </a:t>
                      </a:r>
                      <a:r>
                        <a:rPr lang="ko-KR" altLang="en-US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의 프로세스 간 통신</a:t>
                      </a:r>
                      <a:endParaRPr lang="ko-KR" altLang="en-US" sz="36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144000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파이프</a:t>
                      </a:r>
                      <a:endParaRPr lang="ko-KR" altLang="en-US" sz="36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7100635"/>
                  </a:ext>
                </a:extLst>
              </a:tr>
              <a:tr h="483765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다른 </a:t>
                      </a:r>
                      <a:r>
                        <a:rPr lang="en-US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PC</a:t>
                      </a:r>
                      <a:r>
                        <a:rPr lang="ko-KR" altLang="en-US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와 통신</a:t>
                      </a:r>
                      <a:endParaRPr lang="ko-KR" altLang="en-US" sz="36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144000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소켓</a:t>
                      </a:r>
                      <a:endParaRPr lang="ko-KR" altLang="en-US" sz="3600" b="1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5656739"/>
                  </a:ext>
                </a:extLst>
              </a:tr>
              <a:tr h="483765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네트워크 확장 가능성 필요</a:t>
                      </a:r>
                      <a:endParaRPr lang="ko-KR" altLang="en-US" sz="36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144000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소켓</a:t>
                      </a:r>
                      <a:endParaRPr lang="ko-KR" altLang="en-US" sz="3600" b="1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2813220"/>
                  </a:ext>
                </a:extLst>
              </a:tr>
              <a:tr h="483765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단순 부모</a:t>
                      </a:r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자식 프로세스 통신</a:t>
                      </a:r>
                      <a:endParaRPr lang="ko-KR" altLang="en-US" sz="3600" b="1" dirty="0">
                        <a:effectLst/>
                      </a:endParaRPr>
                    </a:p>
                  </a:txBody>
                  <a:tcPr marL="144000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익명 파이프</a:t>
                      </a:r>
                      <a:endParaRPr lang="ko-KR" altLang="en-US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3358731"/>
                  </a:ext>
                </a:extLst>
              </a:tr>
              <a:tr h="483765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서버</a:t>
                      </a:r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/</a:t>
                      </a:r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클라이언트 구조의 </a:t>
                      </a:r>
                      <a:r>
                        <a:rPr lang="ko-KR" altLang="en-US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로컬 </a:t>
                      </a:r>
                      <a:r>
                        <a:rPr lang="en-US" altLang="ko-KR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IPC</a:t>
                      </a:r>
                      <a:endParaRPr lang="ko-KR" altLang="en-US" sz="36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144000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명명 파이프</a:t>
                      </a:r>
                      <a:endParaRPr lang="en-US" sz="36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5215262"/>
                  </a:ext>
                </a:extLst>
              </a:tr>
              <a:tr h="483765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TCP/UDP </a:t>
                      </a:r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기반 있음</a:t>
                      </a:r>
                      <a:endParaRPr lang="ko-KR" altLang="en-US" sz="3600" b="1" dirty="0">
                        <a:effectLst/>
                      </a:endParaRPr>
                    </a:p>
                  </a:txBody>
                  <a:tcPr marL="144000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소켓</a:t>
                      </a:r>
                      <a:endParaRPr lang="ko-KR" altLang="en-US" sz="3600" b="1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7153571"/>
                  </a:ext>
                </a:extLst>
              </a:tr>
              <a:tr h="483765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파일 </a:t>
                      </a:r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I/O </a:t>
                      </a:r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스타일 </a:t>
                      </a:r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API</a:t>
                      </a:r>
                      <a:endParaRPr lang="ko-KR" altLang="en-US" sz="3600" b="1" dirty="0">
                        <a:effectLst/>
                      </a:endParaRPr>
                    </a:p>
                  </a:txBody>
                  <a:tcPr marL="144000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파이프</a:t>
                      </a:r>
                      <a:endParaRPr lang="ko-KR" altLang="en-US" sz="36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194826"/>
                  </a:ext>
                </a:extLst>
              </a:tr>
              <a:tr h="483765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네트워크 연관</a:t>
                      </a:r>
                      <a:endParaRPr lang="ko-KR" altLang="en-US" sz="3600" b="1" dirty="0">
                        <a:effectLst/>
                      </a:endParaRPr>
                    </a:p>
                  </a:txBody>
                  <a:tcPr marL="144000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소켓</a:t>
                      </a:r>
                      <a:endParaRPr lang="ko-KR" altLang="en-US" sz="3600" b="1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1058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8055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B103B-D731-91CF-33ED-C5731C3DE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F00B47-C89A-75B6-B059-7D77F89D0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프로그램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BCA74E-7E53-2430-8587-DF1BF93BD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Server</a:t>
            </a:r>
          </a:p>
          <a:p>
            <a:pPr lvl="1"/>
            <a:r>
              <a:rPr lang="en-US" altLang="ko-KR" dirty="0"/>
              <a:t>Named Pipe </a:t>
            </a:r>
            <a:r>
              <a:rPr lang="ko-KR" altLang="en-US" dirty="0"/>
              <a:t>생성</a:t>
            </a:r>
          </a:p>
          <a:p>
            <a:pPr lvl="1"/>
            <a:r>
              <a:rPr lang="en-US" altLang="ko-KR" dirty="0"/>
              <a:t>Client </a:t>
            </a:r>
            <a:r>
              <a:rPr lang="ko-KR" altLang="en-US" dirty="0"/>
              <a:t>접속 대기</a:t>
            </a:r>
          </a:p>
          <a:p>
            <a:pPr lvl="1"/>
            <a:r>
              <a:rPr lang="en-US" altLang="ko-KR" dirty="0"/>
              <a:t>Client </a:t>
            </a:r>
            <a:r>
              <a:rPr lang="ko-KR" altLang="en-US" dirty="0"/>
              <a:t>요청 수신</a:t>
            </a:r>
          </a:p>
          <a:p>
            <a:pPr lvl="1"/>
            <a:r>
              <a:rPr lang="en-US" altLang="ko-KR" dirty="0"/>
              <a:t>Server </a:t>
            </a:r>
            <a:r>
              <a:rPr lang="ko-KR" altLang="en-US" dirty="0"/>
              <a:t>응답 송신</a:t>
            </a:r>
            <a:endParaRPr lang="en-US" altLang="ko-KR" dirty="0"/>
          </a:p>
          <a:p>
            <a:pPr lvl="1"/>
            <a:endParaRPr lang="ko-KR" altLang="en-US" dirty="0"/>
          </a:p>
          <a:p>
            <a:r>
              <a:rPr lang="en-US" altLang="ko-KR" dirty="0"/>
              <a:t>Client</a:t>
            </a:r>
          </a:p>
          <a:p>
            <a:pPr lvl="1"/>
            <a:r>
              <a:rPr lang="en-US" altLang="ko-KR" dirty="0"/>
              <a:t>Named Pipe </a:t>
            </a:r>
            <a:r>
              <a:rPr lang="ko-KR" altLang="en-US" dirty="0"/>
              <a:t>열기</a:t>
            </a:r>
          </a:p>
          <a:p>
            <a:pPr lvl="1"/>
            <a:r>
              <a:rPr lang="en-US" altLang="ko-KR" dirty="0"/>
              <a:t>Server</a:t>
            </a:r>
            <a:r>
              <a:rPr lang="ko-KR" altLang="en-US" dirty="0"/>
              <a:t>로 문자열 송신</a:t>
            </a:r>
          </a:p>
          <a:p>
            <a:pPr lvl="1"/>
            <a:r>
              <a:rPr lang="en-US" altLang="ko-KR" dirty="0"/>
              <a:t>Server </a:t>
            </a:r>
            <a:r>
              <a:rPr lang="ko-KR" altLang="en-US" dirty="0"/>
              <a:t>응답 수신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A3F02A5-B680-52F7-BBD6-9E15D8E2C1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993283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C2612-4B91-43E9-FA46-C74187A77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85C935-679D-A59A-16DD-B401A977C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프로그램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16B9AC-0D05-3856-593A-12C7906CC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19D397E-0194-C4F7-A73B-2ABD36FC11F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C60F0C-0843-055B-EE03-3CDA231C59A2}"/>
              </a:ext>
            </a:extLst>
          </p:cNvPr>
          <p:cNvSpPr txBox="1"/>
          <p:nvPr/>
        </p:nvSpPr>
        <p:spPr>
          <a:xfrm>
            <a:off x="539750" y="1844824"/>
            <a:ext cx="7992690" cy="273921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32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&lt;Client&gt;             &lt;Server&gt;</a:t>
            </a:r>
            <a:br>
              <a:rPr lang="en-US" altLang="ko-KR" sz="32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2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28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2800" b="1" i="0" u="none" strike="noStrike" dirty="0">
                <a:solidFill>
                  <a:srgbClr val="0070C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CreateFile  </a:t>
            </a:r>
            <a:r>
              <a:rPr lang="en-US" altLang="ko-KR" sz="2800" b="1" i="0" u="none" strike="noStrike" dirty="0">
                <a:solidFill>
                  <a:schemeClr val="bg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-------</a:t>
            </a:r>
            <a:r>
              <a:rPr lang="ko-KR" altLang="en-US" sz="2800" b="1" i="0" u="none" strike="noStrike" dirty="0">
                <a:solidFill>
                  <a:schemeClr val="bg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▷</a:t>
            </a:r>
            <a:r>
              <a:rPr lang="en-US" altLang="ko-KR" sz="2800" b="1" i="0" u="none" strike="noStrike" dirty="0">
                <a:solidFill>
                  <a:schemeClr val="bg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</a:t>
            </a:r>
            <a:r>
              <a:rPr lang="en-US" altLang="ko-KR" sz="2800" b="1" i="0" u="none" strike="noStrike" dirty="0">
                <a:solidFill>
                  <a:srgbClr val="0070C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CreateNamedPipe</a:t>
            </a:r>
            <a:br>
              <a:rPr lang="en-US" altLang="ko-KR" sz="2800" b="1" i="0" u="none" strike="noStrike" dirty="0">
                <a:solidFill>
                  <a:srgbClr val="0070C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2800" b="1" i="0" u="none" strike="noStrike" dirty="0">
                <a:solidFill>
                  <a:srgbClr val="0070C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WriteFile   </a:t>
            </a:r>
            <a:r>
              <a:rPr lang="en-US" altLang="ko-KR" sz="2800" b="1" i="0" u="none" strike="noStrike" dirty="0">
                <a:solidFill>
                  <a:schemeClr val="bg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-------</a:t>
            </a:r>
            <a:r>
              <a:rPr lang="ko-KR" altLang="en-US" sz="2800" b="1" dirty="0">
                <a:solidFill>
                  <a:schemeClr val="bg2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▷</a:t>
            </a:r>
            <a:r>
              <a:rPr lang="ko-KR" altLang="en-US" sz="2800" b="1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800" b="1" i="0" u="none" strike="noStrike" dirty="0">
                <a:solidFill>
                  <a:srgbClr val="0070C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ReadFile</a:t>
            </a:r>
            <a:br>
              <a:rPr lang="en-US" altLang="ko-KR" sz="2800" b="1" i="0" u="none" strike="noStrike" dirty="0">
                <a:solidFill>
                  <a:srgbClr val="0070C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2800" b="1" i="0" u="none" strike="noStrike" dirty="0">
                <a:solidFill>
                  <a:srgbClr val="0070C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ReadFile    </a:t>
            </a:r>
            <a:r>
              <a:rPr lang="ko-KR" altLang="en-US" sz="2800" b="1" i="0" u="none" strike="noStrike" dirty="0">
                <a:solidFill>
                  <a:schemeClr val="bg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◁</a:t>
            </a:r>
            <a:r>
              <a:rPr lang="en-US" altLang="ko-KR" sz="2800" b="1" i="0" u="none" strike="noStrike" dirty="0">
                <a:solidFill>
                  <a:schemeClr val="bg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-------  </a:t>
            </a:r>
            <a:r>
              <a:rPr lang="en-US" altLang="ko-KR" sz="2800" b="1" i="0" u="none" strike="noStrike" dirty="0">
                <a:solidFill>
                  <a:srgbClr val="0070C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WriteFile</a:t>
            </a:r>
            <a:br>
              <a:rPr lang="en-US" altLang="ko-KR" sz="2800" b="1" i="0" u="none" strike="noStrike" dirty="0">
                <a:solidFill>
                  <a:srgbClr val="0070C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2800" b="1" i="0" u="none" strike="noStrike" dirty="0">
                <a:solidFill>
                  <a:srgbClr val="0070C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CloseHandle           DisconnectNamedPipe</a:t>
            </a:r>
            <a:endParaRPr lang="ko-KR" altLang="en-US" sz="2800" b="1" dirty="0">
              <a:solidFill>
                <a:srgbClr val="0070C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14693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8FE07-0E7A-84F9-2A10-03C47D4E0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F4C538-DCAF-0399-D206-13F691EFE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Pipe </a:t>
            </a:r>
            <a:r>
              <a:rPr lang="ko-KR" altLang="en-US" dirty="0"/>
              <a:t>이름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822BB3-59B3-F5F1-C544-BE46BCC7E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latin typeface="Consolas" panose="020B0609020204030204" pitchFamily="49" charset="0"/>
              </a:rPr>
              <a:t>형식</a:t>
            </a:r>
          </a:p>
          <a:p>
            <a:pPr lvl="1"/>
            <a:r>
              <a:rPr lang="en-US" altLang="ko-KR" dirty="0">
                <a:latin typeface="Consolas" panose="020B0609020204030204" pitchFamily="49" charset="0"/>
                <a:hlinkClick r:id="rId2" action="ppaction://hlinkfile"/>
              </a:rPr>
              <a:t>\\.\pipe\</a:t>
            </a:r>
            <a:r>
              <a:rPr lang="ko-KR" altLang="en-US" dirty="0">
                <a:latin typeface="Consolas" panose="020B0609020204030204" pitchFamily="49" charset="0"/>
              </a:rPr>
              <a:t>파이프이름</a:t>
            </a:r>
            <a:endParaRPr lang="en-US" altLang="ko-KR" dirty="0">
              <a:latin typeface="Consolas" panose="020B0609020204030204" pitchFamily="49" charset="0"/>
            </a:endParaRPr>
          </a:p>
          <a:p>
            <a:pPr lvl="1"/>
            <a:endParaRPr lang="en-US" altLang="ko-KR" dirty="0">
              <a:latin typeface="Consolas" panose="020B0609020204030204" pitchFamily="49" charset="0"/>
            </a:endParaRPr>
          </a:p>
          <a:p>
            <a:pPr lvl="1"/>
            <a:endParaRPr lang="en-US" altLang="ko-KR" dirty="0">
              <a:latin typeface="Consolas" panose="020B0609020204030204" pitchFamily="49" charset="0"/>
            </a:endParaRPr>
          </a:p>
          <a:p>
            <a:r>
              <a:rPr lang="ko-KR" altLang="en-US" dirty="0">
                <a:latin typeface="Consolas" panose="020B0609020204030204" pitchFamily="49" charset="0"/>
              </a:rPr>
              <a:t>의미</a:t>
            </a:r>
          </a:p>
          <a:p>
            <a:pPr lvl="1"/>
            <a:r>
              <a:rPr lang="en-US" altLang="ko-KR" dirty="0">
                <a:latin typeface="Consolas" panose="020B0609020204030204" pitchFamily="49" charset="0"/>
              </a:rPr>
              <a:t>\\. : </a:t>
            </a:r>
            <a:r>
              <a:rPr lang="ko-KR" altLang="en-US" dirty="0">
                <a:latin typeface="Consolas" panose="020B0609020204030204" pitchFamily="49" charset="0"/>
              </a:rPr>
              <a:t>현재 컴퓨터</a:t>
            </a:r>
          </a:p>
          <a:p>
            <a:pPr lvl="1"/>
            <a:r>
              <a:rPr lang="en-US" altLang="ko-KR" dirty="0">
                <a:latin typeface="Consolas" panose="020B0609020204030204" pitchFamily="49" charset="0"/>
              </a:rPr>
              <a:t>pipe : Named Pipe </a:t>
            </a:r>
            <a:r>
              <a:rPr lang="ko-KR" altLang="en-US" dirty="0">
                <a:latin typeface="Consolas" panose="020B0609020204030204" pitchFamily="49" charset="0"/>
              </a:rPr>
              <a:t>네임스페이스</a:t>
            </a:r>
          </a:p>
          <a:p>
            <a:pPr lvl="1"/>
            <a:r>
              <a:rPr lang="en-US" altLang="ko-KR" dirty="0">
                <a:latin typeface="Consolas" panose="020B0609020204030204" pitchFamily="49" charset="0"/>
              </a:rPr>
              <a:t>mynamedpipe : </a:t>
            </a:r>
            <a:r>
              <a:rPr lang="ko-KR" altLang="en-US" dirty="0">
                <a:latin typeface="Consolas" panose="020B0609020204030204" pitchFamily="49" charset="0"/>
              </a:rPr>
              <a:t>사용자 지정 이름</a:t>
            </a:r>
          </a:p>
          <a:p>
            <a:r>
              <a:rPr lang="ko-KR" altLang="en-US" dirty="0">
                <a:latin typeface="Consolas" panose="020B0609020204030204" pitchFamily="49" charset="0"/>
              </a:rPr>
              <a:t>주의</a:t>
            </a:r>
          </a:p>
          <a:p>
            <a:pPr lvl="1"/>
            <a:r>
              <a:rPr lang="en-US" altLang="ko-KR" dirty="0">
                <a:latin typeface="Consolas" panose="020B0609020204030204" pitchFamily="49" charset="0"/>
              </a:rPr>
              <a:t>Server</a:t>
            </a:r>
            <a:r>
              <a:rPr lang="ko-KR" altLang="en-US" dirty="0">
                <a:latin typeface="Consolas" panose="020B0609020204030204" pitchFamily="49" charset="0"/>
              </a:rPr>
              <a:t>와 </a:t>
            </a:r>
            <a:r>
              <a:rPr lang="en-US" altLang="ko-KR" dirty="0">
                <a:latin typeface="Consolas" panose="020B0609020204030204" pitchFamily="49" charset="0"/>
              </a:rPr>
              <a:t>Client </a:t>
            </a:r>
            <a:r>
              <a:rPr lang="ko-KR" altLang="en-US" dirty="0">
                <a:latin typeface="Consolas" panose="020B0609020204030204" pitchFamily="49" charset="0"/>
              </a:rPr>
              <a:t>동일 이름 사용</a:t>
            </a:r>
            <a:endParaRPr lang="en-US" altLang="ko-KR" dirty="0">
              <a:latin typeface="Consolas" panose="020B0609020204030204" pitchFamily="49" charset="0"/>
            </a:endParaRPr>
          </a:p>
          <a:p>
            <a:pPr lvl="1"/>
            <a:r>
              <a:rPr lang="ko-KR" altLang="en-US" dirty="0">
                <a:latin typeface="Consolas" panose="020B0609020204030204" pitchFamily="49" charset="0"/>
              </a:rPr>
              <a:t>문자열 이스케이프 때문에 </a:t>
            </a:r>
            <a:r>
              <a:rPr lang="en-US" altLang="ko-KR" dirty="0">
                <a:latin typeface="Consolas" panose="020B0609020204030204" pitchFamily="49" charset="0"/>
              </a:rPr>
              <a:t>\\ </a:t>
            </a:r>
            <a:r>
              <a:rPr lang="ko-KR" altLang="en-US" dirty="0">
                <a:latin typeface="Consolas" panose="020B0609020204030204" pitchFamily="49" charset="0"/>
              </a:rPr>
              <a:t>반복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7670419-3765-1BF2-5129-022E1D1CDAD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E3168D-0D21-BE5C-AAD0-D7A8CFBA9FE0}"/>
              </a:ext>
            </a:extLst>
          </p:cNvPr>
          <p:cNvSpPr txBox="1"/>
          <p:nvPr/>
        </p:nvSpPr>
        <p:spPr>
          <a:xfrm>
            <a:off x="1043546" y="1772816"/>
            <a:ext cx="7272808" cy="40011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char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g_sPipeName[] = 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"\\\\.\\pipe\\mynamedpipe"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endParaRPr lang="ko-KR" altLang="en-US" sz="20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7381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63C046-96AD-AD14-2958-3CF636A32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Pipe </a:t>
            </a:r>
            <a:r>
              <a:rPr lang="ko-KR" altLang="en-US" dirty="0"/>
              <a:t>이름 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A55084-002D-11C7-3CE1-CD1499797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>
              <a:latin typeface="Consolas" panose="020B0609020204030204" pitchFamily="49" charset="0"/>
            </a:endParaRPr>
          </a:p>
          <a:p>
            <a:endParaRPr lang="en-US" altLang="ko-KR" dirty="0">
              <a:latin typeface="Consolas" panose="020B0609020204030204" pitchFamily="49" charset="0"/>
            </a:endParaRPr>
          </a:p>
          <a:p>
            <a:endParaRPr lang="ko-KR" altLang="en-US" dirty="0">
              <a:latin typeface="Consolas" panose="020B0609020204030204" pitchFamily="49" charset="0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F09A41F-91A9-F897-9C9A-E1FFA877197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18ED6A-0159-B911-8B19-7F2A6F9CFF57}"/>
              </a:ext>
            </a:extLst>
          </p:cNvPr>
          <p:cNvSpPr txBox="1"/>
          <p:nvPr/>
        </p:nvSpPr>
        <p:spPr>
          <a:xfrm>
            <a:off x="611560" y="1053842"/>
            <a:ext cx="7560840" cy="255454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3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\\.\pipe\mynamedpipe</a:t>
            </a:r>
            <a:br>
              <a:rPr lang="en-US" altLang="ko-KR" sz="3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3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|    |        |</a:t>
            </a:r>
            <a:br>
              <a:rPr lang="en-US" altLang="ko-KR" sz="3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3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|    |        +-- </a:t>
            </a:r>
            <a:r>
              <a:rPr lang="ko-KR" altLang="en-US" sz="3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사용자 정의 이름</a:t>
            </a:r>
            <a:br>
              <a:rPr lang="ko-KR" altLang="en-US" sz="3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3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|    +----------- Named Pipe </a:t>
            </a:r>
            <a:r>
              <a:rPr lang="ko-KR" altLang="en-US" sz="3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경로</a:t>
            </a:r>
            <a:br>
              <a:rPr lang="ko-KR" altLang="en-US" sz="3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3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+---------------- </a:t>
            </a:r>
            <a:r>
              <a:rPr lang="ko-KR" altLang="en-US" sz="3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로컬 컴퓨터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792463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4C22E-ACA1-17D3-60DA-348810D8B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76048C-1EA3-32C4-E6D4-E57ED5E60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서버 </a:t>
            </a:r>
            <a:r>
              <a:rPr lang="en-US" altLang="ko-KR" dirty="0"/>
              <a:t>Pipe </a:t>
            </a:r>
            <a:r>
              <a:rPr lang="ko-KR" altLang="en-US" dirty="0"/>
              <a:t>인스턴스 구조체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F7649C-4144-6CAA-31D3-CB43B7FA4D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83A42"/>
                </a:solidFill>
                <a:latin typeface="+mn-ea"/>
                <a:ea typeface="+mn-ea"/>
              </a:rPr>
              <a:t>PIPEINST</a:t>
            </a:r>
            <a:endParaRPr lang="ko-KR" altLang="en-US" dirty="0">
              <a:latin typeface="+mn-ea"/>
              <a:ea typeface="+mn-ea"/>
            </a:endParaRPr>
          </a:p>
          <a:p>
            <a:pPr lvl="1"/>
            <a:r>
              <a:rPr lang="en-US" altLang="ko-KR" dirty="0">
                <a:latin typeface="+mn-ea"/>
                <a:ea typeface="+mn-ea"/>
              </a:rPr>
              <a:t>OVERLAPPED :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  </a:t>
            </a:r>
            <a:r>
              <a:rPr lang="ko-KR" altLang="en-US" dirty="0">
                <a:latin typeface="+mn-ea"/>
                <a:ea typeface="+mn-ea"/>
              </a:rPr>
              <a:t>비동기 </a:t>
            </a:r>
            <a:r>
              <a:rPr lang="en-US" altLang="ko-KR" dirty="0">
                <a:latin typeface="+mn-ea"/>
                <a:ea typeface="+mn-ea"/>
              </a:rPr>
              <a:t>I/O </a:t>
            </a:r>
            <a:r>
              <a:rPr lang="ko-KR" altLang="en-US" dirty="0">
                <a:latin typeface="+mn-ea"/>
                <a:ea typeface="+mn-ea"/>
              </a:rPr>
              <a:t>정보</a:t>
            </a:r>
          </a:p>
          <a:p>
            <a:pPr lvl="1"/>
            <a:r>
              <a:rPr lang="en-US" altLang="ko-KR" dirty="0">
                <a:latin typeface="+mn-ea"/>
                <a:ea typeface="+mn-ea"/>
              </a:rPr>
              <a:t>hPipeInst :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  Pipe </a:t>
            </a:r>
            <a:r>
              <a:rPr lang="ko-KR" altLang="en-US" dirty="0">
                <a:latin typeface="+mn-ea"/>
                <a:ea typeface="+mn-ea"/>
              </a:rPr>
              <a:t>핸들</a:t>
            </a:r>
          </a:p>
          <a:p>
            <a:pPr lvl="1"/>
            <a:r>
              <a:rPr lang="en-US" altLang="ko-KR" dirty="0">
                <a:latin typeface="+mn-ea"/>
                <a:ea typeface="+mn-ea"/>
              </a:rPr>
              <a:t>chRequest :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  Client </a:t>
            </a:r>
            <a:r>
              <a:rPr lang="ko-KR" altLang="en-US" dirty="0">
                <a:latin typeface="+mn-ea"/>
                <a:ea typeface="+mn-ea"/>
              </a:rPr>
              <a:t>요청 버퍼</a:t>
            </a:r>
          </a:p>
          <a:p>
            <a:pPr lvl="1"/>
            <a:r>
              <a:rPr lang="en-US" altLang="ko-KR" dirty="0">
                <a:latin typeface="+mn-ea"/>
                <a:ea typeface="+mn-ea"/>
              </a:rPr>
              <a:t>cbRead :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  </a:t>
            </a:r>
            <a:r>
              <a:rPr lang="ko-KR" altLang="en-US" dirty="0">
                <a:latin typeface="+mn-ea"/>
                <a:ea typeface="+mn-ea"/>
              </a:rPr>
              <a:t>수신 바이트 수</a:t>
            </a:r>
          </a:p>
          <a:p>
            <a:pPr lvl="1"/>
            <a:r>
              <a:rPr lang="en-US" altLang="ko-KR" dirty="0">
                <a:latin typeface="+mn-ea"/>
                <a:ea typeface="+mn-ea"/>
              </a:rPr>
              <a:t>chReply :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  Server </a:t>
            </a:r>
            <a:r>
              <a:rPr lang="ko-KR" altLang="en-US" dirty="0">
                <a:latin typeface="+mn-ea"/>
                <a:ea typeface="+mn-ea"/>
              </a:rPr>
              <a:t>응답 버퍼</a:t>
            </a:r>
          </a:p>
          <a:p>
            <a:pPr lvl="1"/>
            <a:r>
              <a:rPr lang="en-US" altLang="ko-KR" dirty="0">
                <a:latin typeface="+mn-ea"/>
                <a:ea typeface="+mn-ea"/>
              </a:rPr>
              <a:t>cbToWrite : </a:t>
            </a:r>
            <a:r>
              <a:rPr lang="ko-KR" altLang="en-US" dirty="0">
                <a:latin typeface="+mn-ea"/>
                <a:ea typeface="+mn-ea"/>
              </a:rPr>
              <a:t>송신 바이트 수</a:t>
            </a:r>
          </a:p>
          <a:p>
            <a:pPr lvl="1"/>
            <a:r>
              <a:rPr lang="en-US" altLang="ko-KR" dirty="0">
                <a:latin typeface="+mn-ea"/>
                <a:ea typeface="+mn-ea"/>
              </a:rPr>
              <a:t>dwState : Pipe </a:t>
            </a:r>
            <a:r>
              <a:rPr lang="ko-KR" altLang="en-US" dirty="0">
                <a:latin typeface="+mn-ea"/>
                <a:ea typeface="+mn-ea"/>
              </a:rPr>
              <a:t>상태</a:t>
            </a:r>
          </a:p>
          <a:p>
            <a:pPr lvl="1"/>
            <a:r>
              <a:rPr lang="en-US" altLang="ko-KR" dirty="0">
                <a:latin typeface="+mn-ea"/>
                <a:ea typeface="+mn-ea"/>
              </a:rPr>
              <a:t>fPendingIO : </a:t>
            </a:r>
            <a:r>
              <a:rPr lang="ko-KR" altLang="en-US" dirty="0">
                <a:latin typeface="+mn-ea"/>
                <a:ea typeface="+mn-ea"/>
              </a:rPr>
              <a:t>대기 중 </a:t>
            </a:r>
            <a:r>
              <a:rPr lang="en-US" altLang="ko-KR" dirty="0">
                <a:latin typeface="+mn-ea"/>
                <a:ea typeface="+mn-ea"/>
              </a:rPr>
              <a:t>I/O </a:t>
            </a:r>
            <a:r>
              <a:rPr lang="ko-KR" altLang="en-US" dirty="0">
                <a:latin typeface="+mn-ea"/>
                <a:ea typeface="+mn-ea"/>
              </a:rPr>
              <a:t>여부</a:t>
            </a:r>
          </a:p>
          <a:p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E0E0986-3572-5349-F6E9-D1EA5585B3A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F24B5C-FC78-C679-8E65-FA468C0CA48F}"/>
              </a:ext>
            </a:extLst>
          </p:cNvPr>
          <p:cNvSpPr txBox="1"/>
          <p:nvPr/>
        </p:nvSpPr>
        <p:spPr>
          <a:xfrm>
            <a:off x="4953671" y="1268760"/>
            <a:ext cx="3888183" cy="347787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struct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OVERLAPPED oOverlap;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HANDLE hPipeInst;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chRequest[MAX_BUF];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DWORD cbRead;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chReply[MAX_BUF];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DWORD cbToWrite;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DWORD dwState;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fPendingIO;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 PIPEINST;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850208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EFE45-5E8F-4EBB-4028-0DFECDF47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1C6262-594D-8B05-F925-B5CB74074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서버 상태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3C24D3-ECBD-6040-69D9-C5FAAA00D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상태 값 설정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endParaRPr lang="en-US" altLang="ko-KR" dirty="0"/>
          </a:p>
          <a:p>
            <a:r>
              <a:rPr lang="ko-KR" altLang="en-US" dirty="0"/>
              <a:t>서버 상태 흐름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8EBB5D9-E763-027E-7504-F6811F8854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FEBBB3-6676-D380-E94C-E55F0D57594A}"/>
              </a:ext>
            </a:extLst>
          </p:cNvPr>
          <p:cNvSpPr txBox="1"/>
          <p:nvPr/>
        </p:nvSpPr>
        <p:spPr>
          <a:xfrm>
            <a:off x="755576" y="1268760"/>
            <a:ext cx="4572000" cy="101566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#define CONNECTING_STATE 0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#define READING_STATE    1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#define WRITING_STATE    2</a:t>
            </a:r>
            <a:endParaRPr lang="ko-KR" alt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DAD241-B895-650C-5304-A8CEF5DEA369}"/>
              </a:ext>
            </a:extLst>
          </p:cNvPr>
          <p:cNvSpPr txBox="1"/>
          <p:nvPr/>
        </p:nvSpPr>
        <p:spPr>
          <a:xfrm>
            <a:off x="755576" y="3034569"/>
            <a:ext cx="4572000" cy="353943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CONNECTING_STATE 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클라이언트 연결 대기</a:t>
            </a:r>
            <a:b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READING_STATE 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클라이언트 요청 수신 준비</a:t>
            </a:r>
            <a:b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WRITING_STATE 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클라이언트 응답 송신 준비</a:t>
            </a:r>
            <a:endParaRPr lang="en-US" altLang="ko-KR" sz="1600" b="1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  <a:ea typeface="D2Coding" panose="020B0609020101020101" pitchFamily="49" charset="-127"/>
            </a:endParaRPr>
          </a:p>
          <a:p>
            <a:br>
              <a:rPr lang="ko-KR" altLang="en-US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CONNECTING_STATE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        |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        </a:t>
            </a:r>
            <a:r>
              <a:rPr lang="ko-KR" altLang="en-US" sz="1600" b="1" dirty="0">
                <a:solidFill>
                  <a:srgbClr val="383A42"/>
                </a:solidFill>
                <a:latin typeface="Consolas" panose="020B0609020204030204" pitchFamily="49" charset="0"/>
                <a:ea typeface="D2Coding" panose="020B0609020101020101" pitchFamily="49" charset="-127"/>
              </a:rPr>
              <a:t>↓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READING_STATE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        |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        </a:t>
            </a:r>
            <a:r>
              <a:rPr lang="ko-KR" altLang="en-US" sz="1600" b="1" dirty="0">
                <a:solidFill>
                  <a:srgbClr val="383A42"/>
                </a:solidFill>
                <a:latin typeface="Consolas" panose="020B0609020204030204" pitchFamily="49" charset="0"/>
                <a:ea typeface="D2Coding" panose="020B0609020101020101" pitchFamily="49" charset="-127"/>
              </a:rPr>
              <a:t>↓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WRITING_STATE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        |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        </a:t>
            </a:r>
            <a:r>
              <a:rPr lang="ko-KR" altLang="en-US" sz="1600" b="1" dirty="0">
                <a:solidFill>
                  <a:srgbClr val="383A42"/>
                </a:solidFill>
                <a:latin typeface="Consolas" panose="020B0609020204030204" pitchFamily="49" charset="0"/>
                <a:ea typeface="D2Coding" panose="020B0609020101020101" pitchFamily="49" charset="-127"/>
              </a:rPr>
              <a:t>↓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READING_STATE</a:t>
            </a:r>
            <a:endParaRPr lang="ko-KR" altLang="en-US" sz="1600" b="1" dirty="0">
              <a:latin typeface="Consolas" panose="020B0609020204030204" pitchFamily="49" charset="0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130521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D3C0F-BBF6-82F5-E97B-28B1C78A7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B14541-F1F4-24E4-F99D-507A5E87F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 </a:t>
            </a:r>
            <a:r>
              <a:rPr lang="ko-KR" altLang="en-US" dirty="0"/>
              <a:t>서버 상수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80BD17-C428-7C18-CB73-F39359B6B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INSTANCES </a:t>
            </a:r>
            <a:r>
              <a:rPr lang="ko-KR" altLang="en-US" sz="2400" dirty="0"/>
              <a:t>파이프 인스턴스 개수</a:t>
            </a:r>
          </a:p>
          <a:p>
            <a:r>
              <a:rPr lang="en-US" altLang="ko-KR" sz="2400" dirty="0"/>
              <a:t>PIPE_TIMEOUT </a:t>
            </a:r>
            <a:r>
              <a:rPr lang="ko-KR" altLang="en-US" sz="2400" dirty="0"/>
              <a:t>파이프 대기 시간</a:t>
            </a:r>
          </a:p>
          <a:p>
            <a:r>
              <a:rPr lang="en-US" altLang="ko-KR" sz="2400" dirty="0"/>
              <a:t>MAX_BUF </a:t>
            </a:r>
            <a:r>
              <a:rPr lang="ko-KR" altLang="en-US" sz="2400" dirty="0"/>
              <a:t>송수신 버퍼 크기</a:t>
            </a:r>
          </a:p>
          <a:p>
            <a:r>
              <a:rPr lang="en-US" altLang="ko-KR" sz="2400" dirty="0"/>
              <a:t>Pipe Instance Count</a:t>
            </a:r>
          </a:p>
          <a:p>
            <a:r>
              <a:rPr lang="en-US" altLang="ko-KR" sz="2400" dirty="0"/>
              <a:t>Pipe[0], Pipe[1], Pipe[2], Pipe[3]</a:t>
            </a:r>
            <a:br>
              <a:rPr lang="en-US" altLang="ko-KR" sz="2400" dirty="0"/>
            </a:br>
            <a:endParaRPr lang="ko-KR" altLang="en-US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74CE976-9CA7-BF69-66FE-9DEBC96585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509306-8BD5-158A-1E21-ECB7251630B2}"/>
              </a:ext>
            </a:extLst>
          </p:cNvPr>
          <p:cNvSpPr txBox="1"/>
          <p:nvPr/>
        </p:nvSpPr>
        <p:spPr>
          <a:xfrm>
            <a:off x="683568" y="3284984"/>
            <a:ext cx="5976664" cy="138499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8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#define INSTANCES    4</a:t>
            </a:r>
            <a:br>
              <a:rPr lang="en-US" altLang="ko-KR" sz="2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8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#define PIPE_TIMEOUT 5000</a:t>
            </a:r>
            <a:br>
              <a:rPr lang="en-US" altLang="ko-KR" sz="2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8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#define MAX_BUF      8192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1815467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038D3-51C6-7045-B7BA-ABB6DEBDF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B27B19-91E2-7961-2A35-E950D16A6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서버 전역 데이터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C1F76E-9294-C6B3-54BA-2FD4E610A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F4A22BD-10B4-1D98-F8E9-B6A0E71425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386A46-1275-E3BC-A187-A521EB4A0E7A}"/>
              </a:ext>
            </a:extLst>
          </p:cNvPr>
          <p:cNvSpPr txBox="1"/>
          <p:nvPr/>
        </p:nvSpPr>
        <p:spPr>
          <a:xfrm>
            <a:off x="683569" y="1052736"/>
            <a:ext cx="8065144" cy="526297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PIPEINST Pipe   [INSTANCES];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HANDLE   hEvents[INSTANCES];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Pipe </a:t>
            </a:r>
            <a:r>
              <a:rPr lang="ko-KR" altLang="en-US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배열 파이프 인스턴스별 상태 저장</a:t>
            </a:r>
            <a:br>
              <a:rPr lang="ko-KR" altLang="en-US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hE</a:t>
            </a:r>
            <a:r>
              <a:rPr lang="en-US" altLang="ko-KR" b="1" dirty="0">
                <a:solidFill>
                  <a:srgbClr val="383A42"/>
                </a:solidFill>
                <a:latin typeface="Consolas" panose="020B0609020204030204" pitchFamily="49" charset="0"/>
                <a:ea typeface="D2Coding" panose="020B0609020101020101" pitchFamily="49" charset="-127"/>
              </a:rPr>
              <a:t>v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ents </a:t>
            </a:r>
            <a:r>
              <a:rPr lang="ko-KR" altLang="en-US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배열 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Overlapped I/O </a:t>
            </a:r>
            <a:r>
              <a:rPr lang="ko-KR" altLang="en-US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완료 이벤트</a:t>
            </a:r>
            <a:endParaRPr lang="en-US" altLang="ko-KR" sz="2400" b="1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  <a:ea typeface="D2Coding" panose="020B0609020101020101" pitchFamily="49" charset="-127"/>
            </a:endParaRPr>
          </a:p>
          <a:p>
            <a:br>
              <a:rPr lang="ko-KR" altLang="en-US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Pipe[</a:t>
            </a:r>
            <a:r>
              <a:rPr lang="en-US" altLang="ko-KR" sz="2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0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]     Pipe[</a:t>
            </a:r>
            <a:r>
              <a:rPr lang="en-US" altLang="ko-KR" sz="2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1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]     Pipe[</a:t>
            </a:r>
            <a:r>
              <a:rPr lang="en-US" altLang="ko-KR" sz="2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2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]     Pipe[</a:t>
            </a:r>
            <a:r>
              <a:rPr lang="en-US" altLang="ko-KR" sz="2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3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]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  |           |           |           |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E</a:t>
            </a:r>
            <a:r>
              <a:rPr lang="en-US" altLang="ko-KR" b="1" dirty="0">
                <a:solidFill>
                  <a:srgbClr val="383A42"/>
                </a:solidFill>
                <a:latin typeface="Consolas" panose="020B0609020204030204" pitchFamily="49" charset="0"/>
                <a:ea typeface="D2Coding" panose="020B0609020101020101" pitchFamily="49" charset="-127"/>
              </a:rPr>
              <a:t>v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ent[</a:t>
            </a:r>
            <a:r>
              <a:rPr lang="en-US" altLang="ko-KR" sz="2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0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]    E</a:t>
            </a:r>
            <a:r>
              <a:rPr lang="en-US" altLang="ko-KR" b="1" dirty="0">
                <a:solidFill>
                  <a:srgbClr val="383A42"/>
                </a:solidFill>
                <a:latin typeface="Consolas" panose="020B0609020204030204" pitchFamily="49" charset="0"/>
                <a:ea typeface="D2Coding" panose="020B0609020101020101" pitchFamily="49" charset="-127"/>
              </a:rPr>
              <a:t>v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ent[</a:t>
            </a:r>
            <a:r>
              <a:rPr lang="en-US" altLang="ko-KR" sz="2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1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]    E</a:t>
            </a:r>
            <a:r>
              <a:rPr lang="en-US" altLang="ko-KR" b="1" dirty="0">
                <a:solidFill>
                  <a:srgbClr val="383A42"/>
                </a:solidFill>
                <a:latin typeface="Consolas" panose="020B0609020204030204" pitchFamily="49" charset="0"/>
                <a:ea typeface="D2Coding" panose="020B0609020101020101" pitchFamily="49" charset="-127"/>
              </a:rPr>
              <a:t>v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ent[</a:t>
            </a:r>
            <a:r>
              <a:rPr lang="en-US" altLang="ko-KR" sz="2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2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]    E</a:t>
            </a:r>
            <a:r>
              <a:rPr lang="en-US" altLang="ko-KR" b="1" dirty="0">
                <a:solidFill>
                  <a:srgbClr val="383A42"/>
                </a:solidFill>
                <a:latin typeface="Consolas" panose="020B0609020204030204" pitchFamily="49" charset="0"/>
                <a:ea typeface="D2Coding" panose="020B0609020101020101" pitchFamily="49" charset="-127"/>
              </a:rPr>
              <a:t>v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ent[</a:t>
            </a:r>
            <a:r>
              <a:rPr lang="en-US" altLang="ko-KR" sz="2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3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]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  |           |           |           |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  +-----------+-----------+-----------+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                  |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                  ↓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        </a:t>
            </a:r>
            <a:r>
              <a:rPr lang="en-US" altLang="ko-KR" sz="2400" b="1" i="0" u="none" strike="noStrike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WaitForMultipleObjects</a:t>
            </a:r>
            <a:endParaRPr lang="ko-KR" altLang="en-US" b="1" dirty="0">
              <a:solidFill>
                <a:srgbClr val="0070C0"/>
              </a:solidFill>
              <a:latin typeface="Consolas" panose="020B0609020204030204" pitchFamily="49" charset="0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7750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D2B54-4D56-D8F7-CCAE-C807F21A8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E64E7B-232A-D6C3-00C0-DB3E2A376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 Event + Overlapped I/O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10E04A-2C07-A868-DB2B-3FBF79CD5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Event</a:t>
            </a:r>
          </a:p>
          <a:p>
            <a:pPr lvl="1"/>
            <a:r>
              <a:rPr lang="en-US" altLang="ko-KR" sz="2000" dirty="0"/>
              <a:t>I/O </a:t>
            </a:r>
            <a:r>
              <a:rPr lang="ko-KR" altLang="en-US" sz="2000" dirty="0"/>
              <a:t>완료 알림 객체</a:t>
            </a:r>
          </a:p>
          <a:p>
            <a:pPr lvl="1"/>
            <a:r>
              <a:rPr lang="en-US" altLang="ko-KR" sz="2000" dirty="0"/>
              <a:t>WaitForMultipleObjects </a:t>
            </a:r>
            <a:r>
              <a:rPr lang="ko-KR" altLang="en-US" sz="2000" dirty="0"/>
              <a:t>대기 대상</a:t>
            </a:r>
            <a:endParaRPr lang="en-US" altLang="ko-KR" sz="2000" dirty="0"/>
          </a:p>
          <a:p>
            <a:pPr lvl="1"/>
            <a:endParaRPr lang="ko-KR" altLang="en-US" sz="2000" dirty="0"/>
          </a:p>
          <a:p>
            <a:r>
              <a:rPr lang="en-US" altLang="ko-KR" sz="2400" dirty="0"/>
              <a:t>Overlapped I/O</a:t>
            </a:r>
          </a:p>
          <a:p>
            <a:pPr lvl="1"/>
            <a:r>
              <a:rPr lang="ko-KR" altLang="en-US" sz="2000" dirty="0"/>
              <a:t>비동기 입출력</a:t>
            </a:r>
          </a:p>
          <a:p>
            <a:pPr lvl="1"/>
            <a:r>
              <a:rPr lang="ko-KR" altLang="en-US" sz="2000" dirty="0"/>
              <a:t>요청 후 즉시 반환 가능</a:t>
            </a:r>
          </a:p>
          <a:p>
            <a:pPr lvl="1"/>
            <a:r>
              <a:rPr lang="ko-KR" altLang="en-US" sz="2000" dirty="0"/>
              <a:t>완료 시 </a:t>
            </a:r>
            <a:r>
              <a:rPr lang="en-US" altLang="ko-KR" sz="2000" dirty="0"/>
              <a:t>Event </a:t>
            </a:r>
            <a:r>
              <a:rPr lang="ko-KR" altLang="en-US" sz="2000" dirty="0"/>
              <a:t>신호 상태</a:t>
            </a:r>
          </a:p>
          <a:p>
            <a:pPr lvl="2"/>
            <a:r>
              <a:rPr lang="en-US" altLang="ko-KR" sz="1600" dirty="0"/>
              <a:t>hEvents[i] = CreateEvent(nullptr, TRUE, TRUE, nullptr);</a:t>
            </a:r>
          </a:p>
          <a:p>
            <a:pPr lvl="2"/>
            <a:r>
              <a:rPr lang="en-US" altLang="ko-KR" sz="1600" dirty="0"/>
              <a:t>Pipe[i].oOverlap.hEvent = hEvents[i];</a:t>
            </a:r>
          </a:p>
          <a:p>
            <a:pPr lvl="1"/>
            <a:endParaRPr lang="en-US" altLang="ko-KR" sz="2000" dirty="0"/>
          </a:p>
          <a:p>
            <a:r>
              <a:rPr lang="en-US" altLang="ko-KR" sz="2400" dirty="0"/>
              <a:t>CreateEvent </a:t>
            </a:r>
            <a:r>
              <a:rPr lang="ko-KR" altLang="en-US" sz="2400" dirty="0"/>
              <a:t>인자</a:t>
            </a:r>
          </a:p>
          <a:p>
            <a:pPr lvl="1"/>
            <a:r>
              <a:rPr lang="en-US" altLang="ko-KR" sz="2000" dirty="0"/>
              <a:t>TRUE : </a:t>
            </a:r>
            <a:r>
              <a:rPr lang="ko-KR" altLang="en-US" sz="2000" dirty="0"/>
              <a:t>수동 리셋 이벤트</a:t>
            </a:r>
          </a:p>
          <a:p>
            <a:pPr lvl="1"/>
            <a:r>
              <a:rPr lang="en-US" altLang="ko-KR" sz="2000" dirty="0"/>
              <a:t>TRUE : </a:t>
            </a:r>
            <a:r>
              <a:rPr lang="ko-KR" altLang="en-US" sz="2000" dirty="0"/>
              <a:t>초기 신호 상태</a:t>
            </a:r>
          </a:p>
          <a:p>
            <a:endParaRPr lang="ko-KR" altLang="en-US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36F74F0-CA03-D1E3-56BB-463ED2E5DD3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9763506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AA16B-224C-2D44-08BA-B112A427B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AAA3C6-7CB6-A2BF-CD4F-FA1C59F9C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 Event </a:t>
            </a:r>
            <a:r>
              <a:rPr lang="ko-KR" altLang="en-US" dirty="0"/>
              <a:t>생성 및 프로그램 흐름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431A3A-B26F-422F-6A1E-8BDADDD59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1DEE72C-ECA4-2A63-4BC9-9C36ACF473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E4B9EE-40D0-553C-3EC3-345EC60523E4}"/>
              </a:ext>
            </a:extLst>
          </p:cNvPr>
          <p:cNvSpPr txBox="1"/>
          <p:nvPr/>
        </p:nvSpPr>
        <p:spPr>
          <a:xfrm>
            <a:off x="539750" y="692537"/>
            <a:ext cx="7848550" cy="563231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hEvents[i] = </a:t>
            </a:r>
            <a:r>
              <a:rPr lang="en-US" altLang="ko-KR" sz="1800" b="1" i="0" u="none" strike="noStrike" dirty="0">
                <a:solidFill>
                  <a:srgbClr val="C00000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CreateEvent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(</a:t>
            </a:r>
            <a:r>
              <a:rPr lang="en-US" altLang="ko-KR" sz="18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nullptr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, </a:t>
            </a:r>
            <a:r>
              <a:rPr lang="en-US" altLang="ko-KR" sz="1800" b="1" i="0" u="none" strike="noStrike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TRUE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, </a:t>
            </a:r>
            <a:r>
              <a:rPr lang="en-US" altLang="ko-KR" sz="1800" b="1" i="0" u="none" strike="noStrike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TRUE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, </a:t>
            </a:r>
            <a:r>
              <a:rPr lang="en-US" altLang="ko-KR" sz="18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nullptr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);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</a:rPr>
              <a:t>Pipe[i].oOverlap.hEvent = hEvents[i];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CreateEvent </a:t>
            </a: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이벤트 객체 생성</a:t>
            </a:r>
            <a:b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TRUE Manual-reset Event </a:t>
            </a: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수동 리셋 이벤트</a:t>
            </a:r>
            <a:b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TRUE Initial State Signaled </a:t>
            </a: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초기 신호 상태</a:t>
            </a:r>
            <a:b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OVERLAPPED.hEvent I/O </a:t>
            </a: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완료 통지 이벤트</a:t>
            </a:r>
            <a:endParaRPr lang="en-US" altLang="ko-KR" sz="2000" b="1" i="0" u="none" strike="noStrike" dirty="0">
              <a:solidFill>
                <a:srgbClr val="383A42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b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2000" b="1" i="0" u="none" strike="noStrike" dirty="0">
                <a:solidFill>
                  <a:srgbClr val="0070C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CreateEvent</a:t>
            </a:r>
            <a:br>
              <a:rPr lang="en-US" altLang="ko-KR" sz="2000" b="1" i="0" u="none" strike="noStrike" dirty="0">
                <a:solidFill>
                  <a:srgbClr val="0070C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2000" b="1" dirty="0">
                <a:solidFill>
                  <a:srgbClr val="383A42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|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  ↓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2000" b="1" i="0" u="none" strike="noStrike" dirty="0">
                <a:solidFill>
                  <a:srgbClr val="0070C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Manual-reset Event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     |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     ↓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2000" b="1" i="0" u="none" strike="noStrike" dirty="0">
                <a:solidFill>
                  <a:srgbClr val="0070C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OVERLAPPED.hEvent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     |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     ↓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2000" b="1" i="0" u="none" strike="noStrike" dirty="0">
                <a:solidFill>
                  <a:srgbClr val="0070C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I/O </a:t>
            </a:r>
            <a:r>
              <a:rPr lang="ko-KR" altLang="en-US" sz="2000" b="1" i="0" u="none" strike="noStrike" dirty="0">
                <a:solidFill>
                  <a:srgbClr val="0070C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완료 신호</a:t>
            </a:r>
            <a:endParaRPr lang="ko-KR" altLang="en-US" sz="2000" b="1" dirty="0">
              <a:solidFill>
                <a:srgbClr val="0070C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010563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1CA78-814C-CAB0-B1EB-C8B1FE232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ABC31E-E9C3-61E5-D798-C5594B886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 CreateNamedPipe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08C0BF-A509-1142-4283-47BC7F2D1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7458874-6066-2B69-224B-E77E6A71F5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DB241A-277F-D039-699A-FBA13AC52974}"/>
              </a:ext>
            </a:extLst>
          </p:cNvPr>
          <p:cNvSpPr txBox="1"/>
          <p:nvPr/>
        </p:nvSpPr>
        <p:spPr>
          <a:xfrm>
            <a:off x="467544" y="696653"/>
            <a:ext cx="7776864" cy="526297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hPipe = </a:t>
            </a:r>
            <a:r>
              <a:rPr lang="en-US" altLang="ko-KR" sz="1600" b="1" i="0" u="none" strike="noStrike" dirty="0">
                <a:solidFill>
                  <a:srgbClr val="216F85"/>
                </a:solidFill>
                <a:effectLst/>
                <a:latin typeface="Consolas" panose="020B0609020204030204" pitchFamily="49" charset="0"/>
              </a:rPr>
              <a:t>CreateNamedPipe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g_sPipeName,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9900FF"/>
                </a:solidFill>
                <a:effectLst/>
                <a:latin typeface="Consolas" panose="020B0609020204030204" pitchFamily="49" charset="0"/>
              </a:rPr>
              <a:t>PIPE_ACCESS_DUPLEX 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| </a:t>
            </a:r>
            <a:r>
              <a:rPr lang="en-US" altLang="ko-KR" sz="1600" b="1" i="0" u="none" strike="noStrike" dirty="0">
                <a:solidFill>
                  <a:srgbClr val="9900FF"/>
                </a:solidFill>
                <a:effectLst/>
                <a:latin typeface="Consolas" panose="020B0609020204030204" pitchFamily="49" charset="0"/>
              </a:rPr>
              <a:t>FILE_FLAG_OVERLAPPED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PIPE_TYPE_MESSAGE | PIPE_READMODE_MESSAGE | </a:t>
            </a:r>
            <a:r>
              <a:rPr lang="en-US" altLang="ko-KR" sz="1600" b="1" i="0" u="none" strike="noStrike" dirty="0">
                <a:solidFill>
                  <a:srgbClr val="9900FF"/>
                </a:solidFill>
                <a:effectLst/>
                <a:latin typeface="Consolas" panose="020B0609020204030204" pitchFamily="49" charset="0"/>
              </a:rPr>
              <a:t>PIPE_WAIT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PIPE_UNLIMITED_INSTANCES,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MAX_BUF, MAX_BUF, NMPWAIT_USE_DEFAULT_WAIT,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9900FF"/>
                </a:solidFill>
                <a:effectLst/>
                <a:latin typeface="Consolas" panose="020B0609020204030204" pitchFamily="49" charset="0"/>
              </a:rPr>
              <a:t>PIPE_ACCESS_DUPLEX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양방향 통신</a:t>
            </a:r>
            <a:b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9900FF"/>
                </a:solidFill>
                <a:effectLst/>
                <a:latin typeface="Consolas" panose="020B0609020204030204" pitchFamily="49" charset="0"/>
              </a:rPr>
              <a:t>FILE_FLAG_OVERLAPPED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Overlapped I/O 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사용</a:t>
            </a:r>
            <a:b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9900FF"/>
                </a:solidFill>
                <a:effectLst/>
                <a:latin typeface="Consolas" panose="020B0609020204030204" pitchFamily="49" charset="0"/>
              </a:rPr>
              <a:t>PIPE_TYPE_MESSAGE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메시지 단위 파이프</a:t>
            </a:r>
            <a:b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9900FF"/>
                </a:solidFill>
                <a:effectLst/>
                <a:latin typeface="Consolas" panose="020B0609020204030204" pitchFamily="49" charset="0"/>
              </a:rPr>
              <a:t>PIPE_READMODE_MESSAGE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메시지 단위 읽기</a:t>
            </a:r>
            <a:b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9900FF"/>
                </a:solidFill>
                <a:effectLst/>
                <a:latin typeface="Consolas" panose="020B0609020204030204" pitchFamily="49" charset="0"/>
              </a:rPr>
              <a:t>PIPE_WAIT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Blocking Mode</a:t>
            </a:r>
          </a:p>
          <a:p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ko-KR" sz="1600" b="1" i="0" u="none" strike="noStrike" dirty="0">
                <a:solidFill>
                  <a:srgbClr val="216F85"/>
                </a:solidFill>
                <a:effectLst/>
                <a:latin typeface="Consolas" panose="020B0609020204030204" pitchFamily="49" charset="0"/>
              </a:rPr>
              <a:t>CreateNamedPipe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       |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       +-- Duplex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       +-- Overlapped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       +-- Message Type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       +-- Message Read Mode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       +-- Blocking Mode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1276915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B474E-66FB-68ED-FDAA-8A82B81BB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B45AA3-2B3B-E714-2087-90742706D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 Pipe </a:t>
            </a:r>
            <a:r>
              <a:rPr lang="ko-KR" altLang="en-US" dirty="0"/>
              <a:t>인스턴스 초기화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F55A06-ADF2-F1C6-7743-381E666A5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A1751F8-C4BD-8DBC-FC4C-BCF8B96002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8D7C5E-EFFA-B664-CED4-A551D5063F1C}"/>
              </a:ext>
            </a:extLst>
          </p:cNvPr>
          <p:cNvSpPr txBox="1"/>
          <p:nvPr/>
        </p:nvSpPr>
        <p:spPr>
          <a:xfrm>
            <a:off x="522955" y="690040"/>
            <a:ext cx="7560840" cy="550920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Pipe[i].hPipeInst = hPipe;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Pipe[i].fPendingIO =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ConnectToNewClient(Pipe[i].hPipeInst, &amp;Pipe[i].oOverlap);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Pipe[i].dwState = Pipe[i].fPendingIO ?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CONNECTING_STATE :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READING_STATE;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파이프 핸들 저장 클라이언트 연결 시작 미완료 상태 확인 초기 상태 결정</a:t>
            </a:r>
            <a:endParaRPr lang="en-US" altLang="ko-KR" sz="1600" b="1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b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CreateNamedPipe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        |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       ↓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 Pipe[i].hPipeInst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       |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       ↓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 ConnectToNewClient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       |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       +-- TRUE  → CONNECTING_STATE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       |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       +-- FALSE → READING_STATE</a:t>
            </a:r>
            <a:endParaRPr lang="ko-KR" altLang="en-US" sz="16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30972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18A18-BC47-4061-AE82-08609792C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938C29-8023-ECF7-A6B6-36DC2BD57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 ConnectToNewClient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935A19-73E1-2A40-D0D1-24348E97B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4E979BC-CA9A-C83C-2FEC-101FB44607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35FD42-65EC-E551-9DF7-FEE1DB523355}"/>
              </a:ext>
            </a:extLst>
          </p:cNvPr>
          <p:cNvSpPr txBox="1"/>
          <p:nvPr/>
        </p:nvSpPr>
        <p:spPr>
          <a:xfrm>
            <a:off x="467222" y="692150"/>
            <a:ext cx="7993210" cy="347787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ConnectToNewClient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(HANDLE hPipe, LPOVERLAPPED lpo)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fConnected, fPendingIO = FALSE;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lpo-&gt;Offset = 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lpo-&gt;OffsetHigh = 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fConnected = </a:t>
            </a:r>
            <a:r>
              <a:rPr lang="en-US" altLang="ko-KR" sz="2000" b="1" i="0" u="none" strike="noStrike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ConnectNamedPipe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(hPipe, lpo);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ConnectNamedPipe </a:t>
            </a: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클라이언트 연결 요청 시작</a:t>
            </a:r>
            <a:b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OVERLAPPED </a:t>
            </a: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사용 즉시 완료 또는 대기 상태</a:t>
            </a:r>
            <a:b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Offset / OffsetHigh </a:t>
            </a: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파일 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I/O</a:t>
            </a: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용 위치 값 파이프에서는 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0323382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FD6C3-35C6-FC6A-56D4-251FE3916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568260-FF48-B6A7-0E11-B232A63A2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 ConnectToNewClient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E125E2-124B-96DB-4D91-CD81DBB72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DC26821-16F4-B166-82F3-E5C5F064171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C01224-A98A-5467-42E1-3C8C26E29688}"/>
              </a:ext>
            </a:extLst>
          </p:cNvPr>
          <p:cNvSpPr txBox="1"/>
          <p:nvPr/>
        </p:nvSpPr>
        <p:spPr>
          <a:xfrm>
            <a:off x="467222" y="692150"/>
            <a:ext cx="6265018" cy="526297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 lIns="252000">
            <a:spAutoFit/>
          </a:bodyPr>
          <a:lstStyle/>
          <a:p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ConnectToNewClient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  |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  ↓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ConnectNamedPipe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  |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+-- ERROR_IO_PENDING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  |        |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|        ↓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  |   fPendingIO = TRUE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  |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+-- ERROR_PIPE_CONNECTED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            |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            ↓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          SetEvent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7088670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37AAA-C8B3-F270-9C08-A4C1EE75B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F66F27-6066-90BB-A355-D8712AB66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13. ERROR_PIPE_CONNECTED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B4E1CB-C134-47AD-550E-04BFD8BB8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5A6FCC0-A45D-E4E2-BA29-EA8B79C37F5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1D953C-7859-3B02-8C4E-4C875744B1EB}"/>
              </a:ext>
            </a:extLst>
          </p:cNvPr>
          <p:cNvSpPr txBox="1"/>
          <p:nvPr/>
        </p:nvSpPr>
        <p:spPr>
          <a:xfrm>
            <a:off x="575270" y="679450"/>
            <a:ext cx="7993137" cy="532453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 lIns="288000">
            <a:spAutoFit/>
          </a:bodyPr>
          <a:lstStyle/>
          <a:p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ERROR_PIPE_CONNECTED: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(SetEvent(lpo-&gt;hEvent))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ERROR_PIPE_CONNECTED </a:t>
            </a: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클라이언트 이미 연결됨</a:t>
            </a:r>
            <a:b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SetEvent </a:t>
            </a: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완료 이벤트 직접 신호 상태 설정</a:t>
            </a:r>
            <a:endParaRPr lang="en-US" altLang="ko-KR" sz="2000" b="1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b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Client already connected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|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2000" b="1" dirty="0">
                <a:solidFill>
                  <a:srgbClr val="383A42"/>
                </a:solidFill>
                <a:latin typeface="Consolas" panose="020B0609020204030204" pitchFamily="49" charset="0"/>
              </a:rPr>
              <a:t>↓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ERROR_PIPE_CONNECTED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|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2000" b="1" dirty="0">
                <a:solidFill>
                  <a:srgbClr val="383A42"/>
                </a:solidFill>
                <a:latin typeface="Consolas" panose="020B0609020204030204" pitchFamily="49" charset="0"/>
              </a:rPr>
              <a:t>↓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   SetEvent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|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2000" b="1" dirty="0">
                <a:solidFill>
                  <a:srgbClr val="383A42"/>
                </a:solidFill>
                <a:latin typeface="Consolas" panose="020B0609020204030204" pitchFamily="49" charset="0"/>
              </a:rPr>
              <a:t>↓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WaitForMultipleObjects </a:t>
            </a: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에서 감지</a:t>
            </a:r>
            <a:endParaRPr lang="ko-KR" altLang="en-US" sz="20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66282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49030-25F0-CEB9-FCC2-94099AC92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C8E256-4EAA-5877-4630-0BB8F74BC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</a:t>
            </a:r>
            <a:r>
              <a:rPr lang="ko-KR" altLang="en-US" dirty="0"/>
              <a:t> 서버 메인 루프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B70331-EA72-DECD-0DE8-BA4C043E6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6CDA831-4CE2-1B2E-173F-AA287BBAC92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F516BC-7EF5-5479-3AEC-BB6000389469}"/>
              </a:ext>
            </a:extLst>
          </p:cNvPr>
          <p:cNvSpPr txBox="1"/>
          <p:nvPr/>
        </p:nvSpPr>
        <p:spPr>
          <a:xfrm>
            <a:off x="508099" y="692150"/>
            <a:ext cx="7920682" cy="563231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 lIns="432000">
            <a:spAutoFit/>
          </a:bodyPr>
          <a:lstStyle/>
          <a:p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i = </a:t>
            </a:r>
            <a:r>
              <a:rPr lang="en-US" altLang="ko-KR" sz="1800" b="1" i="0" u="none" strike="noStrike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WaitForMultipleObjects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INSTANCES, hEvents, FALSE, INFINITE);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i -= WAIT_OBJECT_0;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WaitForMultipleObjects </a:t>
            </a: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여러 이벤트 중 하나 대기</a:t>
            </a:r>
            <a:b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FALSE </a:t>
            </a: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하나만 신호 상태여도 반환</a:t>
            </a:r>
            <a:b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INFINITE </a:t>
            </a: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무한 대기</a:t>
            </a:r>
            <a:b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반환값 완료된 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Pipe </a:t>
            </a: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인덱스 계산</a:t>
            </a:r>
            <a:endParaRPr lang="en-US" altLang="ko-KR" sz="1800" b="1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b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Event[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  Event[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  Event[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  Event[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|          |          |          |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+----------+----------+----------+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|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sz="1800" b="1" dirty="0">
                <a:solidFill>
                  <a:srgbClr val="383A42"/>
                </a:solidFill>
                <a:latin typeface="Consolas" panose="020B0609020204030204" pitchFamily="49" charset="0"/>
              </a:rPr>
              <a:t>↓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WaitForMultipleObjects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|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sz="1800" b="1" dirty="0">
                <a:solidFill>
                  <a:srgbClr val="383A42"/>
                </a:solidFill>
                <a:latin typeface="Consolas" panose="020B0609020204030204" pitchFamily="49" charset="0"/>
              </a:rPr>
              <a:t>↓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완료 인덱스 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</a:t>
            </a:r>
            <a:endParaRPr lang="ko-KR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12000309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E4C15-2673-5DF4-936A-6404A4F25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DC7A28-7D2E-4B52-9C44-51569DE46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15. Pending I/O </a:t>
            </a:r>
            <a:r>
              <a:rPr lang="ko-KR" altLang="en-US" dirty="0"/>
              <a:t>완료 확인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4821A1-AFA2-24DA-898B-04AC587BE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EFE844A-8CF8-4A94-B464-6615D7BC9A4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5F17B4-E374-9609-E745-1D0914A53C3C}"/>
              </a:ext>
            </a:extLst>
          </p:cNvPr>
          <p:cNvSpPr txBox="1"/>
          <p:nvPr/>
        </p:nvSpPr>
        <p:spPr>
          <a:xfrm>
            <a:off x="683568" y="687611"/>
            <a:ext cx="7344816" cy="563231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 lIns="432000">
            <a:spAutoFit/>
          </a:bodyPr>
          <a:lstStyle/>
          <a:p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(Pipe[i].fPendingIO) {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hr = </a:t>
            </a:r>
            <a:r>
              <a:rPr lang="en-US" altLang="ko-KR" sz="1800" b="1" i="0" u="none" strike="noStrike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GetOverlappedResult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Pipe[i].hPipeInst,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&amp;Pipe[i].oOverlap,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&amp;cbRet,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FALSE);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fPendingIO </a:t>
            </a: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미완료 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I/O </a:t>
            </a: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존재 여부</a:t>
            </a:r>
            <a:b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GetOverlappedResult Overlapped I/O </a:t>
            </a: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완료 결과 확인</a:t>
            </a:r>
            <a:b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cbRet </a:t>
            </a: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전송 완료 바이트 수</a:t>
            </a:r>
            <a:b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FALSE </a:t>
            </a: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추가 대기 없음</a:t>
            </a:r>
            <a:endParaRPr lang="en-US" altLang="ko-KR" sz="1800" b="1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b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fPendingIO == TRUE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|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800" b="1" dirty="0">
                <a:solidFill>
                  <a:srgbClr val="383A42"/>
                </a:solidFill>
                <a:latin typeface="Consolas" panose="020B0609020204030204" pitchFamily="49" charset="0"/>
              </a:rPr>
              <a:t>↓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GetOverlappedResult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|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+-- hr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|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+-- cbRet</a:t>
            </a:r>
            <a:endParaRPr lang="ko-KR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40990546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3D9AF-C2A7-6287-795A-0570CE2EA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12628C-036E-B2C6-5A2C-695DF8F41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</a:t>
            </a:r>
            <a:r>
              <a:rPr lang="ko-KR" altLang="en-US" dirty="0"/>
              <a:t> 상태별 완료 처리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FE28C7-49B0-4989-D450-F679691A8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67E5F87-728E-7C3E-067C-322A02EA1A7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C7B6BF-84BC-25DF-6AA9-69DA38A956EA}"/>
              </a:ext>
            </a:extLst>
          </p:cNvPr>
          <p:cNvSpPr txBox="1"/>
          <p:nvPr/>
        </p:nvSpPr>
        <p:spPr>
          <a:xfrm>
            <a:off x="395287" y="836711"/>
            <a:ext cx="7921129" cy="526297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 lIns="360000">
            <a:spAutoFit/>
          </a:bodyPr>
          <a:lstStyle/>
          <a:p>
            <a:r>
              <a:rPr lang="en-US" altLang="ko-KR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(Pipe[i].dwState) {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CONNECTING_STATE: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Pipe[i].dwState = READING_STATE;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READING_STATE: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Pipe[i].cbRead = cbRet;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Pipe[i].dwState = WRITING_STATE;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WRITING_STATE: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Pipe[i].dwState = READING_STATE;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1456051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D0A5A-CDD4-5546-E083-8BEF39D35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0B4C5C-ECBF-5DCC-4B78-CD2BE080C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16.</a:t>
            </a:r>
            <a:r>
              <a:rPr lang="ko-KR" altLang="en-US" dirty="0"/>
              <a:t> 상태별 완료 처리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7DF283-AC53-B772-8109-218A9703E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9D31357-81F7-A87B-31DC-722C42E2DF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669619-58BF-D904-67C9-5CF1108C5FA5}"/>
              </a:ext>
            </a:extLst>
          </p:cNvPr>
          <p:cNvSpPr txBox="1"/>
          <p:nvPr/>
        </p:nvSpPr>
        <p:spPr>
          <a:xfrm>
            <a:off x="395287" y="836711"/>
            <a:ext cx="8353426" cy="440120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 lIns="360000">
            <a:spAutoFit/>
          </a:bodyPr>
          <a:lstStyle/>
          <a:p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CONNECTING_STATE </a:t>
            </a: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완료 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READING_STATE </a:t>
            </a: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전환</a:t>
            </a:r>
            <a:b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READING_STATE </a:t>
            </a: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완료 수신 바이트 저장 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WRITING_STATE </a:t>
            </a: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전환</a:t>
            </a:r>
            <a:b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WRITING_STATE </a:t>
            </a: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완료 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READING_STATE </a:t>
            </a: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전환</a:t>
            </a:r>
            <a:endParaRPr lang="en-US" altLang="ko-KR" sz="2000" b="1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b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완료된 작업</a:t>
            </a:r>
            <a:b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|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상태 확인</a:t>
            </a:r>
            <a:b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|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+-- CONNECTING → READING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|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+-- READING    → WRITING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|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+-- WRITING    → READING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0580484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809A9-D4A6-C368-61E3-D8524C414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1C4BFC-6376-160A-951A-EF6D4FB1F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17. ReadFile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EA2381-6BC3-6975-DBE0-0683817F8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EAF992D-AF95-828F-723C-8D5569C780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670D1B-477F-6B6E-EDCB-1BA7214838F1}"/>
              </a:ext>
            </a:extLst>
          </p:cNvPr>
          <p:cNvSpPr txBox="1"/>
          <p:nvPr/>
        </p:nvSpPr>
        <p:spPr>
          <a:xfrm>
            <a:off x="755576" y="692150"/>
            <a:ext cx="6624736" cy="415498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 lIns="360000">
            <a:spAutoFit/>
          </a:bodyPr>
          <a:lstStyle/>
          <a:p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hr = </a:t>
            </a:r>
            <a:r>
              <a:rPr lang="en-US" altLang="ko-KR" b="1" i="0" u="none" strike="noStrike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ReadFile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Pipe[i].hPipeInst,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Pipe[i].chRequest,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MAX_BUF * </a:t>
            </a:r>
            <a:r>
              <a:rPr lang="en-US" altLang="ko-KR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),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&amp;Pipe[i].cbRead,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&amp;Pipe[i].oOverlap);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ReadFile </a:t>
            </a:r>
            <a:r>
              <a:rPr lang="ko-KR" altLang="en-US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클라이언트 요청 수신</a:t>
            </a:r>
            <a:br>
              <a:rPr lang="ko-KR" altLang="en-US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chRequest </a:t>
            </a:r>
            <a:r>
              <a:rPr lang="ko-KR" altLang="en-US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수신 버퍼</a:t>
            </a:r>
            <a:br>
              <a:rPr lang="ko-KR" altLang="en-US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cbRead </a:t>
            </a:r>
            <a:r>
              <a:rPr lang="ko-KR" altLang="en-US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수신 바이트 수</a:t>
            </a:r>
            <a:br>
              <a:rPr lang="ko-KR" altLang="en-US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oOverlap Overlapped I/O </a:t>
            </a:r>
            <a:r>
              <a:rPr lang="ko-KR" altLang="en-US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정보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7221937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C7026-0717-6262-826E-74CE7BA46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41F819-723A-A5B3-402C-C9C3F3960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17. ReadFile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C0FFCB-5A9D-FD72-29A3-404CE8081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EA7F120-48FD-FA40-7E29-F911D79E35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679F31-13C7-70C0-962A-A415C468321B}"/>
              </a:ext>
            </a:extLst>
          </p:cNvPr>
          <p:cNvSpPr txBox="1"/>
          <p:nvPr/>
        </p:nvSpPr>
        <p:spPr>
          <a:xfrm>
            <a:off x="755576" y="692150"/>
            <a:ext cx="6102424" cy="564321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 lIns="360000" tIns="144000" bIns="144000">
            <a:spAutoFit/>
          </a:bodyPr>
          <a:lstStyle/>
          <a:p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READING_STATE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|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↓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ReadFile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|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+-- </a:t>
            </a:r>
            <a:r>
              <a:rPr lang="ko-KR" altLang="en-US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즉시 완료</a:t>
            </a:r>
            <a:br>
              <a:rPr lang="ko-KR" altLang="en-US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|       |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|       ↓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|  WRITING_STATE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|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+-- ERROR_IO_PENDING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|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↓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fPendingIO = TRUE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1296584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66775-67A7-4B2F-939B-65D2A6F0B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01CE62-9F73-218C-2EDE-1985078EF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18. WriteFile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08E933-CA16-926E-65C5-E7607B6827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0564236-F901-50ED-C28B-5C6CE359DD0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DCCF4C-02C6-DE31-0360-A0911BF9E27C}"/>
              </a:ext>
            </a:extLst>
          </p:cNvPr>
          <p:cNvSpPr txBox="1"/>
          <p:nvPr/>
        </p:nvSpPr>
        <p:spPr>
          <a:xfrm>
            <a:off x="683568" y="692150"/>
            <a:ext cx="6768752" cy="516483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 lIns="360000" tIns="180000" bIns="180000">
            <a:spAutoFit/>
          </a:bodyPr>
          <a:lstStyle/>
          <a:p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GetAnswerToRequest(&amp;Pipe[i]);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hr = </a:t>
            </a:r>
            <a:r>
              <a:rPr lang="en-US" altLang="ko-KR" sz="2400" b="1" i="0" u="none" strike="noStrike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WriteFile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Pipe[i].hPipeInst,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Pipe[i].chReply,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Pipe[i].cbToWrite,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&amp;cbRet,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&amp;Pipe[i].oOverlap);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GetAnswerToRequest </a:t>
            </a:r>
            <a:r>
              <a:rPr lang="ko-KR" altLang="en-US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응답 데이터 준비</a:t>
            </a:r>
            <a:br>
              <a:rPr lang="ko-KR" altLang="en-US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WriteFile </a:t>
            </a:r>
            <a:r>
              <a:rPr lang="ko-KR" altLang="en-US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클라이언트 응답 송신</a:t>
            </a:r>
            <a:br>
              <a:rPr lang="ko-KR" altLang="en-US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chReply </a:t>
            </a:r>
            <a:r>
              <a:rPr lang="ko-KR" altLang="en-US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응답 버퍼</a:t>
            </a:r>
            <a:br>
              <a:rPr lang="ko-KR" altLang="en-US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cbToWrite </a:t>
            </a:r>
            <a:r>
              <a:rPr lang="ko-KR" altLang="en-US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송신 바이트 수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6763933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5BBA0-E9DD-3B5A-413C-740DC52F2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E6CC2F-A309-F369-8857-770B792F1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18. WriteFile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8D0D70-9388-2F99-5733-8B672494F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BE42969-1DDD-8E86-164B-D572662715F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41C131-4E2A-D68F-4E43-63E8B7F06527}"/>
              </a:ext>
            </a:extLst>
          </p:cNvPr>
          <p:cNvSpPr txBox="1"/>
          <p:nvPr/>
        </p:nvSpPr>
        <p:spPr>
          <a:xfrm>
            <a:off x="358949" y="692150"/>
            <a:ext cx="8389764" cy="442616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 lIns="360000" tIns="180000" bIns="180000">
            <a:spAutoFit/>
          </a:bodyPr>
          <a:lstStyle/>
          <a:p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WRITING_STATE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|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↓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GetAnswerToRequest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|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↓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WriteFile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|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+-- </a:t>
            </a:r>
            <a:r>
              <a:rPr lang="ko-KR" altLang="en-US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즉시 완료 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→ READING_STATE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|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+-- ERROR_IO_PENDING → fPendingIO = TRUE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320971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BDD6A-C523-CAF9-6A65-5B77492A6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C962ED-A3E1-628F-44A6-6A9BBF71C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19.</a:t>
            </a:r>
            <a:r>
              <a:rPr lang="ko-KR" altLang="en-US" dirty="0"/>
              <a:t> 요청 처리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77CA96-FF90-FEC4-4E50-8096B80ED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DF01E66-7E1A-EE03-7D5E-EC961FC1B5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5BB6A4-DFC7-8C3D-27CB-66E4BB6E31C3}"/>
              </a:ext>
            </a:extLst>
          </p:cNvPr>
          <p:cNvSpPr txBox="1"/>
          <p:nvPr/>
        </p:nvSpPr>
        <p:spPr>
          <a:xfrm>
            <a:off x="539552" y="692150"/>
            <a:ext cx="8064698" cy="147732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GetAnswerToRequest(LPPIPEINST pipe) {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"[%d] %s\n"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pipe-&gt;hPipeInst, pipe-&gt;chRequest);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strcpy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(pipe-&gt;chReply, 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"Default answer from server"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pipe-&gt;cbToWrite = </a:t>
            </a:r>
            <a:r>
              <a:rPr lang="en-US" altLang="ko-KR" sz="18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strlen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(pipe-&gt;chReply);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8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5A86D6-A698-22EB-FF58-13AAFA1839B8}"/>
              </a:ext>
            </a:extLst>
          </p:cNvPr>
          <p:cNvSpPr txBox="1"/>
          <p:nvPr/>
        </p:nvSpPr>
        <p:spPr>
          <a:xfrm>
            <a:off x="539750" y="2276872"/>
            <a:ext cx="8064698" cy="398413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 lIns="360000" tIns="144000" rIns="360000" bIns="144000">
            <a:spAutoFit/>
          </a:bodyPr>
          <a:lstStyle/>
          <a:p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요청 문자열 출력 응답 문자열 복사 응답 크기 계산</a:t>
            </a:r>
            <a:b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chRequest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    |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  ↓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ko-KR" sz="20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"Default answer from server"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    |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  ↓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chReply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  |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    ↓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cbToWrite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2950459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3A285-1831-5850-2CDF-312A7030A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537A8-BD1E-081F-D574-B2EB95A17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20. DisconnectAndReconnect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EFF125-30B3-60F7-031E-C91F3A1FB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15BFAA7-E6A8-441D-D02D-DDAE35CC1A7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0E7928-344D-45E0-FB2A-B3FB2611B79A}"/>
              </a:ext>
            </a:extLst>
          </p:cNvPr>
          <p:cNvSpPr txBox="1"/>
          <p:nvPr/>
        </p:nvSpPr>
        <p:spPr>
          <a:xfrm>
            <a:off x="548928" y="681137"/>
            <a:ext cx="7767488" cy="181588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DisconnectAndReconnect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(DWORD i) 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DisconnectNamedPipe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(Pipe[i].hPipeInst);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Pipe[i].fPendingIO =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ConnectToNewClient(Pipe[i].hPipeInst, &amp;Pipe[i].oOverlap);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Pipe[i].dwState = Pipe[i].fPendingIO ?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CONNECTING_STATE : READING_STATE;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06C4B6-8FA2-3251-F581-621CDF02714A}"/>
              </a:ext>
            </a:extLst>
          </p:cNvPr>
          <p:cNvSpPr txBox="1"/>
          <p:nvPr/>
        </p:nvSpPr>
        <p:spPr>
          <a:xfrm>
            <a:off x="552822" y="2654098"/>
            <a:ext cx="7767488" cy="369331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 lIns="360000">
            <a:spAutoFit/>
          </a:bodyPr>
          <a:lstStyle/>
          <a:p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클라이언트 연결 종료 같은 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Pipe </a:t>
            </a: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인스턴스 재사용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새 클라이언트 연결 대기 상태 재설정</a:t>
            </a:r>
            <a:b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오류 또는 연결 종료</a:t>
            </a:r>
            <a:b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|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↓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DisconnectNamedPipe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|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↓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ConnectToNewClient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|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+-- CONNECTING_STATE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|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+-- READING_STATE</a:t>
            </a:r>
            <a:endParaRPr lang="ko-KR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27804851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5D937-F457-1ED2-8E6D-934F30D38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3E1151-269B-8762-008D-89CFC6DE4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21.</a:t>
            </a:r>
            <a:r>
              <a:rPr lang="ko-KR" altLang="en-US" dirty="0"/>
              <a:t> 클라이언트 </a:t>
            </a:r>
            <a:r>
              <a:rPr lang="en-US" altLang="ko-KR" dirty="0"/>
              <a:t>CreateFile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9D9440-CEB3-E016-3EE4-3AD4DEF85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9116335-2F5B-DDF6-2F61-7A5BF176C7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21E3EB-D049-D167-8CFB-D5E0E0FF358B}"/>
              </a:ext>
            </a:extLst>
          </p:cNvPr>
          <p:cNvSpPr txBox="1"/>
          <p:nvPr/>
        </p:nvSpPr>
        <p:spPr>
          <a:xfrm>
            <a:off x="683568" y="692150"/>
            <a:ext cx="7632848" cy="563231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 lIns="360000">
            <a:spAutoFit/>
          </a:bodyPr>
          <a:lstStyle/>
          <a:p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g_hPipe = </a:t>
            </a:r>
            <a:r>
              <a:rPr lang="en-US" altLang="ko-KR" sz="1600" b="1" i="0" u="none" strike="noStrike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CreateFile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g_sPipeName,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GENERIC_READ | GENERIC_WRITE,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OPEN_EXISTING,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CreateFile Named Pipe </a:t>
            </a: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연결</a:t>
            </a:r>
            <a:b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GENERIC_READ </a:t>
            </a: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읽기 권한</a:t>
            </a:r>
            <a:b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GENERIC_WRITE </a:t>
            </a: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쓰기 권한</a:t>
            </a:r>
            <a:b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OPEN_EXISTING </a:t>
            </a: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이미 생성된 파이프 열기</a:t>
            </a:r>
            <a:endParaRPr lang="en-US" altLang="ko-KR" sz="1800" b="1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b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Client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   |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   ↓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 CreateFile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   |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   ↓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ko-KR" sz="1800" b="1" i="0" u="none" strike="noStrike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\\.\pipe\mynamedpipe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   |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   ↓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 Server Pipe Instance</a:t>
            </a:r>
            <a:endParaRPr lang="ko-KR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25902186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BE3A6-A580-6E11-7821-B2F9C37D5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0F9B8F-D030-D405-E12E-D3095CF02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22.</a:t>
            </a:r>
            <a:r>
              <a:rPr lang="ko-KR" altLang="en-US" dirty="0"/>
              <a:t> 클라이언트 접속 대기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DCE8EF-3BA1-99BD-0D7E-E7BA19828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40F4CB0-DB3F-122C-7BF3-540A91FEE99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B59540-75E3-9E6C-238F-D3F238629276}"/>
              </a:ext>
            </a:extLst>
          </p:cNvPr>
          <p:cNvSpPr txBox="1"/>
          <p:nvPr/>
        </p:nvSpPr>
        <p:spPr>
          <a:xfrm>
            <a:off x="611560" y="606424"/>
            <a:ext cx="6624736" cy="181588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(g_hPipe != INVALID_HANDLE_VALUE)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hr = GetLastError();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(ERROR_PIPE_BUSY != hr) {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"Could not open pipe. GLE=%d\n"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GetLastError());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hr = </a:t>
            </a:r>
            <a:r>
              <a:rPr lang="en-US" altLang="ko-KR" sz="1400" b="1" i="0" u="none" strike="noStrike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WaitNamedPipe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(g_sPipeName,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60000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sz="1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782E96-D61B-5F6E-CBA3-630E7A484ACB}"/>
              </a:ext>
            </a:extLst>
          </p:cNvPr>
          <p:cNvSpPr txBox="1"/>
          <p:nvPr/>
        </p:nvSpPr>
        <p:spPr>
          <a:xfrm>
            <a:off x="611560" y="2493471"/>
            <a:ext cx="6624736" cy="403187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 lIns="360000">
            <a:spAutoFit/>
          </a:bodyPr>
          <a:lstStyle/>
          <a:p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INVALID_HANDLE_VALUE CreateFile 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실패</a:t>
            </a:r>
            <a:b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ERROR_PIPE_BUSY 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모든 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Pipe 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인스턴스 사용 중</a:t>
            </a:r>
            <a:b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WaitNamedPipe Pipe 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사용 가능 상태 대기</a:t>
            </a:r>
            <a:endParaRPr lang="en-US" altLang="ko-KR" sz="1600" b="1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b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CreateFile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|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+-- 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성공 → 연결 완료</a:t>
            </a:r>
            <a:b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|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+-- 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실패</a:t>
            </a:r>
            <a:b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|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↓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GetLastError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|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+-- ERROR_PIPE_BUSY → WaitNamedPipe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|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+-- 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기타 오류 → 종료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4991956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FC521-8FCF-175B-E651-BD540E442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64F038-047F-9303-9E44-CF2629DF2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23. Message Read Mode </a:t>
            </a:r>
            <a:r>
              <a:rPr lang="ko-KR" altLang="en-US" dirty="0"/>
              <a:t>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E32A1C-4CB5-29C9-3CE8-9ADCBAB89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E640CBD-5A92-D35F-82ED-54095FD3CB7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745460-8098-D4B4-CC2A-6431258D42C8}"/>
              </a:ext>
            </a:extLst>
          </p:cNvPr>
          <p:cNvSpPr txBox="1"/>
          <p:nvPr/>
        </p:nvSpPr>
        <p:spPr>
          <a:xfrm>
            <a:off x="539750" y="692150"/>
            <a:ext cx="7920682" cy="550920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 lIns="360000">
            <a:spAutoFit/>
          </a:bodyPr>
          <a:lstStyle/>
          <a:p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dwMode = PIPE_READMODE_MESSAGE;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hr = </a:t>
            </a:r>
            <a:r>
              <a:rPr lang="en-US" altLang="ko-KR" sz="1600" b="1" i="0" u="none" strike="noStrike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SetNamedPipeHandleState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(g_hPipe, &amp;dwMode, </a:t>
            </a:r>
            <a:r>
              <a:rPr lang="en-US" altLang="ko-KR" sz="16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PIPE_READMODE_MESSAGE </a:t>
            </a: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메시지 단위 읽기 모드</a:t>
            </a:r>
            <a:b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SetNamedPipeHandleState </a:t>
            </a: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클라이언트 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Pipe </a:t>
            </a: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핸들 상태 변경</a:t>
            </a:r>
            <a:endParaRPr lang="en-US" altLang="ko-KR" sz="2000" b="1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b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Pipe Handle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    |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  ↓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SetNamedPipeHandleState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    |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  ↓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PIPE_READMODE_MESSAGE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    |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  ↓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Message </a:t>
            </a:r>
            <a:r>
              <a:rPr lang="ko-KR" altLang="en-US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단위 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ReadFile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20139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38F95-E444-A9E3-DBE2-DFD510CC3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B9E2B4-F6F7-D137-B1DB-46C198C67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24.</a:t>
            </a:r>
            <a:r>
              <a:rPr lang="ko-KR" altLang="en-US" dirty="0"/>
              <a:t> 클라이언트 </a:t>
            </a:r>
            <a:r>
              <a:rPr lang="en-US" altLang="ko-KR" dirty="0"/>
              <a:t>WriteFile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E3A734-B136-9062-98DB-6629D7E32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45D24B2-7FDD-9BA7-836D-B73D12F6D4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92F07A-B576-2254-75C5-5EBF54AA1570}"/>
              </a:ext>
            </a:extLst>
          </p:cNvPr>
          <p:cNvSpPr txBox="1"/>
          <p:nvPr/>
        </p:nvSpPr>
        <p:spPr>
          <a:xfrm>
            <a:off x="539751" y="692150"/>
            <a:ext cx="8208962" cy="590931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 lIns="360000">
            <a:spAutoFit/>
          </a:bodyPr>
          <a:lstStyle/>
          <a:p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iSize = lstrlen(g_sSnd);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"Sending: %d byte\n"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iSize);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hr = </a:t>
            </a:r>
            <a:r>
              <a:rPr lang="en-US" altLang="ko-KR" sz="1600" b="1" i="0" u="none" strike="noStrike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WriteFile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(g_hPipe, g_sSnd, iSize, &amp;dTran, </a:t>
            </a:r>
            <a:r>
              <a:rPr lang="en-US" altLang="ko-KR" sz="16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lstrlen </a:t>
            </a: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송신 문자열 길이 계산</a:t>
            </a:r>
            <a:b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WriteFile </a:t>
            </a: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서버로 메시지 송신</a:t>
            </a:r>
            <a:b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dTran </a:t>
            </a: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송신 완료 바이트 수</a:t>
            </a:r>
            <a:endParaRPr lang="en-US" altLang="ko-KR" sz="1800" b="1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b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g_sSnd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|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↓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lstrlen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|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↓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iSize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|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↓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WriteFile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|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↓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Server ReadFile</a:t>
            </a:r>
            <a:endParaRPr lang="ko-KR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19280694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E9FB8-9D4E-2A80-A464-D921BA055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38662D-204E-52E7-EA21-602796991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25.</a:t>
            </a:r>
            <a:r>
              <a:rPr lang="ko-KR" altLang="en-US" dirty="0"/>
              <a:t> 클라이언트 </a:t>
            </a:r>
            <a:r>
              <a:rPr lang="en-US" altLang="ko-KR" dirty="0"/>
              <a:t>ReadFile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2F3959-2427-3DC2-2C8C-6007FB109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4356BB3-F6A5-4FF2-ADCC-654FE0C32AF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F8AEEB-96DF-2CBD-55CC-B728113440B2}"/>
              </a:ext>
            </a:extLst>
          </p:cNvPr>
          <p:cNvSpPr txBox="1"/>
          <p:nvPr/>
        </p:nvSpPr>
        <p:spPr>
          <a:xfrm>
            <a:off x="539750" y="764704"/>
            <a:ext cx="7920682" cy="575542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 lIns="360000">
            <a:spAutoFit/>
          </a:bodyPr>
          <a:lstStyle/>
          <a:p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hr = ReadFile(g_hPipe, g_sRcv, MAX_BUF, &amp;cbRead, </a:t>
            </a:r>
            <a:r>
              <a:rPr lang="en-US" altLang="ko-KR" sz="16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(!hr &amp;&amp; GetLastError() != ERROR_MORE_DATA)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"\"%s\"\n"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g_sRcv);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(!hr);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ReadFile 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서버 응답 수신</a:t>
            </a:r>
            <a:b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g_sRcv 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수신 버퍼</a:t>
            </a:r>
            <a:b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ERROR_MORE_DATA 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메시지 데이터 일부만 수신</a:t>
            </a:r>
            <a:b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반복 수신 남은 메시지 계속 읽기</a:t>
            </a:r>
            <a:endParaRPr lang="en-US" altLang="ko-KR" sz="1600" b="1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b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Server WriteFile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|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↓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Client ReadFile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|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+-- 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전체 수신 → 출력</a:t>
            </a:r>
            <a:b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|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+-- ERROR_MORE_DATA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|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  ↓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다시 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ReadFile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9607601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7D698-92D0-5143-186F-E82B78AE5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3B1DC4-A91E-B45C-61EB-D6DEB4916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26.</a:t>
            </a:r>
            <a:r>
              <a:rPr lang="ko-KR" altLang="en-US" dirty="0"/>
              <a:t> 전체 통신 흐름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D26B9C-604F-1357-55AF-6EA5C9062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188ABF-B153-E9D6-80BF-8013CB03414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E37C7F-35F1-39A9-4C3A-11BB54AD9689}"/>
              </a:ext>
            </a:extLst>
          </p:cNvPr>
          <p:cNvSpPr txBox="1"/>
          <p:nvPr/>
        </p:nvSpPr>
        <p:spPr>
          <a:xfrm>
            <a:off x="611560" y="692150"/>
            <a:ext cx="7488832" cy="575542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 lIns="360000">
            <a:spAutoFit/>
          </a:bodyPr>
          <a:lstStyle/>
          <a:p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&lt;Server&gt;                                   &lt;Client&gt;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CreateNamedPipe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|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↓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ConnectNamedPipe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|                                    CreateFile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| </a:t>
            </a:r>
            <a:r>
              <a:rPr lang="ko-KR" altLang="en-US" sz="1600" b="1" dirty="0">
                <a:solidFill>
                  <a:srgbClr val="383A42"/>
                </a:solidFill>
                <a:latin typeface="Consolas" panose="020B0609020204030204" pitchFamily="49" charset="0"/>
              </a:rPr>
              <a:t>◁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------------------------------------ |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↓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READING_STATE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|                                    WriteFile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| </a:t>
            </a:r>
            <a:r>
              <a:rPr lang="ko-KR" altLang="en-US" sz="1600" b="1" dirty="0">
                <a:solidFill>
                  <a:srgbClr val="383A42"/>
                </a:solidFill>
                <a:latin typeface="Consolas" panose="020B0609020204030204" pitchFamily="49" charset="0"/>
              </a:rPr>
              <a:t>◁ 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----------------------------------- |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↓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ReadFile 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완료</a:t>
            </a:r>
            <a:b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|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↓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WRITING_STATE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|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↓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WriteFile -------------------------------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▷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ReadFile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|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↓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READING_STATE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2319164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34D48-24AB-C9FD-281D-A69CF7A05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DEFE65-A86B-C438-5A0B-24021C01A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27. Overlapped I/O </a:t>
            </a:r>
            <a:r>
              <a:rPr lang="ko-KR" altLang="en-US" dirty="0"/>
              <a:t>흐름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EA8378-FD78-5192-39AA-8093B3427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FCFB1B2-54E4-B666-1F04-1FCC967FB04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518807-B465-E2C8-A043-712FC5FEE92A}"/>
              </a:ext>
            </a:extLst>
          </p:cNvPr>
          <p:cNvSpPr txBox="1"/>
          <p:nvPr/>
        </p:nvSpPr>
        <p:spPr>
          <a:xfrm>
            <a:off x="611560" y="671691"/>
            <a:ext cx="7344816" cy="563231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 lIns="360000">
            <a:spAutoFit/>
          </a:bodyPr>
          <a:lstStyle/>
          <a:p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I/O </a:t>
            </a: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요청 시작</a:t>
            </a:r>
            <a:b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|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ReadFile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altLang="ko-KR" sz="1800" b="1" i="0" u="none" strike="noStrike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WriteFile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altLang="ko-KR" sz="1800" b="1" i="0" u="none" strike="noStrike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ConnectNamedPipe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|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+-- </a:t>
            </a: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즉시 완료</a:t>
            </a:r>
            <a:b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|       |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|       ↓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|   </a:t>
            </a: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다음 상태 전환</a:t>
            </a:r>
            <a:b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|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+-- ERROR_IO_PENDING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|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↓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Event Signal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|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↓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800" b="1" i="0" u="none" strike="noStrike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WaitForMultipleObjects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|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↓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800" b="1" i="0" u="none" strike="noStrike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GetOverlappedResult</a:t>
            </a:r>
            <a:endParaRPr lang="ko-KR" altLang="en-US" sz="1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66691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1CA8D-8AFD-4C89-31A9-95E78DF5C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0D44AC-7EF4-2900-003E-06560BE15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28.</a:t>
            </a:r>
            <a:r>
              <a:rPr lang="ko-KR" altLang="en-US" dirty="0"/>
              <a:t> 서버 구조 요약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A54DF6-02B3-6552-9B30-65578730A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6EC1C9D-BE3C-B603-36D0-7A214BD4681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8222F3-0926-72D6-291F-03DF9B752B2B}"/>
              </a:ext>
            </a:extLst>
          </p:cNvPr>
          <p:cNvSpPr txBox="1"/>
          <p:nvPr/>
        </p:nvSpPr>
        <p:spPr>
          <a:xfrm>
            <a:off x="683568" y="692150"/>
            <a:ext cx="7992888" cy="532453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 lIns="360000" rIns="360000">
            <a:spAutoFit/>
          </a:bodyPr>
          <a:lstStyle/>
          <a:p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Named Pipe </a:t>
            </a: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여러 인스턴스</a:t>
            </a:r>
            <a:endParaRPr lang="en-US" altLang="ko-KR" sz="2000" b="1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인스턴스별 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Event</a:t>
            </a:r>
          </a:p>
          <a:p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인스턴스별 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OVERLAPPED </a:t>
            </a: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상태 기반 흐름 제어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WaitForMultipleObjects </a:t>
            </a: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중심 대기</a:t>
            </a:r>
            <a:endParaRPr lang="en-US" altLang="ko-KR" sz="2000" b="1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Pipe[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-- Event[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-- OVERLAPPED[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Pipe[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-- Event[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-- OVERLAPPED[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Pipe[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-- Event[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-- OVERLAPPED[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Pipe[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-- Event[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-- OVERLAPPED[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|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↓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2000" b="1" i="0" u="none" strike="noStrike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WaitForMultipleObjects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|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↓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State Switch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7390228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0D0D5-56EC-4382-7D39-50CA4D753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BB555D-35EA-291E-9A49-19E53ABF8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29.</a:t>
            </a:r>
            <a:r>
              <a:rPr lang="ko-KR" altLang="en-US" b="0" dirty="0"/>
              <a:t> 클라이언트 구조 요약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5493E7-3458-3D09-0096-F497084E3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1A95D44-FD38-25AB-1FAD-D68D8CF367C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2E6FCC-A4CC-3CBA-C089-1870AF1229F1}"/>
              </a:ext>
            </a:extLst>
          </p:cNvPr>
          <p:cNvSpPr txBox="1"/>
          <p:nvPr/>
        </p:nvSpPr>
        <p:spPr>
          <a:xfrm>
            <a:off x="323527" y="692150"/>
            <a:ext cx="8425185" cy="594008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 lIns="360000" rIns="360000">
            <a:spAutoFit/>
          </a:bodyPr>
          <a:lstStyle/>
          <a:p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CreateFile WaitNamedPipe</a:t>
            </a:r>
          </a:p>
          <a:p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SetNamedPipeHandleState WriteFile ReadFile CloseHandle</a:t>
            </a:r>
          </a:p>
          <a:p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CreateFile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|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WaitNamedPipe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|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SetNamedPipeHandleState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|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WriteFile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|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ReadFile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|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↓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CloseHandle</a:t>
            </a:r>
            <a:endParaRPr lang="ko-KR" altLang="en-US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79044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7AD2E-215E-9002-A60C-43B9FDC43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8A36F3-9F83-8645-61DE-6450D5AF2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30.</a:t>
            </a:r>
            <a:r>
              <a:rPr lang="ko-KR" altLang="en-US" dirty="0"/>
              <a:t> 정리 </a:t>
            </a:r>
            <a:r>
              <a:rPr lang="en-US" altLang="ko-KR" dirty="0"/>
              <a:t>Named Pipe </a:t>
            </a:r>
            <a:r>
              <a:rPr lang="ko-KR" altLang="en-US" dirty="0"/>
              <a:t>비동기 </a:t>
            </a:r>
            <a:r>
              <a:rPr lang="en-US" altLang="ko-KR" dirty="0"/>
              <a:t>IPC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E539A9-4D99-4647-EE59-5A7A0C7A7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IPC</a:t>
            </a:r>
          </a:p>
          <a:p>
            <a:pPr lvl="1"/>
            <a:r>
              <a:rPr lang="ko-KR" altLang="en-US" sz="2000" dirty="0"/>
              <a:t>로컬 프로세스 간 통신</a:t>
            </a:r>
          </a:p>
          <a:p>
            <a:pPr lvl="1"/>
            <a:r>
              <a:rPr lang="en-US" altLang="ko-KR" sz="2000" dirty="0"/>
              <a:t>Pipe Name </a:t>
            </a:r>
            <a:r>
              <a:rPr lang="ko-KR" altLang="en-US" sz="2000" dirty="0"/>
              <a:t>기반 연결</a:t>
            </a:r>
            <a:endParaRPr lang="ko-KR" altLang="en-US" sz="2400" dirty="0"/>
          </a:p>
          <a:p>
            <a:r>
              <a:rPr lang="en-US" altLang="ko-KR" sz="2400" dirty="0"/>
              <a:t>I/O</a:t>
            </a:r>
          </a:p>
          <a:p>
            <a:pPr lvl="1"/>
            <a:r>
              <a:rPr lang="en-US" altLang="ko-KR" sz="2000" dirty="0"/>
              <a:t>ReadFile / WriteFile</a:t>
            </a:r>
          </a:p>
          <a:p>
            <a:pPr lvl="1"/>
            <a:r>
              <a:rPr lang="en-US" altLang="ko-KR" sz="2000" dirty="0"/>
              <a:t>Overlapped I/O</a:t>
            </a:r>
            <a:endParaRPr lang="en-US" altLang="ko-KR" sz="2400" dirty="0"/>
          </a:p>
          <a:p>
            <a:r>
              <a:rPr lang="en-US" altLang="ko-KR" sz="2400" dirty="0"/>
              <a:t>Event</a:t>
            </a:r>
          </a:p>
          <a:p>
            <a:pPr lvl="1"/>
            <a:r>
              <a:rPr lang="en-US" altLang="ko-KR" sz="2000" dirty="0"/>
              <a:t>Manual-reset Event</a:t>
            </a:r>
          </a:p>
          <a:p>
            <a:pPr lvl="1"/>
            <a:r>
              <a:rPr lang="en-US" altLang="ko-KR" sz="2000" dirty="0"/>
              <a:t>WaitForMultipleObjects</a:t>
            </a:r>
          </a:p>
          <a:p>
            <a:pPr lvl="1"/>
            <a:r>
              <a:rPr lang="en-US" altLang="ko-KR" sz="2000" dirty="0"/>
              <a:t>GetOverlappedResult</a:t>
            </a:r>
            <a:endParaRPr lang="en-US" altLang="ko-KR" sz="2400" dirty="0"/>
          </a:p>
          <a:p>
            <a:r>
              <a:rPr lang="en-US" altLang="ko-KR" sz="2400" dirty="0"/>
              <a:t>State</a:t>
            </a:r>
          </a:p>
          <a:p>
            <a:pPr lvl="1"/>
            <a:r>
              <a:rPr lang="en-US" altLang="ko-KR" sz="2000" dirty="0"/>
              <a:t>CONNECTING</a:t>
            </a:r>
          </a:p>
          <a:p>
            <a:pPr lvl="1"/>
            <a:r>
              <a:rPr lang="en-US" altLang="ko-KR" sz="2000" dirty="0"/>
              <a:t>READING</a:t>
            </a:r>
          </a:p>
          <a:p>
            <a:pPr lvl="1"/>
            <a:r>
              <a:rPr lang="en-US" altLang="ko-KR" sz="2000" dirty="0"/>
              <a:t>WRITING</a:t>
            </a:r>
            <a:endParaRPr lang="ko-KR" altLang="en-US" sz="16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8E77DCE-92D2-1567-25FE-35FF99C82DA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663289540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바른고딕">
      <a:majorFont>
        <a:latin typeface="나눔바른고딕"/>
        <a:ea typeface="나눔바른고딕"/>
        <a:cs typeface=""/>
      </a:majorFont>
      <a:minorFont>
        <a:latin typeface="나눔바른고딕"/>
        <a:ea typeface="나눔바른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굴림" panose="020B0600000101010101" pitchFamily="50" charset="-127"/>
          </a:defRPr>
        </a:defPPr>
      </a:lstStyle>
    </a:lnDef>
    <a:txDef>
      <a:spPr>
        <a:noFill/>
        <a:ln w="25400">
          <a:solidFill>
            <a:schemeClr val="bg1">
              <a:lumMod val="75000"/>
            </a:schemeClr>
          </a:solidFill>
          <a:prstDash val="sysDot"/>
        </a:ln>
      </a:spPr>
      <a:bodyPr wrap="square">
        <a:spAutoFit/>
      </a:bodyPr>
      <a:lstStyle>
        <a:defPPr algn="l">
          <a:defRPr sz="2400" b="0" i="0" u="none" strike="noStrike" dirty="0">
            <a:solidFill>
              <a:srgbClr val="383A42"/>
            </a:solidFill>
            <a:effectLst/>
            <a:latin typeface="D2Coding" panose="020B0609020101020101" pitchFamily="49" charset="-127"/>
            <a:ea typeface="D2Coding" panose="020B0609020101020101" pitchFamily="49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4045</TotalTime>
  <Words>3367</Words>
  <Application>Microsoft Office PowerPoint</Application>
  <PresentationFormat>화면 슬라이드 쇼(4:3)</PresentationFormat>
  <Paragraphs>279</Paragraphs>
  <Slides>40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9" baseType="lpstr">
      <vt:lpstr>Wingdings</vt:lpstr>
      <vt:lpstr>HY견고딕</vt:lpstr>
      <vt:lpstr>굴림</vt:lpstr>
      <vt:lpstr>Arial</vt:lpstr>
      <vt:lpstr>가을체</vt:lpstr>
      <vt:lpstr>나눔바른고딕</vt:lpstr>
      <vt:lpstr>Consolas</vt:lpstr>
      <vt:lpstr>D2Coding</vt:lpstr>
      <vt:lpstr>기본 디자인</vt:lpstr>
      <vt:lpstr>Network Programming - 05  afewhee@gmail.com</vt:lpstr>
      <vt:lpstr>1. Pipe</vt:lpstr>
      <vt:lpstr>1.1 Pipe 구성 개요</vt:lpstr>
      <vt:lpstr>1.2 Pipe vs Socket</vt:lpstr>
      <vt:lpstr>1.3 Pipe vs Socket</vt:lpstr>
      <vt:lpstr>2. 프로그램 구조</vt:lpstr>
      <vt:lpstr>2. 프로그램 구조</vt:lpstr>
      <vt:lpstr>3. Pipe 이름</vt:lpstr>
      <vt:lpstr>3. Pipe 이름 예</vt:lpstr>
      <vt:lpstr>4. 서버 Pipe 인스턴스 구조체</vt:lpstr>
      <vt:lpstr>5. 서버 상태</vt:lpstr>
      <vt:lpstr>6. 서버 상수</vt:lpstr>
      <vt:lpstr>7. 서버 전역 데이터</vt:lpstr>
      <vt:lpstr>8.1 Event + Overlapped I/O</vt:lpstr>
      <vt:lpstr>8.2 Event 생성 및 프로그램 흐름</vt:lpstr>
      <vt:lpstr>9. CreateNamedPipe</vt:lpstr>
      <vt:lpstr>10. Pipe 인스턴스 초기화</vt:lpstr>
      <vt:lpstr>11. ConnectToNewClient</vt:lpstr>
      <vt:lpstr>11. ConnectToNewClient</vt:lpstr>
      <vt:lpstr>13. ERROR_PIPE_CONNECTED</vt:lpstr>
      <vt:lpstr>14. 서버 메인 루프</vt:lpstr>
      <vt:lpstr>15. Pending I/O 완료 확인</vt:lpstr>
      <vt:lpstr>16. 상태별 완료 처리</vt:lpstr>
      <vt:lpstr>16. 상태별 완료 처리</vt:lpstr>
      <vt:lpstr>17. ReadFile</vt:lpstr>
      <vt:lpstr>17. ReadFile</vt:lpstr>
      <vt:lpstr>18. WriteFile</vt:lpstr>
      <vt:lpstr>18. WriteFile</vt:lpstr>
      <vt:lpstr>19. 요청 처리 함수</vt:lpstr>
      <vt:lpstr>20. DisconnectAndReconnect</vt:lpstr>
      <vt:lpstr>21. 클라이언트 CreateFile</vt:lpstr>
      <vt:lpstr>22. 클라이언트 접속 대기</vt:lpstr>
      <vt:lpstr>23. Message Read Mode 설정</vt:lpstr>
      <vt:lpstr>24. 클라이언트 WriteFile</vt:lpstr>
      <vt:lpstr>25. 클라이언트 ReadFile</vt:lpstr>
      <vt:lpstr>26. 전체 통신 흐름</vt:lpstr>
      <vt:lpstr>27. Overlapped I/O 흐름</vt:lpstr>
      <vt:lpstr>28. 서버 구조 요약</vt:lpstr>
      <vt:lpstr>29. 클라이언트 구조 요약</vt:lpstr>
      <vt:lpstr>30. 정리 Named Pipe 비동기 IPC</vt:lpstr>
    </vt:vector>
  </TitlesOfParts>
  <Company>GaLic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</dc:title>
  <dc:creator>Heesung Oh</dc:creator>
  <cp:lastModifiedBy>Heesung Oh</cp:lastModifiedBy>
  <cp:revision>226</cp:revision>
  <cp:lastPrinted>2026-04-12T09:26:12Z</cp:lastPrinted>
  <dcterms:created xsi:type="dcterms:W3CDTF">2003-11-30T16:03:20Z</dcterms:created>
  <dcterms:modified xsi:type="dcterms:W3CDTF">2026-05-06T21:29:16Z</dcterms:modified>
</cp:coreProperties>
</file>