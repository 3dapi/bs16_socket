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71" r:id="rId6"/>
    <p:sldId id="273" r:id="rId7"/>
    <p:sldId id="274" r:id="rId8"/>
    <p:sldId id="275" r:id="rId9"/>
    <p:sldId id="285" r:id="rId10"/>
    <p:sldId id="286" r:id="rId11"/>
    <p:sldId id="276" r:id="rId12"/>
    <p:sldId id="277" r:id="rId13"/>
    <p:sldId id="278" r:id="rId14"/>
    <p:sldId id="280" r:id="rId15"/>
    <p:sldId id="281" r:id="rId16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18"/>
    </p:embeddedFont>
    <p:embeddedFont>
      <p:font typeface="가을체" panose="02030600000101010101" pitchFamily="18" charset="-127"/>
      <p:regular r:id="rId19"/>
    </p:embeddedFont>
    <p:embeddedFont>
      <p:font typeface="Wingdings 2" panose="05020102010507070707" pitchFamily="18" charset="2"/>
      <p:regular r:id="rId20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0000"/>
    <a:srgbClr val="CC0000"/>
    <a:srgbClr val="0000FF"/>
    <a:srgbClr val="009900"/>
    <a:srgbClr val="FF00FF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91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680" y="11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28B2A21-A587-8F5D-AB45-D9E665E13E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AA24C49-C474-A1EC-8525-1D98D857F5E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FABFECF-42D7-8918-2B6B-4025548346E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3A59541A-9F9C-9E37-AEC9-143BCE1F072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02D1003-588E-23BB-8D0C-AFA1B6A8C8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54EDB01E-F98F-23C8-199E-EBE2EC660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4F7990A3-A466-435E-99FA-670CC9614C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6E3A20F-FFE3-81EA-9C30-CEE665E913A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08453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99ABB3F-F1CB-AA29-0962-95EA81B87E6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1397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E3D5DC-8730-884D-1910-5783FF7532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9771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1A206DF-23F3-10DC-E585-3FB0EAD3FD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5080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B0FEF4F-91DD-D28B-6D93-244331913B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09558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B9AD2B9-8BF2-F66F-A3CC-8EAF756A3D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9322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22F64AE0-9DC8-14C3-6054-B83CB442F7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54445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3273AC5-6772-5F9A-38D2-2E5A695389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909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20DB2B-8D42-0340-7BB9-6968B0E126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264598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4DCED3C-1B99-1B47-6E21-66F749B38F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88863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FBEB147-DD21-0C15-0502-CB0DA134540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251517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C88F4D0-17B9-24A9-B99A-FF1FF92962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583912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88AEF7-DE30-D1BA-B432-2B3F333D7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CA0B21-2B41-DF36-71F8-605DD787ED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F515BFC-9E54-8DED-DB1C-07589263F1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82EE4295-BFF4-8448-17B7-C7D10AC0C8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F890F2DF-A0C0-1A7E-13F4-21826297B4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677D9296-6573-CC30-2FF7-4CA2D43DDF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>
                <a:solidFill>
                  <a:schemeClr val="tx1"/>
                </a:solidFill>
              </a:rPr>
              <a:t>Network Programming - 02</a:t>
            </a:r>
            <a:br>
              <a:rPr lang="en-US" altLang="ko-KR" sz="3200">
                <a:solidFill>
                  <a:schemeClr val="tx1"/>
                </a:solidFill>
              </a:rPr>
            </a:br>
            <a:r>
              <a:rPr lang="en-US" altLang="ko-KR" sz="3200">
                <a:solidFill>
                  <a:schemeClr val="tx1"/>
                </a:solidFill>
              </a:rPr>
              <a:t> </a:t>
            </a:r>
            <a:r>
              <a:rPr lang="en-US" altLang="ko-KR" sz="140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>
            <a:extLst>
              <a:ext uri="{FF2B5EF4-FFF2-40B4-BE49-F238E27FC236}">
                <a16:creationId xmlns:a16="http://schemas.microsoft.com/office/drawing/2014/main" id="{C2DCD68E-D7A6-C291-81A8-A993EA2A63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EA8BB56A-CCE0-A484-080C-4A61970B3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0. </a:t>
            </a:r>
            <a:r>
              <a:rPr lang="ko-KR" altLang="en-US" sz="2400"/>
              <a:t>목차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6080CF4C-CC27-6A50-E71C-54326E9AD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Socket Mode</a:t>
            </a:r>
          </a:p>
          <a:p>
            <a:pPr eaLnBrk="1" hangingPunct="1"/>
            <a:endParaRPr lang="en-US" altLang="ko-KR"/>
          </a:p>
          <a:p>
            <a:pPr eaLnBrk="1" hangingPunct="1"/>
            <a:r>
              <a:rPr lang="en-US" altLang="ko-KR"/>
              <a:t>I/O </a:t>
            </a:r>
            <a:r>
              <a:rPr lang="ko-KR" altLang="en-US"/>
              <a:t>모델</a:t>
            </a:r>
          </a:p>
          <a:p>
            <a:pPr eaLnBrk="1" hangingPunct="1"/>
            <a:endParaRPr lang="ko-KR" altLang="en-US"/>
          </a:p>
          <a:p>
            <a:pPr eaLnBrk="1" hangingPunct="1"/>
            <a:r>
              <a:rPr lang="en-US" altLang="ko-KR"/>
              <a:t>Select I/O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바닥글 개체 틀 3">
            <a:extLst>
              <a:ext uri="{FF2B5EF4-FFF2-40B4-BE49-F238E27FC236}">
                <a16:creationId xmlns:a16="http://schemas.microsoft.com/office/drawing/2014/main" id="{989B1BDC-13BE-BE0D-6B1D-1B1273E606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B6C31CDF-23B6-24E7-64D0-31D439A45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Socket Mode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CCA10718-239C-8C41-6B81-033AD2CD0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소켓 모드</a:t>
            </a:r>
            <a:r>
              <a:rPr lang="en-US" altLang="ko-KR" dirty="0"/>
              <a:t>(socket mode)</a:t>
            </a:r>
          </a:p>
          <a:p>
            <a:pPr lvl="1" eaLnBrk="1" hangingPunct="1"/>
            <a:r>
              <a:rPr lang="ko-KR" altLang="en-US" dirty="0"/>
              <a:t>소켓 함수 호출 시 동작 방식에 따라 블로킹</a:t>
            </a:r>
            <a:r>
              <a:rPr lang="en-US" altLang="ko-KR" dirty="0"/>
              <a:t>(blocking)</a:t>
            </a:r>
            <a:r>
              <a:rPr lang="ko-KR" altLang="en-US" dirty="0"/>
              <a:t>과 </a:t>
            </a:r>
            <a:r>
              <a:rPr lang="ko-KR" altLang="en-US" dirty="0" err="1"/>
              <a:t>넌블로킹</a:t>
            </a:r>
            <a:r>
              <a:rPr lang="en-US" altLang="ko-KR" dirty="0"/>
              <a:t>(nonblocking) </a:t>
            </a:r>
            <a:r>
              <a:rPr lang="ko-KR" altLang="en-US" dirty="0"/>
              <a:t>소켓으로 구분</a:t>
            </a:r>
          </a:p>
          <a:p>
            <a:pPr lvl="1" eaLnBrk="1" hangingPunct="1"/>
            <a:endParaRPr lang="ko-KR" altLang="en-US" dirty="0"/>
          </a:p>
          <a:p>
            <a:pPr eaLnBrk="1" hangingPunct="1"/>
            <a:r>
              <a:rPr lang="ko-KR" altLang="en-US" dirty="0"/>
              <a:t>블로킹 소켓</a:t>
            </a:r>
          </a:p>
          <a:p>
            <a:pPr lvl="1" eaLnBrk="1" hangingPunct="1"/>
            <a:r>
              <a:rPr lang="ko-KR" altLang="en-US" dirty="0"/>
              <a:t>소켓 함수 호출 시 조건이 만족되지 않으면 함수는 </a:t>
            </a:r>
            <a:r>
              <a:rPr lang="ko-KR" altLang="en-US" dirty="0" err="1"/>
              <a:t>리턴하지</a:t>
            </a:r>
            <a:r>
              <a:rPr lang="ko-KR" altLang="en-US" dirty="0"/>
              <a:t> 않고 해당 스레드는 대기 상태</a:t>
            </a:r>
            <a:r>
              <a:rPr lang="en-US" altLang="ko-KR" dirty="0"/>
              <a:t>(wait state)</a:t>
            </a:r>
            <a:r>
              <a:rPr lang="ko-KR" altLang="en-US" dirty="0"/>
              <a:t>가 됨</a:t>
            </a:r>
          </a:p>
          <a:p>
            <a:pPr eaLnBrk="1" hangingPunct="1"/>
            <a:endParaRPr lang="en-US" altLang="ko-KR" dirty="0"/>
          </a:p>
        </p:txBody>
      </p:sp>
      <p:graphicFrame>
        <p:nvGraphicFramePr>
          <p:cNvPr id="200708" name="Group 4">
            <a:extLst>
              <a:ext uri="{FF2B5EF4-FFF2-40B4-BE49-F238E27FC236}">
                <a16:creationId xmlns:a16="http://schemas.microsoft.com/office/drawing/2014/main" id="{7DB9D804-AE0A-ADE9-5C22-E9E687A0099F}"/>
              </a:ext>
            </a:extLst>
          </p:cNvPr>
          <p:cNvGraphicFramePr>
            <a:graphicFrameLocks noGrp="1"/>
          </p:cNvGraphicFramePr>
          <p:nvPr/>
        </p:nvGraphicFramePr>
        <p:xfrm>
          <a:off x="1406525" y="3886200"/>
          <a:ext cx="6837363" cy="2095500"/>
        </p:xfrm>
        <a:graphic>
          <a:graphicData uri="http://schemas.openxmlformats.org/drawingml/2006/table">
            <a:tbl>
              <a:tblPr/>
              <a:tblGrid>
                <a:gridCol w="224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소켓 함수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리턴 조건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6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accept()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클라이언트가 접속했을 때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5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send(), sendto()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송신 버퍼에 데이터를 모두 복사했을 때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2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recv(), recvfrom()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8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8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0000FF"/>
                        </a:buClr>
                        <a:buSzPct val="14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Pct val="90000"/>
                        <a:buFont typeface="Wingdings" panose="05000000000000000000" pitchFamily="2" charset="2"/>
                        <a:defRPr kumimoji="1" sz="1400" b="1">
                          <a:solidFill>
                            <a:schemeClr val="tx1"/>
                          </a:solidFill>
                          <a:latin typeface="가을체" panose="02030600000101010101" pitchFamily="18" charset="-127"/>
                          <a:ea typeface="가을체" panose="0203060000010101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rPr>
                        <a:t>수신 버퍼에 도착한 데이터가 있을 때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바닥글 개체 틀 3">
            <a:extLst>
              <a:ext uri="{FF2B5EF4-FFF2-40B4-BE49-F238E27FC236}">
                <a16:creationId xmlns:a16="http://schemas.microsoft.com/office/drawing/2014/main" id="{14B04333-1319-763F-FF6E-E4F0DC2545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C381635-9924-082C-A7FC-30656C5168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Socket Mode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CC9A8599-2867-D76E-9F7A-4D3E4D323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/>
              <a:t>넌블로킹 소켓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소켓 함수 호출시 조건이 만족되지 않더라도 함수가 리턴하므로 해당 스레드는 계속 진행 가능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/>
              <a:t>socket() </a:t>
            </a:r>
            <a:r>
              <a:rPr lang="ko-KR" altLang="en-US"/>
              <a:t>함수는 기본적으로 블로킹 소켓을 생성하므로 </a:t>
            </a:r>
            <a:r>
              <a:rPr lang="en-US" altLang="ko-KR"/>
              <a:t>ioctlsocket() </a:t>
            </a:r>
            <a:r>
              <a:rPr lang="ko-KR" altLang="en-US"/>
              <a:t>함수를 호출하여 넌블로킹 소켓으로 전환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/>
              <a:t>Ex)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9900"/>
                </a:solidFill>
              </a:rPr>
              <a:t>// </a:t>
            </a:r>
            <a:r>
              <a:rPr lang="ko-KR" altLang="en-US" sz="1800">
                <a:solidFill>
                  <a:srgbClr val="009900"/>
                </a:solidFill>
              </a:rPr>
              <a:t>블로킹 소켓 생성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/>
              <a:t>SOCKET listen_sock = socket(AF_INET, SOCK_STREAM, 0);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…</a:t>
            </a:r>
            <a:endParaRPr lang="en-US" altLang="ko-KR" sz="18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>
                <a:solidFill>
                  <a:srgbClr val="009900"/>
                </a:solidFill>
              </a:rPr>
              <a:t>// </a:t>
            </a:r>
            <a:r>
              <a:rPr lang="ko-KR" altLang="en-US" sz="1800">
                <a:solidFill>
                  <a:srgbClr val="009900"/>
                </a:solidFill>
              </a:rPr>
              <a:t>넌블로킹 소켓으로 전환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/>
              <a:t>u_long on = 1;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/>
              <a:t>retval = ioctlsocket(listen_sock, FIONBIO, &amp;on);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/>
              <a:t>if(retval == SOCKET_ERROR)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/>
              <a:t>	error Process;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4">
            <a:extLst>
              <a:ext uri="{FF2B5EF4-FFF2-40B4-BE49-F238E27FC236}">
                <a16:creationId xmlns:a16="http://schemas.microsoft.com/office/drawing/2014/main" id="{354CEABD-C058-41F5-B4B6-A0248A8FB8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42A73CD-167C-D101-343D-42862B88A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1. Socket Mode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CDA47B9-1A9B-2DBA-B70D-CDD0CFB893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692150"/>
            <a:ext cx="8208963" cy="5832475"/>
          </a:xfrm>
        </p:spPr>
        <p:txBody>
          <a:bodyPr/>
          <a:lstStyle/>
          <a:p>
            <a:pPr eaLnBrk="1" hangingPunct="1"/>
            <a:r>
              <a:rPr lang="ko-KR" altLang="en-US" sz="2400"/>
              <a:t>넌블로킹 소켓과 소켓 함수</a:t>
            </a:r>
          </a:p>
          <a:p>
            <a:pPr lvl="1" eaLnBrk="1" hangingPunct="1"/>
            <a:r>
              <a:rPr lang="ko-KR" altLang="en-US" sz="2000"/>
              <a:t>넌블로킹 소켓에 대해 소켓 함수를 호출했을 때 조건이 만족되지 않아 작업을 완료할 수 없으면 소켓 함수는 오류를 리턴 </a:t>
            </a:r>
            <a:r>
              <a:rPr lang="ko-KR" altLang="en-US" sz="2000">
                <a:sym typeface="Wingdings" panose="05000000000000000000" pitchFamily="2" charset="2"/>
              </a:rPr>
              <a:t> 반드시 오류는 아님</a:t>
            </a:r>
            <a:endParaRPr lang="ko-KR" altLang="en-US" sz="2000"/>
          </a:p>
          <a:p>
            <a:pPr lvl="1" eaLnBrk="1" hangingPunct="1"/>
            <a:r>
              <a:rPr lang="en-US" altLang="ko-KR" sz="2000"/>
              <a:t>WSAGetLastError() </a:t>
            </a:r>
            <a:r>
              <a:rPr lang="ko-KR" altLang="en-US" sz="2000"/>
              <a:t>함수를 호출하여 오류인지 확인</a:t>
            </a:r>
          </a:p>
          <a:p>
            <a:pPr lvl="1" eaLnBrk="1" hangingPunct="1"/>
            <a:r>
              <a:rPr lang="ko-KR" altLang="en-US" sz="2000"/>
              <a:t>대부분 </a:t>
            </a:r>
            <a:r>
              <a:rPr lang="en-US" altLang="ko-KR" sz="2000">
                <a:solidFill>
                  <a:srgbClr val="CC3300"/>
                </a:solidFill>
              </a:rPr>
              <a:t>WSAEWOULDBLOCK</a:t>
            </a:r>
            <a:r>
              <a:rPr lang="ko-KR" altLang="en-US" sz="2000"/>
              <a:t>이 값이며되며</a:t>
            </a:r>
            <a:r>
              <a:rPr lang="en-US" altLang="ko-KR" sz="2000"/>
              <a:t>, </a:t>
            </a:r>
            <a:r>
              <a:rPr lang="ko-KR" altLang="en-US" sz="2000"/>
              <a:t>이는 조건이 만족되지 않음을 나타내므로 나중에 다시 소켓 함수를 호출해야 함</a:t>
            </a:r>
          </a:p>
          <a:p>
            <a:pPr lvl="1" eaLnBrk="1" hangingPunct="1"/>
            <a:endParaRPr lang="ko-KR" altLang="en-US" sz="2000"/>
          </a:p>
          <a:p>
            <a:pPr eaLnBrk="1" hangingPunct="1"/>
            <a:r>
              <a:rPr lang="ko-KR" altLang="en-US" sz="2400"/>
              <a:t>넌</a:t>
            </a:r>
            <a:r>
              <a:rPr lang="en-US" altLang="ko-KR" sz="2400"/>
              <a:t>-</a:t>
            </a:r>
            <a:r>
              <a:rPr lang="ko-KR" altLang="en-US" sz="2400"/>
              <a:t>블로킹 소켓의 특징</a:t>
            </a:r>
          </a:p>
          <a:p>
            <a:pPr lvl="1" eaLnBrk="1" hangingPunct="1"/>
            <a:r>
              <a:rPr lang="ko-KR" altLang="en-US" sz="2000"/>
              <a:t>장점</a:t>
            </a:r>
            <a:r>
              <a:rPr lang="en-US" altLang="ko-KR" sz="2000"/>
              <a:t>:</a:t>
            </a:r>
          </a:p>
          <a:p>
            <a:pPr lvl="2" eaLnBrk="1" hangingPunct="1"/>
            <a:r>
              <a:rPr lang="ko-KR" altLang="en-US" sz="1800"/>
              <a:t>소켓 함수 호출 시 블록되지 않으므로 다른 작업 진행 가능</a:t>
            </a:r>
          </a:p>
          <a:p>
            <a:pPr lvl="2" eaLnBrk="1" hangingPunct="1"/>
            <a:r>
              <a:rPr lang="ko-KR" altLang="en-US" sz="1800"/>
              <a:t>멀티스레드를 사용하지 않고도 여러 개의 소켓 입출력 처리 가능</a:t>
            </a:r>
          </a:p>
          <a:p>
            <a:pPr lvl="1" eaLnBrk="1" hangingPunct="1"/>
            <a:r>
              <a:rPr lang="ko-KR" altLang="en-US" sz="2000"/>
              <a:t>단점</a:t>
            </a:r>
            <a:r>
              <a:rPr lang="en-US" altLang="ko-KR" sz="2000"/>
              <a:t>:</a:t>
            </a:r>
          </a:p>
          <a:p>
            <a:pPr lvl="2" eaLnBrk="1" hangingPunct="1"/>
            <a:r>
              <a:rPr lang="ko-KR" altLang="en-US" sz="1800"/>
              <a:t>소켓 함수를 호출할 때마다 </a:t>
            </a:r>
            <a:r>
              <a:rPr lang="en-US" altLang="ko-KR" sz="1800"/>
              <a:t>WSAEWOULDBLOCK </a:t>
            </a:r>
            <a:r>
              <a:rPr lang="ko-KR" altLang="en-US" sz="1800"/>
              <a:t>등 오류 코드를 확인하고</a:t>
            </a:r>
            <a:r>
              <a:rPr lang="en-US" altLang="ko-KR" sz="1800"/>
              <a:t>, </a:t>
            </a:r>
            <a:r>
              <a:rPr lang="ko-KR" altLang="en-US" sz="1800"/>
              <a:t>다시 해당 함수를 호출해야 하므로 프로그램 구조가 복잡해짐</a:t>
            </a:r>
          </a:p>
          <a:p>
            <a:pPr lvl="2" eaLnBrk="1" hangingPunct="1"/>
            <a:r>
              <a:rPr lang="ko-KR" altLang="en-US" sz="1800"/>
              <a:t>블로킹 소켓을 사용한 경우보다 </a:t>
            </a:r>
            <a:r>
              <a:rPr lang="en-US" altLang="ko-KR" sz="1800"/>
              <a:t>CPU </a:t>
            </a:r>
            <a:r>
              <a:rPr lang="ko-KR" altLang="en-US" sz="1800"/>
              <a:t>사용률이 높음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바닥글 개체 틀 3">
            <a:extLst>
              <a:ext uri="{FF2B5EF4-FFF2-40B4-BE49-F238E27FC236}">
                <a16:creationId xmlns:a16="http://schemas.microsoft.com/office/drawing/2014/main" id="{22230A26-7F76-51A1-3FC8-1C9BECC721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3BFF3E3-6B49-CABF-7047-86306AA88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I/O </a:t>
            </a:r>
            <a:r>
              <a:rPr lang="ko-KR" altLang="en-US" sz="2400"/>
              <a:t>모델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E568A78-1FFF-A82B-8487-688C2D7EA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sz="2400"/>
              <a:t>반복 서버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접속한 여러 클라이언트를 하나씩 차례대로 처리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장점</a:t>
            </a:r>
            <a:r>
              <a:rPr lang="en-US" altLang="ko-KR" sz="2000"/>
              <a:t>: </a:t>
            </a:r>
            <a:r>
              <a:rPr lang="ko-KR" altLang="en-US" sz="2000"/>
              <a:t>하나의 스레드로 클라이언트를 처리하므로 시스템 자원 소모가 적음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단점</a:t>
            </a:r>
            <a:r>
              <a:rPr lang="en-US" altLang="ko-KR" sz="2000"/>
              <a:t>: </a:t>
            </a:r>
            <a:r>
              <a:rPr lang="ko-KR" altLang="en-US" sz="2000"/>
              <a:t>서버와 클라이언트의 통신 시간이 길어지면 다른 클라이언트의 대기 시간이 길어짐</a:t>
            </a:r>
          </a:p>
          <a:p>
            <a:pPr eaLnBrk="1" hangingPunct="1">
              <a:lnSpc>
                <a:spcPct val="90000"/>
              </a:lnSpc>
            </a:pPr>
            <a:endParaRPr lang="ko-KR" altLang="en-US" sz="2400"/>
          </a:p>
          <a:p>
            <a:pPr eaLnBrk="1" hangingPunct="1">
              <a:lnSpc>
                <a:spcPct val="90000"/>
              </a:lnSpc>
            </a:pPr>
            <a:r>
              <a:rPr lang="ko-KR" altLang="en-US" sz="2400"/>
              <a:t>병행 서버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접속한 여러 클라이언트를 병렬적으로 처리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장점</a:t>
            </a:r>
            <a:r>
              <a:rPr lang="en-US" altLang="ko-KR" sz="2000"/>
              <a:t>: </a:t>
            </a:r>
            <a:r>
              <a:rPr lang="ko-KR" altLang="en-US" sz="2000"/>
              <a:t>서버와 클라이언트의 통신 시간이 길어지더라도 다른 클라이언트의 통신에 영향을 주지 않음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단점</a:t>
            </a:r>
            <a:r>
              <a:rPr lang="en-US" altLang="ko-KR" sz="2000"/>
              <a:t>: </a:t>
            </a:r>
            <a:r>
              <a:rPr lang="ko-KR" altLang="en-US" sz="2000"/>
              <a:t>멀티프로세스 또는 멀티스레드를 이용하여 구현하므로 시스템 자원 소모가 큼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ko-KR" altLang="en-US" sz="200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2C476E4A-3E58-CA74-D8A8-EB48868CFA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BF266C3-7ECB-A119-2E3C-A4921D92B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I/O </a:t>
            </a:r>
            <a:r>
              <a:rPr lang="ko-KR" altLang="en-US" sz="2400"/>
              <a:t>모델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61996B2-8318-3554-0594-E7C0DE010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이상적인 서버의 특징</a:t>
            </a:r>
          </a:p>
          <a:p>
            <a:pPr lvl="1" eaLnBrk="1" hangingPunct="1"/>
            <a:r>
              <a:rPr lang="ko-KR" altLang="en-US"/>
              <a:t>모든 클라이언트 접속이 성공</a:t>
            </a:r>
          </a:p>
          <a:p>
            <a:pPr lvl="1" eaLnBrk="1" hangingPunct="1"/>
            <a:r>
              <a:rPr lang="ko-KR" altLang="en-US"/>
              <a:t>서버는 각 클라이언트의 서비스 요청에 최대한 빠르게 반응하며</a:t>
            </a:r>
            <a:r>
              <a:rPr lang="en-US" altLang="ko-KR"/>
              <a:t>, </a:t>
            </a:r>
            <a:r>
              <a:rPr lang="ko-KR" altLang="en-US"/>
              <a:t>고속으로 데이터를 전송</a:t>
            </a:r>
          </a:p>
          <a:p>
            <a:pPr lvl="1" eaLnBrk="1" hangingPunct="1"/>
            <a:r>
              <a:rPr lang="ko-KR" altLang="en-US"/>
              <a:t>시스템 자원 사용량을 최소화</a:t>
            </a:r>
          </a:p>
          <a:p>
            <a:pPr lvl="1" eaLnBrk="1" hangingPunct="1"/>
            <a:endParaRPr lang="ko-KR" altLang="en-US"/>
          </a:p>
          <a:p>
            <a:pPr eaLnBrk="1" hangingPunct="1"/>
            <a:r>
              <a:rPr lang="ko-KR" altLang="en-US"/>
              <a:t> 이상적인 소켓 입출력 모델</a:t>
            </a:r>
          </a:p>
          <a:p>
            <a:pPr lvl="1" eaLnBrk="1" hangingPunct="1"/>
            <a:r>
              <a:rPr lang="ko-KR" altLang="en-US"/>
              <a:t>소켓 함수 호출 시 블로킹 최소화</a:t>
            </a:r>
          </a:p>
          <a:p>
            <a:pPr lvl="1" eaLnBrk="1" hangingPunct="1"/>
            <a:r>
              <a:rPr lang="ko-KR" altLang="en-US"/>
              <a:t>입출력 작업을 다른 작업과 병행</a:t>
            </a:r>
          </a:p>
          <a:p>
            <a:pPr lvl="1" eaLnBrk="1" hangingPunct="1"/>
            <a:r>
              <a:rPr lang="ko-KR" altLang="en-US"/>
              <a:t>스레드 개수를 최소화</a:t>
            </a:r>
          </a:p>
          <a:p>
            <a:pPr lvl="1" eaLnBrk="1" hangingPunct="1"/>
            <a:r>
              <a:rPr lang="ko-KR" altLang="en-US"/>
              <a:t>유저 모드와 커널 모드 전환 횟수와 데이터 복사를 최소화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바닥글 개체 틀 3">
            <a:extLst>
              <a:ext uri="{FF2B5EF4-FFF2-40B4-BE49-F238E27FC236}">
                <a16:creationId xmlns:a16="http://schemas.microsoft.com/office/drawing/2014/main" id="{3403101C-1E0A-8C5B-C608-E4CEECC169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DD5966ED-9920-A93B-70F1-37C0A3E49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2. I/O </a:t>
            </a:r>
            <a:r>
              <a:rPr lang="ko-KR" altLang="en-US" sz="2400"/>
              <a:t>모델 </a:t>
            </a:r>
            <a:r>
              <a:rPr lang="en-US" altLang="ko-KR" sz="2400"/>
              <a:t>- </a:t>
            </a:r>
            <a:r>
              <a:rPr lang="ko-KR" altLang="en-US" sz="2400"/>
              <a:t>윈도우</a:t>
            </a:r>
            <a:endParaRPr lang="ko-KR" altLang="en-US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5159D26-7720-DBAF-8940-70F88211C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윈도우 운영 체제와 소켓 입출력 모델 지원</a:t>
            </a:r>
          </a:p>
        </p:txBody>
      </p:sp>
      <p:grpSp>
        <p:nvGrpSpPr>
          <p:cNvPr id="10245" name="Group 4">
            <a:extLst>
              <a:ext uri="{FF2B5EF4-FFF2-40B4-BE49-F238E27FC236}">
                <a16:creationId xmlns:a16="http://schemas.microsoft.com/office/drawing/2014/main" id="{69921E76-A7D0-D000-98D4-E8698E27709E}"/>
              </a:ext>
            </a:extLst>
          </p:cNvPr>
          <p:cNvGrpSpPr>
            <a:grpSpLocks/>
          </p:cNvGrpSpPr>
          <p:nvPr/>
        </p:nvGrpSpPr>
        <p:grpSpPr bwMode="auto">
          <a:xfrm>
            <a:off x="390525" y="1752600"/>
            <a:ext cx="8362950" cy="4495800"/>
            <a:chOff x="288" y="1346"/>
            <a:chExt cx="5708" cy="2513"/>
          </a:xfrm>
        </p:grpSpPr>
        <p:sp>
          <p:nvSpPr>
            <p:cNvPr id="10246" name="Rectangle 5">
              <a:extLst>
                <a:ext uri="{FF2B5EF4-FFF2-40B4-BE49-F238E27FC236}">
                  <a16:creationId xmlns:a16="http://schemas.microsoft.com/office/drawing/2014/main" id="{3F4669BE-718C-30D0-752D-90F0F0364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1346"/>
              <a:ext cx="1229" cy="298"/>
            </a:xfrm>
            <a:prstGeom prst="rect">
              <a:avLst/>
            </a:prstGeom>
            <a:solidFill>
              <a:srgbClr val="00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247" name="Rectangle 6">
              <a:extLst>
                <a:ext uri="{FF2B5EF4-FFF2-40B4-BE49-F238E27FC236}">
                  <a16:creationId xmlns:a16="http://schemas.microsoft.com/office/drawing/2014/main" id="{0DD28CA3-DA90-71DE-9965-2B32577BC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346"/>
              <a:ext cx="1248" cy="682"/>
            </a:xfrm>
            <a:prstGeom prst="rect">
              <a:avLst/>
            </a:prstGeom>
            <a:solidFill>
              <a:srgbClr val="00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solidFill>
                    <a:srgbClr val="FFFFFF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소켓 입출력 모델</a:t>
              </a:r>
              <a:endParaRPr lang="ko-KR" altLang="en-US" sz="1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0248" name="Rectangle 7">
              <a:extLst>
                <a:ext uri="{FF2B5EF4-FFF2-40B4-BE49-F238E27FC236}">
                  <a16:creationId xmlns:a16="http://schemas.microsoft.com/office/drawing/2014/main" id="{989BC976-A24B-A463-FD3A-3409F9852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" y="1346"/>
              <a:ext cx="1229" cy="682"/>
            </a:xfrm>
            <a:prstGeom prst="rect">
              <a:avLst/>
            </a:prstGeom>
            <a:noFill/>
            <a:ln w="7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pSp>
          <p:nvGrpSpPr>
            <p:cNvPr id="10249" name="Group 8">
              <a:extLst>
                <a:ext uri="{FF2B5EF4-FFF2-40B4-BE49-F238E27FC236}">
                  <a16:creationId xmlns:a16="http://schemas.microsoft.com/office/drawing/2014/main" id="{3B1DDC61-5516-4020-1802-D772C20338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1346"/>
              <a:ext cx="4475" cy="298"/>
              <a:chOff x="840" y="0"/>
              <a:chExt cx="3058" cy="403"/>
            </a:xfrm>
          </p:grpSpPr>
          <p:sp>
            <p:nvSpPr>
              <p:cNvPr id="10322" name="Rectangle 9">
                <a:extLst>
                  <a:ext uri="{FF2B5EF4-FFF2-40B4-BE49-F238E27FC236}">
                    <a16:creationId xmlns:a16="http://schemas.microsoft.com/office/drawing/2014/main" id="{081D643C-0E76-907B-9A4D-7A7DE34BB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" y="0"/>
                <a:ext cx="3058" cy="403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0323" name="Group 10">
                <a:extLst>
                  <a:ext uri="{FF2B5EF4-FFF2-40B4-BE49-F238E27FC236}">
                    <a16:creationId xmlns:a16="http://schemas.microsoft.com/office/drawing/2014/main" id="{E296DFAA-DC96-0480-3CF6-8D94DA5D72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0" y="0"/>
                <a:ext cx="3058" cy="403"/>
                <a:chOff x="840" y="0"/>
                <a:chExt cx="3058" cy="403"/>
              </a:xfrm>
            </p:grpSpPr>
            <p:sp>
              <p:nvSpPr>
                <p:cNvPr id="10324" name="Rectangle 11">
                  <a:extLst>
                    <a:ext uri="{FF2B5EF4-FFF2-40B4-BE49-F238E27FC236}">
                      <a16:creationId xmlns:a16="http://schemas.microsoft.com/office/drawing/2014/main" id="{2F9FF539-70CA-4CC7-B577-0B6F9BF644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0" y="0"/>
                  <a:ext cx="2978" cy="403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지원 운영체제</a:t>
                  </a:r>
                  <a:endPara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0325" name="Rectangle 12">
                  <a:extLst>
                    <a:ext uri="{FF2B5EF4-FFF2-40B4-BE49-F238E27FC236}">
                      <a16:creationId xmlns:a16="http://schemas.microsoft.com/office/drawing/2014/main" id="{9808466E-70DE-ADFF-BB30-669FCF10D9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" y="0"/>
                  <a:ext cx="3058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0250" name="Group 13">
              <a:extLst>
                <a:ext uri="{FF2B5EF4-FFF2-40B4-BE49-F238E27FC236}">
                  <a16:creationId xmlns:a16="http://schemas.microsoft.com/office/drawing/2014/main" id="{8759A40D-AACE-53B6-D6A3-68C1DE990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1644"/>
              <a:ext cx="1382" cy="384"/>
              <a:chOff x="840" y="403"/>
              <a:chExt cx="944" cy="518"/>
            </a:xfrm>
          </p:grpSpPr>
          <p:sp>
            <p:nvSpPr>
              <p:cNvPr id="10318" name="Rectangle 14">
                <a:extLst>
                  <a:ext uri="{FF2B5EF4-FFF2-40B4-BE49-F238E27FC236}">
                    <a16:creationId xmlns:a16="http://schemas.microsoft.com/office/drawing/2014/main" id="{5E79C38E-B50A-42DD-5954-FB471CA81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" y="403"/>
                <a:ext cx="944" cy="518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0319" name="Group 15">
                <a:extLst>
                  <a:ext uri="{FF2B5EF4-FFF2-40B4-BE49-F238E27FC236}">
                    <a16:creationId xmlns:a16="http://schemas.microsoft.com/office/drawing/2014/main" id="{9A27B1BA-4F1E-033B-AB5F-76DAC19C4B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0" y="403"/>
                <a:ext cx="944" cy="518"/>
                <a:chOff x="840" y="403"/>
                <a:chExt cx="944" cy="518"/>
              </a:xfrm>
            </p:grpSpPr>
            <p:sp>
              <p:nvSpPr>
                <p:cNvPr id="10320" name="Rectangle 16">
                  <a:extLst>
                    <a:ext uri="{FF2B5EF4-FFF2-40B4-BE49-F238E27FC236}">
                      <a16:creationId xmlns:a16="http://schemas.microsoft.com/office/drawing/2014/main" id="{A420A4AB-8253-4A1F-9C77-BB0207A26E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0" y="403"/>
                  <a:ext cx="864" cy="518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윈도우 </a:t>
                  </a:r>
                  <a:r>
                    <a:rPr lang="en-US" altLang="ko-KR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CE</a:t>
                  </a:r>
                  <a:endPara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0321" name="Rectangle 17">
                  <a:extLst>
                    <a:ext uri="{FF2B5EF4-FFF2-40B4-BE49-F238E27FC236}">
                      <a16:creationId xmlns:a16="http://schemas.microsoft.com/office/drawing/2014/main" id="{F2DE143F-E742-D89B-2BCA-4ECA1FA67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" y="403"/>
                  <a:ext cx="94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0251" name="Group 18">
              <a:extLst>
                <a:ext uri="{FF2B5EF4-FFF2-40B4-BE49-F238E27FC236}">
                  <a16:creationId xmlns:a16="http://schemas.microsoft.com/office/drawing/2014/main" id="{C2B3DB41-5BA8-A955-CC95-BC4A3BC71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1644"/>
              <a:ext cx="1592" cy="384"/>
              <a:chOff x="1784" y="403"/>
              <a:chExt cx="1088" cy="518"/>
            </a:xfrm>
          </p:grpSpPr>
          <p:sp>
            <p:nvSpPr>
              <p:cNvPr id="10314" name="Rectangle 19">
                <a:extLst>
                  <a:ext uri="{FF2B5EF4-FFF2-40B4-BE49-F238E27FC236}">
                    <a16:creationId xmlns:a16="http://schemas.microsoft.com/office/drawing/2014/main" id="{553BAC6A-C839-AEB6-2C13-320283BDF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403"/>
                <a:ext cx="1088" cy="518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0315" name="Group 20">
                <a:extLst>
                  <a:ext uri="{FF2B5EF4-FFF2-40B4-BE49-F238E27FC236}">
                    <a16:creationId xmlns:a16="http://schemas.microsoft.com/office/drawing/2014/main" id="{38383D12-BA99-67A0-A3AD-368915EBBA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4" y="403"/>
                <a:ext cx="1088" cy="518"/>
                <a:chOff x="1784" y="403"/>
                <a:chExt cx="1088" cy="518"/>
              </a:xfrm>
            </p:grpSpPr>
            <p:sp>
              <p:nvSpPr>
                <p:cNvPr id="10316" name="Rectangle 21">
                  <a:extLst>
                    <a:ext uri="{FF2B5EF4-FFF2-40B4-BE49-F238E27FC236}">
                      <a16:creationId xmlns:a16="http://schemas.microsoft.com/office/drawing/2014/main" id="{E3FCD3BE-602F-1E7F-9176-811770C23B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403"/>
                  <a:ext cx="1008" cy="518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윈도우</a:t>
                  </a:r>
                  <a:r>
                    <a:rPr lang="en-US" altLang="ko-KR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(</a:t>
                  </a: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클라이언트 버전</a:t>
                  </a:r>
                  <a:r>
                    <a:rPr lang="en-US" altLang="ko-KR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)</a:t>
                  </a:r>
                  <a:endPara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0317" name="Rectangle 22">
                  <a:extLst>
                    <a:ext uri="{FF2B5EF4-FFF2-40B4-BE49-F238E27FC236}">
                      <a16:creationId xmlns:a16="http://schemas.microsoft.com/office/drawing/2014/main" id="{A6B7A850-75C1-0207-1B09-727CF6B66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4" y="403"/>
                  <a:ext cx="108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0252" name="Group 23">
              <a:extLst>
                <a:ext uri="{FF2B5EF4-FFF2-40B4-BE49-F238E27FC236}">
                  <a16:creationId xmlns:a16="http://schemas.microsoft.com/office/drawing/2014/main" id="{58972040-000E-C4D2-27E0-739E913965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" y="1644"/>
              <a:ext cx="1501" cy="384"/>
              <a:chOff x="2872" y="403"/>
              <a:chExt cx="1026" cy="518"/>
            </a:xfrm>
          </p:grpSpPr>
          <p:sp>
            <p:nvSpPr>
              <p:cNvPr id="10310" name="Rectangle 24">
                <a:extLst>
                  <a:ext uri="{FF2B5EF4-FFF2-40B4-BE49-F238E27FC236}">
                    <a16:creationId xmlns:a16="http://schemas.microsoft.com/office/drawing/2014/main" id="{78CF20A4-F1DD-38CE-D0D3-2E004CC79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403"/>
                <a:ext cx="1026" cy="518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0311" name="Group 25">
                <a:extLst>
                  <a:ext uri="{FF2B5EF4-FFF2-40B4-BE49-F238E27FC236}">
                    <a16:creationId xmlns:a16="http://schemas.microsoft.com/office/drawing/2014/main" id="{C35625D7-E7B4-859E-591A-5F45B7410A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2" y="403"/>
                <a:ext cx="1026" cy="518"/>
                <a:chOff x="2872" y="403"/>
                <a:chExt cx="1026" cy="518"/>
              </a:xfrm>
            </p:grpSpPr>
            <p:sp>
              <p:nvSpPr>
                <p:cNvPr id="10312" name="Rectangle 26">
                  <a:extLst>
                    <a:ext uri="{FF2B5EF4-FFF2-40B4-BE49-F238E27FC236}">
                      <a16:creationId xmlns:a16="http://schemas.microsoft.com/office/drawing/2014/main" id="{40C1F4EA-8B2A-03C8-A8C3-3CD96308A4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12" y="403"/>
                  <a:ext cx="946" cy="518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윈도우</a:t>
                  </a:r>
                  <a:r>
                    <a:rPr lang="en-US" altLang="ko-KR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(</a:t>
                  </a: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서버 버전</a:t>
                  </a:r>
                  <a:r>
                    <a:rPr lang="en-US" altLang="ko-KR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)</a:t>
                  </a:r>
                  <a:endPara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0313" name="Rectangle 27">
                  <a:extLst>
                    <a:ext uri="{FF2B5EF4-FFF2-40B4-BE49-F238E27FC236}">
                      <a16:creationId xmlns:a16="http://schemas.microsoft.com/office/drawing/2014/main" id="{51ED1285-234D-BC53-2DD5-251CBD425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2" y="403"/>
                  <a:ext cx="102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0253" name="Group 28">
              <a:extLst>
                <a:ext uri="{FF2B5EF4-FFF2-40B4-BE49-F238E27FC236}">
                  <a16:creationId xmlns:a16="http://schemas.microsoft.com/office/drawing/2014/main" id="{AF94A9AC-57BF-EF23-15E6-4394025CD3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" y="2028"/>
              <a:ext cx="1229" cy="298"/>
              <a:chOff x="0" y="921"/>
              <a:chExt cx="840" cy="403"/>
            </a:xfrm>
          </p:grpSpPr>
          <p:sp>
            <p:nvSpPr>
              <p:cNvPr id="10308" name="Rectangle 29">
                <a:extLst>
                  <a:ext uri="{FF2B5EF4-FFF2-40B4-BE49-F238E27FC236}">
                    <a16:creationId xmlns:a16="http://schemas.microsoft.com/office/drawing/2014/main" id="{B09A003C-1757-DCC1-DF8E-BC2441F39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" y="921"/>
                <a:ext cx="760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Select</a:t>
                </a:r>
              </a:p>
            </p:txBody>
          </p:sp>
          <p:sp>
            <p:nvSpPr>
              <p:cNvPr id="10309" name="Rectangle 30">
                <a:extLst>
                  <a:ext uri="{FF2B5EF4-FFF2-40B4-BE49-F238E27FC236}">
                    <a16:creationId xmlns:a16="http://schemas.microsoft.com/office/drawing/2014/main" id="{9FF15832-5AFF-2340-998B-8F6D5B8AF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21"/>
                <a:ext cx="840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54" name="Group 31">
              <a:extLst>
                <a:ext uri="{FF2B5EF4-FFF2-40B4-BE49-F238E27FC236}">
                  <a16:creationId xmlns:a16="http://schemas.microsoft.com/office/drawing/2014/main" id="{F53C3970-80A4-4870-5192-7F9A762A9D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2028"/>
              <a:ext cx="1382" cy="298"/>
              <a:chOff x="840" y="921"/>
              <a:chExt cx="944" cy="403"/>
            </a:xfrm>
          </p:grpSpPr>
          <p:sp>
            <p:nvSpPr>
              <p:cNvPr id="10306" name="Rectangle 32">
                <a:extLst>
                  <a:ext uri="{FF2B5EF4-FFF2-40B4-BE49-F238E27FC236}">
                    <a16:creationId xmlns:a16="http://schemas.microsoft.com/office/drawing/2014/main" id="{11EAFEEC-8899-78B2-7EF1-8DC07E78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921"/>
                <a:ext cx="864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CE 1.0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307" name="Rectangle 33">
                <a:extLst>
                  <a:ext uri="{FF2B5EF4-FFF2-40B4-BE49-F238E27FC236}">
                    <a16:creationId xmlns:a16="http://schemas.microsoft.com/office/drawing/2014/main" id="{2144584E-C389-8B70-33B8-9DFBB006A9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" y="921"/>
                <a:ext cx="944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55" name="Group 34">
              <a:extLst>
                <a:ext uri="{FF2B5EF4-FFF2-40B4-BE49-F238E27FC236}">
                  <a16:creationId xmlns:a16="http://schemas.microsoft.com/office/drawing/2014/main" id="{A807C624-76F9-3FDA-7708-38FC24A147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028"/>
              <a:ext cx="1592" cy="298"/>
              <a:chOff x="1784" y="921"/>
              <a:chExt cx="1088" cy="403"/>
            </a:xfrm>
          </p:grpSpPr>
          <p:sp>
            <p:nvSpPr>
              <p:cNvPr id="10304" name="Rectangle 35">
                <a:extLst>
                  <a:ext uri="{FF2B5EF4-FFF2-40B4-BE49-F238E27FC236}">
                    <a16:creationId xmlns:a16="http://schemas.microsoft.com/office/drawing/2014/main" id="{08888759-E116-C6BD-394C-561B5B83A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921"/>
                <a:ext cx="1008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95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305" name="Rectangle 36">
                <a:extLst>
                  <a:ext uri="{FF2B5EF4-FFF2-40B4-BE49-F238E27FC236}">
                    <a16:creationId xmlns:a16="http://schemas.microsoft.com/office/drawing/2014/main" id="{881B1FB0-B832-711E-68A0-DE816FA6D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921"/>
                <a:ext cx="108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56" name="Group 37">
              <a:extLst>
                <a:ext uri="{FF2B5EF4-FFF2-40B4-BE49-F238E27FC236}">
                  <a16:creationId xmlns:a16="http://schemas.microsoft.com/office/drawing/2014/main" id="{67E8E075-7608-A62B-B388-1B415DC5DB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" y="2028"/>
              <a:ext cx="1501" cy="298"/>
              <a:chOff x="2872" y="921"/>
              <a:chExt cx="1026" cy="403"/>
            </a:xfrm>
          </p:grpSpPr>
          <p:sp>
            <p:nvSpPr>
              <p:cNvPr id="10302" name="Rectangle 38">
                <a:extLst>
                  <a:ext uri="{FF2B5EF4-FFF2-40B4-BE49-F238E27FC236}">
                    <a16:creationId xmlns:a16="http://schemas.microsoft.com/office/drawing/2014/main" id="{D7109D5F-7E05-246C-275B-2119493A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2" y="921"/>
                <a:ext cx="946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NT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303" name="Rectangle 39">
                <a:extLst>
                  <a:ext uri="{FF2B5EF4-FFF2-40B4-BE49-F238E27FC236}">
                    <a16:creationId xmlns:a16="http://schemas.microsoft.com/office/drawing/2014/main" id="{2999514F-477B-C86B-7B0A-24F6B0E84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921"/>
                <a:ext cx="1026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57" name="Group 40">
              <a:extLst>
                <a:ext uri="{FF2B5EF4-FFF2-40B4-BE49-F238E27FC236}">
                  <a16:creationId xmlns:a16="http://schemas.microsoft.com/office/drawing/2014/main" id="{27464B31-909D-CD27-F593-A6729FACDD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" y="2326"/>
              <a:ext cx="1229" cy="383"/>
              <a:chOff x="0" y="1324"/>
              <a:chExt cx="840" cy="518"/>
            </a:xfrm>
          </p:grpSpPr>
          <p:sp>
            <p:nvSpPr>
              <p:cNvPr id="10300" name="Rectangle 41">
                <a:extLst>
                  <a:ext uri="{FF2B5EF4-FFF2-40B4-BE49-F238E27FC236}">
                    <a16:creationId xmlns:a16="http://schemas.microsoft.com/office/drawing/2014/main" id="{6DC2B664-0322-397B-4E4B-D9CCF5BB8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" y="1324"/>
                <a:ext cx="760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WSAAsyncSelect</a:t>
                </a:r>
              </a:p>
            </p:txBody>
          </p:sp>
          <p:sp>
            <p:nvSpPr>
              <p:cNvPr id="10301" name="Rectangle 42">
                <a:extLst>
                  <a:ext uri="{FF2B5EF4-FFF2-40B4-BE49-F238E27FC236}">
                    <a16:creationId xmlns:a16="http://schemas.microsoft.com/office/drawing/2014/main" id="{16085CCA-9A26-AAD1-92AF-F47EDACF1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324"/>
                <a:ext cx="84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58" name="Group 43">
              <a:extLst>
                <a:ext uri="{FF2B5EF4-FFF2-40B4-BE49-F238E27FC236}">
                  <a16:creationId xmlns:a16="http://schemas.microsoft.com/office/drawing/2014/main" id="{01CB8397-BADF-CA7E-2EE8-2276AE5095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2326"/>
              <a:ext cx="1382" cy="383"/>
              <a:chOff x="840" y="1324"/>
              <a:chExt cx="944" cy="518"/>
            </a:xfrm>
          </p:grpSpPr>
          <p:sp>
            <p:nvSpPr>
              <p:cNvPr id="10298" name="Rectangle 44">
                <a:extLst>
                  <a:ext uri="{FF2B5EF4-FFF2-40B4-BE49-F238E27FC236}">
                    <a16:creationId xmlns:a16="http://schemas.microsoft.com/office/drawing/2014/main" id="{54B545BD-43DB-3850-AE66-456147317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1324"/>
                <a:ext cx="864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x</a:t>
                </a:r>
              </a:p>
            </p:txBody>
          </p:sp>
          <p:sp>
            <p:nvSpPr>
              <p:cNvPr id="10299" name="Rectangle 45">
                <a:extLst>
                  <a:ext uri="{FF2B5EF4-FFF2-40B4-BE49-F238E27FC236}">
                    <a16:creationId xmlns:a16="http://schemas.microsoft.com/office/drawing/2014/main" id="{6F59940C-5C04-C1DE-902D-29147C483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" y="1324"/>
                <a:ext cx="944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59" name="Group 46">
              <a:extLst>
                <a:ext uri="{FF2B5EF4-FFF2-40B4-BE49-F238E27FC236}">
                  <a16:creationId xmlns:a16="http://schemas.microsoft.com/office/drawing/2014/main" id="{B201C4F1-7E6F-9A77-DAD2-8528A0221C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326"/>
              <a:ext cx="1592" cy="383"/>
              <a:chOff x="1784" y="1324"/>
              <a:chExt cx="1088" cy="518"/>
            </a:xfrm>
          </p:grpSpPr>
          <p:sp>
            <p:nvSpPr>
              <p:cNvPr id="10296" name="Rectangle 47">
                <a:extLst>
                  <a:ext uri="{FF2B5EF4-FFF2-40B4-BE49-F238E27FC236}">
                    <a16:creationId xmlns:a16="http://schemas.microsoft.com/office/drawing/2014/main" id="{4D693EE7-9EAF-935A-4303-C90A2B967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1324"/>
                <a:ext cx="100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95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297" name="Rectangle 48">
                <a:extLst>
                  <a:ext uri="{FF2B5EF4-FFF2-40B4-BE49-F238E27FC236}">
                    <a16:creationId xmlns:a16="http://schemas.microsoft.com/office/drawing/2014/main" id="{C7254B85-1B99-5573-1C2C-37A3AF15C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324"/>
                <a:ext cx="108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0" name="Group 49">
              <a:extLst>
                <a:ext uri="{FF2B5EF4-FFF2-40B4-BE49-F238E27FC236}">
                  <a16:creationId xmlns:a16="http://schemas.microsoft.com/office/drawing/2014/main" id="{069D9E91-BBBD-27E5-EEA5-F5C59ABF36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" y="2326"/>
              <a:ext cx="1501" cy="383"/>
              <a:chOff x="2872" y="1324"/>
              <a:chExt cx="1026" cy="518"/>
            </a:xfrm>
          </p:grpSpPr>
          <p:sp>
            <p:nvSpPr>
              <p:cNvPr id="10294" name="Rectangle 50">
                <a:extLst>
                  <a:ext uri="{FF2B5EF4-FFF2-40B4-BE49-F238E27FC236}">
                    <a16:creationId xmlns:a16="http://schemas.microsoft.com/office/drawing/2014/main" id="{C5D37969-4E37-D9D0-907C-F1C798219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2" y="1324"/>
                <a:ext cx="94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NT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295" name="Rectangle 51">
                <a:extLst>
                  <a:ext uri="{FF2B5EF4-FFF2-40B4-BE49-F238E27FC236}">
                    <a16:creationId xmlns:a16="http://schemas.microsoft.com/office/drawing/2014/main" id="{9CA3B7CF-B540-467D-FD00-EB761FB85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1324"/>
                <a:ext cx="1026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1" name="Group 52">
              <a:extLst>
                <a:ext uri="{FF2B5EF4-FFF2-40B4-BE49-F238E27FC236}">
                  <a16:creationId xmlns:a16="http://schemas.microsoft.com/office/drawing/2014/main" id="{E4025CC8-ABBC-FF6B-BEA0-D8E1A760A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" y="2709"/>
              <a:ext cx="1229" cy="383"/>
              <a:chOff x="0" y="1842"/>
              <a:chExt cx="840" cy="518"/>
            </a:xfrm>
          </p:grpSpPr>
          <p:sp>
            <p:nvSpPr>
              <p:cNvPr id="10292" name="Rectangle 53">
                <a:extLst>
                  <a:ext uri="{FF2B5EF4-FFF2-40B4-BE49-F238E27FC236}">
                    <a16:creationId xmlns:a16="http://schemas.microsoft.com/office/drawing/2014/main" id="{043747DC-B717-55B3-6090-A49053CC9E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" y="1842"/>
                <a:ext cx="760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WSAEventSelect</a:t>
                </a:r>
              </a:p>
            </p:txBody>
          </p:sp>
          <p:sp>
            <p:nvSpPr>
              <p:cNvPr id="10293" name="Rectangle 54">
                <a:extLst>
                  <a:ext uri="{FF2B5EF4-FFF2-40B4-BE49-F238E27FC236}">
                    <a16:creationId xmlns:a16="http://schemas.microsoft.com/office/drawing/2014/main" id="{8B41C5D2-48CB-D1A0-EF58-8B612055C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842"/>
                <a:ext cx="84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2" name="Group 55">
              <a:extLst>
                <a:ext uri="{FF2B5EF4-FFF2-40B4-BE49-F238E27FC236}">
                  <a16:creationId xmlns:a16="http://schemas.microsoft.com/office/drawing/2014/main" id="{3A966C33-C4EA-D02B-53FB-466F9EBCCD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2709"/>
              <a:ext cx="1382" cy="383"/>
              <a:chOff x="840" y="1842"/>
              <a:chExt cx="944" cy="518"/>
            </a:xfrm>
          </p:grpSpPr>
          <p:sp>
            <p:nvSpPr>
              <p:cNvPr id="10290" name="Rectangle 56">
                <a:extLst>
                  <a:ext uri="{FF2B5EF4-FFF2-40B4-BE49-F238E27FC236}">
                    <a16:creationId xmlns:a16="http://schemas.microsoft.com/office/drawing/2014/main" id="{3CD2FC24-20F0-3722-5476-06C871DA3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1842"/>
                <a:ext cx="864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CE .NET 4.0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291" name="Rectangle 57">
                <a:extLst>
                  <a:ext uri="{FF2B5EF4-FFF2-40B4-BE49-F238E27FC236}">
                    <a16:creationId xmlns:a16="http://schemas.microsoft.com/office/drawing/2014/main" id="{2FC0208D-9F6E-9107-5A05-4A268966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" y="1842"/>
                <a:ext cx="944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3" name="Group 58">
              <a:extLst>
                <a:ext uri="{FF2B5EF4-FFF2-40B4-BE49-F238E27FC236}">
                  <a16:creationId xmlns:a16="http://schemas.microsoft.com/office/drawing/2014/main" id="{4AB725AD-12FF-A266-430F-8EB4A5E63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709"/>
              <a:ext cx="1592" cy="383"/>
              <a:chOff x="1784" y="1842"/>
              <a:chExt cx="1088" cy="518"/>
            </a:xfrm>
          </p:grpSpPr>
          <p:sp>
            <p:nvSpPr>
              <p:cNvPr id="10288" name="Rectangle 59">
                <a:extLst>
                  <a:ext uri="{FF2B5EF4-FFF2-40B4-BE49-F238E27FC236}">
                    <a16:creationId xmlns:a16="http://schemas.microsoft.com/office/drawing/2014/main" id="{C6E685C0-4605-BAC6-3F18-E6429B453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1842"/>
                <a:ext cx="100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95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289" name="Rectangle 60">
                <a:extLst>
                  <a:ext uri="{FF2B5EF4-FFF2-40B4-BE49-F238E27FC236}">
                    <a16:creationId xmlns:a16="http://schemas.microsoft.com/office/drawing/2014/main" id="{9DD0ED6E-4F9D-25C4-DBFD-660F5BC08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842"/>
                <a:ext cx="108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4" name="Group 61">
              <a:extLst>
                <a:ext uri="{FF2B5EF4-FFF2-40B4-BE49-F238E27FC236}">
                  <a16:creationId xmlns:a16="http://schemas.microsoft.com/office/drawing/2014/main" id="{1A65C5C4-27F9-3D5D-C17B-90C837020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" y="2709"/>
              <a:ext cx="1501" cy="383"/>
              <a:chOff x="2872" y="1842"/>
              <a:chExt cx="1026" cy="518"/>
            </a:xfrm>
          </p:grpSpPr>
          <p:sp>
            <p:nvSpPr>
              <p:cNvPr id="10286" name="Rectangle 62">
                <a:extLst>
                  <a:ext uri="{FF2B5EF4-FFF2-40B4-BE49-F238E27FC236}">
                    <a16:creationId xmlns:a16="http://schemas.microsoft.com/office/drawing/2014/main" id="{0A8F2A47-F957-6021-942E-9098BBB4E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2" y="1842"/>
                <a:ext cx="94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NT 3.51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287" name="Rectangle 63">
                <a:extLst>
                  <a:ext uri="{FF2B5EF4-FFF2-40B4-BE49-F238E27FC236}">
                    <a16:creationId xmlns:a16="http://schemas.microsoft.com/office/drawing/2014/main" id="{5F48F224-F8FD-CACC-F3E1-052C87785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1842"/>
                <a:ext cx="1026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5" name="Group 64">
              <a:extLst>
                <a:ext uri="{FF2B5EF4-FFF2-40B4-BE49-F238E27FC236}">
                  <a16:creationId xmlns:a16="http://schemas.microsoft.com/office/drawing/2014/main" id="{00E687C9-089B-2DAE-BE4D-301AA75E7C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" y="3092"/>
              <a:ext cx="1229" cy="384"/>
              <a:chOff x="0" y="2360"/>
              <a:chExt cx="840" cy="518"/>
            </a:xfrm>
          </p:grpSpPr>
          <p:sp>
            <p:nvSpPr>
              <p:cNvPr id="10284" name="Rectangle 65">
                <a:extLst>
                  <a:ext uri="{FF2B5EF4-FFF2-40B4-BE49-F238E27FC236}">
                    <a16:creationId xmlns:a16="http://schemas.microsoft.com/office/drawing/2014/main" id="{969D8DF0-4364-F9B2-EA4E-489ABC7AC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" y="2360"/>
                <a:ext cx="760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Overlapped</a:t>
                </a:r>
              </a:p>
            </p:txBody>
          </p:sp>
          <p:sp>
            <p:nvSpPr>
              <p:cNvPr id="10285" name="Rectangle 66">
                <a:extLst>
                  <a:ext uri="{FF2B5EF4-FFF2-40B4-BE49-F238E27FC236}">
                    <a16:creationId xmlns:a16="http://schemas.microsoft.com/office/drawing/2014/main" id="{6721DD2D-50E9-F5F9-1CDD-1259121B3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360"/>
                <a:ext cx="84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6" name="Group 67">
              <a:extLst>
                <a:ext uri="{FF2B5EF4-FFF2-40B4-BE49-F238E27FC236}">
                  <a16:creationId xmlns:a16="http://schemas.microsoft.com/office/drawing/2014/main" id="{69BF10C5-42AB-58CE-A963-DBB7612039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3092"/>
              <a:ext cx="1382" cy="384"/>
              <a:chOff x="840" y="2360"/>
              <a:chExt cx="944" cy="518"/>
            </a:xfrm>
          </p:grpSpPr>
          <p:sp>
            <p:nvSpPr>
              <p:cNvPr id="10282" name="Rectangle 68">
                <a:extLst>
                  <a:ext uri="{FF2B5EF4-FFF2-40B4-BE49-F238E27FC236}">
                    <a16:creationId xmlns:a16="http://schemas.microsoft.com/office/drawing/2014/main" id="{87D6DDE7-D303-0894-9BB7-3B9734A11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2360"/>
                <a:ext cx="864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CE .NET 4.0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283" name="Rectangle 69">
                <a:extLst>
                  <a:ext uri="{FF2B5EF4-FFF2-40B4-BE49-F238E27FC236}">
                    <a16:creationId xmlns:a16="http://schemas.microsoft.com/office/drawing/2014/main" id="{1D4EB849-65D8-50A9-1303-F2831E716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" y="2360"/>
                <a:ext cx="944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7" name="Group 70">
              <a:extLst>
                <a:ext uri="{FF2B5EF4-FFF2-40B4-BE49-F238E27FC236}">
                  <a16:creationId xmlns:a16="http://schemas.microsoft.com/office/drawing/2014/main" id="{B0CD1417-3644-26DB-A336-D7D37CEAEB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3092"/>
              <a:ext cx="1592" cy="384"/>
              <a:chOff x="1784" y="2360"/>
              <a:chExt cx="1088" cy="518"/>
            </a:xfrm>
          </p:grpSpPr>
          <p:sp>
            <p:nvSpPr>
              <p:cNvPr id="10280" name="Rectangle 71">
                <a:extLst>
                  <a:ext uri="{FF2B5EF4-FFF2-40B4-BE49-F238E27FC236}">
                    <a16:creationId xmlns:a16="http://schemas.microsoft.com/office/drawing/2014/main" id="{D2034B7B-DE44-C6FC-9AEF-22DC3885A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360"/>
                <a:ext cx="100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95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281" name="Rectangle 72">
                <a:extLst>
                  <a:ext uri="{FF2B5EF4-FFF2-40B4-BE49-F238E27FC236}">
                    <a16:creationId xmlns:a16="http://schemas.microsoft.com/office/drawing/2014/main" id="{F1287906-CE06-E0A7-A107-7622900D1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360"/>
                <a:ext cx="108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8" name="Group 73">
              <a:extLst>
                <a:ext uri="{FF2B5EF4-FFF2-40B4-BE49-F238E27FC236}">
                  <a16:creationId xmlns:a16="http://schemas.microsoft.com/office/drawing/2014/main" id="{37ED96E6-CD3E-4F3A-549D-1CAC48654C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" y="3092"/>
              <a:ext cx="1501" cy="384"/>
              <a:chOff x="2872" y="2360"/>
              <a:chExt cx="1026" cy="518"/>
            </a:xfrm>
          </p:grpSpPr>
          <p:sp>
            <p:nvSpPr>
              <p:cNvPr id="10278" name="Rectangle 74">
                <a:extLst>
                  <a:ext uri="{FF2B5EF4-FFF2-40B4-BE49-F238E27FC236}">
                    <a16:creationId xmlns:a16="http://schemas.microsoft.com/office/drawing/2014/main" id="{1D97B810-1F09-B714-AFDC-7E97747AE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2" y="2360"/>
                <a:ext cx="946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NT 3.51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</a:t>
                </a:r>
              </a:p>
            </p:txBody>
          </p:sp>
          <p:sp>
            <p:nvSpPr>
              <p:cNvPr id="10279" name="Rectangle 75">
                <a:extLst>
                  <a:ext uri="{FF2B5EF4-FFF2-40B4-BE49-F238E27FC236}">
                    <a16:creationId xmlns:a16="http://schemas.microsoft.com/office/drawing/2014/main" id="{3A690D4C-7210-3ACA-D476-0008CB865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2" y="2360"/>
                <a:ext cx="1026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69" name="Group 76">
              <a:extLst>
                <a:ext uri="{FF2B5EF4-FFF2-40B4-BE49-F238E27FC236}">
                  <a16:creationId xmlns:a16="http://schemas.microsoft.com/office/drawing/2014/main" id="{40CBD1BA-6D67-5710-FA5C-A144AA35B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" y="3476"/>
              <a:ext cx="1229" cy="383"/>
              <a:chOff x="0" y="2878"/>
              <a:chExt cx="840" cy="518"/>
            </a:xfrm>
          </p:grpSpPr>
          <p:sp>
            <p:nvSpPr>
              <p:cNvPr id="10276" name="Rectangle 77">
                <a:extLst>
                  <a:ext uri="{FF2B5EF4-FFF2-40B4-BE49-F238E27FC236}">
                    <a16:creationId xmlns:a16="http://schemas.microsoft.com/office/drawing/2014/main" id="{9DDE35EF-D725-DF19-2F3E-047AD1C172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" y="2878"/>
                <a:ext cx="760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Completion Port</a:t>
                </a:r>
              </a:p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(IOCP)</a:t>
                </a:r>
              </a:p>
            </p:txBody>
          </p:sp>
          <p:sp>
            <p:nvSpPr>
              <p:cNvPr id="10277" name="Rectangle 78">
                <a:extLst>
                  <a:ext uri="{FF2B5EF4-FFF2-40B4-BE49-F238E27FC236}">
                    <a16:creationId xmlns:a16="http://schemas.microsoft.com/office/drawing/2014/main" id="{425932E5-B314-EB40-0062-34EB74147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878"/>
                <a:ext cx="840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70" name="Group 79">
              <a:extLst>
                <a:ext uri="{FF2B5EF4-FFF2-40B4-BE49-F238E27FC236}">
                  <a16:creationId xmlns:a16="http://schemas.microsoft.com/office/drawing/2014/main" id="{BEC3DBF7-A17A-D160-303A-02F51AD11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3476"/>
              <a:ext cx="1382" cy="383"/>
              <a:chOff x="840" y="2878"/>
              <a:chExt cx="944" cy="518"/>
            </a:xfrm>
          </p:grpSpPr>
          <p:sp>
            <p:nvSpPr>
              <p:cNvPr id="10274" name="Rectangle 80">
                <a:extLst>
                  <a:ext uri="{FF2B5EF4-FFF2-40B4-BE49-F238E27FC236}">
                    <a16:creationId xmlns:a16="http://schemas.microsoft.com/office/drawing/2014/main" id="{9A8EEE6E-3076-CEBC-5715-35A0EB421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2878"/>
                <a:ext cx="864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x</a:t>
                </a:r>
              </a:p>
            </p:txBody>
          </p:sp>
          <p:sp>
            <p:nvSpPr>
              <p:cNvPr id="10275" name="Rectangle 81">
                <a:extLst>
                  <a:ext uri="{FF2B5EF4-FFF2-40B4-BE49-F238E27FC236}">
                    <a16:creationId xmlns:a16="http://schemas.microsoft.com/office/drawing/2014/main" id="{3F8E1A4E-58DB-FC32-04FA-4AC98380A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" y="2878"/>
                <a:ext cx="944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0271" name="Group 82">
              <a:extLst>
                <a:ext uri="{FF2B5EF4-FFF2-40B4-BE49-F238E27FC236}">
                  <a16:creationId xmlns:a16="http://schemas.microsoft.com/office/drawing/2014/main" id="{BFE219C5-95DA-D488-D249-CFC0EE2E64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3476"/>
              <a:ext cx="3093" cy="383"/>
              <a:chOff x="1784" y="2878"/>
              <a:chExt cx="2114" cy="518"/>
            </a:xfrm>
          </p:grpSpPr>
          <p:sp>
            <p:nvSpPr>
              <p:cNvPr id="10272" name="Rectangle 83">
                <a:extLst>
                  <a:ext uri="{FF2B5EF4-FFF2-40B4-BE49-F238E27FC236}">
                    <a16:creationId xmlns:a16="http://schemas.microsoft.com/office/drawing/2014/main" id="{C81BDFD6-F058-A248-3F27-2B28B17D7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878"/>
                <a:ext cx="2034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NT 3.5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이상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(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윈도우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95/98/Me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제외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)</a:t>
                </a:r>
              </a:p>
            </p:txBody>
          </p:sp>
          <p:sp>
            <p:nvSpPr>
              <p:cNvPr id="10273" name="Rectangle 84">
                <a:extLst>
                  <a:ext uri="{FF2B5EF4-FFF2-40B4-BE49-F238E27FC236}">
                    <a16:creationId xmlns:a16="http://schemas.microsoft.com/office/drawing/2014/main" id="{0E775AF4-DD70-C8BF-5A68-8C4B3E8D8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878"/>
                <a:ext cx="2114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바닥글 개체 틀 3">
            <a:extLst>
              <a:ext uri="{FF2B5EF4-FFF2-40B4-BE49-F238E27FC236}">
                <a16:creationId xmlns:a16="http://schemas.microsoft.com/office/drawing/2014/main" id="{9E83B4B5-31B6-32AB-59DF-AB70FDB690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6A8924B-F08C-29ED-3D54-F3649ECED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Select I/O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1CAEA9D-70AA-AC8C-501F-EA68CF25C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000"/>
              <a:t>Multiplexing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1800"/>
              <a:t>데이터를 전송하는데 있어서</a:t>
            </a:r>
            <a:r>
              <a:rPr lang="en-US" altLang="ko-KR" sz="1800"/>
              <a:t>, </a:t>
            </a:r>
            <a:r>
              <a:rPr lang="ko-KR" altLang="en-US" sz="1800"/>
              <a:t>물리적인 장치의 효율성을 높이기 위해 최소한의 물리적인 요소만 사용하여 최대한의 정보를 주고 받기 위해 개발된 방법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ko-KR" altLang="en-US" sz="1800"/>
              <a:t>	</a:t>
            </a:r>
            <a:r>
              <a:rPr lang="en-US" altLang="ko-KR" sz="1800"/>
              <a:t>MUX (Multiplexer)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I/O Multiplexing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800"/>
              <a:t>- </a:t>
            </a:r>
            <a:r>
              <a:rPr lang="ko-KR" altLang="en-US" sz="1800"/>
              <a:t>통신 객체 사이의 입</a:t>
            </a:r>
            <a:r>
              <a:rPr lang="en-US" altLang="ko-KR" sz="1800"/>
              <a:t>/</a:t>
            </a:r>
            <a:r>
              <a:rPr lang="ko-KR" altLang="en-US" sz="1800"/>
              <a:t>출력을 담당하는 프로세스를 하나로 처리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ko-KR" altLang="en-US" sz="180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1800"/>
          </a:p>
          <a:p>
            <a:pPr lvl="1" eaLnBrk="1" hangingPunct="1">
              <a:lnSpc>
                <a:spcPct val="90000"/>
              </a:lnSpc>
            </a:pPr>
            <a:endParaRPr lang="ko-KR" altLang="en-US" sz="18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ko-KR" altLang="en-US" sz="180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18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</p:txBody>
      </p:sp>
      <p:grpSp>
        <p:nvGrpSpPr>
          <p:cNvPr id="11269" name="Group 36">
            <a:extLst>
              <a:ext uri="{FF2B5EF4-FFF2-40B4-BE49-F238E27FC236}">
                <a16:creationId xmlns:a16="http://schemas.microsoft.com/office/drawing/2014/main" id="{8D0D77EB-C842-1381-1E17-9D5DE2F1802A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2374900"/>
            <a:ext cx="6191250" cy="1774825"/>
            <a:chOff x="528" y="1968"/>
            <a:chExt cx="4704" cy="1348"/>
          </a:xfrm>
        </p:grpSpPr>
        <p:pic>
          <p:nvPicPr>
            <p:cNvPr id="11272" name="Picture 4">
              <a:extLst>
                <a:ext uri="{FF2B5EF4-FFF2-40B4-BE49-F238E27FC236}">
                  <a16:creationId xmlns:a16="http://schemas.microsoft.com/office/drawing/2014/main" id="{09EB55AF-140A-6931-B77A-39AB20CCBA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016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3" name="Picture 5">
              <a:extLst>
                <a:ext uri="{FF2B5EF4-FFF2-40B4-BE49-F238E27FC236}">
                  <a16:creationId xmlns:a16="http://schemas.microsoft.com/office/drawing/2014/main" id="{2A1861EE-8EBD-D549-FC41-AC5069842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544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4" name="Picture 6">
              <a:extLst>
                <a:ext uri="{FF2B5EF4-FFF2-40B4-BE49-F238E27FC236}">
                  <a16:creationId xmlns:a16="http://schemas.microsoft.com/office/drawing/2014/main" id="{6E490669-CDEF-AE7F-6E19-39788E8B8A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3024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5" name="Picture 7">
              <a:extLst>
                <a:ext uri="{FF2B5EF4-FFF2-40B4-BE49-F238E27FC236}">
                  <a16:creationId xmlns:a16="http://schemas.microsoft.com/office/drawing/2014/main" id="{3163E863-E192-13B9-C5CD-2ADA587AFB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2016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6" name="Picture 8">
              <a:extLst>
                <a:ext uri="{FF2B5EF4-FFF2-40B4-BE49-F238E27FC236}">
                  <a16:creationId xmlns:a16="http://schemas.microsoft.com/office/drawing/2014/main" id="{C66A107B-3AA3-6CB5-D284-8F174B9159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2496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7" name="Picture 9">
              <a:extLst>
                <a:ext uri="{FF2B5EF4-FFF2-40B4-BE49-F238E27FC236}">
                  <a16:creationId xmlns:a16="http://schemas.microsoft.com/office/drawing/2014/main" id="{D519B849-50DB-3239-30F6-9B807E59AC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3024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8" name="Rectangle 10">
              <a:extLst>
                <a:ext uri="{FF2B5EF4-FFF2-40B4-BE49-F238E27FC236}">
                  <a16:creationId xmlns:a16="http://schemas.microsoft.com/office/drawing/2014/main" id="{338EF9D8-5645-AED1-2DB4-497612FC6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112"/>
              <a:ext cx="1056" cy="96"/>
            </a:xfrm>
            <a:prstGeom prst="rect">
              <a:avLst/>
            </a:prstGeom>
            <a:gradFill rotWithShape="0">
              <a:gsLst>
                <a:gs pos="0">
                  <a:srgbClr val="004A4A"/>
                </a:gs>
                <a:gs pos="50000">
                  <a:srgbClr val="009999"/>
                </a:gs>
                <a:gs pos="100000">
                  <a:srgbClr val="004A4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279" name="Rectangle 11">
              <a:extLst>
                <a:ext uri="{FF2B5EF4-FFF2-40B4-BE49-F238E27FC236}">
                  <a16:creationId xmlns:a16="http://schemas.microsoft.com/office/drawing/2014/main" id="{9CC189CA-87C5-D06B-EF7C-23E2C3F81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40"/>
              <a:ext cx="1056" cy="96"/>
            </a:xfrm>
            <a:prstGeom prst="rect">
              <a:avLst/>
            </a:prstGeom>
            <a:gradFill rotWithShape="0">
              <a:gsLst>
                <a:gs pos="0">
                  <a:srgbClr val="004A4A"/>
                </a:gs>
                <a:gs pos="50000">
                  <a:srgbClr val="009999"/>
                </a:gs>
                <a:gs pos="100000">
                  <a:srgbClr val="004A4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280" name="Rectangle 12">
              <a:extLst>
                <a:ext uri="{FF2B5EF4-FFF2-40B4-BE49-F238E27FC236}">
                  <a16:creationId xmlns:a16="http://schemas.microsoft.com/office/drawing/2014/main" id="{93AFFC6C-670D-8858-DB90-6C71768D3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168"/>
              <a:ext cx="1056" cy="96"/>
            </a:xfrm>
            <a:prstGeom prst="rect">
              <a:avLst/>
            </a:prstGeom>
            <a:gradFill rotWithShape="0">
              <a:gsLst>
                <a:gs pos="0">
                  <a:srgbClr val="004A4A"/>
                </a:gs>
                <a:gs pos="50000">
                  <a:srgbClr val="009999"/>
                </a:gs>
                <a:gs pos="100000">
                  <a:srgbClr val="004A4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281" name="Line 13">
              <a:extLst>
                <a:ext uri="{FF2B5EF4-FFF2-40B4-BE49-F238E27FC236}">
                  <a16:creationId xmlns:a16="http://schemas.microsoft.com/office/drawing/2014/main" id="{D82901BA-0833-4406-9E83-D509A990F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160"/>
              <a:ext cx="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82" name="Line 14">
              <a:extLst>
                <a:ext uri="{FF2B5EF4-FFF2-40B4-BE49-F238E27FC236}">
                  <a16:creationId xmlns:a16="http://schemas.microsoft.com/office/drawing/2014/main" id="{BF14DD09-FAA6-7D3E-C5F9-06B672C4B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160"/>
              <a:ext cx="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83" name="Line 15">
              <a:extLst>
                <a:ext uri="{FF2B5EF4-FFF2-40B4-BE49-F238E27FC236}">
                  <a16:creationId xmlns:a16="http://schemas.microsoft.com/office/drawing/2014/main" id="{C3603B78-EE7E-717C-9FF0-38B75B75D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688"/>
              <a:ext cx="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84" name="Line 16">
              <a:extLst>
                <a:ext uri="{FF2B5EF4-FFF2-40B4-BE49-F238E27FC236}">
                  <a16:creationId xmlns:a16="http://schemas.microsoft.com/office/drawing/2014/main" id="{065F9355-C762-4853-5ED2-23A41B5F3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688"/>
              <a:ext cx="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85" name="Line 17">
              <a:extLst>
                <a:ext uri="{FF2B5EF4-FFF2-40B4-BE49-F238E27FC236}">
                  <a16:creationId xmlns:a16="http://schemas.microsoft.com/office/drawing/2014/main" id="{7D38FEE5-37EF-4A03-15C9-89897C838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86" name="Line 18">
              <a:extLst>
                <a:ext uri="{FF2B5EF4-FFF2-40B4-BE49-F238E27FC236}">
                  <a16:creationId xmlns:a16="http://schemas.microsoft.com/office/drawing/2014/main" id="{86CA0E7A-38A1-31DB-298F-7D876C230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216"/>
              <a:ext cx="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287" name="Picture 19">
              <a:extLst>
                <a:ext uri="{FF2B5EF4-FFF2-40B4-BE49-F238E27FC236}">
                  <a16:creationId xmlns:a16="http://schemas.microsoft.com/office/drawing/2014/main" id="{68C96F08-C9B9-46E8-76CC-D9297A839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2016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88" name="Picture 20">
              <a:extLst>
                <a:ext uri="{FF2B5EF4-FFF2-40B4-BE49-F238E27FC236}">
                  <a16:creationId xmlns:a16="http://schemas.microsoft.com/office/drawing/2014/main" id="{324387B0-9710-051B-C8D9-EC1482FF9B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2544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89" name="Picture 21">
              <a:extLst>
                <a:ext uri="{FF2B5EF4-FFF2-40B4-BE49-F238E27FC236}">
                  <a16:creationId xmlns:a16="http://schemas.microsoft.com/office/drawing/2014/main" id="{7984A2C2-6DAD-4666-A112-DA87BD000D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3024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0" name="Picture 22">
              <a:extLst>
                <a:ext uri="{FF2B5EF4-FFF2-40B4-BE49-F238E27FC236}">
                  <a16:creationId xmlns:a16="http://schemas.microsoft.com/office/drawing/2014/main" id="{CEC47888-5882-95DF-7352-7BD107D63B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2016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1" name="Picture 23">
              <a:extLst>
                <a:ext uri="{FF2B5EF4-FFF2-40B4-BE49-F238E27FC236}">
                  <a16:creationId xmlns:a16="http://schemas.microsoft.com/office/drawing/2014/main" id="{9FB926A0-9F0F-CF52-5E8D-B3D520CF79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2496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2" name="Picture 24">
              <a:extLst>
                <a:ext uri="{FF2B5EF4-FFF2-40B4-BE49-F238E27FC236}">
                  <a16:creationId xmlns:a16="http://schemas.microsoft.com/office/drawing/2014/main" id="{3018C731-18CD-A33D-1C82-1207A16E89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024"/>
              <a:ext cx="33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93" name="Rectangle 25">
              <a:extLst>
                <a:ext uri="{FF2B5EF4-FFF2-40B4-BE49-F238E27FC236}">
                  <a16:creationId xmlns:a16="http://schemas.microsoft.com/office/drawing/2014/main" id="{BB6103F5-A404-936A-B9C5-E5FE3422D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640"/>
              <a:ext cx="1056" cy="96"/>
            </a:xfrm>
            <a:prstGeom prst="rect">
              <a:avLst/>
            </a:prstGeom>
            <a:gradFill rotWithShape="0">
              <a:gsLst>
                <a:gs pos="0">
                  <a:srgbClr val="004A4A"/>
                </a:gs>
                <a:gs pos="50000">
                  <a:srgbClr val="009999"/>
                </a:gs>
                <a:gs pos="100000">
                  <a:srgbClr val="004A4A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1294" name="Line 26">
              <a:extLst>
                <a:ext uri="{FF2B5EF4-FFF2-40B4-BE49-F238E27FC236}">
                  <a16:creationId xmlns:a16="http://schemas.microsoft.com/office/drawing/2014/main" id="{1F1DBB0D-2F9D-87CA-F9B9-E2ABBE541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688"/>
              <a:ext cx="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95" name="Line 27">
              <a:extLst>
                <a:ext uri="{FF2B5EF4-FFF2-40B4-BE49-F238E27FC236}">
                  <a16:creationId xmlns:a16="http://schemas.microsoft.com/office/drawing/2014/main" id="{A0DF4947-BF98-4C50-57D6-FAC530D83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688"/>
              <a:ext cx="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96" name="Line 28">
              <a:extLst>
                <a:ext uri="{FF2B5EF4-FFF2-40B4-BE49-F238E27FC236}">
                  <a16:creationId xmlns:a16="http://schemas.microsoft.com/office/drawing/2014/main" id="{54C2D49A-0F87-F9D2-2842-C72813A841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56" y="2352"/>
              <a:ext cx="240" cy="3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97" name="Line 29">
              <a:extLst>
                <a:ext uri="{FF2B5EF4-FFF2-40B4-BE49-F238E27FC236}">
                  <a16:creationId xmlns:a16="http://schemas.microsoft.com/office/drawing/2014/main" id="{3B722D03-5AAD-841D-2D0A-29A950F83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2352"/>
              <a:ext cx="192" cy="3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98" name="Line 30">
              <a:extLst>
                <a:ext uri="{FF2B5EF4-FFF2-40B4-BE49-F238E27FC236}">
                  <a16:creationId xmlns:a16="http://schemas.microsoft.com/office/drawing/2014/main" id="{110BF4AD-4EFF-0998-DD06-1938BCAC43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688"/>
              <a:ext cx="240" cy="3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99" name="Line 31">
              <a:extLst>
                <a:ext uri="{FF2B5EF4-FFF2-40B4-BE49-F238E27FC236}">
                  <a16:creationId xmlns:a16="http://schemas.microsoft.com/office/drawing/2014/main" id="{2ACAB954-BA3E-E97D-1BD6-6C5F321A3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688"/>
              <a:ext cx="192" cy="3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300" name="Rectangle 32">
              <a:extLst>
                <a:ext uri="{FF2B5EF4-FFF2-40B4-BE49-F238E27FC236}">
                  <a16:creationId xmlns:a16="http://schemas.microsoft.com/office/drawing/2014/main" id="{954944A2-AFCD-5221-B8C6-5F21E982F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68"/>
              <a:ext cx="912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solidFill>
                    <a:schemeClr val="accent2"/>
                  </a:solidFill>
                </a:rPr>
                <a:t>고속의 전송로</a:t>
              </a:r>
            </a:p>
          </p:txBody>
        </p:sp>
        <p:sp>
          <p:nvSpPr>
            <p:cNvPr id="11301" name="Rectangle 33">
              <a:extLst>
                <a:ext uri="{FF2B5EF4-FFF2-40B4-BE49-F238E27FC236}">
                  <a16:creationId xmlns:a16="http://schemas.microsoft.com/office/drawing/2014/main" id="{6A70DB69-9318-8212-A6C8-FA7C4B7B2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496"/>
              <a:ext cx="912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solidFill>
                    <a:schemeClr val="accent2"/>
                  </a:solidFill>
                </a:rPr>
                <a:t>고속의 전송로</a:t>
              </a:r>
            </a:p>
          </p:txBody>
        </p:sp>
        <p:sp>
          <p:nvSpPr>
            <p:cNvPr id="11302" name="Rectangle 34">
              <a:extLst>
                <a:ext uri="{FF2B5EF4-FFF2-40B4-BE49-F238E27FC236}">
                  <a16:creationId xmlns:a16="http://schemas.microsoft.com/office/drawing/2014/main" id="{0B9D336F-2831-1AEF-9DCF-8F3F67C07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024"/>
              <a:ext cx="912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solidFill>
                    <a:schemeClr val="accent2"/>
                  </a:solidFill>
                </a:rPr>
                <a:t>고속의 전송로</a:t>
              </a:r>
            </a:p>
          </p:txBody>
        </p:sp>
        <p:sp>
          <p:nvSpPr>
            <p:cNvPr id="11303" name="Rectangle 35">
              <a:extLst>
                <a:ext uri="{FF2B5EF4-FFF2-40B4-BE49-F238E27FC236}">
                  <a16:creationId xmlns:a16="http://schemas.microsoft.com/office/drawing/2014/main" id="{CD4E14CE-4B31-BFE9-0B91-7CC49AF61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496"/>
              <a:ext cx="912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solidFill>
                    <a:schemeClr val="accent2"/>
                  </a:solidFill>
                </a:rPr>
                <a:t>고속의 전송로</a:t>
              </a:r>
            </a:p>
          </p:txBody>
        </p:sp>
      </p:grpSp>
      <p:pic>
        <p:nvPicPr>
          <p:cNvPr id="11270" name="Picture 37">
            <a:extLst>
              <a:ext uri="{FF2B5EF4-FFF2-40B4-BE49-F238E27FC236}">
                <a16:creationId xmlns:a16="http://schemas.microsoft.com/office/drawing/2014/main" id="{ABC0FC74-2D1C-D995-A948-D3FB3E822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589588"/>
            <a:ext cx="3959225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38">
            <a:extLst>
              <a:ext uri="{FF2B5EF4-FFF2-40B4-BE49-F238E27FC236}">
                <a16:creationId xmlns:a16="http://schemas.microsoft.com/office/drawing/2014/main" id="{878BB51A-FB06-2664-F9F2-5A2295106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5" y="5589588"/>
            <a:ext cx="3959225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3">
            <a:extLst>
              <a:ext uri="{FF2B5EF4-FFF2-40B4-BE49-F238E27FC236}">
                <a16:creationId xmlns:a16="http://schemas.microsoft.com/office/drawing/2014/main" id="{A69034FC-5822-15B0-B438-A07B325A14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3EA647B2-080C-63B9-D657-58EC56EAE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Select I/O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CB4C525-EF15-A43A-7E17-EEFD699852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멀티 프로세스 기반 서버</a:t>
            </a:r>
          </a:p>
          <a:p>
            <a:pPr lvl="1" eaLnBrk="1" hangingPunct="1"/>
            <a:r>
              <a:rPr lang="ko-KR" altLang="en-US"/>
              <a:t>클라이언트와 서버간의 송수신 데이터 용량이 큰 경우</a:t>
            </a:r>
            <a:r>
              <a:rPr lang="en-US" altLang="ko-KR"/>
              <a:t>.</a:t>
            </a:r>
          </a:p>
          <a:p>
            <a:pPr lvl="1" eaLnBrk="1" hangingPunct="1"/>
            <a:r>
              <a:rPr lang="ko-KR" altLang="en-US"/>
              <a:t>송수신이 연속적으로 발생 하는 경우에 적합</a:t>
            </a:r>
            <a:r>
              <a:rPr lang="en-US" altLang="ko-KR"/>
              <a:t>.</a:t>
            </a:r>
          </a:p>
          <a:p>
            <a:pPr lvl="1"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r>
              <a:rPr lang="ko-KR" altLang="en-US"/>
              <a:t>멀티플렉싱 기반 서버</a:t>
            </a:r>
          </a:p>
          <a:p>
            <a:pPr lvl="1" eaLnBrk="1" hangingPunct="1"/>
            <a:r>
              <a:rPr lang="ko-KR" altLang="en-US"/>
              <a:t>클라이언트와 서버간의 송수신 데이터 용량이 작은 경우</a:t>
            </a:r>
            <a:r>
              <a:rPr lang="en-US" altLang="ko-KR"/>
              <a:t>. </a:t>
            </a:r>
          </a:p>
          <a:p>
            <a:pPr lvl="1" eaLnBrk="1" hangingPunct="1"/>
            <a:r>
              <a:rPr lang="ko-KR" altLang="en-US"/>
              <a:t>송수신이 연속적이지 않은 경우에 적합</a:t>
            </a:r>
          </a:p>
          <a:p>
            <a:pPr lvl="1" eaLnBrk="1" hangingPunct="1"/>
            <a:r>
              <a:rPr lang="ko-KR" altLang="en-US"/>
              <a:t>멀티 프로세스 기반의 서버에 비해 많은 수의 클라이언트 처리에 적합</a:t>
            </a:r>
            <a:r>
              <a:rPr lang="en-US" altLang="ko-KR"/>
              <a:t>.</a:t>
            </a:r>
          </a:p>
          <a:p>
            <a:pPr lvl="1" eaLnBrk="1" hangingPunct="1"/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3">
            <a:extLst>
              <a:ext uri="{FF2B5EF4-FFF2-40B4-BE49-F238E27FC236}">
                <a16:creationId xmlns:a16="http://schemas.microsoft.com/office/drawing/2014/main" id="{A6FDB7DE-1672-2B1B-D24B-97A253735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A7D559F-583F-9570-763D-34E789338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/>
              <a:t>3. Select I/O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E937041-5464-53C0-0FE2-5B36B28DE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1800"/>
              <a:t>Select </a:t>
            </a:r>
            <a:r>
              <a:rPr lang="ko-KR" altLang="en-US" sz="1800"/>
              <a:t>모델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/>
              <a:t>멀티플렉싱</a:t>
            </a:r>
            <a:r>
              <a:rPr lang="ko-KR" altLang="en-US" sz="1600"/>
              <a:t>을 구현한 모델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600"/>
              <a:t>select() </a:t>
            </a:r>
            <a:r>
              <a:rPr lang="ko-KR" altLang="en-US" sz="1600"/>
              <a:t>함수로 구현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/>
              <a:t>하나의 스레드로 소켓 모드</a:t>
            </a:r>
            <a:r>
              <a:rPr lang="en-US" altLang="ko-KR" sz="1600"/>
              <a:t>(</a:t>
            </a:r>
            <a:r>
              <a:rPr lang="ko-KR" altLang="en-US" sz="1600"/>
              <a:t>블로킹</a:t>
            </a:r>
            <a:r>
              <a:rPr lang="en-US" altLang="ko-KR" sz="1600"/>
              <a:t>, </a:t>
            </a:r>
            <a:r>
              <a:rPr lang="ko-KR" altLang="en-US" sz="1600"/>
              <a:t>넌</a:t>
            </a:r>
            <a:r>
              <a:rPr lang="en-US" altLang="ko-KR" sz="1600"/>
              <a:t>-</a:t>
            </a:r>
            <a:r>
              <a:rPr lang="ko-KR" altLang="en-US" sz="1600"/>
              <a:t>블로킹</a:t>
            </a:r>
            <a:r>
              <a:rPr lang="en-US" altLang="ko-KR" sz="1600"/>
              <a:t>)</a:t>
            </a:r>
            <a:r>
              <a:rPr lang="ko-KR" altLang="en-US" sz="1600"/>
              <a:t>에 관계없이 여러 개의 소켓을 처리</a:t>
            </a:r>
          </a:p>
          <a:p>
            <a:pPr lvl="1" eaLnBrk="1" hangingPunct="1">
              <a:lnSpc>
                <a:spcPct val="80000"/>
              </a:lnSpc>
            </a:pPr>
            <a:endParaRPr lang="ko-KR" altLang="en-US" sz="1600"/>
          </a:p>
          <a:p>
            <a:pPr eaLnBrk="1" hangingPunct="1">
              <a:lnSpc>
                <a:spcPct val="80000"/>
              </a:lnSpc>
            </a:pPr>
            <a:r>
              <a:rPr lang="ko-KR" altLang="en-US" sz="1800"/>
              <a:t>핵심 원리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/>
              <a:t>소켓 함수를 호출해야 할 시점을 알려줌으로써 함수 호출 시 항상 성공하도록 함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400"/>
              <a:t>블로킹 소켓</a:t>
            </a:r>
            <a:r>
              <a:rPr lang="en-US" altLang="ko-KR" sz="1400"/>
              <a:t>: </a:t>
            </a:r>
            <a:r>
              <a:rPr lang="ko-KR" altLang="en-US" sz="1400"/>
              <a:t>소켓 함수 호출 시 조건이 만족되지 않아 블로킹 되는 상황을 방지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400"/>
              <a:t>넌블로킹 소켓</a:t>
            </a:r>
            <a:r>
              <a:rPr lang="en-US" altLang="ko-KR" sz="1400"/>
              <a:t>: </a:t>
            </a:r>
            <a:r>
              <a:rPr lang="ko-KR" altLang="en-US" sz="1400"/>
              <a:t>소켓 함수 호출 시 조건이 만족되지 않아 다시 호출해야 하는 상황을 방지</a:t>
            </a:r>
          </a:p>
          <a:p>
            <a:pPr lvl="2" eaLnBrk="1" hangingPunct="1">
              <a:lnSpc>
                <a:spcPct val="80000"/>
              </a:lnSpc>
            </a:pPr>
            <a:endParaRPr lang="ko-KR" altLang="en-US" sz="1400"/>
          </a:p>
          <a:p>
            <a:pPr eaLnBrk="1" hangingPunct="1">
              <a:lnSpc>
                <a:spcPct val="80000"/>
              </a:lnSpc>
            </a:pPr>
            <a:r>
              <a:rPr lang="en-US" altLang="ko-KR" sz="1800"/>
              <a:t>select </a:t>
            </a:r>
            <a:r>
              <a:rPr lang="ko-KR" altLang="en-US" sz="1800"/>
              <a:t>함수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int </a:t>
            </a:r>
            <a:r>
              <a:rPr lang="en-US" altLang="ko-KR" sz="1600">
                <a:solidFill>
                  <a:srgbClr val="FF0000"/>
                </a:solidFill>
              </a:rPr>
              <a:t>select</a:t>
            </a:r>
            <a:r>
              <a:rPr lang="en-US" altLang="ko-KR" sz="1400"/>
              <a:t> (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int nfds,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fd_set* readfds,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fd_set* writefds,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fd_set* exceptfds,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    const struct timeval* timeout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/>
              <a:t>) ;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400"/>
          </a:p>
          <a:p>
            <a:pPr lvl="1" eaLnBrk="1" hangingPunct="1">
              <a:lnSpc>
                <a:spcPct val="80000"/>
              </a:lnSpc>
            </a:pPr>
            <a:r>
              <a:rPr lang="ko-KR" altLang="en-US" sz="1600"/>
              <a:t>성공</a:t>
            </a:r>
            <a:r>
              <a:rPr lang="en-US" altLang="ko-KR" sz="1600"/>
              <a:t>: </a:t>
            </a:r>
            <a:r>
              <a:rPr lang="ko-KR" altLang="en-US" sz="1600"/>
              <a:t>조건을 만족하는 소켓의 개수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600"/>
              <a:t>0: </a:t>
            </a:r>
            <a:r>
              <a:rPr lang="ko-KR" altLang="en-US" sz="1600"/>
              <a:t>타임아웃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/>
              <a:t>실패</a:t>
            </a:r>
            <a:r>
              <a:rPr lang="en-US" altLang="ko-KR" sz="1600"/>
              <a:t>: SOCKET_ERROR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3">
            <a:extLst>
              <a:ext uri="{FF2B5EF4-FFF2-40B4-BE49-F238E27FC236}">
                <a16:creationId xmlns:a16="http://schemas.microsoft.com/office/drawing/2014/main" id="{1C222974-F89B-5A99-80A4-781711E2E8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4965828-1D7D-72D0-34F1-7D57FBF73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동작 원리</a:t>
            </a:r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7A37035E-7B58-8BAE-F27E-2A2B0DC988BB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1905000"/>
            <a:ext cx="3797300" cy="1828800"/>
            <a:chOff x="144" y="192"/>
            <a:chExt cx="3312" cy="1632"/>
          </a:xfrm>
        </p:grpSpPr>
        <p:sp>
          <p:nvSpPr>
            <p:cNvPr id="14355" name="Rectangle 5">
              <a:extLst>
                <a:ext uri="{FF2B5EF4-FFF2-40B4-BE49-F238E27FC236}">
                  <a16:creationId xmlns:a16="http://schemas.microsoft.com/office/drawing/2014/main" id="{281B5498-5904-C280-C1F0-DAE307D05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92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읽기 셋</a:t>
              </a:r>
            </a:p>
          </p:txBody>
        </p:sp>
        <p:sp>
          <p:nvSpPr>
            <p:cNvPr id="14356" name="Rectangle 6">
              <a:extLst>
                <a:ext uri="{FF2B5EF4-FFF2-40B4-BE49-F238E27FC236}">
                  <a16:creationId xmlns:a16="http://schemas.microsoft.com/office/drawing/2014/main" id="{70F2B12C-1633-8850-563C-5FB43BCFA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480"/>
              <a:ext cx="907" cy="9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57" name="Rectangle 7">
              <a:extLst>
                <a:ext uri="{FF2B5EF4-FFF2-40B4-BE49-F238E27FC236}">
                  <a16:creationId xmlns:a16="http://schemas.microsoft.com/office/drawing/2014/main" id="{339C07D6-C1A7-BFD7-7701-479A167FE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" y="629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58" name="Rectangle 8">
              <a:extLst>
                <a:ext uri="{FF2B5EF4-FFF2-40B4-BE49-F238E27FC236}">
                  <a16:creationId xmlns:a16="http://schemas.microsoft.com/office/drawing/2014/main" id="{1B485B32-794A-3126-B446-0D69FAB63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92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쓰기 셋</a:t>
              </a:r>
            </a:p>
          </p:txBody>
        </p:sp>
        <p:sp>
          <p:nvSpPr>
            <p:cNvPr id="14359" name="Rectangle 9">
              <a:extLst>
                <a:ext uri="{FF2B5EF4-FFF2-40B4-BE49-F238E27FC236}">
                  <a16:creationId xmlns:a16="http://schemas.microsoft.com/office/drawing/2014/main" id="{65FFA216-DED5-1DF7-3F67-5698F9F16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480"/>
              <a:ext cx="907" cy="9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60" name="Rectangle 10">
              <a:extLst>
                <a:ext uri="{FF2B5EF4-FFF2-40B4-BE49-F238E27FC236}">
                  <a16:creationId xmlns:a16="http://schemas.microsoft.com/office/drawing/2014/main" id="{1D78424A-D80C-89A5-9C05-3DD739618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629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61" name="Rectangle 11">
              <a:extLst>
                <a:ext uri="{FF2B5EF4-FFF2-40B4-BE49-F238E27FC236}">
                  <a16:creationId xmlns:a16="http://schemas.microsoft.com/office/drawing/2014/main" id="{06FBAC6A-D026-89D0-DCBE-D98E7DB39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192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예외 셋</a:t>
              </a:r>
            </a:p>
          </p:txBody>
        </p:sp>
        <p:sp>
          <p:nvSpPr>
            <p:cNvPr id="14362" name="Rectangle 12">
              <a:extLst>
                <a:ext uri="{FF2B5EF4-FFF2-40B4-BE49-F238E27FC236}">
                  <a16:creationId xmlns:a16="http://schemas.microsoft.com/office/drawing/2014/main" id="{2CA02F66-6869-1BAB-9876-712D9F6D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480"/>
              <a:ext cx="907" cy="9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63" name="Rectangle 13">
              <a:extLst>
                <a:ext uri="{FF2B5EF4-FFF2-40B4-BE49-F238E27FC236}">
                  <a16:creationId xmlns:a16="http://schemas.microsoft.com/office/drawing/2014/main" id="{D2613D57-0372-62F3-7BED-D5017AB39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672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64" name="Rectangle 14">
              <a:extLst>
                <a:ext uri="{FF2B5EF4-FFF2-40B4-BE49-F238E27FC236}">
                  <a16:creationId xmlns:a16="http://schemas.microsoft.com/office/drawing/2014/main" id="{FC504A10-CF61-596B-4931-BF7668FE4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" y="1109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65" name="Rectangle 15">
              <a:extLst>
                <a:ext uri="{FF2B5EF4-FFF2-40B4-BE49-F238E27FC236}">
                  <a16:creationId xmlns:a16="http://schemas.microsoft.com/office/drawing/2014/main" id="{DB64455F-7498-3AC1-09DE-F8E7FF842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912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66" name="Rectangle 16">
              <a:extLst>
                <a:ext uri="{FF2B5EF4-FFF2-40B4-BE49-F238E27FC236}">
                  <a16:creationId xmlns:a16="http://schemas.microsoft.com/office/drawing/2014/main" id="{6DF92B20-B797-2373-24D2-BFE3F50EC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821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67" name="Rectangle 17">
              <a:extLst>
                <a:ext uri="{FF2B5EF4-FFF2-40B4-BE49-F238E27FC236}">
                  <a16:creationId xmlns:a16="http://schemas.microsoft.com/office/drawing/2014/main" id="{CC1239B0-8423-DD9C-EEFD-9A0B8FC2E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632"/>
              <a:ext cx="105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소켓</a:t>
              </a:r>
            </a:p>
          </p:txBody>
        </p:sp>
        <p:sp>
          <p:nvSpPr>
            <p:cNvPr id="14368" name="Freeform 18">
              <a:extLst>
                <a:ext uri="{FF2B5EF4-FFF2-40B4-BE49-F238E27FC236}">
                  <a16:creationId xmlns:a16="http://schemas.microsoft.com/office/drawing/2014/main" id="{DA6DF12B-497E-B234-EF8A-A3AD8BC96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" y="1152"/>
              <a:ext cx="528" cy="480"/>
            </a:xfrm>
            <a:custGeom>
              <a:avLst/>
              <a:gdLst>
                <a:gd name="T0" fmla="*/ 0 w 528"/>
                <a:gd name="T1" fmla="*/ 0 h 480"/>
                <a:gd name="T2" fmla="*/ 192 w 528"/>
                <a:gd name="T3" fmla="*/ 336 h 480"/>
                <a:gd name="T4" fmla="*/ 384 w 528"/>
                <a:gd name="T5" fmla="*/ 288 h 480"/>
                <a:gd name="T6" fmla="*/ 528 w 528"/>
                <a:gd name="T7" fmla="*/ 480 h 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480">
                  <a:moveTo>
                    <a:pt x="0" y="0"/>
                  </a:moveTo>
                  <a:cubicBezTo>
                    <a:pt x="64" y="144"/>
                    <a:pt x="128" y="288"/>
                    <a:pt x="192" y="336"/>
                  </a:cubicBezTo>
                  <a:cubicBezTo>
                    <a:pt x="256" y="384"/>
                    <a:pt x="328" y="264"/>
                    <a:pt x="384" y="288"/>
                  </a:cubicBezTo>
                  <a:cubicBezTo>
                    <a:pt x="440" y="312"/>
                    <a:pt x="484" y="396"/>
                    <a:pt x="528" y="48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341" name="Group 19">
            <a:extLst>
              <a:ext uri="{FF2B5EF4-FFF2-40B4-BE49-F238E27FC236}">
                <a16:creationId xmlns:a16="http://schemas.microsoft.com/office/drawing/2014/main" id="{B961E424-D781-0238-8512-CB9E011005CF}"/>
              </a:ext>
            </a:extLst>
          </p:cNvPr>
          <p:cNvGrpSpPr>
            <a:grpSpLocks/>
          </p:cNvGrpSpPr>
          <p:nvPr/>
        </p:nvGrpSpPr>
        <p:grpSpPr bwMode="auto">
          <a:xfrm>
            <a:off x="4502150" y="4495800"/>
            <a:ext cx="3797300" cy="1828800"/>
            <a:chOff x="2112" y="2208"/>
            <a:chExt cx="3312" cy="1632"/>
          </a:xfrm>
        </p:grpSpPr>
        <p:sp>
          <p:nvSpPr>
            <p:cNvPr id="14344" name="Rectangle 20">
              <a:extLst>
                <a:ext uri="{FF2B5EF4-FFF2-40B4-BE49-F238E27FC236}">
                  <a16:creationId xmlns:a16="http://schemas.microsoft.com/office/drawing/2014/main" id="{89342441-7156-5813-93EA-F83BDE3ED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208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읽기 셋</a:t>
              </a:r>
            </a:p>
          </p:txBody>
        </p:sp>
        <p:sp>
          <p:nvSpPr>
            <p:cNvPr id="14345" name="Rectangle 21">
              <a:extLst>
                <a:ext uri="{FF2B5EF4-FFF2-40B4-BE49-F238E27FC236}">
                  <a16:creationId xmlns:a16="http://schemas.microsoft.com/office/drawing/2014/main" id="{FC6F219B-98F8-6EB7-9BDE-F7C20F68D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96"/>
              <a:ext cx="907" cy="9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46" name="Rectangle 22">
              <a:extLst>
                <a:ext uri="{FF2B5EF4-FFF2-40B4-BE49-F238E27FC236}">
                  <a16:creationId xmlns:a16="http://schemas.microsoft.com/office/drawing/2014/main" id="{3977DFCD-33E6-543B-41F4-DF5C4DBC5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1" y="2645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47" name="Rectangle 23">
              <a:extLst>
                <a:ext uri="{FF2B5EF4-FFF2-40B4-BE49-F238E27FC236}">
                  <a16:creationId xmlns:a16="http://schemas.microsoft.com/office/drawing/2014/main" id="{F3F39957-3314-F91D-3B42-050E20EA3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208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쓰기 셋</a:t>
              </a:r>
            </a:p>
          </p:txBody>
        </p:sp>
        <p:sp>
          <p:nvSpPr>
            <p:cNvPr id="14348" name="Rectangle 24">
              <a:extLst>
                <a:ext uri="{FF2B5EF4-FFF2-40B4-BE49-F238E27FC236}">
                  <a16:creationId xmlns:a16="http://schemas.microsoft.com/office/drawing/2014/main" id="{32373054-8F6B-9547-F6BA-862E4EB87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496"/>
              <a:ext cx="907" cy="9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49" name="Rectangle 25">
              <a:extLst>
                <a:ext uri="{FF2B5EF4-FFF2-40B4-BE49-F238E27FC236}">
                  <a16:creationId xmlns:a16="http://schemas.microsoft.com/office/drawing/2014/main" id="{90E55A45-F391-4A56-0528-BDCCF199C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1" y="2645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50" name="Rectangle 26">
              <a:extLst>
                <a:ext uri="{FF2B5EF4-FFF2-40B4-BE49-F238E27FC236}">
                  <a16:creationId xmlns:a16="http://schemas.microsoft.com/office/drawing/2014/main" id="{67EE9377-A5F0-EF1A-B99F-97AF3956D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" y="2208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예외 셋</a:t>
              </a:r>
            </a:p>
          </p:txBody>
        </p:sp>
        <p:sp>
          <p:nvSpPr>
            <p:cNvPr id="14351" name="Rectangle 27">
              <a:extLst>
                <a:ext uri="{FF2B5EF4-FFF2-40B4-BE49-F238E27FC236}">
                  <a16:creationId xmlns:a16="http://schemas.microsoft.com/office/drawing/2014/main" id="{413B9532-DD6D-02DF-0EE5-8CA51A83D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" y="2496"/>
              <a:ext cx="907" cy="9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52" name="Rectangle 28">
              <a:extLst>
                <a:ext uri="{FF2B5EF4-FFF2-40B4-BE49-F238E27FC236}">
                  <a16:creationId xmlns:a16="http://schemas.microsoft.com/office/drawing/2014/main" id="{AC271811-1A1C-267B-1ED5-A60AD87A3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3125"/>
              <a:ext cx="91" cy="91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353" name="Rectangle 29">
              <a:extLst>
                <a:ext uri="{FF2B5EF4-FFF2-40B4-BE49-F238E27FC236}">
                  <a16:creationId xmlns:a16="http://schemas.microsoft.com/office/drawing/2014/main" id="{C313DA8A-2181-73D2-04B8-170DE88F4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648"/>
              <a:ext cx="105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굴림" panose="020B0600000101010101" pitchFamily="50" charset="-127"/>
                  <a:ea typeface="굴림" panose="020B0600000101010101" pitchFamily="50" charset="-127"/>
                </a:rPr>
                <a:t>소켓</a:t>
              </a:r>
            </a:p>
          </p:txBody>
        </p:sp>
        <p:sp>
          <p:nvSpPr>
            <p:cNvPr id="14354" name="Freeform 30">
              <a:extLst>
                <a:ext uri="{FF2B5EF4-FFF2-40B4-BE49-F238E27FC236}">
                  <a16:creationId xmlns:a16="http://schemas.microsoft.com/office/drawing/2014/main" id="{91825671-09A6-15E0-C175-F2034B0B8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3168"/>
              <a:ext cx="528" cy="480"/>
            </a:xfrm>
            <a:custGeom>
              <a:avLst/>
              <a:gdLst>
                <a:gd name="T0" fmla="*/ 0 w 528"/>
                <a:gd name="T1" fmla="*/ 0 h 480"/>
                <a:gd name="T2" fmla="*/ 192 w 528"/>
                <a:gd name="T3" fmla="*/ 336 h 480"/>
                <a:gd name="T4" fmla="*/ 384 w 528"/>
                <a:gd name="T5" fmla="*/ 288 h 480"/>
                <a:gd name="T6" fmla="*/ 528 w 528"/>
                <a:gd name="T7" fmla="*/ 480 h 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480">
                  <a:moveTo>
                    <a:pt x="0" y="0"/>
                  </a:moveTo>
                  <a:cubicBezTo>
                    <a:pt x="64" y="144"/>
                    <a:pt x="128" y="288"/>
                    <a:pt x="192" y="336"/>
                  </a:cubicBezTo>
                  <a:cubicBezTo>
                    <a:pt x="256" y="384"/>
                    <a:pt x="328" y="264"/>
                    <a:pt x="384" y="288"/>
                  </a:cubicBezTo>
                  <a:cubicBezTo>
                    <a:pt x="440" y="312"/>
                    <a:pt x="484" y="396"/>
                    <a:pt x="528" y="48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342" name="AutoShape 31">
            <a:extLst>
              <a:ext uri="{FF2B5EF4-FFF2-40B4-BE49-F238E27FC236}">
                <a16:creationId xmlns:a16="http://schemas.microsoft.com/office/drawing/2014/main" id="{45A0213B-C952-FCD8-A0B3-1DA53FC03C8A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3446463" y="3938587"/>
            <a:ext cx="914400" cy="352425"/>
          </a:xfrm>
          <a:custGeom>
            <a:avLst/>
            <a:gdLst>
              <a:gd name="T0" fmla="*/ 1229029800 w 21600"/>
              <a:gd name="T1" fmla="*/ 0 h 21600"/>
              <a:gd name="T2" fmla="*/ 0 w 21600"/>
              <a:gd name="T3" fmla="*/ 46909823 h 21600"/>
              <a:gd name="T4" fmla="*/ 1229029800 w 21600"/>
              <a:gd name="T5" fmla="*/ 93819402 h 21600"/>
              <a:gd name="T6" fmla="*/ 1638706400 w 21600"/>
              <a:gd name="T7" fmla="*/ 4690982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4343" name="Rectangle 33">
            <a:extLst>
              <a:ext uri="{FF2B5EF4-FFF2-40B4-BE49-F238E27FC236}">
                <a16:creationId xmlns:a16="http://schemas.microsoft.com/office/drawing/2014/main" id="{D5B2DAE3-F34F-EA15-32F8-C34CB6CBB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 sz="2400"/>
              <a:t>3. Select I/O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3">
            <a:extLst>
              <a:ext uri="{FF2B5EF4-FFF2-40B4-BE49-F238E27FC236}">
                <a16:creationId xmlns:a16="http://schemas.microsoft.com/office/drawing/2014/main" id="{95D2D49B-F332-4DDF-BDFA-EC184B16C8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9E309A5-91CD-23D9-7CEB-7F4D9AC96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소켓 셋 </a:t>
            </a:r>
            <a:r>
              <a:rPr lang="en-US" altLang="ko-KR"/>
              <a:t>(</a:t>
            </a:r>
            <a:r>
              <a:rPr lang="ko-KR" altLang="en-US"/>
              <a:t>각각 읽기</a:t>
            </a:r>
            <a:r>
              <a:rPr lang="en-US" altLang="ko-KR"/>
              <a:t>, </a:t>
            </a:r>
            <a:r>
              <a:rPr lang="ko-KR" altLang="en-US"/>
              <a:t>쓰기</a:t>
            </a:r>
            <a:r>
              <a:rPr lang="en-US" altLang="ko-KR"/>
              <a:t>, </a:t>
            </a:r>
            <a:r>
              <a:rPr lang="ko-KR" altLang="en-US"/>
              <a:t>예외 셋</a:t>
            </a:r>
            <a:r>
              <a:rPr lang="en-US" altLang="ko-KR"/>
              <a:t>)</a:t>
            </a:r>
          </a:p>
        </p:txBody>
      </p:sp>
      <p:grpSp>
        <p:nvGrpSpPr>
          <p:cNvPr id="15364" name="Group 4">
            <a:extLst>
              <a:ext uri="{FF2B5EF4-FFF2-40B4-BE49-F238E27FC236}">
                <a16:creationId xmlns:a16="http://schemas.microsoft.com/office/drawing/2014/main" id="{A4E7DF3D-69F1-951C-A8FB-3C3D506C980C}"/>
              </a:ext>
            </a:extLst>
          </p:cNvPr>
          <p:cNvGrpSpPr>
            <a:grpSpLocks/>
          </p:cNvGrpSpPr>
          <p:nvPr/>
        </p:nvGrpSpPr>
        <p:grpSpPr bwMode="auto">
          <a:xfrm>
            <a:off x="465138" y="1752600"/>
            <a:ext cx="8213725" cy="1292225"/>
            <a:chOff x="0" y="0"/>
            <a:chExt cx="3210" cy="978"/>
          </a:xfrm>
        </p:grpSpPr>
        <p:grpSp>
          <p:nvGrpSpPr>
            <p:cNvPr id="15400" name="Group 5">
              <a:extLst>
                <a:ext uri="{FF2B5EF4-FFF2-40B4-BE49-F238E27FC236}">
                  <a16:creationId xmlns:a16="http://schemas.microsoft.com/office/drawing/2014/main" id="{5BF1F538-0B17-BDDA-E1CA-707138631D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54" cy="978"/>
              <a:chOff x="0" y="0"/>
              <a:chExt cx="754" cy="978"/>
            </a:xfrm>
          </p:grpSpPr>
          <p:sp>
            <p:nvSpPr>
              <p:cNvPr id="15404" name="Rectangle 6">
                <a:extLst>
                  <a:ext uri="{FF2B5EF4-FFF2-40B4-BE49-F238E27FC236}">
                    <a16:creationId xmlns:a16="http://schemas.microsoft.com/office/drawing/2014/main" id="{016CE503-54C4-FC95-07AF-85805C01D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54" cy="978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5405" name="Group 7">
                <a:extLst>
                  <a:ext uri="{FF2B5EF4-FFF2-40B4-BE49-F238E27FC236}">
                    <a16:creationId xmlns:a16="http://schemas.microsoft.com/office/drawing/2014/main" id="{ADE5A9BE-A0A0-4E12-DA27-9E9BF73E91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54" cy="978"/>
                <a:chOff x="0" y="0"/>
                <a:chExt cx="754" cy="978"/>
              </a:xfrm>
            </p:grpSpPr>
            <p:sp>
              <p:nvSpPr>
                <p:cNvPr id="15406" name="Rectangle 8">
                  <a:extLst>
                    <a:ext uri="{FF2B5EF4-FFF2-40B4-BE49-F238E27FC236}">
                      <a16:creationId xmlns:a16="http://schemas.microsoft.com/office/drawing/2014/main" id="{46D033ED-2225-4C8F-5DE7-9FA9AAF11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0"/>
                  <a:ext cx="674" cy="978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함수 호출 시점</a:t>
                  </a:r>
                  <a:endPara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5407" name="Rectangle 9">
                  <a:extLst>
                    <a:ext uri="{FF2B5EF4-FFF2-40B4-BE49-F238E27FC236}">
                      <a16:creationId xmlns:a16="http://schemas.microsoft.com/office/drawing/2014/main" id="{636BADDE-8438-2C2D-A510-09E21DD5E5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4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5401" name="Group 10">
              <a:extLst>
                <a:ext uri="{FF2B5EF4-FFF2-40B4-BE49-F238E27FC236}">
                  <a16:creationId xmlns:a16="http://schemas.microsoft.com/office/drawing/2014/main" id="{723EE557-80D5-6C40-9DF8-DF01077D63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" y="0"/>
              <a:ext cx="2456" cy="978"/>
              <a:chOff x="754" y="0"/>
              <a:chExt cx="2456" cy="978"/>
            </a:xfrm>
          </p:grpSpPr>
          <p:sp>
            <p:nvSpPr>
              <p:cNvPr id="15402" name="Rectangle 11">
                <a:extLst>
                  <a:ext uri="{FF2B5EF4-FFF2-40B4-BE49-F238E27FC236}">
                    <a16:creationId xmlns:a16="http://schemas.microsoft.com/office/drawing/2014/main" id="{E36B78AA-62EF-20BD-6807-C407728EC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" y="0"/>
                <a:ext cx="2376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indent="-177800"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  <a:sym typeface="Wingdings 2" panose="05020102010507070707" pitchFamily="18" charset="2"/>
                  </a:rPr>
                  <a:t>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클라이언트가 접속했으므로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accept()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함수를 호출할 수 있다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.</a:t>
                </a:r>
                <a:endParaRPr lang="en-US" altLang="ko-KR" sz="1400">
                  <a:latin typeface="바탕" panose="02030600000101010101" pitchFamily="18" charset="-127"/>
                  <a:ea typeface="바탕" panose="02030600000101010101" pitchFamily="18" charset="-127"/>
                  <a:sym typeface="Wingdings 2" panose="05020102010507070707" pitchFamily="18" charset="2"/>
                </a:endParaRPr>
              </a:p>
              <a:p>
                <a:pPr algn="just" latinLnBrk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  <a:sym typeface="Wingdings 2" panose="05020102010507070707" pitchFamily="18" charset="2"/>
                  </a:rPr>
                  <a:t>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데이터를 받았으므로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recv(), recvfrom()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등의 함수를 호출할 수 있다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.</a:t>
                </a:r>
                <a:endParaRPr lang="en-US" altLang="ko-KR" sz="1400">
                  <a:latin typeface="바탕" panose="02030600000101010101" pitchFamily="18" charset="-127"/>
                  <a:ea typeface="바탕" panose="02030600000101010101" pitchFamily="18" charset="-127"/>
                  <a:sym typeface="Wingdings 2" panose="05020102010507070707" pitchFamily="18" charset="2"/>
                </a:endParaRPr>
              </a:p>
              <a:p>
                <a:pPr algn="just" latinLnBrk="0">
                  <a:spcBef>
                    <a:spcPct val="0"/>
                  </a:spcBef>
                  <a:buClrTx/>
                  <a:buFont typeface="Wingdings 2" panose="05020102010507070707" pitchFamily="18" charset="2"/>
                  <a:buChar char="P"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연결이 종료되었으므로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recv(), recvfrom()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등의 함수를 호출할 수 있다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.</a:t>
                </a:r>
                <a:b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이때 리턴값은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0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또는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SOCKET_ERROR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가 된다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.</a:t>
                </a:r>
                <a:endParaRPr lang="en-US" altLang="ko-KR" sz="1400">
                  <a:latin typeface="굴림" panose="020B0600000101010101" pitchFamily="50" charset="-127"/>
                  <a:ea typeface="굴림" panose="020B0600000101010101" pitchFamily="50" charset="-127"/>
                  <a:sym typeface="Wingdings 2" panose="05020102010507070707" pitchFamily="18" charset="2"/>
                </a:endParaRPr>
              </a:p>
            </p:txBody>
          </p:sp>
          <p:sp>
            <p:nvSpPr>
              <p:cNvPr id="15403" name="Rectangle 12">
                <a:extLst>
                  <a:ext uri="{FF2B5EF4-FFF2-40B4-BE49-F238E27FC236}">
                    <a16:creationId xmlns:a16="http://schemas.microsoft.com/office/drawing/2014/main" id="{4DD80B9A-662C-BDD5-234E-968658D21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" y="0"/>
                <a:ext cx="2456" cy="97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grpSp>
        <p:nvGrpSpPr>
          <p:cNvPr id="15365" name="Group 13">
            <a:extLst>
              <a:ext uri="{FF2B5EF4-FFF2-40B4-BE49-F238E27FC236}">
                <a16:creationId xmlns:a16="http://schemas.microsoft.com/office/drawing/2014/main" id="{441DA05C-C27E-EC2B-76FF-3DCDB63EC73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273425"/>
            <a:ext cx="8215313" cy="1295400"/>
            <a:chOff x="0" y="0"/>
            <a:chExt cx="3210" cy="806"/>
          </a:xfrm>
        </p:grpSpPr>
        <p:grpSp>
          <p:nvGrpSpPr>
            <p:cNvPr id="15384" name="Group 14">
              <a:extLst>
                <a:ext uri="{FF2B5EF4-FFF2-40B4-BE49-F238E27FC236}">
                  <a16:creationId xmlns:a16="http://schemas.microsoft.com/office/drawing/2014/main" id="{B50F30B0-393C-0DB7-26EA-F946B8D567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64" cy="403"/>
              <a:chOff x="0" y="0"/>
              <a:chExt cx="764" cy="403"/>
            </a:xfrm>
          </p:grpSpPr>
          <p:sp>
            <p:nvSpPr>
              <p:cNvPr id="15396" name="Rectangle 15">
                <a:extLst>
                  <a:ext uri="{FF2B5EF4-FFF2-40B4-BE49-F238E27FC236}">
                    <a16:creationId xmlns:a16="http://schemas.microsoft.com/office/drawing/2014/main" id="{E37D1AAF-EB46-8CBD-5788-36BC86673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64" cy="403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5397" name="Group 16">
                <a:extLst>
                  <a:ext uri="{FF2B5EF4-FFF2-40B4-BE49-F238E27FC236}">
                    <a16:creationId xmlns:a16="http://schemas.microsoft.com/office/drawing/2014/main" id="{D711FD07-FE7A-07C0-7C02-E6E34B7E63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64" cy="403"/>
                <a:chOff x="0" y="0"/>
                <a:chExt cx="764" cy="403"/>
              </a:xfrm>
            </p:grpSpPr>
            <p:sp>
              <p:nvSpPr>
                <p:cNvPr id="15398" name="Rectangle 17">
                  <a:extLst>
                    <a:ext uri="{FF2B5EF4-FFF2-40B4-BE49-F238E27FC236}">
                      <a16:creationId xmlns:a16="http://schemas.microsoft.com/office/drawing/2014/main" id="{470AD12D-CC23-4CF7-C883-E9B149DAF2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0"/>
                  <a:ext cx="684" cy="403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함수 호출 시점</a:t>
                  </a:r>
                  <a:endPara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5399" name="Rectangle 18">
                  <a:extLst>
                    <a:ext uri="{FF2B5EF4-FFF2-40B4-BE49-F238E27FC236}">
                      <a16:creationId xmlns:a16="http://schemas.microsoft.com/office/drawing/2014/main" id="{49620C08-3212-35BA-2626-3028F06CCE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64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5385" name="Group 19">
              <a:extLst>
                <a:ext uri="{FF2B5EF4-FFF2-40B4-BE49-F238E27FC236}">
                  <a16:creationId xmlns:a16="http://schemas.microsoft.com/office/drawing/2014/main" id="{D728AB19-E61C-240E-6391-38C734D01B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" y="0"/>
              <a:ext cx="2446" cy="403"/>
              <a:chOff x="764" y="0"/>
              <a:chExt cx="2446" cy="403"/>
            </a:xfrm>
          </p:grpSpPr>
          <p:sp>
            <p:nvSpPr>
              <p:cNvPr id="15394" name="Rectangle 20">
                <a:extLst>
                  <a:ext uri="{FF2B5EF4-FFF2-40B4-BE49-F238E27FC236}">
                    <a16:creationId xmlns:a16="http://schemas.microsoft.com/office/drawing/2014/main" id="{190D8662-4CD5-EAE3-4B76-80F4505ED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0"/>
                <a:ext cx="2366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Wingdings 2" panose="05020102010507070707" pitchFamily="18" charset="2"/>
                  <a:buChar char="P"/>
                </a:pP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송신 버퍼가 충분하므로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send(), sendto()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등의 함수를 호출하여 </a:t>
                </a:r>
                <a:b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데이터를 보낼 수 있다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.</a:t>
                </a:r>
                <a:endParaRPr lang="en-US" altLang="ko-KR" sz="1400">
                  <a:latin typeface="굴림" panose="020B0600000101010101" pitchFamily="50" charset="-127"/>
                  <a:ea typeface="굴림" panose="020B0600000101010101" pitchFamily="50" charset="-127"/>
                  <a:sym typeface="Wingdings 2" panose="05020102010507070707" pitchFamily="18" charset="2"/>
                </a:endParaRPr>
              </a:p>
            </p:txBody>
          </p:sp>
          <p:sp>
            <p:nvSpPr>
              <p:cNvPr id="15395" name="Rectangle 21">
                <a:extLst>
                  <a:ext uri="{FF2B5EF4-FFF2-40B4-BE49-F238E27FC236}">
                    <a16:creationId xmlns:a16="http://schemas.microsoft.com/office/drawing/2014/main" id="{C7AFF340-FF8B-4DD0-67C5-B8C77197D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" y="0"/>
                <a:ext cx="2446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5386" name="Group 22">
              <a:extLst>
                <a:ext uri="{FF2B5EF4-FFF2-40B4-BE49-F238E27FC236}">
                  <a16:creationId xmlns:a16="http://schemas.microsoft.com/office/drawing/2014/main" id="{912E3046-863F-3084-029A-05BFA44F56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03"/>
              <a:ext cx="764" cy="403"/>
              <a:chOff x="0" y="403"/>
              <a:chExt cx="764" cy="403"/>
            </a:xfrm>
          </p:grpSpPr>
          <p:sp>
            <p:nvSpPr>
              <p:cNvPr id="15390" name="Rectangle 23">
                <a:extLst>
                  <a:ext uri="{FF2B5EF4-FFF2-40B4-BE49-F238E27FC236}">
                    <a16:creationId xmlns:a16="http://schemas.microsoft.com/office/drawing/2014/main" id="{F1048E1F-B43F-936F-8DBC-0877E7401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03"/>
                <a:ext cx="764" cy="403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5391" name="Group 24">
                <a:extLst>
                  <a:ext uri="{FF2B5EF4-FFF2-40B4-BE49-F238E27FC236}">
                    <a16:creationId xmlns:a16="http://schemas.microsoft.com/office/drawing/2014/main" id="{9BA1F47E-3BE0-F633-BAB6-E097D3563F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3"/>
                <a:ext cx="764" cy="403"/>
                <a:chOff x="0" y="403"/>
                <a:chExt cx="764" cy="403"/>
              </a:xfrm>
            </p:grpSpPr>
            <p:sp>
              <p:nvSpPr>
                <p:cNvPr id="15392" name="Rectangle 25">
                  <a:extLst>
                    <a:ext uri="{FF2B5EF4-FFF2-40B4-BE49-F238E27FC236}">
                      <a16:creationId xmlns:a16="http://schemas.microsoft.com/office/drawing/2014/main" id="{0B44D03D-895B-801C-F53D-DB2A55F4C7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403"/>
                  <a:ext cx="684" cy="403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함수 호출 결과</a:t>
                  </a:r>
                  <a:endPara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5393" name="Rectangle 26">
                  <a:extLst>
                    <a:ext uri="{FF2B5EF4-FFF2-40B4-BE49-F238E27FC236}">
                      <a16:creationId xmlns:a16="http://schemas.microsoft.com/office/drawing/2014/main" id="{40870AFE-C49A-6794-748E-DA9B84174C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764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5387" name="Group 27">
              <a:extLst>
                <a:ext uri="{FF2B5EF4-FFF2-40B4-BE49-F238E27FC236}">
                  <a16:creationId xmlns:a16="http://schemas.microsoft.com/office/drawing/2014/main" id="{CF3F2408-0B1B-07FD-09DF-2A823C05E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" y="403"/>
              <a:ext cx="2446" cy="403"/>
              <a:chOff x="764" y="403"/>
              <a:chExt cx="2446" cy="403"/>
            </a:xfrm>
          </p:grpSpPr>
          <p:sp>
            <p:nvSpPr>
              <p:cNvPr id="15388" name="Rectangle 28">
                <a:extLst>
                  <a:ext uri="{FF2B5EF4-FFF2-40B4-BE49-F238E27FC236}">
                    <a16:creationId xmlns:a16="http://schemas.microsoft.com/office/drawing/2014/main" id="{FB96F775-AD77-ADE0-3B86-A7F6DB2EA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" y="403"/>
                <a:ext cx="2366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  <a:sym typeface="Wingdings 2" panose="05020102010507070707" pitchFamily="18" charset="2"/>
                  </a:rPr>
                  <a:t>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넌블로킹 소켓을 사용한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connect()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함수 호출이 성공하였다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.</a:t>
                </a:r>
                <a:endParaRPr lang="en-US" altLang="ko-KR" sz="1400">
                  <a:latin typeface="굴림" panose="020B0600000101010101" pitchFamily="50" charset="-127"/>
                  <a:ea typeface="굴림" panose="020B0600000101010101" pitchFamily="50" charset="-127"/>
                  <a:sym typeface="Wingdings 2" panose="05020102010507070707" pitchFamily="18" charset="2"/>
                </a:endParaRPr>
              </a:p>
            </p:txBody>
          </p:sp>
          <p:sp>
            <p:nvSpPr>
              <p:cNvPr id="15389" name="Rectangle 29">
                <a:extLst>
                  <a:ext uri="{FF2B5EF4-FFF2-40B4-BE49-F238E27FC236}">
                    <a16:creationId xmlns:a16="http://schemas.microsoft.com/office/drawing/2014/main" id="{035AE30C-9D2F-267D-5591-0AEDC4454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" y="403"/>
                <a:ext cx="2446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grpSp>
        <p:nvGrpSpPr>
          <p:cNvPr id="15366" name="Group 30">
            <a:extLst>
              <a:ext uri="{FF2B5EF4-FFF2-40B4-BE49-F238E27FC236}">
                <a16:creationId xmlns:a16="http://schemas.microsoft.com/office/drawing/2014/main" id="{4B351283-8E2F-B53B-EE29-B60F4DEF085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797425"/>
            <a:ext cx="8215313" cy="1371600"/>
            <a:chOff x="0" y="0"/>
            <a:chExt cx="3210" cy="921"/>
          </a:xfrm>
        </p:grpSpPr>
        <p:grpSp>
          <p:nvGrpSpPr>
            <p:cNvPr id="15368" name="Group 31">
              <a:extLst>
                <a:ext uri="{FF2B5EF4-FFF2-40B4-BE49-F238E27FC236}">
                  <a16:creationId xmlns:a16="http://schemas.microsoft.com/office/drawing/2014/main" id="{F81E4071-B1CA-177D-47E3-DB0B45ADA9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62" cy="518"/>
              <a:chOff x="0" y="0"/>
              <a:chExt cx="762" cy="518"/>
            </a:xfrm>
          </p:grpSpPr>
          <p:sp>
            <p:nvSpPr>
              <p:cNvPr id="15380" name="Rectangle 32">
                <a:extLst>
                  <a:ext uri="{FF2B5EF4-FFF2-40B4-BE49-F238E27FC236}">
                    <a16:creationId xmlns:a16="http://schemas.microsoft.com/office/drawing/2014/main" id="{C1C37EB8-7573-2228-F489-64427329E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62" cy="518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5381" name="Group 33">
                <a:extLst>
                  <a:ext uri="{FF2B5EF4-FFF2-40B4-BE49-F238E27FC236}">
                    <a16:creationId xmlns:a16="http://schemas.microsoft.com/office/drawing/2014/main" id="{386DEBFB-39D2-497A-3A2D-6E3D2B3767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62" cy="518"/>
                <a:chOff x="0" y="0"/>
                <a:chExt cx="762" cy="518"/>
              </a:xfrm>
            </p:grpSpPr>
            <p:sp>
              <p:nvSpPr>
                <p:cNvPr id="15382" name="Rectangle 34">
                  <a:extLst>
                    <a:ext uri="{FF2B5EF4-FFF2-40B4-BE49-F238E27FC236}">
                      <a16:creationId xmlns:a16="http://schemas.microsoft.com/office/drawing/2014/main" id="{3C5B49C4-DE77-D5E7-7832-8B151BFEA4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0"/>
                  <a:ext cx="682" cy="518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함수 호출 시점</a:t>
                  </a:r>
                  <a:endPara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5383" name="Rectangle 35">
                  <a:extLst>
                    <a:ext uri="{FF2B5EF4-FFF2-40B4-BE49-F238E27FC236}">
                      <a16:creationId xmlns:a16="http://schemas.microsoft.com/office/drawing/2014/main" id="{1E4A6E20-6754-28F8-E4E2-B9A44D3BA7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6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5369" name="Group 36">
              <a:extLst>
                <a:ext uri="{FF2B5EF4-FFF2-40B4-BE49-F238E27FC236}">
                  <a16:creationId xmlns:a16="http://schemas.microsoft.com/office/drawing/2014/main" id="{D22816FA-FD63-26BC-21FD-45ABDF910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" y="0"/>
              <a:ext cx="2448" cy="518"/>
              <a:chOff x="762" y="0"/>
              <a:chExt cx="2448" cy="518"/>
            </a:xfrm>
          </p:grpSpPr>
          <p:sp>
            <p:nvSpPr>
              <p:cNvPr id="15378" name="Rectangle 37">
                <a:extLst>
                  <a:ext uri="{FF2B5EF4-FFF2-40B4-BE49-F238E27FC236}">
                    <a16:creationId xmlns:a16="http://schemas.microsoft.com/office/drawing/2014/main" id="{C9DD47DF-DD8B-9151-DB49-8A47867BD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2" y="0"/>
                <a:ext cx="236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  <a:sym typeface="Wingdings 2" panose="05020102010507070707" pitchFamily="18" charset="2"/>
                  </a:rPr>
                  <a:t>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 OOB(Out-Of-Band)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데이터가 도착했으므로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recv(), recvfrom()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등의</a:t>
                </a:r>
                <a:b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</a:b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 함수를 호출하여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OOB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데이터를 받을 수 있다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.</a:t>
                </a:r>
                <a:endParaRPr lang="en-US" altLang="ko-KR" sz="1400">
                  <a:latin typeface="굴림" panose="020B0600000101010101" pitchFamily="50" charset="-127"/>
                  <a:ea typeface="굴림" panose="020B0600000101010101" pitchFamily="50" charset="-127"/>
                  <a:sym typeface="Wingdings 2" panose="05020102010507070707" pitchFamily="18" charset="2"/>
                </a:endParaRPr>
              </a:p>
            </p:txBody>
          </p:sp>
          <p:sp>
            <p:nvSpPr>
              <p:cNvPr id="15379" name="Rectangle 38">
                <a:extLst>
                  <a:ext uri="{FF2B5EF4-FFF2-40B4-BE49-F238E27FC236}">
                    <a16:creationId xmlns:a16="http://schemas.microsoft.com/office/drawing/2014/main" id="{DE0DC36A-1C51-E102-D957-FBA6E6D1D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0"/>
                <a:ext cx="2448" cy="518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grpSp>
          <p:nvGrpSpPr>
            <p:cNvPr id="15370" name="Group 39">
              <a:extLst>
                <a:ext uri="{FF2B5EF4-FFF2-40B4-BE49-F238E27FC236}">
                  <a16:creationId xmlns:a16="http://schemas.microsoft.com/office/drawing/2014/main" id="{38ACFB88-B9DA-6117-E3CD-B8F02AFB8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18"/>
              <a:ext cx="762" cy="403"/>
              <a:chOff x="0" y="518"/>
              <a:chExt cx="762" cy="403"/>
            </a:xfrm>
          </p:grpSpPr>
          <p:sp>
            <p:nvSpPr>
              <p:cNvPr id="15374" name="Rectangle 40">
                <a:extLst>
                  <a:ext uri="{FF2B5EF4-FFF2-40B4-BE49-F238E27FC236}">
                    <a16:creationId xmlns:a16="http://schemas.microsoft.com/office/drawing/2014/main" id="{1E013CD1-25A1-3B34-A7FF-D7544A0B0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18"/>
                <a:ext cx="762" cy="403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15375" name="Group 41">
                <a:extLst>
                  <a:ext uri="{FF2B5EF4-FFF2-40B4-BE49-F238E27FC236}">
                    <a16:creationId xmlns:a16="http://schemas.microsoft.com/office/drawing/2014/main" id="{6BBBC987-93A2-9A59-8D8A-D459668820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18"/>
                <a:ext cx="762" cy="403"/>
                <a:chOff x="0" y="518"/>
                <a:chExt cx="762" cy="403"/>
              </a:xfrm>
            </p:grpSpPr>
            <p:sp>
              <p:nvSpPr>
                <p:cNvPr id="15376" name="Rectangle 42">
                  <a:extLst>
                    <a:ext uri="{FF2B5EF4-FFF2-40B4-BE49-F238E27FC236}">
                      <a16:creationId xmlns:a16="http://schemas.microsoft.com/office/drawing/2014/main" id="{F07996F9-1E96-6BDC-F1EE-59D748EBD9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" y="518"/>
                  <a:ext cx="682" cy="403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ko-KR" altLang="en-US" sz="1400">
                      <a:solidFill>
                        <a:srgbClr val="FFFFFF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함수 호출 결과</a:t>
                  </a:r>
                  <a:endPara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5377" name="Rectangle 43">
                  <a:extLst>
                    <a:ext uri="{FF2B5EF4-FFF2-40B4-BE49-F238E27FC236}">
                      <a16:creationId xmlns:a16="http://schemas.microsoft.com/office/drawing/2014/main" id="{1BECDC35-3C22-6D78-975B-8F5A45014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762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rgbClr val="0000FF"/>
                    </a:buClr>
                    <a:buFont typeface="Wingdings" panose="05000000000000000000" pitchFamily="2" charset="2"/>
                    <a:buChar char="l"/>
                    <a:defRPr kumimoji="1" sz="28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rgbClr val="CC00CC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4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rgbClr val="009900"/>
                    </a:buClr>
                    <a:buSzPct val="80000"/>
                    <a:buFont typeface="Wingdings" panose="05000000000000000000" pitchFamily="2" charset="2"/>
                    <a:buChar char="l"/>
                    <a:defRPr kumimoji="1" sz="20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rgbClr val="0000FF"/>
                    </a:buClr>
                    <a:buSzPct val="140000"/>
                    <a:buFont typeface="Wingdings" panose="05000000000000000000" pitchFamily="2" charset="2"/>
                    <a:buChar char="§"/>
                    <a:defRPr kumimoji="1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1600" b="1">
                      <a:solidFill>
                        <a:schemeClr val="tx1"/>
                      </a:solidFill>
                      <a:latin typeface="가을체" panose="02030600000101010101" pitchFamily="18" charset="-127"/>
                      <a:ea typeface="가을체" panose="02030600000101010101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ko-KR" altLang="en-US" sz="2400" b="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15371" name="Group 44">
              <a:extLst>
                <a:ext uri="{FF2B5EF4-FFF2-40B4-BE49-F238E27FC236}">
                  <a16:creationId xmlns:a16="http://schemas.microsoft.com/office/drawing/2014/main" id="{66A0288B-422B-444E-F949-BB844E9AB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" y="518"/>
              <a:ext cx="2448" cy="403"/>
              <a:chOff x="762" y="518"/>
              <a:chExt cx="2448" cy="403"/>
            </a:xfrm>
          </p:grpSpPr>
          <p:sp>
            <p:nvSpPr>
              <p:cNvPr id="15372" name="Rectangle 45">
                <a:extLst>
                  <a:ext uri="{FF2B5EF4-FFF2-40B4-BE49-F238E27FC236}">
                    <a16:creationId xmlns:a16="http://schemas.microsoft.com/office/drawing/2014/main" id="{972DA030-F060-5765-5666-3562B64EB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2" y="518"/>
                <a:ext cx="2368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  <a:sym typeface="Wingdings 2" panose="05020102010507070707" pitchFamily="18" charset="2"/>
                  </a:rPr>
                  <a:t>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넌블로킹 소켓을 사용한 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connect() </a:t>
                </a:r>
                <a:r>
                  <a:rPr lang="ko-KR" altLang="en-US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함수 호출이 실패하였다</a:t>
                </a:r>
                <a:r>
                  <a:rPr lang="en-US" altLang="ko-KR" sz="1400">
                    <a:latin typeface="굴림" panose="020B0600000101010101" pitchFamily="50" charset="-127"/>
                    <a:ea typeface="굴림" panose="020B0600000101010101" pitchFamily="50" charset="-127"/>
                  </a:rPr>
                  <a:t>.</a:t>
                </a:r>
                <a:endParaRPr lang="en-US" altLang="ko-KR" sz="1400">
                  <a:latin typeface="굴림" panose="020B0600000101010101" pitchFamily="50" charset="-127"/>
                  <a:ea typeface="굴림" panose="020B0600000101010101" pitchFamily="50" charset="-127"/>
                  <a:sym typeface="Wingdings 2" panose="05020102010507070707" pitchFamily="18" charset="2"/>
                </a:endParaRPr>
              </a:p>
            </p:txBody>
          </p:sp>
          <p:sp>
            <p:nvSpPr>
              <p:cNvPr id="15373" name="Rectangle 46">
                <a:extLst>
                  <a:ext uri="{FF2B5EF4-FFF2-40B4-BE49-F238E27FC236}">
                    <a16:creationId xmlns:a16="http://schemas.microsoft.com/office/drawing/2014/main" id="{38785ED5-CD9E-8D47-7221-32FB69041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518"/>
                <a:ext cx="244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l"/>
                  <a:defRPr kumimoji="1" sz="28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rgbClr val="CC00CC"/>
                  </a:buClr>
                  <a:buSzPct val="80000"/>
                  <a:buFont typeface="Wingdings" panose="05000000000000000000" pitchFamily="2" charset="2"/>
                  <a:buChar char="u"/>
                  <a:defRPr kumimoji="1" sz="24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rgbClr val="009900"/>
                  </a:buClr>
                  <a:buSzPct val="80000"/>
                  <a:buFont typeface="Wingdings" panose="05000000000000000000" pitchFamily="2" charset="2"/>
                  <a:buChar char="l"/>
                  <a:defRPr kumimoji="1" sz="20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rgbClr val="0000FF"/>
                  </a:buClr>
                  <a:buSzPct val="140000"/>
                  <a:buFont typeface="Wingdings" panose="05000000000000000000" pitchFamily="2" charset="2"/>
                  <a:buChar char="§"/>
                  <a:defRPr kumimoji="1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Pct val="90000"/>
                  <a:buFont typeface="Wingdings" panose="05000000000000000000" pitchFamily="2" charset="2"/>
                  <a:buChar char="v"/>
                  <a:defRPr kumimoji="1" sz="1600" b="1">
                    <a:solidFill>
                      <a:schemeClr val="tx1"/>
                    </a:solidFill>
                    <a:latin typeface="가을체" panose="02030600000101010101" pitchFamily="18" charset="-127"/>
                    <a:ea typeface="가을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ko-KR" altLang="en-US" sz="2400" b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</p:grpSp>
      <p:sp>
        <p:nvSpPr>
          <p:cNvPr id="15367" name="Rectangle 48">
            <a:extLst>
              <a:ext uri="{FF2B5EF4-FFF2-40B4-BE49-F238E27FC236}">
                <a16:creationId xmlns:a16="http://schemas.microsoft.com/office/drawing/2014/main" id="{615B81DF-7C4D-00A0-5637-FD0512C8A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 sz="2400"/>
              <a:t>3. Select I/O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3">
            <a:extLst>
              <a:ext uri="{FF2B5EF4-FFF2-40B4-BE49-F238E27FC236}">
                <a16:creationId xmlns:a16="http://schemas.microsoft.com/office/drawing/2014/main" id="{4A7B23DD-E24D-C1EF-7834-A7463FD3F9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7576B43-71BB-929A-0437-D25EAF14A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000"/>
              <a:t>select() </a:t>
            </a:r>
            <a:r>
              <a:rPr lang="ko-KR" altLang="en-US" sz="2000"/>
              <a:t>함수를 이용한 소켓 입</a:t>
            </a:r>
            <a:r>
              <a:rPr lang="en-US" altLang="ko-KR" sz="2000"/>
              <a:t>/</a:t>
            </a:r>
            <a:r>
              <a:rPr lang="ko-KR" altLang="en-US" sz="2000"/>
              <a:t>출력 절차</a:t>
            </a:r>
          </a:p>
          <a:p>
            <a:pPr eaLnBrk="1" hangingPunct="1">
              <a:lnSpc>
                <a:spcPct val="80000"/>
              </a:lnSpc>
            </a:pPr>
            <a:endParaRPr lang="ko-KR" altLang="en-US" sz="2000"/>
          </a:p>
          <a:p>
            <a:pPr lvl="1" eaLnBrk="1" hangingPunct="1">
              <a:lnSpc>
                <a:spcPct val="80000"/>
              </a:lnSpc>
            </a:pPr>
            <a:r>
              <a:rPr lang="en-US" altLang="ko-KR" sz="1800"/>
              <a:t>※ select </a:t>
            </a:r>
            <a:r>
              <a:rPr lang="ko-KR" altLang="en-US" sz="1800"/>
              <a:t>함수를 사용할 수 있도록 인수를 설정하는 과정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600"/>
              <a:t>1.</a:t>
            </a:r>
            <a:r>
              <a:rPr lang="ko-KR" altLang="en-US" sz="1600"/>
              <a:t>검사</a:t>
            </a:r>
            <a:r>
              <a:rPr lang="ko-KR" altLang="ko-KR" sz="1600"/>
              <a:t> 해야 할 소켓의 범위 지정</a:t>
            </a:r>
            <a:endParaRPr lang="ko-KR" altLang="en-US" sz="1600"/>
          </a:p>
          <a:p>
            <a:pPr lvl="3" eaLnBrk="1" hangingPunct="1">
              <a:lnSpc>
                <a:spcPct val="80000"/>
              </a:lnSpc>
            </a:pPr>
            <a:r>
              <a:rPr lang="ko-KR" altLang="ko-KR" sz="1400"/>
              <a:t>실제로는 검사해야 하는 소켓의 개수를 </a:t>
            </a:r>
            <a:r>
              <a:rPr lang="ko-KR" altLang="en-US" sz="1400"/>
              <a:t>인수로</a:t>
            </a:r>
            <a:r>
              <a:rPr lang="ko-KR" altLang="ko-KR" sz="1400"/>
              <a:t> 전달  </a:t>
            </a:r>
          </a:p>
          <a:p>
            <a:pPr lvl="3" eaLnBrk="1" hangingPunct="1">
              <a:lnSpc>
                <a:spcPct val="80000"/>
              </a:lnSpc>
            </a:pPr>
            <a:r>
              <a:rPr lang="ko-KR" altLang="ko-KR" sz="1400"/>
              <a:t>가장 큰 소켓 값에 1을 더해서 </a:t>
            </a:r>
            <a:r>
              <a:rPr lang="ko-KR" altLang="en-US" sz="1400"/>
              <a:t>인수로</a:t>
            </a:r>
            <a:r>
              <a:rPr lang="ko-KR" altLang="ko-KR" sz="1400"/>
              <a:t> 전달</a:t>
            </a:r>
          </a:p>
          <a:p>
            <a:pPr lvl="2" eaLnBrk="1" hangingPunct="1">
              <a:lnSpc>
                <a:spcPct val="80000"/>
              </a:lnSpc>
            </a:pPr>
            <a:endParaRPr lang="ko-KR" altLang="ko-KR" sz="1600"/>
          </a:p>
          <a:p>
            <a:pPr lvl="2" eaLnBrk="1" hangingPunct="1">
              <a:lnSpc>
                <a:spcPct val="80000"/>
              </a:lnSpc>
            </a:pPr>
            <a:r>
              <a:rPr lang="en-US" altLang="ko-KR" sz="1600"/>
              <a:t>2. </a:t>
            </a:r>
            <a:r>
              <a:rPr lang="ko-KR" altLang="ko-KR" sz="1600"/>
              <a:t>타임 아웃을 설정</a:t>
            </a:r>
            <a:r>
              <a:rPr lang="en-US" altLang="ko-KR" sz="1600"/>
              <a:t>: </a:t>
            </a:r>
            <a:r>
              <a:rPr lang="ko-KR" altLang="ko-KR" sz="1600"/>
              <a:t>struct timeval</a:t>
            </a:r>
            <a:r>
              <a:rPr lang="en-US" altLang="ko-KR" sz="1600"/>
              <a:t> </a:t>
            </a:r>
            <a:r>
              <a:rPr lang="ko-KR" altLang="en-US" sz="1600"/>
              <a:t>이용</a:t>
            </a:r>
          </a:p>
          <a:p>
            <a:pPr lvl="2" eaLnBrk="1" hangingPunct="1">
              <a:lnSpc>
                <a:spcPct val="80000"/>
              </a:lnSpc>
            </a:pPr>
            <a:endParaRPr lang="ko-KR" altLang="ko-KR" sz="1600"/>
          </a:p>
          <a:p>
            <a:pPr lvl="2" eaLnBrk="1" hangingPunct="1">
              <a:lnSpc>
                <a:spcPct val="80000"/>
              </a:lnSpc>
            </a:pPr>
            <a:r>
              <a:rPr lang="en-US" altLang="ko-KR" sz="1600"/>
              <a:t>3.</a:t>
            </a:r>
            <a:r>
              <a:rPr lang="ko-KR" altLang="ko-KR" sz="1600"/>
              <a:t> 소켓 셋을 비움(초기화)</a:t>
            </a:r>
            <a:endParaRPr lang="en-US" altLang="ko-KR" sz="1600"/>
          </a:p>
          <a:p>
            <a:pPr lvl="2" eaLnBrk="1" hangingPunct="1">
              <a:lnSpc>
                <a:spcPct val="80000"/>
              </a:lnSpc>
            </a:pPr>
            <a:endParaRPr lang="ko-KR" altLang="ko-KR" sz="1600"/>
          </a:p>
          <a:p>
            <a:pPr lvl="2" eaLnBrk="1" hangingPunct="1">
              <a:lnSpc>
                <a:spcPct val="80000"/>
              </a:lnSpc>
            </a:pPr>
            <a:r>
              <a:rPr lang="en-US" altLang="ko-KR" sz="1600"/>
              <a:t>4.</a:t>
            </a:r>
            <a:r>
              <a:rPr lang="ko-KR" altLang="ko-KR" sz="1600"/>
              <a:t> 소켓 셋에 소켓을 추가. 셋에 넣을 수 있는 소켓의 최대 개수는 FD_SETSIZE(=64)로 정의</a:t>
            </a:r>
            <a:r>
              <a:rPr lang="en-US" altLang="ko-KR" sz="1600"/>
              <a:t>. </a:t>
            </a:r>
            <a:r>
              <a:rPr lang="en-US" altLang="ko-KR" sz="1600">
                <a:sym typeface="Wingdings" panose="05000000000000000000" pitchFamily="2" charset="2"/>
              </a:rPr>
              <a:t></a:t>
            </a:r>
            <a:r>
              <a:rPr lang="ko-KR" altLang="ko-KR" sz="1600"/>
              <a:t> 헤더 파일을 수정해서 크기 조정</a:t>
            </a:r>
            <a:r>
              <a:rPr lang="ko-KR" altLang="en-US" sz="1600"/>
              <a:t> 가능</a:t>
            </a:r>
          </a:p>
          <a:p>
            <a:pPr lvl="1" eaLnBrk="1" hangingPunct="1">
              <a:lnSpc>
                <a:spcPct val="80000"/>
              </a:lnSpc>
            </a:pPr>
            <a:endParaRPr lang="ko-KR" altLang="ko-KR" sz="1800"/>
          </a:p>
          <a:p>
            <a:pPr lvl="1" eaLnBrk="1" hangingPunct="1">
              <a:lnSpc>
                <a:spcPct val="80000"/>
              </a:lnSpc>
            </a:pPr>
            <a:r>
              <a:rPr lang="en-US" altLang="ko-KR" sz="1800"/>
              <a:t>5. </a:t>
            </a:r>
            <a:r>
              <a:rPr lang="ko-KR" altLang="ko-KR" sz="1800"/>
              <a:t>select() 함수를 호출.</a:t>
            </a:r>
            <a:endParaRPr lang="en-US" altLang="ko-KR" sz="1800"/>
          </a:p>
          <a:p>
            <a:pPr lvl="2" eaLnBrk="1" hangingPunct="1">
              <a:lnSpc>
                <a:spcPct val="80000"/>
              </a:lnSpc>
            </a:pPr>
            <a:r>
              <a:rPr lang="ko-KR" altLang="en-US" sz="1600"/>
              <a:t>블로킹</a:t>
            </a:r>
            <a:r>
              <a:rPr lang="en-US" altLang="ko-KR" sz="1600"/>
              <a:t>: </a:t>
            </a:r>
            <a:r>
              <a:rPr lang="ko-KR" altLang="ko-KR" sz="1600"/>
              <a:t>select() 함수는 조건이 만족되는 소켓이 있을 때까지 리턴 안 함</a:t>
            </a:r>
            <a:endParaRPr lang="ko-KR" altLang="en-US" sz="1600"/>
          </a:p>
          <a:p>
            <a:pPr lvl="2" eaLnBrk="1" hangingPunct="1">
              <a:lnSpc>
                <a:spcPct val="80000"/>
              </a:lnSpc>
            </a:pPr>
            <a:r>
              <a:rPr lang="ko-KR" altLang="en-US" sz="1600"/>
              <a:t>넌</a:t>
            </a:r>
            <a:r>
              <a:rPr lang="en-US" altLang="ko-KR" sz="1600"/>
              <a:t>-</a:t>
            </a:r>
            <a:r>
              <a:rPr lang="ko-KR" altLang="en-US" sz="1600"/>
              <a:t>블로킹</a:t>
            </a:r>
            <a:r>
              <a:rPr lang="en-US" altLang="ko-KR" sz="1600"/>
              <a:t>: </a:t>
            </a:r>
            <a:r>
              <a:rPr lang="ko-KR" altLang="en-US" sz="1600"/>
              <a:t>대부분 오류로 리턴하므로</a:t>
            </a:r>
            <a:r>
              <a:rPr lang="en-US" altLang="ko-KR" sz="1600"/>
              <a:t>WSAGetLastError() </a:t>
            </a:r>
            <a:r>
              <a:rPr lang="ko-KR" altLang="en-US" sz="1600"/>
              <a:t>함수로 반드시 확인</a:t>
            </a:r>
          </a:p>
          <a:p>
            <a:pPr lvl="1" eaLnBrk="1" hangingPunct="1">
              <a:lnSpc>
                <a:spcPct val="80000"/>
              </a:lnSpc>
            </a:pPr>
            <a:endParaRPr lang="ko-KR" altLang="ko-KR" sz="1800"/>
          </a:p>
          <a:p>
            <a:pPr lvl="1" eaLnBrk="1" hangingPunct="1">
              <a:lnSpc>
                <a:spcPct val="80000"/>
              </a:lnSpc>
            </a:pPr>
            <a:r>
              <a:rPr lang="en-US" altLang="ko-KR" sz="1800"/>
              <a:t>6. </a:t>
            </a:r>
            <a:r>
              <a:rPr lang="ko-KR" altLang="ko-KR" sz="1800"/>
              <a:t>select() 함수가 리턴한 후 소켓 셋에 존재하는 모든 소켓에 대해 적절한 소켓 함수를 호출하여 처리</a:t>
            </a:r>
            <a:endParaRPr lang="ko-KR" altLang="en-US" sz="1800"/>
          </a:p>
          <a:p>
            <a:pPr lvl="1" eaLnBrk="1" hangingPunct="1">
              <a:lnSpc>
                <a:spcPct val="80000"/>
              </a:lnSpc>
            </a:pPr>
            <a:endParaRPr lang="ko-KR" altLang="ko-KR" sz="1800"/>
          </a:p>
          <a:p>
            <a:pPr lvl="1" eaLnBrk="1" hangingPunct="1">
              <a:lnSpc>
                <a:spcPct val="80000"/>
              </a:lnSpc>
            </a:pPr>
            <a:r>
              <a:rPr lang="en-US" altLang="ko-KR" sz="1800"/>
              <a:t>7.</a:t>
            </a:r>
            <a:r>
              <a:rPr lang="ko-KR" altLang="ko-KR" sz="1800"/>
              <a:t> </a:t>
            </a:r>
            <a:r>
              <a:rPr lang="en-US" altLang="ko-KR" sz="1800"/>
              <a:t>1</a:t>
            </a:r>
            <a:r>
              <a:rPr lang="ko-KR" altLang="ko-KR" sz="1800"/>
              <a:t>~</a:t>
            </a:r>
            <a:r>
              <a:rPr lang="en-US" altLang="ko-KR" sz="1800"/>
              <a:t>6</a:t>
            </a:r>
            <a:r>
              <a:rPr lang="ko-KR" altLang="en-US" sz="1800"/>
              <a:t>을</a:t>
            </a:r>
            <a:r>
              <a:rPr lang="ko-KR" altLang="ko-KR" sz="1800"/>
              <a:t> 반복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38319EEC-36C7-2C25-5256-0D4B1136B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 sz="2400"/>
              <a:t>3. Select I/O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바닥글 개체 틀 3">
            <a:extLst>
              <a:ext uri="{FF2B5EF4-FFF2-40B4-BE49-F238E27FC236}">
                <a16:creationId xmlns:a16="http://schemas.microsoft.com/office/drawing/2014/main" id="{1D4585A4-97CE-6C51-34BC-45AAB065EC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0452521-A6A5-9831-0056-65105DAF7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000"/>
              <a:t>FD_CLR(SOCKET s, fd_set *set)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/>
              <a:t>셋에서 소켓 </a:t>
            </a:r>
            <a:r>
              <a:rPr lang="en-US" altLang="ko-KR" sz="1800"/>
              <a:t>s</a:t>
            </a:r>
            <a:r>
              <a:rPr lang="ko-KR" altLang="en-US" sz="1800"/>
              <a:t>를 제거</a:t>
            </a:r>
          </a:p>
          <a:p>
            <a:pPr lvl="2" eaLnBrk="1" hangingPunct="1">
              <a:lnSpc>
                <a:spcPct val="80000"/>
              </a:lnSpc>
            </a:pPr>
            <a:endParaRPr lang="ko-KR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ko-KR" sz="2000"/>
              <a:t>FD_ISSET(SOCKET s, fd_set *set)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/>
              <a:t>소켓 </a:t>
            </a:r>
            <a:r>
              <a:rPr lang="en-US" altLang="ko-KR" sz="1800"/>
              <a:t>s</a:t>
            </a:r>
            <a:r>
              <a:rPr lang="ko-KR" altLang="en-US" sz="1800"/>
              <a:t>가 셋에 들어 있으면 </a:t>
            </a:r>
            <a:r>
              <a:rPr lang="en-US" altLang="ko-KR" sz="1800"/>
              <a:t>0</a:t>
            </a:r>
            <a:r>
              <a:rPr lang="ko-KR" altLang="en-US" sz="1800"/>
              <a:t>이 아닌 값을 리턴</a:t>
            </a:r>
            <a:r>
              <a:rPr lang="en-US" altLang="ko-KR" sz="1800"/>
              <a:t>. </a:t>
            </a:r>
            <a:r>
              <a:rPr lang="ko-KR" altLang="en-US" sz="1800"/>
              <a:t>그렇지 않으면 </a:t>
            </a:r>
            <a:r>
              <a:rPr lang="en-US" altLang="ko-KR" sz="1800"/>
              <a:t>0</a:t>
            </a:r>
            <a:r>
              <a:rPr lang="ko-KR" altLang="en-US" sz="1800"/>
              <a:t>을 리턴</a:t>
            </a:r>
          </a:p>
          <a:p>
            <a:pPr lvl="2" eaLnBrk="1" hangingPunct="1">
              <a:lnSpc>
                <a:spcPct val="80000"/>
              </a:lnSpc>
            </a:pPr>
            <a:endParaRPr lang="ko-KR" altLang="en-US" sz="1600"/>
          </a:p>
          <a:p>
            <a:pPr eaLnBrk="1" hangingPunct="1">
              <a:lnSpc>
                <a:spcPct val="80000"/>
              </a:lnSpc>
            </a:pPr>
            <a:r>
              <a:rPr lang="en-US" altLang="ko-KR" sz="2000"/>
              <a:t>FD_SET(SOCKET s, fd_set *set)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/>
              <a:t>셋에 소켓 </a:t>
            </a:r>
            <a:r>
              <a:rPr lang="en-US" altLang="ko-KR" sz="1800"/>
              <a:t>s</a:t>
            </a:r>
            <a:r>
              <a:rPr lang="ko-KR" altLang="en-US" sz="1800"/>
              <a:t>를 넣음</a:t>
            </a:r>
          </a:p>
          <a:p>
            <a:pPr eaLnBrk="1" hangingPunct="1">
              <a:lnSpc>
                <a:spcPct val="80000"/>
              </a:lnSpc>
            </a:pPr>
            <a:endParaRPr lang="ko-KR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ko-KR" sz="2000"/>
              <a:t>FD_ZERO(fd_set  *set)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/>
              <a:t>셋을 비움</a:t>
            </a:r>
          </a:p>
          <a:p>
            <a:pPr lvl="1" eaLnBrk="1" hangingPunct="1">
              <a:lnSpc>
                <a:spcPct val="80000"/>
              </a:lnSpc>
            </a:pPr>
            <a:endParaRPr lang="ko-KR" altLang="en-US" sz="1800"/>
          </a:p>
          <a:p>
            <a:pPr lvl="1" eaLnBrk="1" hangingPunct="1">
              <a:lnSpc>
                <a:spcPct val="80000"/>
              </a:lnSpc>
            </a:pPr>
            <a:endParaRPr lang="ko-KR" altLang="en-US" sz="1800"/>
          </a:p>
          <a:p>
            <a:pPr lvl="1" eaLnBrk="1" hangingPunct="1">
              <a:lnSpc>
                <a:spcPct val="80000"/>
              </a:lnSpc>
            </a:pPr>
            <a:endParaRPr lang="ko-KR" altLang="en-US" sz="1800"/>
          </a:p>
          <a:p>
            <a:pPr lvl="1" eaLnBrk="1" hangingPunct="1">
              <a:lnSpc>
                <a:spcPct val="80000"/>
              </a:lnSpc>
            </a:pPr>
            <a:endParaRPr lang="ko-KR" altLang="en-US" sz="1800"/>
          </a:p>
          <a:p>
            <a:pPr lvl="1" eaLnBrk="1" hangingPunct="1">
              <a:lnSpc>
                <a:spcPct val="80000"/>
              </a:lnSpc>
            </a:pPr>
            <a:endParaRPr lang="ko-KR" altLang="en-US" sz="1800"/>
          </a:p>
          <a:p>
            <a:pPr lvl="1" eaLnBrk="1" hangingPunct="1">
              <a:lnSpc>
                <a:spcPct val="80000"/>
              </a:lnSpc>
            </a:pPr>
            <a:endParaRPr lang="ko-KR" altLang="en-US" sz="1800"/>
          </a:p>
          <a:p>
            <a:pPr lvl="1" eaLnBrk="1" hangingPunct="1">
              <a:lnSpc>
                <a:spcPct val="80000"/>
              </a:lnSpc>
            </a:pPr>
            <a:endParaRPr lang="ko-KR" altLang="en-US" sz="18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800"/>
              <a:t> </a:t>
            </a:r>
          </a:p>
        </p:txBody>
      </p:sp>
      <p:sp>
        <p:nvSpPr>
          <p:cNvPr id="17412" name="Rectangle 25">
            <a:extLst>
              <a:ext uri="{FF2B5EF4-FFF2-40B4-BE49-F238E27FC236}">
                <a16:creationId xmlns:a16="http://schemas.microsoft.com/office/drawing/2014/main" id="{0A8BE23F-7941-6665-71F2-C440EACD9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 sz="2400"/>
              <a:t>3. Select I/O - </a:t>
            </a:r>
            <a:r>
              <a:rPr lang="ko-KR" altLang="en-US" sz="2400"/>
              <a:t>매크로 함수 역할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2553</TotalTime>
  <Words>1200</Words>
  <Application>Microsoft Office PowerPoint</Application>
  <PresentationFormat>화면 슬라이드 쇼(4:3)</PresentationFormat>
  <Paragraphs>236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Times New Roman</vt:lpstr>
      <vt:lpstr>Wingdings</vt:lpstr>
      <vt:lpstr>가을체</vt:lpstr>
      <vt:lpstr>HY견고딕</vt:lpstr>
      <vt:lpstr>Arial</vt:lpstr>
      <vt:lpstr>굴림</vt:lpstr>
      <vt:lpstr>바탕</vt:lpstr>
      <vt:lpstr>Wingdings 2</vt:lpstr>
      <vt:lpstr>기본 디자인</vt:lpstr>
      <vt:lpstr>Network Programming - 02  afewhee@gmail.com</vt:lpstr>
      <vt:lpstr>0. 목차</vt:lpstr>
      <vt:lpstr>1. Socket Mode</vt:lpstr>
      <vt:lpstr>1. Socket Mode</vt:lpstr>
      <vt:lpstr>1. Socket Mode</vt:lpstr>
      <vt:lpstr>2. I/O 모델</vt:lpstr>
      <vt:lpstr>2. I/O 모델</vt:lpstr>
      <vt:lpstr>2. I/O 모델 - 윈도우</vt:lpstr>
      <vt:lpstr>3. Select I/O</vt:lpstr>
      <vt:lpstr>3. Select I/O</vt:lpstr>
      <vt:lpstr>3. Select I/O</vt:lpstr>
      <vt:lpstr>3. Select I/O</vt:lpstr>
      <vt:lpstr>3. Select I/O</vt:lpstr>
      <vt:lpstr>3. Select I/O</vt:lpstr>
      <vt:lpstr>3. Select I/O - 매크로 함수 역할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162</cp:revision>
  <dcterms:created xsi:type="dcterms:W3CDTF">2003-11-30T16:03:20Z</dcterms:created>
  <dcterms:modified xsi:type="dcterms:W3CDTF">2026-04-12T10:27:03Z</dcterms:modified>
</cp:coreProperties>
</file>