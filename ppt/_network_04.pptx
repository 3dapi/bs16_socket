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68" r:id="rId3"/>
    <p:sldId id="270" r:id="rId4"/>
    <p:sldId id="272" r:id="rId5"/>
    <p:sldId id="273" r:id="rId6"/>
    <p:sldId id="274" r:id="rId7"/>
    <p:sldId id="275" r:id="rId8"/>
    <p:sldId id="294" r:id="rId9"/>
    <p:sldId id="299" r:id="rId10"/>
    <p:sldId id="306" r:id="rId11"/>
    <p:sldId id="276" r:id="rId12"/>
    <p:sldId id="304" r:id="rId13"/>
    <p:sldId id="305" r:id="rId14"/>
    <p:sldId id="302" r:id="rId15"/>
    <p:sldId id="287" r:id="rId16"/>
    <p:sldId id="288" r:id="rId17"/>
    <p:sldId id="289" r:id="rId18"/>
    <p:sldId id="307" r:id="rId19"/>
    <p:sldId id="308" r:id="rId20"/>
    <p:sldId id="309" r:id="rId21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66FF33"/>
    <a:srgbClr val="9900FF"/>
    <a:srgbClr val="FF33CC"/>
    <a:srgbClr val="003300"/>
    <a:srgbClr val="008000"/>
    <a:srgbClr val="CCCC00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09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656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17C9091-ADC4-FDA3-B459-1EF515A7536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04D34714-BD5B-35DF-1B0A-E39894A5BDA4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B9419A26-ACD3-28AA-730B-2063CEF7FC86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5A9364B-5D8F-7FFD-A8E8-5C94F5FE1C5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F7D65D0C-439F-6EB4-1697-3C4EDDEB285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F3CB6E4E-E5BA-8A92-6B03-DEA0C63F932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fld id="{B63426EC-C727-4356-BE1D-89EA6482A4D3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4025507E-F972-10CC-C775-801C5E1083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D0C6E2D-8EB9-492C-A2C2-68CB8754FDED}" type="slidenum">
              <a:rPr lang="en-US" altLang="ko-KR" smtClean="0"/>
              <a:pPr>
                <a:spcBef>
                  <a:spcPct val="0"/>
                </a:spcBef>
              </a:pPr>
              <a:t>14</a:t>
            </a:fld>
            <a:endParaRPr lang="en-US" altLang="ko-KR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9C9376E2-30CD-1AD6-B683-6E939CBD7268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1147763" y="687388"/>
            <a:ext cx="4567237" cy="3425825"/>
          </a:xfrm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F9832BB3-22E1-C31B-0FC6-73012B430ED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4344988"/>
            <a:ext cx="5029200" cy="41116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ko-KR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8A6E089D-51B3-1008-8E5F-A2A2967AF97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8692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32476F5-63FD-E041-03BB-529A4A243A5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42844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2716DD9D-7D8E-463B-BDC1-E7D661CE649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85331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C5BF3736-A910-E62D-8C71-E5249B9F0E3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260722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AE37FD7F-1505-B5E4-5D66-FB28C2E98CC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356503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3992DBC9-FF3D-BEE5-FD76-9B190A3982AC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45072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508BDD95-193F-6A40-75EC-B1142D56DD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335815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699C211-28B1-15E0-439F-3D6F1338CCC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17865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9867AF6-0D43-E640-1856-B9ACD7A1B2E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379163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657AAF14-E05D-0BC6-7FB9-E12438DE921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4021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1167EA5-26EA-4136-CFE6-14E5213F443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78812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D9CBEB53-BAEA-F728-66FF-517E406E7A7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5C14F852-7B83-40D8-1B99-553BEAADCD2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318C0C56-9E17-B874-3532-6CEBABDCAC5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714DBB7D-F13F-F7DE-5988-EC23965FCA8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>
                <a:solidFill>
                  <a:schemeClr val="bg2"/>
                </a:solidFill>
                <a:latin typeface="굴림" panose="020B0600000101010101" pitchFamily="50" charset="-127"/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바닥글 개체 틀 3">
            <a:extLst>
              <a:ext uri="{FF2B5EF4-FFF2-40B4-BE49-F238E27FC236}">
                <a16:creationId xmlns:a16="http://schemas.microsoft.com/office/drawing/2014/main" id="{697B0879-33D9-7151-84A7-458E84169F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3075" name="Rectangle 2">
            <a:extLst>
              <a:ext uri="{FF2B5EF4-FFF2-40B4-BE49-F238E27FC236}">
                <a16:creationId xmlns:a16="http://schemas.microsoft.com/office/drawing/2014/main" id="{C523DA16-44D6-123E-18D8-C897F457583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2708275"/>
            <a:ext cx="7772400" cy="1143000"/>
          </a:xfrm>
        </p:spPr>
        <p:txBody>
          <a:bodyPr anchor="ctr"/>
          <a:lstStyle/>
          <a:p>
            <a:pPr eaLnBrk="1" hangingPunct="1"/>
            <a:r>
              <a:rPr lang="en-US" altLang="ko-KR" sz="3200">
                <a:solidFill>
                  <a:schemeClr val="tx1"/>
                </a:solidFill>
              </a:rPr>
              <a:t>Network Programming - 04</a:t>
            </a:r>
            <a:br>
              <a:rPr lang="en-US" altLang="ko-KR" sz="3200">
                <a:solidFill>
                  <a:schemeClr val="tx1"/>
                </a:solidFill>
              </a:rPr>
            </a:br>
            <a:r>
              <a:rPr lang="en-US" altLang="ko-KR" sz="3200">
                <a:solidFill>
                  <a:schemeClr val="tx1"/>
                </a:solidFill>
              </a:rPr>
              <a:t> </a:t>
            </a:r>
            <a:r>
              <a:rPr lang="en-US" altLang="ko-KR" sz="1400">
                <a:solidFill>
                  <a:schemeClr val="tx1"/>
                </a:solidFill>
              </a:rPr>
              <a:t>afewhee@gmail.com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79C6FF25-FF15-D54D-B894-3A6F6F98B4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30D3FC74-1033-3F28-E69A-044F6CB2CB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0. </a:t>
            </a:r>
            <a:r>
              <a:rPr lang="ko-KR" altLang="en-US" sz="2400"/>
              <a:t>목차</a:t>
            </a:r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3213FE76-0744-46BF-FBC5-D84850076C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I/O </a:t>
            </a:r>
            <a:r>
              <a:rPr lang="ko-KR" altLang="en-US"/>
              <a:t>모델</a:t>
            </a:r>
          </a:p>
          <a:p>
            <a:pPr eaLnBrk="1" hangingPunct="1"/>
            <a:endParaRPr lang="ko-KR" altLang="en-US"/>
          </a:p>
          <a:p>
            <a:pPr eaLnBrk="1" hangingPunct="1"/>
            <a:r>
              <a:rPr lang="en-US" altLang="en-US"/>
              <a:t>IOCP</a:t>
            </a:r>
            <a:endParaRPr lang="en-US" altLang="ko-KR"/>
          </a:p>
          <a:p>
            <a:pPr eaLnBrk="1" hangingPunct="1"/>
            <a:endParaRPr lang="en-US" altLang="ko-KR"/>
          </a:p>
          <a:p>
            <a:pPr eaLnBrk="1" hangingPunct="1"/>
            <a:r>
              <a:rPr lang="ko-KR" altLang="en-US"/>
              <a:t>네트워크 </a:t>
            </a:r>
            <a:r>
              <a:rPr lang="en-US" altLang="ko-KR"/>
              <a:t>Util</a:t>
            </a:r>
          </a:p>
          <a:p>
            <a:pPr lvl="1" eaLnBrk="1" hangingPunct="1"/>
            <a:r>
              <a:rPr lang="en-US" altLang="en-US"/>
              <a:t>메시지 큐, 링 버퍼</a:t>
            </a:r>
            <a:endParaRPr lang="ko-KR" altLang="en-US"/>
          </a:p>
          <a:p>
            <a:pPr lvl="1" eaLnBrk="1" hangingPunct="1"/>
            <a:r>
              <a:rPr lang="en-US" altLang="en-US"/>
              <a:t>패킷 디자인</a:t>
            </a:r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바닥글 개체 틀 3">
            <a:extLst>
              <a:ext uri="{FF2B5EF4-FFF2-40B4-BE49-F238E27FC236}">
                <a16:creationId xmlns:a16="http://schemas.microsoft.com/office/drawing/2014/main" id="{E63D0032-989D-1101-16F3-8C68EDF159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6DCE3F51-00C9-8925-B847-01AEBE7833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I/O </a:t>
            </a:r>
            <a:r>
              <a:rPr lang="ko-KR" altLang="en-US" sz="2400"/>
              <a:t>모델</a:t>
            </a:r>
          </a:p>
        </p:txBody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4D832437-56F3-D9D0-BA04-CE815B7EEEA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 sz="2400"/>
              <a:t>동기식 입출력</a:t>
            </a:r>
          </a:p>
          <a:p>
            <a:pPr eaLnBrk="1" hangingPunct="1"/>
            <a:endParaRPr lang="ko-KR" altLang="en-US" sz="2400"/>
          </a:p>
          <a:p>
            <a:pPr eaLnBrk="1" hangingPunct="1"/>
            <a:endParaRPr lang="ko-KR" altLang="en-US" sz="2400"/>
          </a:p>
          <a:p>
            <a:pPr eaLnBrk="1" hangingPunct="1"/>
            <a:endParaRPr lang="ko-KR" altLang="en-US" sz="2400"/>
          </a:p>
          <a:p>
            <a:pPr eaLnBrk="1" hangingPunct="1"/>
            <a:endParaRPr lang="ko-KR" altLang="en-US" sz="2400"/>
          </a:p>
          <a:p>
            <a:pPr eaLnBrk="1" hangingPunct="1"/>
            <a:endParaRPr lang="ko-KR" altLang="en-US" sz="2400"/>
          </a:p>
          <a:p>
            <a:pPr eaLnBrk="1" hangingPunct="1"/>
            <a:endParaRPr lang="ko-KR" altLang="en-US" sz="2400"/>
          </a:p>
          <a:p>
            <a:pPr eaLnBrk="1" hangingPunct="1"/>
            <a:r>
              <a:rPr lang="ko-KR" altLang="en-US" sz="2400"/>
              <a:t>비동기식 입출력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ko-KR" sz="2400"/>
          </a:p>
        </p:txBody>
      </p:sp>
      <p:grpSp>
        <p:nvGrpSpPr>
          <p:cNvPr id="5125" name="Group 4">
            <a:extLst>
              <a:ext uri="{FF2B5EF4-FFF2-40B4-BE49-F238E27FC236}">
                <a16:creationId xmlns:a16="http://schemas.microsoft.com/office/drawing/2014/main" id="{8DE8F379-7EDD-C63C-3585-744E3EDFE8ED}"/>
              </a:ext>
            </a:extLst>
          </p:cNvPr>
          <p:cNvGrpSpPr>
            <a:grpSpLocks/>
          </p:cNvGrpSpPr>
          <p:nvPr/>
        </p:nvGrpSpPr>
        <p:grpSpPr bwMode="auto">
          <a:xfrm>
            <a:off x="2643188" y="1052513"/>
            <a:ext cx="5256212" cy="2578100"/>
            <a:chOff x="336" y="816"/>
            <a:chExt cx="5088" cy="2304"/>
          </a:xfrm>
        </p:grpSpPr>
        <p:grpSp>
          <p:nvGrpSpPr>
            <p:cNvPr id="5155" name="Group 5">
              <a:extLst>
                <a:ext uri="{FF2B5EF4-FFF2-40B4-BE49-F238E27FC236}">
                  <a16:creationId xmlns:a16="http://schemas.microsoft.com/office/drawing/2014/main" id="{33733BCE-AAF4-DF72-19D9-750EC112879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0" y="1488"/>
              <a:ext cx="3984" cy="768"/>
              <a:chOff x="624" y="1488"/>
              <a:chExt cx="4368" cy="768"/>
            </a:xfrm>
          </p:grpSpPr>
          <p:sp>
            <p:nvSpPr>
              <p:cNvPr id="5177" name="Line 6">
                <a:extLst>
                  <a:ext uri="{FF2B5EF4-FFF2-40B4-BE49-F238E27FC236}">
                    <a16:creationId xmlns:a16="http://schemas.microsoft.com/office/drawing/2014/main" id="{52004E6D-F2FA-EB1A-29EC-A911E8F0BA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4" y="1488"/>
                <a:ext cx="436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ysDot"/>
                <a:round/>
                <a:headEnd/>
                <a:tailEnd type="arrow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178" name="Line 7">
                <a:extLst>
                  <a:ext uri="{FF2B5EF4-FFF2-40B4-BE49-F238E27FC236}">
                    <a16:creationId xmlns:a16="http://schemas.microsoft.com/office/drawing/2014/main" id="{B857188E-D32F-2F44-EE4A-4DB38291CC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4" y="2256"/>
                <a:ext cx="436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ysDot"/>
                <a:round/>
                <a:headEnd/>
                <a:tailEnd type="arrow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5156" name="Line 8">
              <a:extLst>
                <a:ext uri="{FF2B5EF4-FFF2-40B4-BE49-F238E27FC236}">
                  <a16:creationId xmlns:a16="http://schemas.microsoft.com/office/drawing/2014/main" id="{01215882-99C1-AEA7-EC31-7A8D4F3D63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57" name="Line 9">
              <a:extLst>
                <a:ext uri="{FF2B5EF4-FFF2-40B4-BE49-F238E27FC236}">
                  <a16:creationId xmlns:a16="http://schemas.microsoft.com/office/drawing/2014/main" id="{4C264688-71A1-0783-AE38-0C4566B23A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48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58" name="Line 10">
              <a:extLst>
                <a:ext uri="{FF2B5EF4-FFF2-40B4-BE49-F238E27FC236}">
                  <a16:creationId xmlns:a16="http://schemas.microsoft.com/office/drawing/2014/main" id="{8688857D-E88B-8F54-965D-026BAF755A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59" name="Line 11">
              <a:extLst>
                <a:ext uri="{FF2B5EF4-FFF2-40B4-BE49-F238E27FC236}">
                  <a16:creationId xmlns:a16="http://schemas.microsoft.com/office/drawing/2014/main" id="{102E8322-AFF6-CD60-588E-0FDB546358F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48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60" name="Line 12">
              <a:extLst>
                <a:ext uri="{FF2B5EF4-FFF2-40B4-BE49-F238E27FC236}">
                  <a16:creationId xmlns:a16="http://schemas.microsoft.com/office/drawing/2014/main" id="{D64CFBD2-3484-0328-D7E4-5182A7E68C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32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61" name="Line 13">
              <a:extLst>
                <a:ext uri="{FF2B5EF4-FFF2-40B4-BE49-F238E27FC236}">
                  <a16:creationId xmlns:a16="http://schemas.microsoft.com/office/drawing/2014/main" id="{C529F875-C422-3E4B-DCB2-6FC6D42B8FC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48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62" name="Rectangle 14">
              <a:extLst>
                <a:ext uri="{FF2B5EF4-FFF2-40B4-BE49-F238E27FC236}">
                  <a16:creationId xmlns:a16="http://schemas.microsoft.com/office/drawing/2014/main" id="{2F3DA018-091A-50F1-BEE7-0667F59211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2" y="2256"/>
              <a:ext cx="816" cy="96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3" name="Rectangle 15">
              <a:extLst>
                <a:ext uri="{FF2B5EF4-FFF2-40B4-BE49-F238E27FC236}">
                  <a16:creationId xmlns:a16="http://schemas.microsoft.com/office/drawing/2014/main" id="{2F2F02B8-D580-FC6C-9B7C-F296C80EC2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48" y="1392"/>
              <a:ext cx="384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4" name="Rectangle 16">
              <a:extLst>
                <a:ext uri="{FF2B5EF4-FFF2-40B4-BE49-F238E27FC236}">
                  <a16:creationId xmlns:a16="http://schemas.microsoft.com/office/drawing/2014/main" id="{03BE6B96-28E4-3995-82D7-C1A6DFA08B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1392"/>
              <a:ext cx="384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5" name="Rectangle 17">
              <a:extLst>
                <a:ext uri="{FF2B5EF4-FFF2-40B4-BE49-F238E27FC236}">
                  <a16:creationId xmlns:a16="http://schemas.microsoft.com/office/drawing/2014/main" id="{D9CE843C-E240-FA8E-FE04-D6EFAC6320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48" y="1392"/>
              <a:ext cx="192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6" name="Rectangle 18">
              <a:extLst>
                <a:ext uri="{FF2B5EF4-FFF2-40B4-BE49-F238E27FC236}">
                  <a16:creationId xmlns:a16="http://schemas.microsoft.com/office/drawing/2014/main" id="{C41A10C5-5379-6B5F-1AA0-5073315BFF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32" y="2256"/>
              <a:ext cx="816" cy="96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7" name="Rectangle 19">
              <a:extLst>
                <a:ext uri="{FF2B5EF4-FFF2-40B4-BE49-F238E27FC236}">
                  <a16:creationId xmlns:a16="http://schemas.microsoft.com/office/drawing/2014/main" id="{F140D386-700D-34E8-FE23-509AA0DCCA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32" y="2256"/>
              <a:ext cx="816" cy="96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8" name="Rectangle 20">
              <a:extLst>
                <a:ext uri="{FF2B5EF4-FFF2-40B4-BE49-F238E27FC236}">
                  <a16:creationId xmlns:a16="http://schemas.microsoft.com/office/drawing/2014/main" id="{B9BE30F6-E07C-10D5-8075-D233176E20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0" y="1392"/>
              <a:ext cx="192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9" name="Line 21">
              <a:extLst>
                <a:ext uri="{FF2B5EF4-FFF2-40B4-BE49-F238E27FC236}">
                  <a16:creationId xmlns:a16="http://schemas.microsoft.com/office/drawing/2014/main" id="{4793F1CA-FFAB-3C07-71D5-DBFDCF5BBF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1056"/>
              <a:ext cx="0" cy="16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70" name="Rectangle 22">
              <a:extLst>
                <a:ext uri="{FF2B5EF4-FFF2-40B4-BE49-F238E27FC236}">
                  <a16:creationId xmlns:a16="http://schemas.microsoft.com/office/drawing/2014/main" id="{4A8856B5-ED51-57F2-77B8-6746232F1D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8" y="1392"/>
              <a:ext cx="144" cy="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 r:embed="rId2"/>
                    <a:srcRect/>
                    <a:tile tx="0" ty="0" sx="100000" sy="100000" flip="none" algn="tl"/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US" altLang="ko-KR" sz="1000" b="0">
                  <a:latin typeface="Times New Roman" panose="02020603050405020304" pitchFamily="18" charset="0"/>
                  <a:ea typeface="굴림" panose="020B0600000101010101" pitchFamily="50" charset="-127"/>
                </a:rPr>
                <a:t>•</a:t>
              </a:r>
              <a:r>
                <a:rPr lang="en-US" altLang="ko-KR" sz="1000" b="0">
                  <a:latin typeface="굴림" panose="020B0600000101010101" pitchFamily="50" charset="-127"/>
                  <a:ea typeface="굴림" panose="020B0600000101010101" pitchFamily="50" charset="-127"/>
                </a:rPr>
                <a:t> </a:t>
              </a:r>
              <a:r>
                <a:rPr lang="en-US" altLang="ko-KR" sz="1000" b="0">
                  <a:latin typeface="Times New Roman" panose="02020603050405020304" pitchFamily="18" charset="0"/>
                  <a:ea typeface="굴림" panose="020B0600000101010101" pitchFamily="50" charset="-127"/>
                </a:rPr>
                <a:t>•</a:t>
              </a:r>
              <a:r>
                <a:rPr lang="en-US" altLang="ko-KR" sz="1000" b="0">
                  <a:latin typeface="굴림" panose="020B0600000101010101" pitchFamily="50" charset="-127"/>
                  <a:ea typeface="굴림" panose="020B0600000101010101" pitchFamily="50" charset="-127"/>
                </a:rPr>
                <a:t> </a:t>
              </a:r>
              <a:r>
                <a:rPr lang="en-US" altLang="ko-KR" sz="1000" b="0">
                  <a:latin typeface="Times New Roman" panose="02020603050405020304" pitchFamily="18" charset="0"/>
                  <a:ea typeface="굴림" panose="020B0600000101010101" pitchFamily="50" charset="-127"/>
                </a:rPr>
                <a:t>•</a:t>
              </a:r>
              <a:endParaRPr lang="en-US" altLang="ko-KR" sz="1000" b="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5171" name="Rectangle 23">
              <a:extLst>
                <a:ext uri="{FF2B5EF4-FFF2-40B4-BE49-F238E27FC236}">
                  <a16:creationId xmlns:a16="http://schemas.microsoft.com/office/drawing/2014/main" id="{E52C9B95-0300-CEFD-2380-139F9D3B0B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" y="1296"/>
              <a:ext cx="1056" cy="2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애플리케이션 코드</a:t>
              </a:r>
            </a:p>
          </p:txBody>
        </p:sp>
        <p:sp>
          <p:nvSpPr>
            <p:cNvPr id="5172" name="Rectangle 24">
              <a:extLst>
                <a:ext uri="{FF2B5EF4-FFF2-40B4-BE49-F238E27FC236}">
                  <a16:creationId xmlns:a16="http://schemas.microsoft.com/office/drawing/2014/main" id="{464D6CE6-C5E2-1FAE-4581-D6CD4D2609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" y="2160"/>
              <a:ext cx="1056" cy="2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운영체제 코드</a:t>
              </a:r>
            </a:p>
          </p:txBody>
        </p:sp>
        <p:sp>
          <p:nvSpPr>
            <p:cNvPr id="5173" name="Rectangle 25">
              <a:extLst>
                <a:ext uri="{FF2B5EF4-FFF2-40B4-BE49-F238E27FC236}">
                  <a16:creationId xmlns:a16="http://schemas.microsoft.com/office/drawing/2014/main" id="{59EA91E9-95D5-C279-0A6C-C157D61D43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816"/>
              <a:ext cx="816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입출력 시작</a:t>
              </a:r>
            </a:p>
          </p:txBody>
        </p:sp>
        <p:sp>
          <p:nvSpPr>
            <p:cNvPr id="5174" name="Rectangle 26">
              <a:extLst>
                <a:ext uri="{FF2B5EF4-FFF2-40B4-BE49-F238E27FC236}">
                  <a16:creationId xmlns:a16="http://schemas.microsoft.com/office/drawing/2014/main" id="{B4B4EBDE-4875-D9A2-47FB-6D4D4C8707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2880"/>
              <a:ext cx="816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입출력 완료</a:t>
              </a:r>
            </a:p>
          </p:txBody>
        </p:sp>
        <p:sp>
          <p:nvSpPr>
            <p:cNvPr id="5175" name="Freeform 27">
              <a:extLst>
                <a:ext uri="{FF2B5EF4-FFF2-40B4-BE49-F238E27FC236}">
                  <a16:creationId xmlns:a16="http://schemas.microsoft.com/office/drawing/2014/main" id="{DAAC9F3D-CB87-A9C7-E98C-9107DE3E5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0" y="2352"/>
              <a:ext cx="288" cy="528"/>
            </a:xfrm>
            <a:custGeom>
              <a:avLst/>
              <a:gdLst>
                <a:gd name="T0" fmla="*/ 128 w 288"/>
                <a:gd name="T1" fmla="*/ 0 h 528"/>
                <a:gd name="T2" fmla="*/ 272 w 288"/>
                <a:gd name="T3" fmla="*/ 336 h 528"/>
                <a:gd name="T4" fmla="*/ 32 w 288"/>
                <a:gd name="T5" fmla="*/ 336 h 528"/>
                <a:gd name="T6" fmla="*/ 80 w 288"/>
                <a:gd name="T7" fmla="*/ 528 h 52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88" h="528">
                  <a:moveTo>
                    <a:pt x="128" y="0"/>
                  </a:moveTo>
                  <a:cubicBezTo>
                    <a:pt x="208" y="140"/>
                    <a:pt x="288" y="280"/>
                    <a:pt x="272" y="336"/>
                  </a:cubicBezTo>
                  <a:cubicBezTo>
                    <a:pt x="256" y="392"/>
                    <a:pt x="64" y="304"/>
                    <a:pt x="32" y="336"/>
                  </a:cubicBezTo>
                  <a:cubicBezTo>
                    <a:pt x="0" y="368"/>
                    <a:pt x="40" y="448"/>
                    <a:pt x="80" y="528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 type="arrow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76" name="Freeform 28">
              <a:extLst>
                <a:ext uri="{FF2B5EF4-FFF2-40B4-BE49-F238E27FC236}">
                  <a16:creationId xmlns:a16="http://schemas.microsoft.com/office/drawing/2014/main" id="{D52D8B24-42B9-8790-9E7D-C9ABD88EA1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2" y="1056"/>
              <a:ext cx="432" cy="336"/>
            </a:xfrm>
            <a:custGeom>
              <a:avLst/>
              <a:gdLst>
                <a:gd name="T0" fmla="*/ 0 w 432"/>
                <a:gd name="T1" fmla="*/ 336 h 336"/>
                <a:gd name="T2" fmla="*/ 144 w 432"/>
                <a:gd name="T3" fmla="*/ 96 h 336"/>
                <a:gd name="T4" fmla="*/ 288 w 432"/>
                <a:gd name="T5" fmla="*/ 192 h 336"/>
                <a:gd name="T6" fmla="*/ 432 w 432"/>
                <a:gd name="T7" fmla="*/ 0 h 336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432" h="336">
                  <a:moveTo>
                    <a:pt x="0" y="336"/>
                  </a:moveTo>
                  <a:cubicBezTo>
                    <a:pt x="48" y="228"/>
                    <a:pt x="96" y="120"/>
                    <a:pt x="144" y="96"/>
                  </a:cubicBezTo>
                  <a:cubicBezTo>
                    <a:pt x="192" y="72"/>
                    <a:pt x="240" y="208"/>
                    <a:pt x="288" y="192"/>
                  </a:cubicBezTo>
                  <a:cubicBezTo>
                    <a:pt x="336" y="176"/>
                    <a:pt x="384" y="88"/>
                    <a:pt x="432" y="0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 type="arrow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126" name="Group 29">
            <a:extLst>
              <a:ext uri="{FF2B5EF4-FFF2-40B4-BE49-F238E27FC236}">
                <a16:creationId xmlns:a16="http://schemas.microsoft.com/office/drawing/2014/main" id="{89057D0B-3D17-C85A-2C3D-6B069B67A388}"/>
              </a:ext>
            </a:extLst>
          </p:cNvPr>
          <p:cNvGrpSpPr>
            <a:grpSpLocks/>
          </p:cNvGrpSpPr>
          <p:nvPr/>
        </p:nvGrpSpPr>
        <p:grpSpPr bwMode="auto">
          <a:xfrm>
            <a:off x="2627313" y="4292600"/>
            <a:ext cx="5400675" cy="1895475"/>
            <a:chOff x="336" y="1056"/>
            <a:chExt cx="5184" cy="1680"/>
          </a:xfrm>
        </p:grpSpPr>
        <p:grpSp>
          <p:nvGrpSpPr>
            <p:cNvPr id="5127" name="Group 30">
              <a:extLst>
                <a:ext uri="{FF2B5EF4-FFF2-40B4-BE49-F238E27FC236}">
                  <a16:creationId xmlns:a16="http://schemas.microsoft.com/office/drawing/2014/main" id="{53797B3F-5069-D6F6-297B-46C0FD7784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0" y="1488"/>
              <a:ext cx="2736" cy="768"/>
              <a:chOff x="1008" y="1488"/>
              <a:chExt cx="3552" cy="768"/>
            </a:xfrm>
          </p:grpSpPr>
          <p:sp>
            <p:nvSpPr>
              <p:cNvPr id="5153" name="Line 31">
                <a:extLst>
                  <a:ext uri="{FF2B5EF4-FFF2-40B4-BE49-F238E27FC236}">
                    <a16:creationId xmlns:a16="http://schemas.microsoft.com/office/drawing/2014/main" id="{F872E79A-48F8-0EC0-1320-F3E02CE7DCA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1488"/>
                <a:ext cx="35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ysDot"/>
                <a:round/>
                <a:headEnd/>
                <a:tailEnd type="arrow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154" name="Line 32">
                <a:extLst>
                  <a:ext uri="{FF2B5EF4-FFF2-40B4-BE49-F238E27FC236}">
                    <a16:creationId xmlns:a16="http://schemas.microsoft.com/office/drawing/2014/main" id="{128D3C0E-1FB7-669A-39C2-C87B915CE1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2256"/>
                <a:ext cx="35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ysDot"/>
                <a:round/>
                <a:headEnd/>
                <a:tailEnd type="arrow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5128" name="Line 33">
              <a:extLst>
                <a:ext uri="{FF2B5EF4-FFF2-40B4-BE49-F238E27FC236}">
                  <a16:creationId xmlns:a16="http://schemas.microsoft.com/office/drawing/2014/main" id="{54896AAF-779A-78DE-C05E-8254D6D28A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29" name="Line 34">
              <a:extLst>
                <a:ext uri="{FF2B5EF4-FFF2-40B4-BE49-F238E27FC236}">
                  <a16:creationId xmlns:a16="http://schemas.microsoft.com/office/drawing/2014/main" id="{B6F629E7-7D43-DC2C-3EB2-F01DD09F4EA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32" y="1488"/>
              <a:ext cx="0" cy="9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30" name="Rectangle 35">
              <a:extLst>
                <a:ext uri="{FF2B5EF4-FFF2-40B4-BE49-F238E27FC236}">
                  <a16:creationId xmlns:a16="http://schemas.microsoft.com/office/drawing/2014/main" id="{7BA58622-8973-31FB-5FF2-DE588F847D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392"/>
              <a:ext cx="384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31" name="Rectangle 36">
              <a:extLst>
                <a:ext uri="{FF2B5EF4-FFF2-40B4-BE49-F238E27FC236}">
                  <a16:creationId xmlns:a16="http://schemas.microsoft.com/office/drawing/2014/main" id="{9671D9F4-372F-38FF-18A6-18C02C883A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0" y="1392"/>
              <a:ext cx="192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32" name="Rectangle 37">
              <a:extLst>
                <a:ext uri="{FF2B5EF4-FFF2-40B4-BE49-F238E27FC236}">
                  <a16:creationId xmlns:a16="http://schemas.microsoft.com/office/drawing/2014/main" id="{F901F89C-913C-9F15-6432-9CE0ACC98D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2" y="1392"/>
              <a:ext cx="384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33" name="Rectangle 38">
              <a:extLst>
                <a:ext uri="{FF2B5EF4-FFF2-40B4-BE49-F238E27FC236}">
                  <a16:creationId xmlns:a16="http://schemas.microsoft.com/office/drawing/2014/main" id="{2ED42191-10FD-4587-9C89-4559871C7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1392"/>
              <a:ext cx="432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34" name="Rectangle 39">
              <a:extLst>
                <a:ext uri="{FF2B5EF4-FFF2-40B4-BE49-F238E27FC236}">
                  <a16:creationId xmlns:a16="http://schemas.microsoft.com/office/drawing/2014/main" id="{1EF0C488-8619-CA07-3D75-FCF63B66D1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2" y="1392"/>
              <a:ext cx="240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35" name="Rectangle 40">
              <a:extLst>
                <a:ext uri="{FF2B5EF4-FFF2-40B4-BE49-F238E27FC236}">
                  <a16:creationId xmlns:a16="http://schemas.microsoft.com/office/drawing/2014/main" id="{57ED450A-DC71-6B40-A50E-3242765595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32" y="1392"/>
              <a:ext cx="576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36" name="Rectangle 41">
              <a:extLst>
                <a:ext uri="{FF2B5EF4-FFF2-40B4-BE49-F238E27FC236}">
                  <a16:creationId xmlns:a16="http://schemas.microsoft.com/office/drawing/2014/main" id="{09E8375F-113A-21FA-CF4E-80C9A17122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1392"/>
              <a:ext cx="144" cy="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 r:embed="rId2"/>
                    <a:srcRect/>
                    <a:tile tx="0" ty="0" sx="100000" sy="100000" flip="none" algn="tl"/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US" altLang="ko-KR" sz="1000" b="0">
                  <a:latin typeface="Times New Roman" panose="02020603050405020304" pitchFamily="18" charset="0"/>
                  <a:ea typeface="굴림" panose="020B0600000101010101" pitchFamily="50" charset="-127"/>
                </a:rPr>
                <a:t>•</a:t>
              </a:r>
              <a:r>
                <a:rPr lang="en-US" altLang="ko-KR" sz="1000" b="0">
                  <a:latin typeface="굴림" panose="020B0600000101010101" pitchFamily="50" charset="-127"/>
                  <a:ea typeface="굴림" panose="020B0600000101010101" pitchFamily="50" charset="-127"/>
                </a:rPr>
                <a:t> </a:t>
              </a:r>
              <a:r>
                <a:rPr lang="en-US" altLang="ko-KR" sz="1000" b="0">
                  <a:latin typeface="Times New Roman" panose="02020603050405020304" pitchFamily="18" charset="0"/>
                  <a:ea typeface="굴림" panose="020B0600000101010101" pitchFamily="50" charset="-127"/>
                </a:rPr>
                <a:t>•</a:t>
              </a:r>
              <a:r>
                <a:rPr lang="en-US" altLang="ko-KR" sz="1000" b="0">
                  <a:latin typeface="굴림" panose="020B0600000101010101" pitchFamily="50" charset="-127"/>
                  <a:ea typeface="굴림" panose="020B0600000101010101" pitchFamily="50" charset="-127"/>
                </a:rPr>
                <a:t> </a:t>
              </a:r>
              <a:r>
                <a:rPr lang="en-US" altLang="ko-KR" sz="1000" b="0">
                  <a:latin typeface="Times New Roman" panose="02020603050405020304" pitchFamily="18" charset="0"/>
                  <a:ea typeface="굴림" panose="020B0600000101010101" pitchFamily="50" charset="-127"/>
                </a:rPr>
                <a:t>•</a:t>
              </a:r>
              <a:endParaRPr lang="en-US" altLang="ko-KR" sz="1000" b="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5137" name="Rectangle 42">
              <a:extLst>
                <a:ext uri="{FF2B5EF4-FFF2-40B4-BE49-F238E27FC236}">
                  <a16:creationId xmlns:a16="http://schemas.microsoft.com/office/drawing/2014/main" id="{B14480E4-4037-6CFA-4CD4-81810BD725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" y="1296"/>
              <a:ext cx="1056" cy="2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애플리케이션 코드</a:t>
              </a:r>
            </a:p>
          </p:txBody>
        </p:sp>
        <p:sp>
          <p:nvSpPr>
            <p:cNvPr id="5138" name="Rectangle 43">
              <a:extLst>
                <a:ext uri="{FF2B5EF4-FFF2-40B4-BE49-F238E27FC236}">
                  <a16:creationId xmlns:a16="http://schemas.microsoft.com/office/drawing/2014/main" id="{56B4791F-2B69-D441-B908-930D2C3FCF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" y="2160"/>
              <a:ext cx="1056" cy="2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운영체제 코드</a:t>
              </a:r>
            </a:p>
          </p:txBody>
        </p:sp>
        <p:sp>
          <p:nvSpPr>
            <p:cNvPr id="5139" name="Rectangle 44">
              <a:extLst>
                <a:ext uri="{FF2B5EF4-FFF2-40B4-BE49-F238E27FC236}">
                  <a16:creationId xmlns:a16="http://schemas.microsoft.com/office/drawing/2014/main" id="{B14C27F5-3AF3-B97F-3C58-ABAC462FFA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2" y="2256"/>
              <a:ext cx="816" cy="96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40" name="Rectangle 45">
              <a:extLst>
                <a:ext uri="{FF2B5EF4-FFF2-40B4-BE49-F238E27FC236}">
                  <a16:creationId xmlns:a16="http://schemas.microsoft.com/office/drawing/2014/main" id="{9D84482B-2CA5-24F9-EDD9-06199F1B62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2448"/>
              <a:ext cx="816" cy="96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41" name="Rectangle 46">
              <a:extLst>
                <a:ext uri="{FF2B5EF4-FFF2-40B4-BE49-F238E27FC236}">
                  <a16:creationId xmlns:a16="http://schemas.microsoft.com/office/drawing/2014/main" id="{96B8FF9A-609F-12ED-3AF1-A2F2422921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2" y="2640"/>
              <a:ext cx="816" cy="96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42" name="Line 47">
              <a:extLst>
                <a:ext uri="{FF2B5EF4-FFF2-40B4-BE49-F238E27FC236}">
                  <a16:creationId xmlns:a16="http://schemas.microsoft.com/office/drawing/2014/main" id="{FC2107DB-3B97-B82A-34C7-75030F8C2E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6" y="1488"/>
              <a:ext cx="0" cy="9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43" name="Line 48">
              <a:extLst>
                <a:ext uri="{FF2B5EF4-FFF2-40B4-BE49-F238E27FC236}">
                  <a16:creationId xmlns:a16="http://schemas.microsoft.com/office/drawing/2014/main" id="{8F7D058C-B07B-E0F4-4709-FD225471D9E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48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44" name="Line 49">
              <a:extLst>
                <a:ext uri="{FF2B5EF4-FFF2-40B4-BE49-F238E27FC236}">
                  <a16:creationId xmlns:a16="http://schemas.microsoft.com/office/drawing/2014/main" id="{5DA53FF9-D595-CD76-CD8C-68009B0677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1488"/>
              <a:ext cx="0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45" name="Line 50">
              <a:extLst>
                <a:ext uri="{FF2B5EF4-FFF2-40B4-BE49-F238E27FC236}">
                  <a16:creationId xmlns:a16="http://schemas.microsoft.com/office/drawing/2014/main" id="{9CEEFEC6-919F-0AAC-ACF5-EB50C1BD38C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08" y="1488"/>
              <a:ext cx="0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46" name="Rectangle 51">
              <a:extLst>
                <a:ext uri="{FF2B5EF4-FFF2-40B4-BE49-F238E27FC236}">
                  <a16:creationId xmlns:a16="http://schemas.microsoft.com/office/drawing/2014/main" id="{434B86B8-D06E-4CDE-3726-F45B7BBB79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48" y="1392"/>
              <a:ext cx="144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47" name="Line 52">
              <a:extLst>
                <a:ext uri="{FF2B5EF4-FFF2-40B4-BE49-F238E27FC236}">
                  <a16:creationId xmlns:a16="http://schemas.microsoft.com/office/drawing/2014/main" id="{30A1C040-12D7-0E8D-6E55-E92E4FC6E3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1056"/>
              <a:ext cx="0" cy="16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48" name="Line 53">
              <a:extLst>
                <a:ext uri="{FF2B5EF4-FFF2-40B4-BE49-F238E27FC236}">
                  <a16:creationId xmlns:a16="http://schemas.microsoft.com/office/drawing/2014/main" id="{FC2E6D1A-7BE6-5ED1-B508-D969C62F52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2016"/>
              <a:ext cx="15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 type="oval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49" name="Line 54">
              <a:extLst>
                <a:ext uri="{FF2B5EF4-FFF2-40B4-BE49-F238E27FC236}">
                  <a16:creationId xmlns:a16="http://schemas.microsoft.com/office/drawing/2014/main" id="{AD124AF5-E206-CBE1-00F6-7DB86251F7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1920"/>
              <a:ext cx="1152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 type="oval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50" name="Line 55">
              <a:extLst>
                <a:ext uri="{FF2B5EF4-FFF2-40B4-BE49-F238E27FC236}">
                  <a16:creationId xmlns:a16="http://schemas.microsoft.com/office/drawing/2014/main" id="{0B34FC76-47C2-B2E5-6CFA-1D253D2E58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8" y="1824"/>
              <a:ext cx="57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 type="oval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51" name="AutoShape 56">
              <a:extLst>
                <a:ext uri="{FF2B5EF4-FFF2-40B4-BE49-F238E27FC236}">
                  <a16:creationId xmlns:a16="http://schemas.microsoft.com/office/drawing/2014/main" id="{91912FA3-3656-9C48-8A83-B06669008697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2" y="1824"/>
              <a:ext cx="96" cy="192"/>
            </a:xfrm>
            <a:prstGeom prst="rightBrace">
              <a:avLst>
                <a:gd name="adj1" fmla="val 1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52" name="Rectangle 57">
              <a:extLst>
                <a:ext uri="{FF2B5EF4-FFF2-40B4-BE49-F238E27FC236}">
                  <a16:creationId xmlns:a16="http://schemas.microsoft.com/office/drawing/2014/main" id="{937097DD-A7A7-8D57-033D-BB1DA06001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76" y="1728"/>
              <a:ext cx="1344" cy="38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입출력 작업 완료를</a:t>
              </a:r>
            </a:p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운영체제가 알려줌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바닥글 개체 틀 3">
            <a:extLst>
              <a:ext uri="{FF2B5EF4-FFF2-40B4-BE49-F238E27FC236}">
                <a16:creationId xmlns:a16="http://schemas.microsoft.com/office/drawing/2014/main" id="{CBDB134C-8992-231F-5F45-023FAAACBC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2FDCC069-3AAA-E5DF-207F-EF6A6178CD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I/O </a:t>
            </a:r>
            <a:r>
              <a:rPr lang="ko-KR" altLang="en-US" sz="2400"/>
              <a:t>모델</a:t>
            </a:r>
          </a:p>
        </p:txBody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EAF74C8A-C57E-C86D-84FC-5C6FE0BCF1A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 sz="2400"/>
              <a:t>동기식 입출력</a:t>
            </a:r>
            <a:r>
              <a:rPr lang="en-US" altLang="ko-KR" sz="2400"/>
              <a:t>(synchronous I/O)</a:t>
            </a:r>
          </a:p>
          <a:p>
            <a:pPr lvl="1" eaLnBrk="1" hangingPunct="1"/>
            <a:r>
              <a:rPr lang="ko-KR" altLang="en-US" sz="2000"/>
              <a:t>애플리케이션은 입출력 함수를 호출한 후 입출력 작업이 끝날 때까지 대기</a:t>
            </a:r>
          </a:p>
          <a:p>
            <a:pPr lvl="1" eaLnBrk="1" hangingPunct="1"/>
            <a:r>
              <a:rPr lang="ko-KR" altLang="en-US" sz="2000"/>
              <a:t>입출력 작업이 끝나면 입출력 함수는 리턴하고 애플리케이션은 입출력 결과를 처리하거나 다른 작업을 진행</a:t>
            </a:r>
          </a:p>
          <a:p>
            <a:pPr lvl="1" eaLnBrk="1" hangingPunct="1"/>
            <a:endParaRPr lang="ko-KR" altLang="en-US" sz="2000"/>
          </a:p>
          <a:p>
            <a:pPr eaLnBrk="1" hangingPunct="1"/>
            <a:r>
              <a:rPr lang="ko-KR" altLang="en-US" sz="2400"/>
              <a:t>비동기식 입출력</a:t>
            </a:r>
            <a:r>
              <a:rPr lang="en-US" altLang="ko-KR" sz="2400"/>
              <a:t>(asynchronous I/O)</a:t>
            </a:r>
          </a:p>
          <a:p>
            <a:pPr lvl="1" eaLnBrk="1" hangingPunct="1"/>
            <a:r>
              <a:rPr lang="ko-KR" altLang="en-US" sz="2000"/>
              <a:t>윈도우의 </a:t>
            </a:r>
            <a:r>
              <a:rPr lang="en-US" altLang="ko-KR" sz="2000"/>
              <a:t>Overlapped I/O</a:t>
            </a:r>
          </a:p>
          <a:p>
            <a:pPr lvl="1" eaLnBrk="1" hangingPunct="1"/>
            <a:r>
              <a:rPr lang="ko-KR" altLang="en-US" sz="2000"/>
              <a:t>애플리케이션은 입출력 함수를 호출한 후 입출력 작업의 완료 여부와 무관하게 다른 작업을 진행</a:t>
            </a:r>
          </a:p>
          <a:p>
            <a:pPr lvl="1" eaLnBrk="1" hangingPunct="1"/>
            <a:r>
              <a:rPr lang="ko-KR" altLang="en-US" sz="2000"/>
              <a:t>입출력 작업이 끝나면 운영체제는 작업 완료를 애플리케이션에게 알려줌</a:t>
            </a:r>
            <a:r>
              <a:rPr lang="en-US" altLang="ko-KR" sz="2000"/>
              <a:t>. </a:t>
            </a:r>
            <a:r>
              <a:rPr lang="ko-KR" altLang="en-US" sz="2000"/>
              <a:t>이때 애플리케이션은 다른 작업을 중단하고 입출력 결과를 처리</a:t>
            </a:r>
          </a:p>
          <a:p>
            <a:pPr lvl="1" eaLnBrk="1" hangingPunct="1"/>
            <a:endParaRPr lang="ko-KR" altLang="en-US" sz="2000"/>
          </a:p>
          <a:p>
            <a:pPr lvl="1" eaLnBrk="1" hangingPunct="1"/>
            <a:r>
              <a:rPr lang="ko-KR" altLang="en-US" sz="2000"/>
              <a:t>윈도우의 특화 </a:t>
            </a:r>
            <a:r>
              <a:rPr lang="ko-KR" altLang="en-US" sz="2000">
                <a:sym typeface="Wingdings" panose="05000000000000000000" pitchFamily="2" charset="2"/>
              </a:rPr>
              <a:t> </a:t>
            </a:r>
            <a:r>
              <a:rPr lang="en-US" altLang="ko-KR" sz="2000">
                <a:sym typeface="Wingdings" panose="05000000000000000000" pitchFamily="2" charset="2"/>
              </a:rPr>
              <a:t>IOCP</a:t>
            </a:r>
            <a:endParaRPr lang="en-US" altLang="ko-KR" sz="2000"/>
          </a:p>
          <a:p>
            <a:pPr lvl="1" eaLnBrk="1" hangingPunct="1"/>
            <a:endParaRPr lang="en-US" altLang="ko-KR" sz="2000"/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ko-KR" sz="2000"/>
              <a:t>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바닥글 개체 틀 3">
            <a:extLst>
              <a:ext uri="{FF2B5EF4-FFF2-40B4-BE49-F238E27FC236}">
                <a16:creationId xmlns:a16="http://schemas.microsoft.com/office/drawing/2014/main" id="{B1730AFB-8E1F-849C-6A22-218EC1AB19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062CDDE8-38AB-058D-1D04-8F434D239FC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I/O </a:t>
            </a:r>
            <a:r>
              <a:rPr lang="ko-KR" altLang="en-US" sz="2400"/>
              <a:t>모델</a:t>
            </a:r>
          </a:p>
        </p:txBody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7E8CE5B3-4058-1061-5CA4-C34FA3B6131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입출력 방식에 따른 소켓 입출력 모델 분류</a:t>
            </a:r>
          </a:p>
          <a:p>
            <a:pPr lvl="1" eaLnBrk="1" hangingPunct="1"/>
            <a:endParaRPr lang="ko-KR" altLang="en-US"/>
          </a:p>
          <a:p>
            <a:pPr lvl="1" eaLnBrk="1" hangingPunct="1"/>
            <a:r>
              <a:rPr lang="ko-KR" altLang="en-US"/>
              <a:t>동기 입출력 </a:t>
            </a:r>
            <a:r>
              <a:rPr lang="en-US" altLang="ko-KR"/>
              <a:t>+ </a:t>
            </a:r>
            <a:r>
              <a:rPr lang="ko-KR" altLang="en-US"/>
              <a:t>비동기 통지</a:t>
            </a:r>
          </a:p>
          <a:p>
            <a:pPr lvl="2" eaLnBrk="1" hangingPunct="1"/>
            <a:r>
              <a:rPr lang="en-US" altLang="ko-KR"/>
              <a:t>Select </a:t>
            </a:r>
            <a:r>
              <a:rPr lang="ko-KR" altLang="en-US"/>
              <a:t>모델</a:t>
            </a:r>
            <a:r>
              <a:rPr lang="en-US" altLang="ko-KR"/>
              <a:t>, WSAAsyncSelect </a:t>
            </a:r>
            <a:r>
              <a:rPr lang="ko-KR" altLang="en-US"/>
              <a:t>모델</a:t>
            </a:r>
            <a:r>
              <a:rPr lang="en-US" altLang="ko-KR"/>
              <a:t>, WSAEventSelect </a:t>
            </a:r>
            <a:r>
              <a:rPr lang="ko-KR" altLang="en-US"/>
              <a:t>모델</a:t>
            </a:r>
          </a:p>
          <a:p>
            <a:pPr lvl="1" eaLnBrk="1" hangingPunct="1"/>
            <a:endParaRPr lang="ko-KR" altLang="en-US"/>
          </a:p>
          <a:p>
            <a:pPr lvl="1" eaLnBrk="1" hangingPunct="1"/>
            <a:r>
              <a:rPr lang="ko-KR" altLang="en-US"/>
              <a:t>비동기 입출력 </a:t>
            </a:r>
            <a:r>
              <a:rPr lang="en-US" altLang="ko-KR"/>
              <a:t>+ </a:t>
            </a:r>
            <a:r>
              <a:rPr lang="ko-KR" altLang="en-US"/>
              <a:t>비동기 통지</a:t>
            </a:r>
          </a:p>
          <a:p>
            <a:pPr lvl="2" eaLnBrk="1" hangingPunct="1"/>
            <a:r>
              <a:rPr lang="en-US" altLang="ko-KR"/>
              <a:t>Overlapped </a:t>
            </a:r>
            <a:r>
              <a:rPr lang="ko-KR" altLang="en-US"/>
              <a:t>모델</a:t>
            </a:r>
            <a:r>
              <a:rPr lang="en-US" altLang="ko-KR"/>
              <a:t>(I), Overlapped </a:t>
            </a:r>
            <a:r>
              <a:rPr lang="ko-KR" altLang="en-US"/>
              <a:t>모델</a:t>
            </a:r>
            <a:r>
              <a:rPr lang="en-US" altLang="ko-KR"/>
              <a:t>(II), Completion Port </a:t>
            </a:r>
            <a:r>
              <a:rPr lang="ko-KR" altLang="en-US"/>
              <a:t>모델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바닥글 개체 틀 3">
            <a:extLst>
              <a:ext uri="{FF2B5EF4-FFF2-40B4-BE49-F238E27FC236}">
                <a16:creationId xmlns:a16="http://schemas.microsoft.com/office/drawing/2014/main" id="{678F70CC-99B8-5219-7D38-1E3C3E7E0D4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8195" name="Rectangle 2">
            <a:extLst>
              <a:ext uri="{FF2B5EF4-FFF2-40B4-BE49-F238E27FC236}">
                <a16:creationId xmlns:a16="http://schemas.microsoft.com/office/drawing/2014/main" id="{1D5164C7-118B-B59B-C9C3-B6CA793D6C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I/O </a:t>
            </a:r>
            <a:r>
              <a:rPr lang="ko-KR" altLang="en-US" sz="2400"/>
              <a:t>모델</a:t>
            </a:r>
          </a:p>
        </p:txBody>
      </p:sp>
      <p:sp>
        <p:nvSpPr>
          <p:cNvPr id="8196" name="Rectangle 3">
            <a:extLst>
              <a:ext uri="{FF2B5EF4-FFF2-40B4-BE49-F238E27FC236}">
                <a16:creationId xmlns:a16="http://schemas.microsoft.com/office/drawing/2014/main" id="{F4C1C506-BEB3-DE61-215F-755D80391FF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Overlapped </a:t>
            </a:r>
            <a:r>
              <a:rPr lang="ko-KR" altLang="en-US"/>
              <a:t>모델 사용 절차</a:t>
            </a:r>
          </a:p>
          <a:p>
            <a:pPr lvl="1" eaLnBrk="1" hangingPunct="1"/>
            <a:endParaRPr lang="ko-KR" altLang="en-US"/>
          </a:p>
          <a:p>
            <a:pPr lvl="1" eaLnBrk="1" hangingPunct="1"/>
            <a:r>
              <a:rPr lang="ko-KR" altLang="en-US"/>
              <a:t>비동기 입출력을 지원하는 소켓 생성</a:t>
            </a:r>
          </a:p>
          <a:p>
            <a:pPr lvl="1" eaLnBrk="1" hangingPunct="1"/>
            <a:endParaRPr lang="ko-KR" altLang="en-US"/>
          </a:p>
          <a:p>
            <a:pPr lvl="1" eaLnBrk="1" hangingPunct="1"/>
            <a:r>
              <a:rPr lang="ko-KR" altLang="en-US"/>
              <a:t>비동기 입출력을 지원하는 소켓 함수 호출</a:t>
            </a:r>
          </a:p>
          <a:p>
            <a:pPr lvl="1" eaLnBrk="1" hangingPunct="1"/>
            <a:endParaRPr lang="ko-KR" altLang="en-US"/>
          </a:p>
          <a:p>
            <a:pPr lvl="1" eaLnBrk="1" hangingPunct="1"/>
            <a:r>
              <a:rPr lang="ko-KR" altLang="en-US"/>
              <a:t>운영체제가 소켓 입출력 작업 완료를 애플리케이션에게 비동기로 통지</a:t>
            </a:r>
          </a:p>
          <a:p>
            <a:pPr lvl="1" eaLnBrk="1" hangingPunct="1"/>
            <a:endParaRPr lang="ko-KR" altLang="en-US"/>
          </a:p>
          <a:p>
            <a:pPr lvl="1" eaLnBrk="1" hangingPunct="1"/>
            <a:r>
              <a:rPr lang="ko-KR" altLang="en-US"/>
              <a:t>애플리케이션은 결과를 처리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바닥글 개체 틀 3">
            <a:extLst>
              <a:ext uri="{FF2B5EF4-FFF2-40B4-BE49-F238E27FC236}">
                <a16:creationId xmlns:a16="http://schemas.microsoft.com/office/drawing/2014/main" id="{111A549F-D5AA-0FF1-D40C-48854394C27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BE8EB6CF-8949-584D-A906-D5B12A9271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I/O </a:t>
            </a:r>
            <a:r>
              <a:rPr lang="ko-KR" altLang="en-US" sz="2400"/>
              <a:t>모델 </a:t>
            </a:r>
            <a:r>
              <a:rPr lang="en-US" altLang="ko-KR" sz="2400"/>
              <a:t>- Overlapped I/O </a:t>
            </a:r>
            <a:r>
              <a:rPr lang="ko-KR" altLang="en-US" sz="2400"/>
              <a:t>모델 분류</a:t>
            </a:r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0C4CBC8E-F509-A8C7-71CD-8B114D0160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Overlapped </a:t>
            </a:r>
            <a:r>
              <a:rPr lang="ko-KR" altLang="en-US" sz="2400"/>
              <a:t>모델</a:t>
            </a:r>
            <a:r>
              <a:rPr lang="en-US" altLang="ko-KR" sz="2400"/>
              <a:t>(I) - </a:t>
            </a:r>
            <a:r>
              <a:rPr lang="ko-KR" altLang="en-US" sz="2400"/>
              <a:t>이벤트 방식</a:t>
            </a:r>
          </a:p>
          <a:p>
            <a:pPr lvl="1" eaLnBrk="1" hangingPunct="1"/>
            <a:r>
              <a:rPr lang="en-US" altLang="ko-KR" sz="2000"/>
              <a:t>I/O </a:t>
            </a:r>
            <a:r>
              <a:rPr lang="ko-KR" altLang="en-US" sz="2000"/>
              <a:t>완료와 바인딩 된 이벤트 객체를 이용해서 애플리케이션이 이벤트 객체로 작업 완료를 감지</a:t>
            </a:r>
            <a:r>
              <a:rPr lang="en-US" altLang="ko-KR" sz="2000"/>
              <a:t>.</a:t>
            </a:r>
          </a:p>
          <a:p>
            <a:pPr lvl="1" eaLnBrk="1" hangingPunct="1"/>
            <a:endParaRPr lang="en-US" altLang="ko-KR" sz="2000"/>
          </a:p>
          <a:p>
            <a:pPr eaLnBrk="1" hangingPunct="1"/>
            <a:r>
              <a:rPr lang="en-US" altLang="ko-KR" sz="2400"/>
              <a:t>Overlapped </a:t>
            </a:r>
            <a:r>
              <a:rPr lang="ko-KR" altLang="en-US" sz="2400"/>
              <a:t>모델</a:t>
            </a:r>
            <a:r>
              <a:rPr lang="en-US" altLang="ko-KR" sz="2400"/>
              <a:t>(II) - </a:t>
            </a:r>
            <a:r>
              <a:rPr lang="ko-KR" altLang="en-US" sz="2400"/>
              <a:t>완료루틴 방식</a:t>
            </a:r>
          </a:p>
          <a:p>
            <a:pPr lvl="1" eaLnBrk="1" hangingPunct="1"/>
            <a:r>
              <a:rPr lang="ko-KR" altLang="en-US" sz="2000"/>
              <a:t>소켓 입출력 작업이 완료되면</a:t>
            </a:r>
            <a:r>
              <a:rPr lang="en-US" altLang="ko-KR" sz="2000"/>
              <a:t>, </a:t>
            </a:r>
            <a:r>
              <a:rPr lang="ko-KR" altLang="en-US" sz="2000"/>
              <a:t>콜백 함수</a:t>
            </a:r>
            <a:r>
              <a:rPr lang="en-US" altLang="ko-KR" sz="2000"/>
              <a:t>(callback function)</a:t>
            </a:r>
            <a:r>
              <a:rPr lang="ko-KR" altLang="en-US" sz="2000"/>
              <a:t>로 구현된 완료 루틴 함수를 자동으로 호출</a:t>
            </a:r>
          </a:p>
          <a:p>
            <a:pPr lvl="1" eaLnBrk="1" hangingPunct="1"/>
            <a:endParaRPr lang="ko-KR" altLang="en-US" sz="2000"/>
          </a:p>
          <a:p>
            <a:pPr eaLnBrk="1" hangingPunct="1"/>
            <a:r>
              <a:rPr lang="en-US" altLang="ko-KR" sz="2400"/>
              <a:t>Overlapped </a:t>
            </a:r>
            <a:r>
              <a:rPr lang="ko-KR" altLang="en-US" sz="2400"/>
              <a:t>모델</a:t>
            </a:r>
            <a:r>
              <a:rPr lang="en-US" altLang="ko-KR" sz="2400"/>
              <a:t>(III) - IOCP</a:t>
            </a:r>
          </a:p>
          <a:p>
            <a:pPr lvl="1" eaLnBrk="1" hangingPunct="1"/>
            <a:r>
              <a:rPr lang="en-US" altLang="ko-KR" sz="2000"/>
              <a:t>I/O </a:t>
            </a:r>
            <a:r>
              <a:rPr lang="ko-KR" altLang="en-US" sz="2000"/>
              <a:t>완료를 담당하는 </a:t>
            </a:r>
            <a:r>
              <a:rPr lang="en-US" altLang="ko-KR" sz="2000"/>
              <a:t>Completion Port</a:t>
            </a:r>
            <a:r>
              <a:rPr lang="ko-KR" altLang="en-US" sz="2000"/>
              <a:t>를 이용한 모델</a:t>
            </a:r>
          </a:p>
          <a:p>
            <a:pPr lvl="1" eaLnBrk="1" hangingPunct="1"/>
            <a:r>
              <a:rPr lang="en-US" altLang="ko-KR" sz="2000"/>
              <a:t>IOCP: </a:t>
            </a:r>
            <a:r>
              <a:rPr lang="en-US" altLang="en-US" sz="2000"/>
              <a:t>비동기 입출력 결과와 이 결과를 처리할 스레드에 대한 정보를 담고 있는 구조</a:t>
            </a:r>
            <a:endParaRPr lang="ko-KR" altLang="en-US" sz="2000"/>
          </a:p>
          <a:p>
            <a:pPr lvl="1" eaLnBrk="1" hangingPunct="1"/>
            <a:r>
              <a:rPr lang="ko-KR" altLang="en-US" sz="2000"/>
              <a:t>특징</a:t>
            </a:r>
            <a:r>
              <a:rPr lang="en-US" altLang="ko-KR" sz="2000"/>
              <a:t>: Overlapped I/O + </a:t>
            </a:r>
            <a:r>
              <a:rPr lang="ko-KR" altLang="en-US" sz="2000"/>
              <a:t>비동기 </a:t>
            </a:r>
            <a:r>
              <a:rPr lang="en-US" altLang="ko-KR" sz="2000"/>
              <a:t>Notification I/O </a:t>
            </a:r>
          </a:p>
          <a:p>
            <a:pPr lvl="1" eaLnBrk="1" hangingPunct="1"/>
            <a:r>
              <a:rPr lang="ko-KR" altLang="en-US" sz="2000"/>
              <a:t>장점</a:t>
            </a:r>
            <a:r>
              <a:rPr lang="en-US" altLang="ko-KR" sz="2000"/>
              <a:t>: </a:t>
            </a:r>
            <a:r>
              <a:rPr lang="ko-KR" altLang="en-US" sz="2000"/>
              <a:t>제한된 쓰레드</a:t>
            </a:r>
            <a:r>
              <a:rPr lang="en-US" altLang="ko-KR" sz="2000"/>
              <a:t>(Work Thread)</a:t>
            </a:r>
            <a:r>
              <a:rPr lang="ko-KR" altLang="en-US" sz="2000"/>
              <a:t>를 통해서 여러 소켓의 입출력 처리</a:t>
            </a:r>
            <a:r>
              <a:rPr lang="en-US" altLang="ko-KR" sz="2000"/>
              <a:t>. </a:t>
            </a:r>
            <a:r>
              <a:rPr lang="ko-KR" altLang="en-US" sz="2000"/>
              <a:t>컨텍스트 스위칭에 소비되는 시간을 줄임</a:t>
            </a:r>
          </a:p>
          <a:p>
            <a:pPr lvl="2" eaLnBrk="1" hangingPunct="1"/>
            <a:endParaRPr lang="en-US" altLang="ko-KR"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바닥글 개체 틀 1">
            <a:extLst>
              <a:ext uri="{FF2B5EF4-FFF2-40B4-BE49-F238E27FC236}">
                <a16:creationId xmlns:a16="http://schemas.microsoft.com/office/drawing/2014/main" id="{487979B6-B289-DD87-C45C-BFB009AD28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cxnSp>
        <p:nvCxnSpPr>
          <p:cNvPr id="10243" name="AutoShape 9">
            <a:extLst>
              <a:ext uri="{FF2B5EF4-FFF2-40B4-BE49-F238E27FC236}">
                <a16:creationId xmlns:a16="http://schemas.microsoft.com/office/drawing/2014/main" id="{2E4684BA-FFF3-58B9-7284-EAB539ADF7AB}"/>
              </a:ext>
            </a:extLst>
          </p:cNvPr>
          <p:cNvCxnSpPr>
            <a:cxnSpLocks noChangeShapeType="1"/>
            <a:stCxn id="10253" idx="3"/>
            <a:endCxn id="10265" idx="1"/>
          </p:cNvCxnSpPr>
          <p:nvPr/>
        </p:nvCxnSpPr>
        <p:spPr bwMode="auto">
          <a:xfrm>
            <a:off x="2424113" y="2205038"/>
            <a:ext cx="554037" cy="1117600"/>
          </a:xfrm>
          <a:prstGeom prst="straightConnector1">
            <a:avLst/>
          </a:prstGeom>
          <a:noFill/>
          <a:ln w="63500">
            <a:solidFill>
              <a:srgbClr val="800000"/>
            </a:solidFill>
            <a:round/>
            <a:headEnd type="none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244" name="AutoShape 10">
            <a:extLst>
              <a:ext uri="{FF2B5EF4-FFF2-40B4-BE49-F238E27FC236}">
                <a16:creationId xmlns:a16="http://schemas.microsoft.com/office/drawing/2014/main" id="{31501A0B-5BBE-8FB2-E8BE-69A18E684391}"/>
              </a:ext>
            </a:extLst>
          </p:cNvPr>
          <p:cNvCxnSpPr>
            <a:cxnSpLocks noChangeShapeType="1"/>
            <a:stCxn id="10256" idx="3"/>
            <a:endCxn id="10265" idx="1"/>
          </p:cNvCxnSpPr>
          <p:nvPr/>
        </p:nvCxnSpPr>
        <p:spPr bwMode="auto">
          <a:xfrm flipV="1">
            <a:off x="2424113" y="3322638"/>
            <a:ext cx="554037" cy="4762"/>
          </a:xfrm>
          <a:prstGeom prst="straightConnector1">
            <a:avLst/>
          </a:prstGeom>
          <a:noFill/>
          <a:ln w="63500">
            <a:solidFill>
              <a:srgbClr val="800000"/>
            </a:solidFill>
            <a:round/>
            <a:headEnd type="none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245" name="AutoShape 11">
            <a:extLst>
              <a:ext uri="{FF2B5EF4-FFF2-40B4-BE49-F238E27FC236}">
                <a16:creationId xmlns:a16="http://schemas.microsoft.com/office/drawing/2014/main" id="{551865B1-8366-B8EA-5452-EE87884EEC87}"/>
              </a:ext>
            </a:extLst>
          </p:cNvPr>
          <p:cNvCxnSpPr>
            <a:cxnSpLocks noChangeShapeType="1"/>
            <a:stCxn id="10259" idx="3"/>
            <a:endCxn id="10265" idx="1"/>
          </p:cNvCxnSpPr>
          <p:nvPr/>
        </p:nvCxnSpPr>
        <p:spPr bwMode="auto">
          <a:xfrm flipV="1">
            <a:off x="2424113" y="3322638"/>
            <a:ext cx="554037" cy="1146175"/>
          </a:xfrm>
          <a:prstGeom prst="straightConnector1">
            <a:avLst/>
          </a:prstGeom>
          <a:noFill/>
          <a:ln w="63500">
            <a:solidFill>
              <a:srgbClr val="800000"/>
            </a:solidFill>
            <a:round/>
            <a:headEnd type="none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246" name="Rectangle 21">
            <a:extLst>
              <a:ext uri="{FF2B5EF4-FFF2-40B4-BE49-F238E27FC236}">
                <a16:creationId xmlns:a16="http://schemas.microsoft.com/office/drawing/2014/main" id="{17EE7F4D-D5AA-25FB-4CA9-7FEDE7AC4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2400">
                <a:solidFill>
                  <a:schemeClr val="bg1"/>
                </a:solidFill>
              </a:rPr>
              <a:t>2. IOCP - </a:t>
            </a:r>
            <a:r>
              <a:rPr lang="ko-KR" altLang="en-US" sz="2400">
                <a:solidFill>
                  <a:schemeClr val="bg1"/>
                </a:solidFill>
              </a:rPr>
              <a:t>구현원리</a:t>
            </a:r>
          </a:p>
        </p:txBody>
      </p:sp>
      <p:sp>
        <p:nvSpPr>
          <p:cNvPr id="10247" name="Rectangle 24">
            <a:extLst>
              <a:ext uri="{FF2B5EF4-FFF2-40B4-BE49-F238E27FC236}">
                <a16:creationId xmlns:a16="http://schemas.microsoft.com/office/drawing/2014/main" id="{B6E09D32-789C-9A51-3AC1-46B2E042B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1525" y="550863"/>
            <a:ext cx="1439863" cy="647700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400"/>
              <a:t>IOCP</a:t>
            </a:r>
            <a:r>
              <a:rPr lang="ko-KR" altLang="en-US" sz="1400"/>
              <a:t>생성</a:t>
            </a:r>
            <a:br>
              <a:rPr lang="ko-KR" altLang="en-US" sz="1400"/>
            </a:br>
            <a:r>
              <a:rPr lang="en-US" altLang="ko-KR" sz="1400"/>
              <a:t>Completion Port</a:t>
            </a:r>
          </a:p>
        </p:txBody>
      </p:sp>
      <p:sp>
        <p:nvSpPr>
          <p:cNvPr id="10248" name="Oval 26">
            <a:extLst>
              <a:ext uri="{FF2B5EF4-FFF2-40B4-BE49-F238E27FC236}">
                <a16:creationId xmlns:a16="http://schemas.microsoft.com/office/drawing/2014/main" id="{15057B29-B14B-9F6D-DECB-44E1971F5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6450" y="1701800"/>
            <a:ext cx="1368425" cy="627063"/>
          </a:xfrm>
          <a:prstGeom prst="ellipse">
            <a:avLst/>
          </a:prstGeom>
          <a:solidFill>
            <a:srgbClr val="FFCC00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2000"/>
              <a:t>IOCP</a:t>
            </a:r>
          </a:p>
        </p:txBody>
      </p:sp>
      <p:cxnSp>
        <p:nvCxnSpPr>
          <p:cNvPr id="10249" name="AutoShape 33">
            <a:extLst>
              <a:ext uri="{FF2B5EF4-FFF2-40B4-BE49-F238E27FC236}">
                <a16:creationId xmlns:a16="http://schemas.microsoft.com/office/drawing/2014/main" id="{AD6D37FC-EF20-CD79-C9FE-7307B04EE42D}"/>
              </a:ext>
            </a:extLst>
          </p:cNvPr>
          <p:cNvCxnSpPr>
            <a:cxnSpLocks noChangeShapeType="1"/>
            <a:stCxn id="10248" idx="4"/>
            <a:endCxn id="10265" idx="0"/>
          </p:cNvCxnSpPr>
          <p:nvPr/>
        </p:nvCxnSpPr>
        <p:spPr bwMode="auto">
          <a:xfrm>
            <a:off x="4030663" y="2338388"/>
            <a:ext cx="1587" cy="506412"/>
          </a:xfrm>
          <a:prstGeom prst="straightConnector1">
            <a:avLst/>
          </a:prstGeom>
          <a:noFill/>
          <a:ln w="63500">
            <a:solidFill>
              <a:srgbClr val="800000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250" name="AutoShape 34">
            <a:extLst>
              <a:ext uri="{FF2B5EF4-FFF2-40B4-BE49-F238E27FC236}">
                <a16:creationId xmlns:a16="http://schemas.microsoft.com/office/drawing/2014/main" id="{F8CF95A5-8FBF-3431-AD9A-F1196AA1EE7D}"/>
              </a:ext>
            </a:extLst>
          </p:cNvPr>
          <p:cNvCxnSpPr>
            <a:cxnSpLocks noChangeShapeType="1"/>
            <a:stCxn id="10247" idx="2"/>
            <a:endCxn id="10248" idx="0"/>
          </p:cNvCxnSpPr>
          <p:nvPr/>
        </p:nvCxnSpPr>
        <p:spPr bwMode="auto">
          <a:xfrm flipH="1">
            <a:off x="4030663" y="1208088"/>
            <a:ext cx="1587" cy="484187"/>
          </a:xfrm>
          <a:prstGeom prst="straightConnector1">
            <a:avLst/>
          </a:prstGeom>
          <a:noFill/>
          <a:ln w="63500">
            <a:solidFill>
              <a:srgbClr val="800000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251" name="AutoShape 23">
            <a:extLst>
              <a:ext uri="{FF2B5EF4-FFF2-40B4-BE49-F238E27FC236}">
                <a16:creationId xmlns:a16="http://schemas.microsoft.com/office/drawing/2014/main" id="{5658F877-460A-F9DE-79E1-C6DDC8872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2278063"/>
            <a:ext cx="2592388" cy="4103687"/>
          </a:xfrm>
          <a:prstGeom prst="roundRect">
            <a:avLst>
              <a:gd name="adj" fmla="val 6843"/>
            </a:avLst>
          </a:prstGeom>
          <a:solidFill>
            <a:srgbClr val="00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/>
              <a:t>Work Thread</a:t>
            </a:r>
          </a:p>
        </p:txBody>
      </p:sp>
      <p:sp>
        <p:nvSpPr>
          <p:cNvPr id="10252" name="Rectangle 28">
            <a:extLst>
              <a:ext uri="{FF2B5EF4-FFF2-40B4-BE49-F238E27FC236}">
                <a16:creationId xmlns:a16="http://schemas.microsoft.com/office/drawing/2014/main" id="{BB9D633F-2AB4-FE46-7CED-A0CF0DDA33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2781300"/>
            <a:ext cx="2452687" cy="869950"/>
          </a:xfrm>
          <a:prstGeom prst="rect">
            <a:avLst/>
          </a:prstGeom>
          <a:solidFill>
            <a:srgbClr val="00FF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400"/>
              <a:t>I/O </a:t>
            </a:r>
            <a:r>
              <a:rPr lang="ko-KR" altLang="en-US" sz="1400"/>
              <a:t>완료를 기다림</a:t>
            </a:r>
            <a:br>
              <a:rPr lang="ko-KR" altLang="en-US" sz="1400"/>
            </a:br>
            <a:r>
              <a:rPr lang="en-US" altLang="ko-KR" sz="1400"/>
              <a:t>GetQueuedCompletionStatus</a:t>
            </a:r>
          </a:p>
        </p:txBody>
      </p:sp>
      <p:sp>
        <p:nvSpPr>
          <p:cNvPr id="10253" name="AutoShape 41">
            <a:extLst>
              <a:ext uri="{FF2B5EF4-FFF2-40B4-BE49-F238E27FC236}">
                <a16:creationId xmlns:a16="http://schemas.microsoft.com/office/drawing/2014/main" id="{8D113536-EC66-3D87-8495-EA3E5DB5AC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75" y="1773238"/>
            <a:ext cx="2154238" cy="863600"/>
          </a:xfrm>
          <a:prstGeom prst="roundRect">
            <a:avLst>
              <a:gd name="adj" fmla="val 6843"/>
            </a:avLst>
          </a:prstGeom>
          <a:solidFill>
            <a:srgbClr val="00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2000"/>
          </a:p>
        </p:txBody>
      </p:sp>
      <p:sp>
        <p:nvSpPr>
          <p:cNvPr id="10254" name="Rectangle 4">
            <a:extLst>
              <a:ext uri="{FF2B5EF4-FFF2-40B4-BE49-F238E27FC236}">
                <a16:creationId xmlns:a16="http://schemas.microsoft.com/office/drawing/2014/main" id="{D5D3C4E7-7F76-D2AE-B61B-C101D75B18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575" y="1989138"/>
            <a:ext cx="647700" cy="431800"/>
          </a:xfrm>
          <a:prstGeom prst="rect">
            <a:avLst/>
          </a:prstGeom>
          <a:solidFill>
            <a:srgbClr val="FF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2000"/>
              <a:t>소켓</a:t>
            </a:r>
          </a:p>
        </p:txBody>
      </p:sp>
      <p:sp>
        <p:nvSpPr>
          <p:cNvPr id="10255" name="Rectangle 38">
            <a:extLst>
              <a:ext uri="{FF2B5EF4-FFF2-40B4-BE49-F238E27FC236}">
                <a16:creationId xmlns:a16="http://schemas.microsoft.com/office/drawing/2014/main" id="{31C88910-7A8F-BCAE-A8E9-2503BFCE9B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5713" y="1989138"/>
            <a:ext cx="846137" cy="431800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2000"/>
              <a:t>객체</a:t>
            </a:r>
          </a:p>
        </p:txBody>
      </p:sp>
      <p:sp>
        <p:nvSpPr>
          <p:cNvPr id="10256" name="AutoShape 44">
            <a:extLst>
              <a:ext uri="{FF2B5EF4-FFF2-40B4-BE49-F238E27FC236}">
                <a16:creationId xmlns:a16="http://schemas.microsoft.com/office/drawing/2014/main" id="{45F49E80-0AC0-03ED-D023-D49C42E9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75" y="2895600"/>
            <a:ext cx="2154238" cy="863600"/>
          </a:xfrm>
          <a:prstGeom prst="roundRect">
            <a:avLst>
              <a:gd name="adj" fmla="val 6843"/>
            </a:avLst>
          </a:prstGeom>
          <a:solidFill>
            <a:srgbClr val="00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2000"/>
          </a:p>
        </p:txBody>
      </p:sp>
      <p:sp>
        <p:nvSpPr>
          <p:cNvPr id="10257" name="Rectangle 45">
            <a:extLst>
              <a:ext uri="{FF2B5EF4-FFF2-40B4-BE49-F238E27FC236}">
                <a16:creationId xmlns:a16="http://schemas.microsoft.com/office/drawing/2014/main" id="{5B335219-3D9C-B15A-E042-96A06C8F76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575" y="3111500"/>
            <a:ext cx="647700" cy="431800"/>
          </a:xfrm>
          <a:prstGeom prst="rect">
            <a:avLst/>
          </a:prstGeom>
          <a:solidFill>
            <a:srgbClr val="FF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2000"/>
              <a:t>소켓</a:t>
            </a:r>
          </a:p>
        </p:txBody>
      </p:sp>
      <p:sp>
        <p:nvSpPr>
          <p:cNvPr id="10258" name="Rectangle 46">
            <a:extLst>
              <a:ext uri="{FF2B5EF4-FFF2-40B4-BE49-F238E27FC236}">
                <a16:creationId xmlns:a16="http://schemas.microsoft.com/office/drawing/2014/main" id="{8CA7A769-1A13-433D-0E36-D42D97ED8D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5713" y="3111500"/>
            <a:ext cx="846137" cy="431800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2000"/>
              <a:t>객체</a:t>
            </a:r>
          </a:p>
        </p:txBody>
      </p:sp>
      <p:sp>
        <p:nvSpPr>
          <p:cNvPr id="10259" name="AutoShape 48">
            <a:extLst>
              <a:ext uri="{FF2B5EF4-FFF2-40B4-BE49-F238E27FC236}">
                <a16:creationId xmlns:a16="http://schemas.microsoft.com/office/drawing/2014/main" id="{4C29EB6D-6C75-29BD-7225-4789C4D25B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75" y="4037013"/>
            <a:ext cx="2154238" cy="863600"/>
          </a:xfrm>
          <a:prstGeom prst="roundRect">
            <a:avLst>
              <a:gd name="adj" fmla="val 6843"/>
            </a:avLst>
          </a:prstGeom>
          <a:solidFill>
            <a:srgbClr val="00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2000"/>
          </a:p>
        </p:txBody>
      </p:sp>
      <p:sp>
        <p:nvSpPr>
          <p:cNvPr id="10260" name="Rectangle 49">
            <a:extLst>
              <a:ext uri="{FF2B5EF4-FFF2-40B4-BE49-F238E27FC236}">
                <a16:creationId xmlns:a16="http://schemas.microsoft.com/office/drawing/2014/main" id="{45AA6E95-30C3-EF07-54AC-D808F29D1D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575" y="4252913"/>
            <a:ext cx="647700" cy="431800"/>
          </a:xfrm>
          <a:prstGeom prst="rect">
            <a:avLst/>
          </a:prstGeom>
          <a:solidFill>
            <a:srgbClr val="FF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2000"/>
              <a:t>소켓</a:t>
            </a:r>
          </a:p>
        </p:txBody>
      </p:sp>
      <p:sp>
        <p:nvSpPr>
          <p:cNvPr id="10261" name="Rectangle 50">
            <a:extLst>
              <a:ext uri="{FF2B5EF4-FFF2-40B4-BE49-F238E27FC236}">
                <a16:creationId xmlns:a16="http://schemas.microsoft.com/office/drawing/2014/main" id="{DAFD741F-5B0B-AFF9-2619-B8A5F3520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5713" y="4252913"/>
            <a:ext cx="846137" cy="431800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2000"/>
              <a:t>객체</a:t>
            </a:r>
          </a:p>
        </p:txBody>
      </p:sp>
      <p:sp>
        <p:nvSpPr>
          <p:cNvPr id="10262" name="AutoShape 58">
            <a:extLst>
              <a:ext uri="{FF2B5EF4-FFF2-40B4-BE49-F238E27FC236}">
                <a16:creationId xmlns:a16="http://schemas.microsoft.com/office/drawing/2014/main" id="{DBCF8F5A-31E5-B718-A1FD-BEDBFC3DAD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3975" y="2781300"/>
            <a:ext cx="1152525" cy="935038"/>
          </a:xfrm>
          <a:custGeom>
            <a:avLst/>
            <a:gdLst>
              <a:gd name="T0" fmla="*/ 2147483646 w 21600"/>
              <a:gd name="T1" fmla="*/ 0 h 21600"/>
              <a:gd name="T2" fmla="*/ 0 w 21600"/>
              <a:gd name="T3" fmla="*/ 876093161 h 21600"/>
              <a:gd name="T4" fmla="*/ 2147483646 w 21600"/>
              <a:gd name="T5" fmla="*/ 1752186322 h 21600"/>
              <a:gd name="T6" fmla="*/ 2147483646 w 21600"/>
              <a:gd name="T7" fmla="*/ 876093161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3631 h 21600"/>
              <a:gd name="T14" fmla="*/ 17354 w 21600"/>
              <a:gd name="T15" fmla="*/ 1796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5203" y="0"/>
                </a:moveTo>
                <a:lnTo>
                  <a:pt x="15203" y="3631"/>
                </a:lnTo>
                <a:lnTo>
                  <a:pt x="3375" y="3631"/>
                </a:lnTo>
                <a:lnTo>
                  <a:pt x="3375" y="17969"/>
                </a:lnTo>
                <a:lnTo>
                  <a:pt x="15203" y="17969"/>
                </a:lnTo>
                <a:lnTo>
                  <a:pt x="15203" y="21600"/>
                </a:lnTo>
                <a:lnTo>
                  <a:pt x="21600" y="10800"/>
                </a:lnTo>
                <a:lnTo>
                  <a:pt x="15203" y="0"/>
                </a:lnTo>
                <a:close/>
              </a:path>
              <a:path w="21600" h="21600">
                <a:moveTo>
                  <a:pt x="1350" y="3631"/>
                </a:moveTo>
                <a:lnTo>
                  <a:pt x="1350" y="17969"/>
                </a:lnTo>
                <a:lnTo>
                  <a:pt x="2700" y="17969"/>
                </a:lnTo>
                <a:lnTo>
                  <a:pt x="2700" y="3631"/>
                </a:lnTo>
                <a:lnTo>
                  <a:pt x="1350" y="3631"/>
                </a:lnTo>
                <a:close/>
              </a:path>
              <a:path w="21600" h="21600">
                <a:moveTo>
                  <a:pt x="0" y="3631"/>
                </a:moveTo>
                <a:lnTo>
                  <a:pt x="0" y="17969"/>
                </a:lnTo>
                <a:lnTo>
                  <a:pt x="675" y="17969"/>
                </a:lnTo>
                <a:lnTo>
                  <a:pt x="675" y="3631"/>
                </a:lnTo>
                <a:lnTo>
                  <a:pt x="0" y="3631"/>
                </a:lnTo>
                <a:close/>
              </a:path>
            </a:pathLst>
          </a:custGeom>
          <a:solidFill>
            <a:srgbClr val="FFFF99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10263" name="AutoShape 61">
            <a:extLst>
              <a:ext uri="{FF2B5EF4-FFF2-40B4-BE49-F238E27FC236}">
                <a16:creationId xmlns:a16="http://schemas.microsoft.com/office/drawing/2014/main" id="{86DBBCC3-A2B5-2563-EF04-45DA3BF236E7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7402512" y="3551238"/>
            <a:ext cx="576263" cy="909638"/>
          </a:xfrm>
          <a:custGeom>
            <a:avLst/>
            <a:gdLst>
              <a:gd name="T0" fmla="*/ 175647577 w 21600"/>
              <a:gd name="T1" fmla="*/ 0 h 21600"/>
              <a:gd name="T2" fmla="*/ 0 w 21600"/>
              <a:gd name="T3" fmla="*/ 806618717 h 21600"/>
              <a:gd name="T4" fmla="*/ 175647577 w 21600"/>
              <a:gd name="T5" fmla="*/ 1613237392 h 21600"/>
              <a:gd name="T6" fmla="*/ 410161326 w 21600"/>
              <a:gd name="T7" fmla="*/ 806618717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4033 h 21600"/>
              <a:gd name="T14" fmla="*/ 13862 w 21600"/>
              <a:gd name="T15" fmla="*/ 17567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9250" y="0"/>
                </a:moveTo>
                <a:lnTo>
                  <a:pt x="9250" y="4033"/>
                </a:lnTo>
                <a:lnTo>
                  <a:pt x="3375" y="4033"/>
                </a:lnTo>
                <a:lnTo>
                  <a:pt x="3375" y="17567"/>
                </a:lnTo>
                <a:lnTo>
                  <a:pt x="9250" y="17567"/>
                </a:lnTo>
                <a:lnTo>
                  <a:pt x="9250" y="21600"/>
                </a:lnTo>
                <a:lnTo>
                  <a:pt x="21600" y="10800"/>
                </a:lnTo>
                <a:lnTo>
                  <a:pt x="9250" y="0"/>
                </a:lnTo>
                <a:close/>
              </a:path>
              <a:path w="21600" h="21600">
                <a:moveTo>
                  <a:pt x="1350" y="4033"/>
                </a:moveTo>
                <a:lnTo>
                  <a:pt x="1350" y="17567"/>
                </a:lnTo>
                <a:lnTo>
                  <a:pt x="2700" y="17567"/>
                </a:lnTo>
                <a:lnTo>
                  <a:pt x="2700" y="4033"/>
                </a:lnTo>
                <a:lnTo>
                  <a:pt x="1350" y="4033"/>
                </a:lnTo>
                <a:close/>
              </a:path>
              <a:path w="21600" h="21600">
                <a:moveTo>
                  <a:pt x="0" y="4033"/>
                </a:moveTo>
                <a:lnTo>
                  <a:pt x="0" y="17567"/>
                </a:lnTo>
                <a:lnTo>
                  <a:pt x="675" y="17567"/>
                </a:lnTo>
                <a:lnTo>
                  <a:pt x="675" y="4033"/>
                </a:lnTo>
                <a:lnTo>
                  <a:pt x="0" y="4033"/>
                </a:lnTo>
                <a:close/>
              </a:path>
            </a:pathLst>
          </a:custGeom>
          <a:solidFill>
            <a:srgbClr val="FFFF99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10264" name="Rectangle 62">
            <a:extLst>
              <a:ext uri="{FF2B5EF4-FFF2-40B4-BE49-F238E27FC236}">
                <a16:creationId xmlns:a16="http://schemas.microsoft.com/office/drawing/2014/main" id="{E5DB0D15-9967-F5C5-3033-D1AB6D12E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4365625"/>
            <a:ext cx="2452687" cy="576263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400"/>
              <a:t>객체</a:t>
            </a:r>
            <a:r>
              <a:rPr lang="en-US" altLang="ko-KR" sz="1400"/>
              <a:t>, </a:t>
            </a:r>
            <a:r>
              <a:rPr lang="ko-KR" altLang="en-US" sz="1400"/>
              <a:t>완료 처리 버퍼 반환</a:t>
            </a:r>
          </a:p>
        </p:txBody>
      </p:sp>
      <p:sp>
        <p:nvSpPr>
          <p:cNvPr id="10265" name="Rectangle 6">
            <a:extLst>
              <a:ext uri="{FF2B5EF4-FFF2-40B4-BE49-F238E27FC236}">
                <a16:creationId xmlns:a16="http://schemas.microsoft.com/office/drawing/2014/main" id="{CA9ED343-F609-5481-A2A7-047D59DDA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7675" y="2854325"/>
            <a:ext cx="2087563" cy="935038"/>
          </a:xfrm>
          <a:prstGeom prst="rect">
            <a:avLst/>
          </a:prstGeom>
          <a:solidFill>
            <a:srgbClr val="00FF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400"/>
              <a:t>{</a:t>
            </a:r>
            <a:r>
              <a:rPr lang="ko-KR" altLang="en-US" sz="1400"/>
              <a:t>소켓</a:t>
            </a:r>
            <a:r>
              <a:rPr lang="en-US" altLang="ko-KR" sz="1400"/>
              <a:t>+</a:t>
            </a:r>
            <a:r>
              <a:rPr lang="ko-KR" altLang="en-US" sz="1400"/>
              <a:t>객체</a:t>
            </a:r>
            <a:r>
              <a:rPr lang="en-US" altLang="ko-KR" sz="1400"/>
              <a:t>+IOCP} </a:t>
            </a:r>
            <a:r>
              <a:rPr lang="ko-KR" altLang="en-US" sz="1400"/>
              <a:t>바인딩</a:t>
            </a:r>
            <a:br>
              <a:rPr lang="ko-KR" altLang="en-US" sz="1400"/>
            </a:br>
            <a:r>
              <a:rPr lang="en-US" altLang="ko-KR" sz="2000"/>
              <a:t>Completion Port</a:t>
            </a:r>
          </a:p>
        </p:txBody>
      </p:sp>
      <p:sp>
        <p:nvSpPr>
          <p:cNvPr id="10266" name="AutoShape 63">
            <a:extLst>
              <a:ext uri="{FF2B5EF4-FFF2-40B4-BE49-F238E27FC236}">
                <a16:creationId xmlns:a16="http://schemas.microsoft.com/office/drawing/2014/main" id="{6A6BA019-4D16-7ECC-AB48-2F6F9A70530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7402512" y="4846638"/>
            <a:ext cx="576263" cy="909638"/>
          </a:xfrm>
          <a:custGeom>
            <a:avLst/>
            <a:gdLst>
              <a:gd name="T0" fmla="*/ 175647577 w 21600"/>
              <a:gd name="T1" fmla="*/ 0 h 21600"/>
              <a:gd name="T2" fmla="*/ 0 w 21600"/>
              <a:gd name="T3" fmla="*/ 806618717 h 21600"/>
              <a:gd name="T4" fmla="*/ 175647577 w 21600"/>
              <a:gd name="T5" fmla="*/ 1613237392 h 21600"/>
              <a:gd name="T6" fmla="*/ 410161326 w 21600"/>
              <a:gd name="T7" fmla="*/ 806618717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4033 h 21600"/>
              <a:gd name="T14" fmla="*/ 13862 w 21600"/>
              <a:gd name="T15" fmla="*/ 17567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9250" y="0"/>
                </a:moveTo>
                <a:lnTo>
                  <a:pt x="9250" y="4033"/>
                </a:lnTo>
                <a:lnTo>
                  <a:pt x="3375" y="4033"/>
                </a:lnTo>
                <a:lnTo>
                  <a:pt x="3375" y="17567"/>
                </a:lnTo>
                <a:lnTo>
                  <a:pt x="9250" y="17567"/>
                </a:lnTo>
                <a:lnTo>
                  <a:pt x="9250" y="21600"/>
                </a:lnTo>
                <a:lnTo>
                  <a:pt x="21600" y="10800"/>
                </a:lnTo>
                <a:lnTo>
                  <a:pt x="9250" y="0"/>
                </a:lnTo>
                <a:close/>
              </a:path>
              <a:path w="21600" h="21600">
                <a:moveTo>
                  <a:pt x="1350" y="4033"/>
                </a:moveTo>
                <a:lnTo>
                  <a:pt x="1350" y="17567"/>
                </a:lnTo>
                <a:lnTo>
                  <a:pt x="2700" y="17567"/>
                </a:lnTo>
                <a:lnTo>
                  <a:pt x="2700" y="4033"/>
                </a:lnTo>
                <a:lnTo>
                  <a:pt x="1350" y="4033"/>
                </a:lnTo>
                <a:close/>
              </a:path>
              <a:path w="21600" h="21600">
                <a:moveTo>
                  <a:pt x="0" y="4033"/>
                </a:moveTo>
                <a:lnTo>
                  <a:pt x="0" y="17567"/>
                </a:lnTo>
                <a:lnTo>
                  <a:pt x="675" y="17567"/>
                </a:lnTo>
                <a:lnTo>
                  <a:pt x="675" y="4033"/>
                </a:lnTo>
                <a:lnTo>
                  <a:pt x="0" y="4033"/>
                </a:lnTo>
                <a:close/>
              </a:path>
            </a:pathLst>
          </a:custGeom>
          <a:solidFill>
            <a:srgbClr val="FFFF99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10267" name="Rectangle 64">
            <a:extLst>
              <a:ext uri="{FF2B5EF4-FFF2-40B4-BE49-F238E27FC236}">
                <a16:creationId xmlns:a16="http://schemas.microsoft.com/office/drawing/2014/main" id="{ACD2B159-7C3E-B59A-3D64-7EA7F481BA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5662613"/>
            <a:ext cx="2452687" cy="576262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400"/>
              <a:t>Other Process</a:t>
            </a:r>
          </a:p>
        </p:txBody>
      </p:sp>
      <p:cxnSp>
        <p:nvCxnSpPr>
          <p:cNvPr id="10268" name="AutoShape 37">
            <a:extLst>
              <a:ext uri="{FF2B5EF4-FFF2-40B4-BE49-F238E27FC236}">
                <a16:creationId xmlns:a16="http://schemas.microsoft.com/office/drawing/2014/main" id="{7276E847-D845-49F0-64F6-6297FFB08E6F}"/>
              </a:ext>
            </a:extLst>
          </p:cNvPr>
          <p:cNvCxnSpPr>
            <a:cxnSpLocks noChangeShapeType="1"/>
            <a:stCxn id="10260" idx="2"/>
          </p:cNvCxnSpPr>
          <p:nvPr/>
        </p:nvCxnSpPr>
        <p:spPr bwMode="auto">
          <a:xfrm rot="16200000" flipH="1">
            <a:off x="2916238" y="2638425"/>
            <a:ext cx="1255712" cy="5367338"/>
          </a:xfrm>
          <a:prstGeom prst="bentConnector2">
            <a:avLst/>
          </a:prstGeom>
          <a:noFill/>
          <a:ln w="139700">
            <a:solidFill>
              <a:srgbClr val="FF00FF"/>
            </a:solidFill>
            <a:prstDash val="sysDot"/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269" name="Rectangle 55">
            <a:extLst>
              <a:ext uri="{FF2B5EF4-FFF2-40B4-BE49-F238E27FC236}">
                <a16:creationId xmlns:a16="http://schemas.microsoft.com/office/drawing/2014/main" id="{031E6AB1-B375-9D80-02AB-F90AD7B426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8175" y="5373688"/>
            <a:ext cx="2663825" cy="1039812"/>
          </a:xfrm>
          <a:prstGeom prst="rect">
            <a:avLst/>
          </a:prstGeom>
          <a:solidFill>
            <a:srgbClr val="00FF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2000"/>
              <a:t>WSASend / WSARecv</a:t>
            </a:r>
            <a:br>
              <a:rPr lang="en-US" altLang="ko-KR" sz="2000"/>
            </a:br>
            <a:r>
              <a:rPr lang="en-US" altLang="ko-KR" sz="2000"/>
              <a:t>I/O </a:t>
            </a:r>
            <a:r>
              <a:rPr lang="ko-KR" altLang="en-US" sz="2000"/>
              <a:t>완료요청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바닥글 개체 틀 1">
            <a:extLst>
              <a:ext uri="{FF2B5EF4-FFF2-40B4-BE49-F238E27FC236}">
                <a16:creationId xmlns:a16="http://schemas.microsoft.com/office/drawing/2014/main" id="{23D4CA5A-7BEF-9761-D226-31A36F5E09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1267" name="Rectangle 7">
            <a:extLst>
              <a:ext uri="{FF2B5EF4-FFF2-40B4-BE49-F238E27FC236}">
                <a16:creationId xmlns:a16="http://schemas.microsoft.com/office/drawing/2014/main" id="{978F502F-F844-906D-506E-66588034A7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2400">
                <a:solidFill>
                  <a:schemeClr val="bg1"/>
                </a:solidFill>
              </a:rPr>
              <a:t>2. IOCP - </a:t>
            </a:r>
            <a:r>
              <a:rPr lang="ko-KR" altLang="en-US" sz="2400">
                <a:solidFill>
                  <a:schemeClr val="bg1"/>
                </a:solidFill>
              </a:rPr>
              <a:t>구현</a:t>
            </a:r>
          </a:p>
        </p:txBody>
      </p:sp>
      <p:sp>
        <p:nvSpPr>
          <p:cNvPr id="11268" name="Rectangle 11">
            <a:extLst>
              <a:ext uri="{FF2B5EF4-FFF2-40B4-BE49-F238E27FC236}">
                <a16:creationId xmlns:a16="http://schemas.microsoft.com/office/drawing/2014/main" id="{A02C998F-EB20-445C-3883-0A6CE85ADC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825" y="665163"/>
            <a:ext cx="3959225" cy="1395412"/>
          </a:xfrm>
          <a:prstGeom prst="rect">
            <a:avLst/>
          </a:prstGeom>
          <a:solidFill>
            <a:srgbClr val="C0C0C0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</a:rPr>
              <a:t>struct OVERLAPPED_EX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</a:rPr>
              <a:t>    OVERLAPPED </a:t>
            </a:r>
            <a:r>
              <a:rPr lang="en-US" altLang="ko-KR" sz="1200">
                <a:solidFill>
                  <a:srgbClr val="9900FF"/>
                </a:solidFill>
                <a:latin typeface="Arial Black" panose="020B0A04020102020204" pitchFamily="34" charset="0"/>
              </a:rPr>
              <a:t>OL</a:t>
            </a:r>
            <a:r>
              <a:rPr lang="en-US" altLang="ko-KR" sz="1200">
                <a:latin typeface="Arial Black" panose="020B0A04020102020204" pitchFamily="34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</a:rPr>
              <a:t>    DWORD  dTran; // Transfered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</a:rPr>
              <a:t>    DWORD dFlag; // Flag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</a:rPr>
              <a:t>    WSABUF </a:t>
            </a:r>
            <a:r>
              <a:rPr lang="en-US" altLang="ko-KR" sz="1200">
                <a:solidFill>
                  <a:srgbClr val="FF0000"/>
                </a:solidFill>
                <a:latin typeface="Arial Black" panose="020B0A04020102020204" pitchFamily="34" charset="0"/>
              </a:rPr>
              <a:t>WsBuf</a:t>
            </a:r>
            <a:r>
              <a:rPr lang="en-US" altLang="ko-KR" sz="1200">
                <a:latin typeface="Arial Black" panose="020B0A04020102020204" pitchFamily="34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</a:rPr>
              <a:t>    …};</a:t>
            </a:r>
          </a:p>
        </p:txBody>
      </p:sp>
      <p:sp>
        <p:nvSpPr>
          <p:cNvPr id="11269" name="Rectangle 12">
            <a:extLst>
              <a:ext uri="{FF2B5EF4-FFF2-40B4-BE49-F238E27FC236}">
                <a16:creationId xmlns:a16="http://schemas.microsoft.com/office/drawing/2014/main" id="{FD360989-2482-69C9-F5E9-A5078380A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825" y="2136775"/>
            <a:ext cx="3959225" cy="4316413"/>
          </a:xfrm>
          <a:prstGeom prst="rect">
            <a:avLst/>
          </a:prstGeom>
          <a:solidFill>
            <a:srgbClr val="C0C0C0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struct RemoteHost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   SOCKET  </a:t>
            </a:r>
            <a:r>
              <a:rPr lang="en-US" altLang="ko-KR" sz="1200">
                <a:solidFill>
                  <a:srgbClr val="00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scH</a:t>
            </a: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;      // </a:t>
            </a: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소켓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    </a:t>
            </a: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OVERLAPPED_EX   olSnd;  // For WSASend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   OVERLAPPED_EX   olRcv;  // For WSARecv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   …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   INT AsyncSend(char* sBuf/*in*/, int* iSize){ …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       hr = WSASend( </a:t>
            </a:r>
            <a:r>
              <a:rPr lang="en-US" altLang="ko-KR" sz="1200">
                <a:solidFill>
                  <a:srgbClr val="00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scH</a:t>
            </a: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// </a:t>
            </a: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송신 소켓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        </a:t>
            </a: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, &amp;(olSnd.WsBuf)    // </a:t>
            </a: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송신 버퍼 포인터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        </a:t>
            </a: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, 1 // </a:t>
            </a: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송신 버퍼의 수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        </a:t>
            </a: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, &amp;olSnd.dTran, olSnd.dFlag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       , (OVERLAPPED*)&amp;(olSnd) , nullptr);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       ...}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200">
              <a:latin typeface="Arial Black" panose="020B0A04020102020204" pitchFamily="34" charset="0"/>
              <a:ea typeface="굴림" panose="020B0600000101010101" pitchFamily="50" charset="-127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   INT AsyncRecv() {...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       hr = WSARecv( </a:t>
            </a:r>
            <a:r>
              <a:rPr lang="en-US" altLang="ko-KR" sz="1200">
                <a:solidFill>
                  <a:srgbClr val="00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scH</a:t>
            </a: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// </a:t>
            </a: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수신 소켓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        </a:t>
            </a: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, &amp;(olRcv.WsBuf)    // </a:t>
            </a: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수신 버퍼 포인터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        </a:t>
            </a: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, 1 // </a:t>
            </a: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수신 버퍼의 수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>
                <a:latin typeface="Arial Black" panose="020B0A04020102020204" pitchFamily="34" charset="0"/>
                <a:ea typeface="굴림" panose="020B0600000101010101" pitchFamily="50" charset="-127"/>
              </a:rPr>
              <a:t>        </a:t>
            </a: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, &amp;olRcv.dTran, &amp;olRcv.dFlag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       , (OVERLAPPED*)&amp;(olRcv) , nullptr);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        ...}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>
                <a:latin typeface="Arial Black" panose="020B0A04020102020204" pitchFamily="34" charset="0"/>
                <a:ea typeface="굴림" panose="020B0600000101010101" pitchFamily="50" charset="-127"/>
              </a:rPr>
              <a:t>};</a:t>
            </a:r>
          </a:p>
        </p:txBody>
      </p:sp>
      <p:sp>
        <p:nvSpPr>
          <p:cNvPr id="11270" name="Rectangle 14">
            <a:extLst>
              <a:ext uri="{FF2B5EF4-FFF2-40B4-BE49-F238E27FC236}">
                <a16:creationId xmlns:a16="http://schemas.microsoft.com/office/drawing/2014/main" id="{29FF3C6E-3B17-D3A4-9887-CD6588591E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836613"/>
            <a:ext cx="4752975" cy="1979612"/>
          </a:xfrm>
          <a:prstGeom prst="rect">
            <a:avLst/>
          </a:prstGeom>
          <a:solidFill>
            <a:srgbClr val="00FFFF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RemoteHost* </a:t>
            </a:r>
            <a:r>
              <a:rPr lang="en-US" altLang="ko-KR" sz="1600" b="0">
                <a:solidFill>
                  <a:srgbClr val="FF0000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pRmH</a:t>
            </a: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 = new RemoteHost;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600" b="0">
              <a:latin typeface="Arial Black" panose="020B0A04020102020204" pitchFamily="34" charset="0"/>
              <a:ea typeface="굴림" panose="020B0600000101010101" pitchFamily="50" charset="-127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CreateIoCompletionPort((HANDLE)</a:t>
            </a:r>
            <a:r>
              <a:rPr lang="en-US" altLang="ko-KR" sz="1600" b="0">
                <a:solidFill>
                  <a:srgbClr val="00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scH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, hIocp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, (DWORD)</a:t>
            </a:r>
            <a:r>
              <a:rPr lang="en-US" altLang="ko-KR" sz="1600" b="0">
                <a:solidFill>
                  <a:srgbClr val="FF0000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pRmH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, 0);</a:t>
            </a:r>
          </a:p>
        </p:txBody>
      </p:sp>
      <p:sp>
        <p:nvSpPr>
          <p:cNvPr id="11271" name="Rectangle 15">
            <a:extLst>
              <a:ext uri="{FF2B5EF4-FFF2-40B4-BE49-F238E27FC236}">
                <a16:creationId xmlns:a16="http://schemas.microsoft.com/office/drawing/2014/main" id="{3E300763-FD07-B17C-7179-5CCA4EE1E4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2997200"/>
            <a:ext cx="4752975" cy="720725"/>
          </a:xfrm>
          <a:prstGeom prst="rect">
            <a:avLst/>
          </a:prstGeom>
          <a:solidFill>
            <a:srgbClr val="00FFFF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pRmH-&gt;AsyncRecv();</a:t>
            </a:r>
          </a:p>
        </p:txBody>
      </p:sp>
      <p:sp>
        <p:nvSpPr>
          <p:cNvPr id="11272" name="Rectangle 16">
            <a:extLst>
              <a:ext uri="{FF2B5EF4-FFF2-40B4-BE49-F238E27FC236}">
                <a16:creationId xmlns:a16="http://schemas.microsoft.com/office/drawing/2014/main" id="{7ADAF037-C625-31B5-911D-0460B1B3F6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3860800"/>
            <a:ext cx="4752975" cy="2592388"/>
          </a:xfrm>
          <a:prstGeom prst="rect">
            <a:avLst/>
          </a:prstGeom>
          <a:solidFill>
            <a:srgbClr val="00FFFF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RemoteHost* pRmH	= nullptr;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OVERLAPPED_EX* pOL 	= nullptr;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DWORD dTran	= 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…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hr = GetQueuedCompletionStatus(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          hIocp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          , &amp;dTran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          , (LPDWORD)&amp;</a:t>
            </a:r>
            <a:r>
              <a:rPr lang="en-US" altLang="ko-KR" sz="1600" b="0">
                <a:solidFill>
                  <a:srgbClr val="FF0000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pRmH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          , (LPOVERLAPPED*)&amp;</a:t>
            </a:r>
            <a:r>
              <a:rPr lang="en-US" altLang="ko-KR" sz="1600" b="0">
                <a:solidFill>
                  <a:srgbClr val="99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pOL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>
                <a:latin typeface="Arial Black" panose="020B0A04020102020204" pitchFamily="34" charset="0"/>
                <a:ea typeface="굴림" panose="020B0600000101010101" pitchFamily="50" charset="-127"/>
              </a:rPr>
              <a:t>          , INFINITE);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바닥글 개체 틀 3">
            <a:extLst>
              <a:ext uri="{FF2B5EF4-FFF2-40B4-BE49-F238E27FC236}">
                <a16:creationId xmlns:a16="http://schemas.microsoft.com/office/drawing/2014/main" id="{8CA44A93-FA0F-C7BA-A739-0A101AF341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7EE8DBD2-F88E-1857-9948-C334F6BA8C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IOCP - </a:t>
            </a:r>
            <a:r>
              <a:rPr lang="en-US" altLang="en-US" sz="2400"/>
              <a:t>소켓 입출력 절차</a:t>
            </a:r>
            <a:endParaRPr lang="ko-KR" altLang="en-US" sz="2400"/>
          </a:p>
        </p:txBody>
      </p:sp>
      <p:sp>
        <p:nvSpPr>
          <p:cNvPr id="12292" name="Rectangle 3">
            <a:extLst>
              <a:ext uri="{FF2B5EF4-FFF2-40B4-BE49-F238E27FC236}">
                <a16:creationId xmlns:a16="http://schemas.microsoft.com/office/drawing/2014/main" id="{0977B64D-8F62-E32F-3712-9E0A645AFDB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US" sz="2000"/>
              <a:t>I/O 완료 포트 생성: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800"/>
              <a:t>CreateIoCompletionPort()</a:t>
            </a:r>
          </a:p>
          <a:p>
            <a:pPr eaLnBrk="1" hangingPunct="1">
              <a:lnSpc>
                <a:spcPct val="80000"/>
              </a:lnSpc>
            </a:pPr>
            <a:endParaRPr lang="en-US" altLang="en-US" sz="2000"/>
          </a:p>
          <a:p>
            <a:pPr eaLnBrk="1" hangingPunct="1">
              <a:lnSpc>
                <a:spcPct val="80000"/>
              </a:lnSpc>
            </a:pPr>
            <a:r>
              <a:rPr lang="en-US" altLang="en-US" sz="2000"/>
              <a:t>Work Thread를 CPU에 맞게 적절히 생성: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800"/>
              <a:t>GetQueuedCompletionStatus() 함수를 호출, 대기 상태로 만듬</a:t>
            </a:r>
          </a:p>
          <a:p>
            <a:pPr eaLnBrk="1" hangingPunct="1">
              <a:lnSpc>
                <a:spcPct val="80000"/>
              </a:lnSpc>
            </a:pPr>
            <a:endParaRPr lang="en-US" altLang="en-US" sz="2000"/>
          </a:p>
          <a:p>
            <a:pPr eaLnBrk="1" hangingPunct="1">
              <a:lnSpc>
                <a:spcPct val="80000"/>
              </a:lnSpc>
            </a:pPr>
            <a:r>
              <a:rPr lang="ko-KR" altLang="en-US" sz="2000"/>
              <a:t>중첩된 </a:t>
            </a:r>
            <a:r>
              <a:rPr lang="en-US" altLang="en-US" sz="2000"/>
              <a:t>비동기 입출력 소켓 생성: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800"/>
              <a:t>WSASocket(</a:t>
            </a:r>
            <a:r>
              <a:rPr lang="en-US" altLang="en-US" sz="1800">
                <a:latin typeface="Times New Roman" panose="02020603050405020304" pitchFamily="18" charset="0"/>
              </a:rPr>
              <a:t>…</a:t>
            </a:r>
            <a:r>
              <a:rPr lang="en-US" altLang="en-US" sz="1800"/>
              <a:t>, WSA_FLAG_OVERLAPPED)</a:t>
            </a:r>
          </a:p>
          <a:p>
            <a:pPr eaLnBrk="1" hangingPunct="1">
              <a:lnSpc>
                <a:spcPct val="80000"/>
              </a:lnSpc>
            </a:pPr>
            <a:endParaRPr lang="en-US" altLang="en-US" sz="2000"/>
          </a:p>
          <a:p>
            <a:pPr eaLnBrk="1" hangingPunct="1">
              <a:lnSpc>
                <a:spcPct val="80000"/>
              </a:lnSpc>
            </a:pPr>
            <a:r>
              <a:rPr lang="en-US" altLang="en-US" sz="2000"/>
              <a:t>{소켓 + IOCP + 객체} 바인딩</a:t>
            </a:r>
            <a:r>
              <a:rPr lang="en-US" altLang="ko-KR" sz="2000"/>
              <a:t>,</a:t>
            </a:r>
            <a:r>
              <a:rPr lang="en-US" altLang="en-US" sz="2000"/>
              <a:t> 비동기 입출력 </a:t>
            </a:r>
            <a:r>
              <a:rPr lang="ko-KR" altLang="en-US" sz="2000"/>
              <a:t>결과는</a:t>
            </a:r>
            <a:r>
              <a:rPr lang="en-US" altLang="en-US" sz="2000"/>
              <a:t> 입출력 완료 포트에 저장</a:t>
            </a:r>
            <a:r>
              <a:rPr lang="ko-KR" altLang="en-US" sz="2000"/>
              <a:t>됨</a:t>
            </a:r>
            <a:endParaRPr lang="en-US" altLang="en-US" sz="2000"/>
          </a:p>
          <a:p>
            <a:pPr lvl="1" eaLnBrk="1" hangingPunct="1">
              <a:lnSpc>
                <a:spcPct val="80000"/>
              </a:lnSpc>
            </a:pPr>
            <a:r>
              <a:rPr lang="en-US" altLang="en-US" sz="1800"/>
              <a:t>CreateIoCompletionPort()</a:t>
            </a:r>
          </a:p>
          <a:p>
            <a:pPr eaLnBrk="1" hangingPunct="1">
              <a:lnSpc>
                <a:spcPct val="80000"/>
              </a:lnSpc>
            </a:pPr>
            <a:endParaRPr lang="en-US" altLang="en-US" sz="2000"/>
          </a:p>
          <a:p>
            <a:pPr eaLnBrk="1" hangingPunct="1">
              <a:lnSpc>
                <a:spcPct val="80000"/>
              </a:lnSpc>
            </a:pPr>
            <a:r>
              <a:rPr lang="en-US" altLang="en-US" sz="2000"/>
              <a:t>{소켓 + 완료 처리 버퍼} 비동기 요청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800"/>
              <a:t>WSASend(), WSARecv()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800"/>
              <a:t>비동기 입출력 작업이 곧바로 완료되지 않으면, 소켓 함수는 오류를 리턴, 오류 코드는 WSA_IO_PENDING으로 설정됨</a:t>
            </a:r>
          </a:p>
          <a:p>
            <a:pPr eaLnBrk="1" hangingPunct="1">
              <a:lnSpc>
                <a:spcPct val="80000"/>
              </a:lnSpc>
            </a:pPr>
            <a:endParaRPr lang="en-US" altLang="en-US" sz="2000"/>
          </a:p>
          <a:p>
            <a:pPr eaLnBrk="1" hangingPunct="1">
              <a:lnSpc>
                <a:spcPct val="80000"/>
              </a:lnSpc>
            </a:pPr>
            <a:r>
              <a:rPr lang="en-US" altLang="en-US" sz="2000"/>
              <a:t>{객체 + 완료 처리 버퍼}</a:t>
            </a:r>
            <a:r>
              <a:rPr lang="en-US" altLang="ko-KR" sz="2000"/>
              <a:t> </a:t>
            </a:r>
            <a:r>
              <a:rPr lang="ko-KR" altLang="en-US" sz="2000"/>
              <a:t>결과를 </a:t>
            </a:r>
            <a:r>
              <a:rPr lang="en-US" altLang="en-US" sz="2000"/>
              <a:t>비동기 완료 반환: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800"/>
              <a:t>GetQueuedCompletionStatus() 함수에서 객체, 완료 처리 버퍼 등을 반환</a:t>
            </a:r>
            <a:endParaRPr lang="ko-KR" altLang="en-US"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바닥글 개체 틀 3">
            <a:extLst>
              <a:ext uri="{FF2B5EF4-FFF2-40B4-BE49-F238E27FC236}">
                <a16:creationId xmlns:a16="http://schemas.microsoft.com/office/drawing/2014/main" id="{FE680DE3-7B90-B0E0-54C8-09136A926FF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BA414224-586F-5D11-CC0C-41FD44FCA1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IOCP - </a:t>
            </a:r>
            <a:r>
              <a:rPr lang="ko-KR" altLang="en-US" sz="2400"/>
              <a:t>주요함수</a:t>
            </a:r>
          </a:p>
        </p:txBody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114CE48A-78D7-FA03-CF6E-F0B7771362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ko-KR" altLang="en-US" sz="1800"/>
              <a:t>적절한 </a:t>
            </a:r>
            <a:r>
              <a:rPr lang="en-US" altLang="ko-KR" sz="1800"/>
              <a:t>Work Thread </a:t>
            </a:r>
            <a:r>
              <a:rPr lang="ko-KR" altLang="en-US" sz="1800"/>
              <a:t>수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/>
              <a:t>경험적 </a:t>
            </a:r>
            <a:r>
              <a:rPr lang="en-US" altLang="ko-KR" sz="1600"/>
              <a:t>==&gt; CPU * 1~2</a:t>
            </a:r>
          </a:p>
          <a:p>
            <a:pPr eaLnBrk="1" hangingPunct="1">
              <a:lnSpc>
                <a:spcPct val="80000"/>
              </a:lnSpc>
            </a:pPr>
            <a:endParaRPr lang="en-US" altLang="ko-KR" sz="1800"/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Ex)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SYSTEM_INFO SystemInfo;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GetSystemInfo(&amp;SystemInfo);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nWrkPrc =SystemInfo.dwNumberOfProcessors * 2;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1600"/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for(int i=0; i&lt;nWrkPrc; i++)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	HANDLE hThWrk = (HANDLE)_beginthreadex(nullptr, 0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	, (unsigned (__stdcall*)(void*))ThreadWork, (void*)hIocp, 0, nullptr);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1600"/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1600"/>
          </a:p>
          <a:p>
            <a:pPr eaLnBrk="1" hangingPunct="1">
              <a:lnSpc>
                <a:spcPct val="80000"/>
              </a:lnSpc>
            </a:pPr>
            <a:r>
              <a:rPr lang="ko-KR" altLang="en-US" sz="1800"/>
              <a:t>중첩된 비동기 입출력 소켓 생성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600">
                <a:solidFill>
                  <a:srgbClr val="0000FF"/>
                </a:solidFill>
              </a:rPr>
              <a:t>WSASocket</a:t>
            </a:r>
            <a:r>
              <a:rPr lang="en-US" altLang="ko-KR" sz="1600"/>
              <a:t>(PF_INET, SOCK_STREAM, 0, nullptr, 0, WSA_FLAG_OVERLAPPED);</a:t>
            </a:r>
          </a:p>
          <a:p>
            <a:pPr lvl="1" eaLnBrk="1" hangingPunct="1">
              <a:lnSpc>
                <a:spcPct val="80000"/>
              </a:lnSpc>
            </a:pPr>
            <a:endParaRPr lang="en-US" altLang="ko-KR" sz="1600"/>
          </a:p>
          <a:p>
            <a:pPr lvl="1" eaLnBrk="1" hangingPunct="1">
              <a:lnSpc>
                <a:spcPct val="80000"/>
              </a:lnSpc>
            </a:pPr>
            <a:endParaRPr lang="en-US" altLang="ko-KR" sz="1600"/>
          </a:p>
          <a:p>
            <a:pPr eaLnBrk="1" hangingPunct="1">
              <a:lnSpc>
                <a:spcPct val="80000"/>
              </a:lnSpc>
            </a:pPr>
            <a:r>
              <a:rPr lang="en-US" altLang="ko-KR" sz="1800"/>
              <a:t>IOCP </a:t>
            </a:r>
            <a:r>
              <a:rPr lang="ko-KR" altLang="en-US" sz="1800"/>
              <a:t>객체 생성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600"/>
              <a:t>hIocp = </a:t>
            </a:r>
            <a:r>
              <a:rPr lang="en-US" altLang="ko-KR" sz="1600">
                <a:solidFill>
                  <a:srgbClr val="0000FF"/>
                </a:solidFill>
              </a:rPr>
              <a:t>CreateIoCompletionPort</a:t>
            </a:r>
            <a:r>
              <a:rPr lang="en-US" altLang="ko-KR" sz="1600"/>
              <a:t>(INVALID_HANDLE_VALUE, nullptr, 0, 0);</a:t>
            </a:r>
          </a:p>
          <a:p>
            <a:pPr lvl="1" eaLnBrk="1" hangingPunct="1">
              <a:lnSpc>
                <a:spcPct val="80000"/>
              </a:lnSpc>
            </a:pPr>
            <a:endParaRPr lang="en-US" altLang="ko-KR" sz="1600"/>
          </a:p>
          <a:p>
            <a:pPr lvl="1" eaLnBrk="1" hangingPunct="1">
              <a:lnSpc>
                <a:spcPct val="80000"/>
              </a:lnSpc>
            </a:pPr>
            <a:endParaRPr lang="en-US" altLang="ko-KR" sz="1600"/>
          </a:p>
          <a:p>
            <a:pPr lvl="1" eaLnBrk="1" hangingPunct="1">
              <a:lnSpc>
                <a:spcPct val="80000"/>
              </a:lnSpc>
            </a:pPr>
            <a:endParaRPr lang="en-US" altLang="ko-KR" sz="1600"/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바닥글 개체 틀 3">
            <a:extLst>
              <a:ext uri="{FF2B5EF4-FFF2-40B4-BE49-F238E27FC236}">
                <a16:creationId xmlns:a16="http://schemas.microsoft.com/office/drawing/2014/main" id="{F4669C41-35DC-5846-9084-9E94DB2E59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4339" name="Rectangle 2">
            <a:extLst>
              <a:ext uri="{FF2B5EF4-FFF2-40B4-BE49-F238E27FC236}">
                <a16:creationId xmlns:a16="http://schemas.microsoft.com/office/drawing/2014/main" id="{89941F88-F27B-68AC-9D74-6275AC2DB2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IOCP - </a:t>
            </a:r>
            <a:r>
              <a:rPr lang="ko-KR" altLang="en-US" sz="2400"/>
              <a:t>주요함수</a:t>
            </a: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080C7A4E-18C5-481E-B377-0986527B48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ko-KR" altLang="en-US" sz="1400"/>
              <a:t>입출력 완료 포트 생성</a:t>
            </a:r>
            <a:r>
              <a:rPr lang="en-US" altLang="ko-KR" sz="1400"/>
              <a:t>: </a:t>
            </a:r>
            <a:r>
              <a:rPr lang="en-US" altLang="ko-KR" sz="1400">
                <a:solidFill>
                  <a:srgbClr val="FF0000"/>
                </a:solidFill>
              </a:rPr>
              <a:t>{</a:t>
            </a:r>
            <a:r>
              <a:rPr lang="ko-KR" altLang="en-US" sz="1400">
                <a:solidFill>
                  <a:srgbClr val="FF0000"/>
                </a:solidFill>
              </a:rPr>
              <a:t>소켓 </a:t>
            </a:r>
            <a:r>
              <a:rPr lang="en-US" altLang="ko-KR" sz="1400">
                <a:solidFill>
                  <a:srgbClr val="FF0000"/>
                </a:solidFill>
              </a:rPr>
              <a:t>+ IOCP + </a:t>
            </a:r>
            <a:r>
              <a:rPr lang="ko-KR" altLang="en-US" sz="1400">
                <a:solidFill>
                  <a:srgbClr val="FF0000"/>
                </a:solidFill>
              </a:rPr>
              <a:t>객체</a:t>
            </a:r>
            <a:r>
              <a:rPr lang="en-US" altLang="ko-KR" sz="1400">
                <a:solidFill>
                  <a:srgbClr val="FF0000"/>
                </a:solidFill>
              </a:rPr>
              <a:t>}</a:t>
            </a:r>
            <a:r>
              <a:rPr lang="en-US" altLang="ko-KR" sz="1400"/>
              <a:t> </a:t>
            </a:r>
            <a:r>
              <a:rPr lang="ko-KR" altLang="en-US" sz="1400"/>
              <a:t>바인딩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200"/>
              <a:t>HANDLE </a:t>
            </a:r>
            <a:r>
              <a:rPr lang="en-US" altLang="ko-KR" sz="1200">
                <a:solidFill>
                  <a:srgbClr val="0000FF"/>
                </a:solidFill>
              </a:rPr>
              <a:t>CreateIoCompletionPort</a:t>
            </a:r>
            <a:r>
              <a:rPr lang="en-US" altLang="ko-KR" sz="1200"/>
              <a:t> (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/>
              <a:t>			HANDLE FileHandle,		// IOCP</a:t>
            </a:r>
            <a:r>
              <a:rPr lang="ko-KR" altLang="en-US" sz="1200"/>
              <a:t>와 바인딩할 소켓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/>
              <a:t>			</a:t>
            </a:r>
            <a:r>
              <a:rPr lang="en-US" altLang="ko-KR" sz="1200"/>
              <a:t>HANDLE ExistingCompletionPort,	// IOCP </a:t>
            </a:r>
            <a:r>
              <a:rPr lang="ko-KR" altLang="en-US" sz="1200"/>
              <a:t>핸들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/>
              <a:t>			</a:t>
            </a:r>
            <a:r>
              <a:rPr lang="en-US" altLang="ko-KR" sz="1200"/>
              <a:t>ULONG_PTR CompletionKey,	// I/O</a:t>
            </a:r>
            <a:r>
              <a:rPr lang="ko-KR" altLang="en-US" sz="1200"/>
              <a:t>를 요청한 객체 또는 완료를 구분해주는 객체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/>
              <a:t>			</a:t>
            </a:r>
            <a:r>
              <a:rPr lang="en-US" altLang="ko-KR" sz="1200"/>
              <a:t>DWORD NumberOfConcurrentThreads	// </a:t>
            </a:r>
            <a:r>
              <a:rPr lang="ko-KR" altLang="en-US" sz="1200"/>
              <a:t>동시에 실행될 수 있는 작업 스레드 수 </a:t>
            </a:r>
            <a:r>
              <a:rPr lang="en-US" altLang="ko-KR" sz="1200"/>
              <a:t>= </a:t>
            </a:r>
            <a:r>
              <a:rPr lang="ko-KR" altLang="en-US" sz="1200"/>
              <a:t>보통 </a:t>
            </a:r>
            <a:r>
              <a:rPr lang="en-US" altLang="ko-KR" sz="1200"/>
              <a:t>0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/>
              <a:t>			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200"/>
              <a:t>성공</a:t>
            </a:r>
            <a:r>
              <a:rPr lang="en-US" altLang="ko-KR" sz="1200"/>
              <a:t>: </a:t>
            </a:r>
            <a:r>
              <a:rPr lang="ko-KR" altLang="en-US" sz="1200"/>
              <a:t>입출력 완료 포트 핸들</a:t>
            </a:r>
            <a:r>
              <a:rPr lang="en-US" altLang="ko-KR" sz="1200"/>
              <a:t>, </a:t>
            </a:r>
            <a:r>
              <a:rPr lang="ko-KR" altLang="en-US" sz="1200"/>
              <a:t>실패</a:t>
            </a:r>
            <a:r>
              <a:rPr lang="en-US" altLang="ko-KR" sz="1200"/>
              <a:t>: nullptr</a:t>
            </a:r>
          </a:p>
          <a:p>
            <a:pPr eaLnBrk="1" hangingPunct="1">
              <a:lnSpc>
                <a:spcPct val="80000"/>
              </a:lnSpc>
            </a:pPr>
            <a:endParaRPr lang="en-US" altLang="ko-KR" sz="1400"/>
          </a:p>
          <a:p>
            <a:pPr eaLnBrk="1" hangingPunct="1">
              <a:lnSpc>
                <a:spcPct val="80000"/>
              </a:lnSpc>
            </a:pPr>
            <a:r>
              <a:rPr lang="ko-KR" altLang="en-US" sz="1400"/>
              <a:t>전송에 대한 비동기 요청</a:t>
            </a:r>
            <a:r>
              <a:rPr lang="en-US" altLang="ko-KR" sz="1400"/>
              <a:t>: </a:t>
            </a:r>
            <a:r>
              <a:rPr lang="en-US" altLang="ko-KR" sz="1400">
                <a:solidFill>
                  <a:srgbClr val="FF0000"/>
                </a:solidFill>
              </a:rPr>
              <a:t>{</a:t>
            </a:r>
            <a:r>
              <a:rPr lang="ko-KR" altLang="en-US" sz="1400">
                <a:solidFill>
                  <a:srgbClr val="FF0000"/>
                </a:solidFill>
              </a:rPr>
              <a:t>소켓 </a:t>
            </a:r>
            <a:r>
              <a:rPr lang="en-US" altLang="ko-KR" sz="1400">
                <a:solidFill>
                  <a:srgbClr val="FF0000"/>
                </a:solidFill>
              </a:rPr>
              <a:t>+ </a:t>
            </a:r>
            <a:r>
              <a:rPr lang="ko-KR" altLang="en-US" sz="1400">
                <a:solidFill>
                  <a:srgbClr val="FF0000"/>
                </a:solidFill>
              </a:rPr>
              <a:t>송신 처리 버퍼</a:t>
            </a:r>
            <a:r>
              <a:rPr lang="en-US" altLang="ko-KR" sz="1400">
                <a:solidFill>
                  <a:srgbClr val="FF0000"/>
                </a:solidFill>
              </a:rPr>
              <a:t>}</a:t>
            </a:r>
            <a:r>
              <a:rPr lang="en-US" altLang="ko-KR" sz="1400"/>
              <a:t> </a:t>
            </a:r>
            <a:r>
              <a:rPr lang="ko-KR" altLang="en-US" sz="1400"/>
              <a:t>비동기 요청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200"/>
              <a:t>int </a:t>
            </a:r>
            <a:r>
              <a:rPr lang="en-US" altLang="ko-KR" sz="1200">
                <a:solidFill>
                  <a:srgbClr val="0000FF"/>
                </a:solidFill>
              </a:rPr>
              <a:t>WSASend</a:t>
            </a:r>
            <a:r>
              <a:rPr lang="en-US" altLang="ko-KR" sz="1200"/>
              <a:t> (	SOCKET s,			// </a:t>
            </a:r>
            <a:r>
              <a:rPr lang="ko-KR" altLang="en-US" sz="1200"/>
              <a:t>송신 버퍼 소켓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/>
              <a:t>			</a:t>
            </a:r>
            <a:r>
              <a:rPr lang="en-US" altLang="ko-KR" sz="1200"/>
              <a:t>LPWSABUF lpBuffers,		// </a:t>
            </a:r>
            <a:r>
              <a:rPr lang="ko-KR" altLang="en-US" sz="1200"/>
              <a:t>송신 버퍼 포인터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/>
              <a:t>			</a:t>
            </a:r>
            <a:r>
              <a:rPr lang="en-US" altLang="ko-KR" sz="1200"/>
              <a:t>DWORD dwBufferCount,		// </a:t>
            </a:r>
            <a:r>
              <a:rPr lang="ko-KR" altLang="en-US" sz="1200"/>
              <a:t>송신 버퍼 수</a:t>
            </a:r>
            <a:r>
              <a:rPr lang="en-US" altLang="ko-KR" sz="1200"/>
              <a:t>. </a:t>
            </a:r>
            <a:r>
              <a:rPr lang="ko-KR" altLang="en-US" sz="1200"/>
              <a:t>보통 </a:t>
            </a:r>
            <a:r>
              <a:rPr lang="en-US" altLang="ko-KR" sz="1200"/>
              <a:t>1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/>
              <a:t>			LPDWORD lpNumberOfBytesSent,	// </a:t>
            </a:r>
            <a:r>
              <a:rPr lang="ko-KR" altLang="en-US" sz="1200"/>
              <a:t>송신 버퍼 크기 </a:t>
            </a:r>
            <a:r>
              <a:rPr lang="ko-KR" altLang="en-US" sz="1200">
                <a:sym typeface="Wingdings" panose="05000000000000000000" pitchFamily="2" charset="2"/>
              </a:rPr>
              <a:t> 계산해서 전달</a:t>
            </a:r>
            <a:endParaRPr lang="ko-KR" altLang="en-US" sz="1200"/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/>
              <a:t>			</a:t>
            </a:r>
            <a:r>
              <a:rPr lang="en-US" altLang="ko-KR" sz="1200"/>
              <a:t>DWORD dwFlags,		// 0</a:t>
            </a:r>
            <a:r>
              <a:rPr lang="ko-KR" altLang="en-US" sz="1200"/>
              <a:t>으로 설정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/>
              <a:t>			</a:t>
            </a:r>
            <a:r>
              <a:rPr lang="en-US" altLang="ko-KR" sz="1200"/>
              <a:t>LPWSAOVERLAPPED lpOverlapped,	// OVERLAPPED </a:t>
            </a:r>
            <a:r>
              <a:rPr lang="ko-KR" altLang="en-US" sz="1200"/>
              <a:t>구조체 포인터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/>
              <a:t>			</a:t>
            </a:r>
            <a:r>
              <a:rPr lang="en-US" altLang="ko-KR" sz="1200"/>
              <a:t>LPWSAOVERLAPPED_COMPLETION_ROUTINE lpCompletionRoutine    // IOCP</a:t>
            </a:r>
            <a:r>
              <a:rPr lang="ko-KR" altLang="en-US" sz="1200"/>
              <a:t>에서는 </a:t>
            </a:r>
            <a:r>
              <a:rPr lang="en-US" altLang="ko-KR" sz="1200"/>
              <a:t>nullptr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/>
              <a:t>		            ) 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200"/>
              <a:t>성공</a:t>
            </a:r>
            <a:r>
              <a:rPr lang="en-US" altLang="ko-KR" sz="1200"/>
              <a:t>: 0, </a:t>
            </a:r>
            <a:r>
              <a:rPr lang="ko-KR" altLang="en-US" sz="1200"/>
              <a:t>실패</a:t>
            </a:r>
            <a:r>
              <a:rPr lang="en-US" altLang="ko-KR" sz="1200"/>
              <a:t>: SOCKET_ERROR</a:t>
            </a:r>
          </a:p>
          <a:p>
            <a:pPr eaLnBrk="1" hangingPunct="1">
              <a:lnSpc>
                <a:spcPct val="80000"/>
              </a:lnSpc>
            </a:pPr>
            <a:endParaRPr lang="en-US" altLang="ko-KR" sz="1400"/>
          </a:p>
          <a:p>
            <a:pPr eaLnBrk="1" hangingPunct="1">
              <a:lnSpc>
                <a:spcPct val="80000"/>
              </a:lnSpc>
            </a:pPr>
            <a:r>
              <a:rPr lang="ko-KR" altLang="en-US" sz="1400"/>
              <a:t>수신에 대한 비동기 요청</a:t>
            </a:r>
            <a:r>
              <a:rPr lang="en-US" altLang="ko-KR" sz="1400"/>
              <a:t>: {</a:t>
            </a:r>
            <a:r>
              <a:rPr lang="ko-KR" altLang="en-US" sz="1400">
                <a:solidFill>
                  <a:srgbClr val="FF0000"/>
                </a:solidFill>
              </a:rPr>
              <a:t>소켓 </a:t>
            </a:r>
            <a:r>
              <a:rPr lang="en-US" altLang="ko-KR" sz="1400">
                <a:solidFill>
                  <a:srgbClr val="FF0000"/>
                </a:solidFill>
              </a:rPr>
              <a:t>+ </a:t>
            </a:r>
            <a:r>
              <a:rPr lang="ko-KR" altLang="en-US" sz="1400">
                <a:solidFill>
                  <a:srgbClr val="FF0000"/>
                </a:solidFill>
              </a:rPr>
              <a:t>수신 처리 버퍼</a:t>
            </a:r>
            <a:r>
              <a:rPr lang="en-US" altLang="ko-KR" sz="1400">
                <a:solidFill>
                  <a:srgbClr val="FF0000"/>
                </a:solidFill>
              </a:rPr>
              <a:t>}</a:t>
            </a:r>
            <a:r>
              <a:rPr lang="en-US" altLang="ko-KR" sz="1400"/>
              <a:t> </a:t>
            </a:r>
            <a:r>
              <a:rPr lang="ko-KR" altLang="en-US" sz="1400"/>
              <a:t>비동기 요청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200"/>
              <a:t>int </a:t>
            </a:r>
            <a:r>
              <a:rPr lang="en-US" altLang="ko-KR" sz="1200">
                <a:solidFill>
                  <a:srgbClr val="0000FF"/>
                </a:solidFill>
              </a:rPr>
              <a:t>WSARecv</a:t>
            </a:r>
            <a:r>
              <a:rPr lang="en-US" altLang="ko-KR" sz="1200"/>
              <a:t> (	SOCKET s,		// </a:t>
            </a:r>
            <a:r>
              <a:rPr lang="ko-KR" altLang="en-US" sz="1200"/>
              <a:t>수신 소켓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/>
              <a:t>			</a:t>
            </a:r>
            <a:r>
              <a:rPr lang="en-US" altLang="ko-KR" sz="1200"/>
              <a:t>LPWSABUF lpBuffers,		// </a:t>
            </a:r>
            <a:r>
              <a:rPr lang="ko-KR" altLang="en-US" sz="1200"/>
              <a:t>수신 버퍼 포인터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/>
              <a:t>			</a:t>
            </a:r>
            <a:r>
              <a:rPr lang="en-US" altLang="ko-KR" sz="1200"/>
              <a:t>DWORD dwBufferCount,		// </a:t>
            </a:r>
            <a:r>
              <a:rPr lang="ko-KR" altLang="en-US" sz="1200"/>
              <a:t>수신 버퍼 수</a:t>
            </a:r>
            <a:r>
              <a:rPr lang="en-US" altLang="ko-KR" sz="1200"/>
              <a:t>, </a:t>
            </a:r>
            <a:r>
              <a:rPr lang="ko-KR" altLang="en-US" sz="1200"/>
              <a:t>보통 </a:t>
            </a:r>
            <a:r>
              <a:rPr lang="en-US" altLang="ko-KR" sz="1200"/>
              <a:t>1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/>
              <a:t>			LPDWORD lpNumberOfBytesRecvd,	// 0</a:t>
            </a:r>
            <a:r>
              <a:rPr lang="ko-KR" altLang="en-US" sz="1200"/>
              <a:t>으로 설정 </a:t>
            </a:r>
            <a:r>
              <a:rPr lang="en-US" altLang="ko-KR" sz="1200"/>
              <a:t>DWORD dTran= 0; &amp;dTran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/>
              <a:t>			LPDWORD lpFlags,		// 0</a:t>
            </a:r>
            <a:r>
              <a:rPr lang="ko-KR" altLang="en-US" sz="1200"/>
              <a:t>으로 설정 </a:t>
            </a:r>
            <a:r>
              <a:rPr lang="en-US" altLang="ko-KR" sz="1200"/>
              <a:t>DWORD dFlag= 0; &amp;dFlag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/>
              <a:t>			LPWSAOVERLAPPED lpOverlapped,	// </a:t>
            </a:r>
            <a:r>
              <a:rPr lang="ko-KR" altLang="en-US" sz="1200"/>
              <a:t>보통 </a:t>
            </a:r>
            <a:r>
              <a:rPr lang="en-US" altLang="ko-KR" sz="1200"/>
              <a:t>OVERLAPPED </a:t>
            </a:r>
            <a:r>
              <a:rPr lang="ko-KR" altLang="en-US" sz="1200"/>
              <a:t>구조체 포인터로 캐스팅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/>
              <a:t>			</a:t>
            </a:r>
            <a:r>
              <a:rPr lang="en-US" altLang="ko-KR" sz="1200"/>
              <a:t>LPWSAOVERLAPPED_COMPLETION_ROUTINE lpCompletionRoutine    // IOCP</a:t>
            </a:r>
            <a:r>
              <a:rPr lang="ko-KR" altLang="en-US" sz="1200"/>
              <a:t>에서는 </a:t>
            </a:r>
            <a:r>
              <a:rPr lang="en-US" altLang="ko-KR" sz="1200"/>
              <a:t>nullptr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/>
              <a:t>		            ) 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200"/>
              <a:t>성공</a:t>
            </a:r>
            <a:r>
              <a:rPr lang="en-US" altLang="ko-KR" sz="1200"/>
              <a:t>: 0, </a:t>
            </a:r>
            <a:r>
              <a:rPr lang="ko-KR" altLang="en-US" sz="1200"/>
              <a:t>실패</a:t>
            </a:r>
            <a:r>
              <a:rPr lang="en-US" altLang="ko-KR" sz="1200"/>
              <a:t>: SOCKET_ERROR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바닥글 개체 틀 3">
            <a:extLst>
              <a:ext uri="{FF2B5EF4-FFF2-40B4-BE49-F238E27FC236}">
                <a16:creationId xmlns:a16="http://schemas.microsoft.com/office/drawing/2014/main" id="{B26A3974-D6C5-F14C-3A22-26028FF269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D82CB8BB-526E-A96B-DFD0-1CD17639CF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IOCP - </a:t>
            </a:r>
            <a:r>
              <a:rPr lang="ko-KR" altLang="en-US" sz="2400"/>
              <a:t>주요함수</a:t>
            </a:r>
          </a:p>
        </p:txBody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D6215C6D-7DA2-6484-87AA-C6C3681A4B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ko-KR" altLang="en-US" sz="1800"/>
              <a:t>비동기 입출력 결과 확인</a:t>
            </a:r>
            <a:r>
              <a:rPr lang="en-US" altLang="ko-KR" sz="1800"/>
              <a:t>:</a:t>
            </a:r>
            <a:r>
              <a:rPr lang="en-US" altLang="ko-KR" sz="1800">
                <a:solidFill>
                  <a:srgbClr val="FF0000"/>
                </a:solidFill>
              </a:rPr>
              <a:t>{</a:t>
            </a:r>
            <a:r>
              <a:rPr lang="ko-KR" altLang="en-US" sz="1800">
                <a:solidFill>
                  <a:srgbClr val="FF0000"/>
                </a:solidFill>
              </a:rPr>
              <a:t>객체 </a:t>
            </a:r>
            <a:r>
              <a:rPr lang="en-US" altLang="ko-KR" sz="1800">
                <a:solidFill>
                  <a:srgbClr val="FF0000"/>
                </a:solidFill>
              </a:rPr>
              <a:t>+ </a:t>
            </a:r>
            <a:r>
              <a:rPr lang="ko-KR" altLang="en-US" sz="1800">
                <a:solidFill>
                  <a:srgbClr val="FF0000"/>
                </a:solidFill>
              </a:rPr>
              <a:t>완료 처리 요청 버퍼</a:t>
            </a:r>
            <a:r>
              <a:rPr lang="en-US" altLang="ko-KR" sz="1800">
                <a:solidFill>
                  <a:srgbClr val="FF0000"/>
                </a:solidFill>
              </a:rPr>
              <a:t>} </a:t>
            </a:r>
            <a:r>
              <a:rPr lang="ko-KR" altLang="en-US" sz="1800">
                <a:solidFill>
                  <a:srgbClr val="FF0000"/>
                </a:solidFill>
              </a:rPr>
              <a:t>결과 비동기로 반환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600"/>
              <a:t>BOOL </a:t>
            </a:r>
            <a:r>
              <a:rPr lang="en-US" altLang="ko-KR" sz="1600">
                <a:solidFill>
                  <a:srgbClr val="0000FF"/>
                </a:solidFill>
              </a:rPr>
              <a:t>GetQueuedCompletionStatus</a:t>
            </a:r>
            <a:r>
              <a:rPr lang="en-US" altLang="ko-KR" sz="1600"/>
              <a:t> (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		    HANDLE CompletionPort,	      // IOCP </a:t>
            </a:r>
            <a:r>
              <a:rPr lang="ko-KR" altLang="en-US" sz="1600"/>
              <a:t>핸들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600"/>
              <a:t>		    </a:t>
            </a:r>
            <a:r>
              <a:rPr lang="en-US" altLang="ko-KR" sz="1600"/>
              <a:t>LPDWORD lpNumberOfBytes,   // </a:t>
            </a:r>
            <a:r>
              <a:rPr lang="ko-KR" altLang="en-US" sz="1600"/>
              <a:t>완료된 </a:t>
            </a:r>
            <a:r>
              <a:rPr lang="en-US" altLang="ko-KR" sz="1600"/>
              <a:t>I/O</a:t>
            </a:r>
            <a:r>
              <a:rPr lang="ko-KR" altLang="en-US" sz="1600"/>
              <a:t>의 총 바이트 수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600"/>
              <a:t>		    </a:t>
            </a:r>
            <a:r>
              <a:rPr lang="en-US" altLang="ko-KR" sz="1600"/>
              <a:t>PULONG_PTR lpCompletionKey, // I/O</a:t>
            </a:r>
            <a:r>
              <a:rPr lang="ko-KR" altLang="en-US" sz="1600"/>
              <a:t>를 요청한 객체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600"/>
              <a:t>		    </a:t>
            </a:r>
            <a:r>
              <a:rPr lang="en-US" altLang="ko-KR" sz="1600"/>
              <a:t>LPOVERLAPPED *lpOverlapped, // Overlapped </a:t>
            </a:r>
            <a:r>
              <a:rPr lang="ko-KR" altLang="en-US" sz="1600"/>
              <a:t>구조체의 주소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600"/>
              <a:t>		    </a:t>
            </a:r>
            <a:r>
              <a:rPr lang="en-US" altLang="ko-KR" sz="1600"/>
              <a:t>DWORD dwMilliseconds	    // </a:t>
            </a:r>
            <a:r>
              <a:rPr lang="ko-KR" altLang="en-US" sz="1600"/>
              <a:t>타임아웃 </a:t>
            </a:r>
            <a:r>
              <a:rPr lang="en-US" altLang="ko-KR" sz="1600"/>
              <a:t>INFINITE </a:t>
            </a:r>
            <a:r>
              <a:rPr lang="en-US" altLang="ko-KR" sz="1600">
                <a:sym typeface="Wingdings" panose="05000000000000000000" pitchFamily="2" charset="2"/>
              </a:rPr>
              <a:t></a:t>
            </a:r>
            <a:r>
              <a:rPr lang="en-US" altLang="ko-KR" sz="1600"/>
              <a:t> I/O </a:t>
            </a:r>
            <a:r>
              <a:rPr lang="ko-KR" altLang="en-US" sz="1600"/>
              <a:t>완료까지 기다림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600"/>
              <a:t>		</a:t>
            </a:r>
            <a:r>
              <a:rPr lang="en-US" altLang="ko-KR" sz="1600"/>
              <a:t>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/>
              <a:t>성공</a:t>
            </a:r>
            <a:r>
              <a:rPr lang="en-US" altLang="ko-KR" sz="1600"/>
              <a:t>: 0</a:t>
            </a:r>
            <a:r>
              <a:rPr lang="ko-KR" altLang="en-US" sz="1600"/>
              <a:t>이 아닌 값</a:t>
            </a:r>
            <a:r>
              <a:rPr lang="en-US" altLang="ko-KR" sz="1600"/>
              <a:t>, </a:t>
            </a:r>
            <a:r>
              <a:rPr lang="ko-KR" altLang="en-US" sz="1600"/>
              <a:t>실패</a:t>
            </a:r>
            <a:r>
              <a:rPr lang="en-US" altLang="ko-KR" sz="1600"/>
              <a:t>: 0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/>
              <a:t>쓰레드에서 호출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/>
              <a:t>완료 결과를 </a:t>
            </a:r>
            <a:r>
              <a:rPr lang="en-US" altLang="ko-KR" sz="1600"/>
              <a:t>IOCP </a:t>
            </a:r>
            <a:r>
              <a:rPr lang="ko-KR" altLang="en-US" sz="1600"/>
              <a:t>내의 </a:t>
            </a:r>
            <a:r>
              <a:rPr lang="en-US" altLang="ko-KR" sz="1600"/>
              <a:t>I/O </a:t>
            </a:r>
            <a:r>
              <a:rPr lang="ko-KR" altLang="en-US" sz="1600"/>
              <a:t>완료 패킷 큐로부터 하나씩 꺼내옴</a:t>
            </a:r>
          </a:p>
          <a:p>
            <a:pPr eaLnBrk="1" hangingPunct="1">
              <a:lnSpc>
                <a:spcPct val="80000"/>
              </a:lnSpc>
            </a:pPr>
            <a:endParaRPr lang="ko-KR" altLang="en-US" sz="1800"/>
          </a:p>
          <a:p>
            <a:pPr eaLnBrk="1" hangingPunct="1">
              <a:lnSpc>
                <a:spcPct val="80000"/>
              </a:lnSpc>
            </a:pPr>
            <a:r>
              <a:rPr lang="en-US" altLang="ko-KR" sz="1800"/>
              <a:t>IOCP Queue</a:t>
            </a:r>
            <a:r>
              <a:rPr lang="ko-KR" altLang="en-US" sz="1800"/>
              <a:t>에 직접 데이터를 넣는 경우</a:t>
            </a:r>
            <a:r>
              <a:rPr lang="en-US" altLang="ko-KR" sz="1800"/>
              <a:t>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600"/>
              <a:t>BOOL </a:t>
            </a:r>
            <a:r>
              <a:rPr lang="en-US" altLang="ko-KR" sz="1600">
                <a:solidFill>
                  <a:srgbClr val="0000FF"/>
                </a:solidFill>
              </a:rPr>
              <a:t>PostQueuedCompletionStatus</a:t>
            </a:r>
            <a:r>
              <a:rPr lang="en-US" altLang="ko-KR" sz="1600"/>
              <a:t> (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		    HANDLE CompletionPort,               // IOCP </a:t>
            </a:r>
            <a:r>
              <a:rPr lang="ko-KR" altLang="en-US" sz="1600"/>
              <a:t>핸들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600"/>
              <a:t>		    </a:t>
            </a:r>
            <a:r>
              <a:rPr lang="en-US" altLang="ko-KR" sz="1600"/>
              <a:t>DWORD dwNumberOfBytesTransferred, // bytes transferred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		    ULONG_PTR dwCompletionKey,	    // completion key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		    LPOVERLAPPED lpOverlapped	    // overlapped buffer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/>
              <a:t>		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/>
              <a:t>성공</a:t>
            </a:r>
            <a:r>
              <a:rPr lang="en-US" altLang="ko-KR" sz="1600"/>
              <a:t>: 0</a:t>
            </a:r>
            <a:r>
              <a:rPr lang="ko-KR" altLang="en-US" sz="1600"/>
              <a:t>이 아닌 값</a:t>
            </a:r>
            <a:r>
              <a:rPr lang="en-US" altLang="ko-KR" sz="1600"/>
              <a:t>, </a:t>
            </a:r>
            <a:r>
              <a:rPr lang="ko-KR" altLang="en-US" sz="1600"/>
              <a:t>실패</a:t>
            </a:r>
            <a:r>
              <a:rPr lang="en-US" altLang="ko-KR" sz="1600"/>
              <a:t>: 0 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/>
              <a:t>작업 스레드에게 </a:t>
            </a:r>
            <a:r>
              <a:rPr lang="en-US" altLang="ko-KR" sz="1600"/>
              <a:t>I/O </a:t>
            </a:r>
            <a:r>
              <a:rPr lang="ko-KR" altLang="en-US" sz="1600"/>
              <a:t>완료 처리와 상관없이 메시지 전달할 때 사용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바닥글 개체 틀 3">
            <a:extLst>
              <a:ext uri="{FF2B5EF4-FFF2-40B4-BE49-F238E27FC236}">
                <a16:creationId xmlns:a16="http://schemas.microsoft.com/office/drawing/2014/main" id="{EEC98E85-1B49-F57F-21B1-F10A8A8C54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A66D8E1F-B4DF-488B-671D-49467F3AF4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IOCP</a:t>
            </a:r>
          </a:p>
        </p:txBody>
      </p:sp>
      <p:pic>
        <p:nvPicPr>
          <p:cNvPr id="16388" name="Picture 3">
            <a:extLst>
              <a:ext uri="{FF2B5EF4-FFF2-40B4-BE49-F238E27FC236}">
                <a16:creationId xmlns:a16="http://schemas.microsoft.com/office/drawing/2014/main" id="{95E5E8AC-ACCC-D01E-BCC8-DFF12C0E29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350" y="1557338"/>
            <a:ext cx="6118225" cy="397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9" name="Rectangle 4">
            <a:extLst>
              <a:ext uri="{FF2B5EF4-FFF2-40B4-BE49-F238E27FC236}">
                <a16:creationId xmlns:a16="http://schemas.microsoft.com/office/drawing/2014/main" id="{468488C8-E47F-DCB2-28AA-01F3F61532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US" altLang="ko-KR"/>
              <a:t>Completion Port </a:t>
            </a:r>
            <a:r>
              <a:rPr lang="ko-KR" altLang="en-US"/>
              <a:t>모델 동작 원리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바닥글 개체 틀 3">
            <a:extLst>
              <a:ext uri="{FF2B5EF4-FFF2-40B4-BE49-F238E27FC236}">
                <a16:creationId xmlns:a16="http://schemas.microsoft.com/office/drawing/2014/main" id="{6EFC77A4-2255-75A8-3176-CB29DAFDE6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5C40A964-9A72-7C61-B513-D3C228FCE4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IOCP</a:t>
            </a:r>
          </a:p>
        </p:txBody>
      </p:sp>
      <p:sp>
        <p:nvSpPr>
          <p:cNvPr id="18436" name="Rectangle 3">
            <a:extLst>
              <a:ext uri="{FF2B5EF4-FFF2-40B4-BE49-F238E27FC236}">
                <a16:creationId xmlns:a16="http://schemas.microsoft.com/office/drawing/2014/main" id="{3D126E0E-74E2-8A07-EA6B-15EB04126D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Completion Port </a:t>
            </a:r>
            <a:r>
              <a:rPr lang="ko-KR" altLang="en-US"/>
              <a:t>모델 동작 원리</a:t>
            </a:r>
          </a:p>
        </p:txBody>
      </p:sp>
      <p:sp>
        <p:nvSpPr>
          <p:cNvPr id="18437" name="Rectangle 4">
            <a:extLst>
              <a:ext uri="{FF2B5EF4-FFF2-40B4-BE49-F238E27FC236}">
                <a16:creationId xmlns:a16="http://schemas.microsoft.com/office/drawing/2014/main" id="{7C29717F-5991-E3ED-B8B3-B8FE61D60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7300" y="2743200"/>
            <a:ext cx="1309688" cy="1173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스레드</a:t>
            </a:r>
          </a:p>
        </p:txBody>
      </p:sp>
      <p:sp>
        <p:nvSpPr>
          <p:cNvPr id="18438" name="Rectangle 5">
            <a:extLst>
              <a:ext uri="{FF2B5EF4-FFF2-40B4-BE49-F238E27FC236}">
                <a16:creationId xmlns:a16="http://schemas.microsoft.com/office/drawing/2014/main" id="{EAF57E6C-59B9-E16A-2C05-E69AA6A02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6088" y="3246438"/>
            <a:ext cx="2249487" cy="11731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입출력 완료 포트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en-US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439" name="Rectangle 6">
            <a:extLst>
              <a:ext uri="{FF2B5EF4-FFF2-40B4-BE49-F238E27FC236}">
                <a16:creationId xmlns:a16="http://schemas.microsoft.com/office/drawing/2014/main" id="{77C143EA-2397-A010-FAC8-F8D2518025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288" y="3246438"/>
            <a:ext cx="1265237" cy="11731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윈도우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I/O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시스템</a:t>
            </a:r>
          </a:p>
        </p:txBody>
      </p:sp>
      <p:sp>
        <p:nvSpPr>
          <p:cNvPr id="18440" name="Line 7">
            <a:extLst>
              <a:ext uri="{FF2B5EF4-FFF2-40B4-BE49-F238E27FC236}">
                <a16:creationId xmlns:a16="http://schemas.microsoft.com/office/drawing/2014/main" id="{3E9E459B-6F73-D764-2359-68539AD7AF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62138" y="2239963"/>
            <a:ext cx="1587" cy="4984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41" name="Line 8">
            <a:extLst>
              <a:ext uri="{FF2B5EF4-FFF2-40B4-BE49-F238E27FC236}">
                <a16:creationId xmlns:a16="http://schemas.microsoft.com/office/drawing/2014/main" id="{E0E743A8-A275-1AD0-937F-28882A3487AD}"/>
              </a:ext>
            </a:extLst>
          </p:cNvPr>
          <p:cNvSpPr>
            <a:spLocks noChangeShapeType="1"/>
          </p:cNvSpPr>
          <p:nvPr/>
        </p:nvSpPr>
        <p:spPr bwMode="auto">
          <a:xfrm>
            <a:off x="1863725" y="2239963"/>
            <a:ext cx="58388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42" name="Line 9">
            <a:extLst>
              <a:ext uri="{FF2B5EF4-FFF2-40B4-BE49-F238E27FC236}">
                <a16:creationId xmlns:a16="http://schemas.microsoft.com/office/drawing/2014/main" id="{79973756-3020-B90C-370E-4A34488EC75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702550" y="2239963"/>
            <a:ext cx="0" cy="10064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43" name="Rectangle 10">
            <a:extLst>
              <a:ext uri="{FF2B5EF4-FFF2-40B4-BE49-F238E27FC236}">
                <a16:creationId xmlns:a16="http://schemas.microsoft.com/office/drawing/2014/main" id="{1B2127F0-AFA8-6D50-E84E-4541F4AF1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2450" y="3916363"/>
            <a:ext cx="352425" cy="41910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444" name="Rectangle 11">
            <a:extLst>
              <a:ext uri="{FF2B5EF4-FFF2-40B4-BE49-F238E27FC236}">
                <a16:creationId xmlns:a16="http://schemas.microsoft.com/office/drawing/2014/main" id="{FA802493-E00A-53AE-5AA2-81CC0F475E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7913" y="3916363"/>
            <a:ext cx="352425" cy="41910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445" name="Rectangle 12">
            <a:extLst>
              <a:ext uri="{FF2B5EF4-FFF2-40B4-BE49-F238E27FC236}">
                <a16:creationId xmlns:a16="http://schemas.microsoft.com/office/drawing/2014/main" id="{471BE47C-A139-EF32-00DB-66979031FB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75" y="1820863"/>
            <a:ext cx="2111375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①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비동기 입출력 시작</a:t>
            </a:r>
          </a:p>
        </p:txBody>
      </p:sp>
      <p:sp>
        <p:nvSpPr>
          <p:cNvPr id="18446" name="Line 13">
            <a:extLst>
              <a:ext uri="{FF2B5EF4-FFF2-40B4-BE49-F238E27FC236}">
                <a16:creationId xmlns:a16="http://schemas.microsoft.com/office/drawing/2014/main" id="{2D5689E3-78CB-9736-3A3E-49B49DD0654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30813" y="4208463"/>
            <a:ext cx="175736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47" name="Rectangle 14">
            <a:extLst>
              <a:ext uri="{FF2B5EF4-FFF2-40B4-BE49-F238E27FC236}">
                <a16:creationId xmlns:a16="http://schemas.microsoft.com/office/drawing/2014/main" id="{B04D56F5-1652-7281-233B-CB768A65C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2613" y="4419600"/>
            <a:ext cx="2179637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③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비동기 입출력 완료</a:t>
            </a:r>
          </a:p>
        </p:txBody>
      </p:sp>
      <p:sp>
        <p:nvSpPr>
          <p:cNvPr id="18448" name="Line 15">
            <a:extLst>
              <a:ext uri="{FF2B5EF4-FFF2-40B4-BE49-F238E27FC236}">
                <a16:creationId xmlns:a16="http://schemas.microsoft.com/office/drawing/2014/main" id="{452455CA-2768-940B-0E34-51A675E03A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01838" y="2408238"/>
            <a:ext cx="3175" cy="330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49" name="Line 16">
            <a:extLst>
              <a:ext uri="{FF2B5EF4-FFF2-40B4-BE49-F238E27FC236}">
                <a16:creationId xmlns:a16="http://schemas.microsoft.com/office/drawing/2014/main" id="{EAF9A1BF-32A2-34F3-EF15-E6FA1D36F927}"/>
              </a:ext>
            </a:extLst>
          </p:cNvPr>
          <p:cNvSpPr>
            <a:spLocks noChangeShapeType="1"/>
          </p:cNvSpPr>
          <p:nvPr/>
        </p:nvSpPr>
        <p:spPr bwMode="auto">
          <a:xfrm>
            <a:off x="2005013" y="2408238"/>
            <a:ext cx="55562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50" name="Line 17">
            <a:extLst>
              <a:ext uri="{FF2B5EF4-FFF2-40B4-BE49-F238E27FC236}">
                <a16:creationId xmlns:a16="http://schemas.microsoft.com/office/drawing/2014/main" id="{14A30C3B-20EE-B08F-83FC-C06C829304A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61263" y="2408238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51" name="Line 18">
            <a:extLst>
              <a:ext uri="{FF2B5EF4-FFF2-40B4-BE49-F238E27FC236}">
                <a16:creationId xmlns:a16="http://schemas.microsoft.com/office/drawing/2014/main" id="{1AAEE143-D6C8-DD87-F833-DB03E50213A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14875" y="4025900"/>
            <a:ext cx="227806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52" name="Line 19">
            <a:extLst>
              <a:ext uri="{FF2B5EF4-FFF2-40B4-BE49-F238E27FC236}">
                <a16:creationId xmlns:a16="http://schemas.microsoft.com/office/drawing/2014/main" id="{09063168-DAE5-7434-152D-6637B9C20E4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35488" y="4348163"/>
            <a:ext cx="1587" cy="10763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53" name="Line 20">
            <a:extLst>
              <a:ext uri="{FF2B5EF4-FFF2-40B4-BE49-F238E27FC236}">
                <a16:creationId xmlns:a16="http://schemas.microsoft.com/office/drawing/2014/main" id="{874A7F4E-17E6-DCCF-53E7-2237FECA33F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843213" y="5422900"/>
            <a:ext cx="1693862" cy="31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54" name="Line 21">
            <a:extLst>
              <a:ext uri="{FF2B5EF4-FFF2-40B4-BE49-F238E27FC236}">
                <a16:creationId xmlns:a16="http://schemas.microsoft.com/office/drawing/2014/main" id="{CD3EFF21-D381-E1A2-900C-B46D1CE43A65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7938" y="4335463"/>
            <a:ext cx="0" cy="1344612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55" name="Line 22">
            <a:extLst>
              <a:ext uri="{FF2B5EF4-FFF2-40B4-BE49-F238E27FC236}">
                <a16:creationId xmlns:a16="http://schemas.microsoft.com/office/drawing/2014/main" id="{C034440D-DF0D-C9D1-E476-A5247A829EB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847975" y="5676900"/>
            <a:ext cx="22367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56" name="Rectangle 23">
            <a:extLst>
              <a:ext uri="{FF2B5EF4-FFF2-40B4-BE49-F238E27FC236}">
                <a16:creationId xmlns:a16="http://schemas.microsoft.com/office/drawing/2014/main" id="{C23EFEA6-501C-FD67-9FCA-AE88C1E80D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7300" y="4587875"/>
            <a:ext cx="1309688" cy="1173163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457" name="Rectangle 24">
            <a:extLst>
              <a:ext uri="{FF2B5EF4-FFF2-40B4-BE49-F238E27FC236}">
                <a16:creationId xmlns:a16="http://schemas.microsoft.com/office/drawing/2014/main" id="{53E7B43C-3526-4B09-A1A0-3320C5131E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8588" y="4754563"/>
            <a:ext cx="1309687" cy="117316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458" name="Rectangle 25">
            <a:extLst>
              <a:ext uri="{FF2B5EF4-FFF2-40B4-BE49-F238E27FC236}">
                <a16:creationId xmlns:a16="http://schemas.microsoft.com/office/drawing/2014/main" id="{92BF644C-7EE8-19B0-E29C-01CB8EDC4D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8288" y="4922838"/>
            <a:ext cx="1309687" cy="117316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작업자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스레드</a:t>
            </a:r>
          </a:p>
        </p:txBody>
      </p:sp>
      <p:sp>
        <p:nvSpPr>
          <p:cNvPr id="18459" name="Line 26">
            <a:extLst>
              <a:ext uri="{FF2B5EF4-FFF2-40B4-BE49-F238E27FC236}">
                <a16:creationId xmlns:a16="http://schemas.microsoft.com/office/drawing/2014/main" id="{B036CC11-8561-4B52-9B6E-1EB45CE6BA1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184400" y="4251325"/>
            <a:ext cx="4763" cy="6715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60" name="Line 27">
            <a:extLst>
              <a:ext uri="{FF2B5EF4-FFF2-40B4-BE49-F238E27FC236}">
                <a16:creationId xmlns:a16="http://schemas.microsoft.com/office/drawing/2014/main" id="{D97A4D52-9991-CA25-2D45-058378196E3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54225" y="4137025"/>
            <a:ext cx="0" cy="604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61" name="Line 28">
            <a:extLst>
              <a:ext uri="{FF2B5EF4-FFF2-40B4-BE49-F238E27FC236}">
                <a16:creationId xmlns:a16="http://schemas.microsoft.com/office/drawing/2014/main" id="{F123405C-1688-5D33-3C8A-2183551B8A0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17700" y="4013200"/>
            <a:ext cx="0" cy="5746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62" name="Line 29">
            <a:extLst>
              <a:ext uri="{FF2B5EF4-FFF2-40B4-BE49-F238E27FC236}">
                <a16:creationId xmlns:a16="http://schemas.microsoft.com/office/drawing/2014/main" id="{BA3D23A4-63F7-EC09-5A42-86A5B0D7B65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81225" y="4251325"/>
            <a:ext cx="2082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63" name="Rectangle 30">
            <a:extLst>
              <a:ext uri="{FF2B5EF4-FFF2-40B4-BE49-F238E27FC236}">
                <a16:creationId xmlns:a16="http://schemas.microsoft.com/office/drawing/2014/main" id="{73C229E3-4E57-3769-1CF8-86083D5CAC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0313" y="4291013"/>
            <a:ext cx="2954337" cy="255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bIns="82800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② GetQueuedCompletionStatus()</a:t>
            </a:r>
          </a:p>
        </p:txBody>
      </p:sp>
      <p:sp>
        <p:nvSpPr>
          <p:cNvPr id="18464" name="Line 31">
            <a:extLst>
              <a:ext uri="{FF2B5EF4-FFF2-40B4-BE49-F238E27FC236}">
                <a16:creationId xmlns:a16="http://schemas.microsoft.com/office/drawing/2014/main" id="{948392B3-42A9-823A-2081-EAB1481D158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49463" y="4138613"/>
            <a:ext cx="221297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65" name="Line 32">
            <a:extLst>
              <a:ext uri="{FF2B5EF4-FFF2-40B4-BE49-F238E27FC236}">
                <a16:creationId xmlns:a16="http://schemas.microsoft.com/office/drawing/2014/main" id="{C4FAC5D9-AD7C-DDF3-8ACE-9ECD27826AB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14525" y="4013200"/>
            <a:ext cx="23495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66" name="Line 33">
            <a:extLst>
              <a:ext uri="{FF2B5EF4-FFF2-40B4-BE49-F238E27FC236}">
                <a16:creationId xmlns:a16="http://schemas.microsoft.com/office/drawing/2014/main" id="{68D3B0CB-198A-294D-B17E-C3AF86619F3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16000" y="5426075"/>
            <a:ext cx="520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67" name="Line 34">
            <a:extLst>
              <a:ext uri="{FF2B5EF4-FFF2-40B4-BE49-F238E27FC236}">
                <a16:creationId xmlns:a16="http://schemas.microsoft.com/office/drawing/2014/main" id="{098CA730-52CA-3BBE-29A7-0AD2D13813E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14413" y="2408238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68" name="Line 35">
            <a:extLst>
              <a:ext uri="{FF2B5EF4-FFF2-40B4-BE49-F238E27FC236}">
                <a16:creationId xmlns:a16="http://schemas.microsoft.com/office/drawing/2014/main" id="{C72BD139-6A48-F4FB-9958-607F7655EC6E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6000" y="2409825"/>
            <a:ext cx="0" cy="30083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69" name="Line 36">
            <a:extLst>
              <a:ext uri="{FF2B5EF4-FFF2-40B4-BE49-F238E27FC236}">
                <a16:creationId xmlns:a16="http://schemas.microsoft.com/office/drawing/2014/main" id="{EB9C17E9-FA3A-6831-781F-83D482AEADC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77888" y="5637213"/>
            <a:ext cx="6540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70" name="Line 37">
            <a:extLst>
              <a:ext uri="{FF2B5EF4-FFF2-40B4-BE49-F238E27FC236}">
                <a16:creationId xmlns:a16="http://schemas.microsoft.com/office/drawing/2014/main" id="{8FE0030F-E85B-D7BF-E679-D3D141A8AADC}"/>
              </a:ext>
            </a:extLst>
          </p:cNvPr>
          <p:cNvSpPr>
            <a:spLocks noChangeShapeType="1"/>
          </p:cNvSpPr>
          <p:nvPr/>
        </p:nvSpPr>
        <p:spPr bwMode="auto">
          <a:xfrm>
            <a:off x="879475" y="2252663"/>
            <a:ext cx="0" cy="3387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71" name="Line 38">
            <a:extLst>
              <a:ext uri="{FF2B5EF4-FFF2-40B4-BE49-F238E27FC236}">
                <a16:creationId xmlns:a16="http://schemas.microsoft.com/office/drawing/2014/main" id="{FFF1653B-76AE-2455-3FCF-404C4132283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79475" y="2239963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72" name="Rectangle 39">
            <a:extLst>
              <a:ext uri="{FF2B5EF4-FFF2-40B4-BE49-F238E27FC236}">
                <a16:creationId xmlns:a16="http://schemas.microsoft.com/office/drawing/2014/main" id="{64E815F0-6D27-7EA6-60E7-FAD523C1B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5845175"/>
            <a:ext cx="1970087" cy="250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     ④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비동기 입출력 결과 처리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바닥글 개체 틀 3">
            <a:extLst>
              <a:ext uri="{FF2B5EF4-FFF2-40B4-BE49-F238E27FC236}">
                <a16:creationId xmlns:a16="http://schemas.microsoft.com/office/drawing/2014/main" id="{493CB4AD-76F2-30B8-6994-AD7F1A55F1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190DC9C6-3F76-AC31-B500-6308D652CC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IOCP</a:t>
            </a:r>
          </a:p>
        </p:txBody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179C64E6-5687-01FD-9947-8FCEF974D4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Completion Port </a:t>
            </a:r>
            <a:r>
              <a:rPr lang="ko-KR" altLang="en-US"/>
              <a:t>모델 동작 원리</a:t>
            </a:r>
          </a:p>
        </p:txBody>
      </p:sp>
      <p:sp>
        <p:nvSpPr>
          <p:cNvPr id="19461" name="Rectangle 4">
            <a:extLst>
              <a:ext uri="{FF2B5EF4-FFF2-40B4-BE49-F238E27FC236}">
                <a16:creationId xmlns:a16="http://schemas.microsoft.com/office/drawing/2014/main" id="{9AA22038-05F2-CDC2-4F73-9D1FC883793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73125" y="2674938"/>
            <a:ext cx="1441450" cy="11731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스레드</a:t>
            </a:r>
          </a:p>
        </p:txBody>
      </p:sp>
      <p:sp>
        <p:nvSpPr>
          <p:cNvPr id="19462" name="Rectangle 5">
            <a:extLst>
              <a:ext uri="{FF2B5EF4-FFF2-40B4-BE49-F238E27FC236}">
                <a16:creationId xmlns:a16="http://schemas.microsoft.com/office/drawing/2014/main" id="{486CF941-DB7E-0A5D-C450-603B11FA92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70363" y="3178175"/>
            <a:ext cx="2476500" cy="1173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latinLnBrk="0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입출력 완료 포트</a:t>
            </a:r>
          </a:p>
          <a:p>
            <a:pPr algn="ctr" latinLnBrk="0">
              <a:spcBef>
                <a:spcPct val="0"/>
              </a:spcBef>
              <a:buClrTx/>
              <a:buFontTx/>
              <a:buNone/>
            </a:pPr>
            <a:endParaRPr lang="ko-KR" altLang="en-US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9463" name="Rectangle 6">
            <a:extLst>
              <a:ext uri="{FF2B5EF4-FFF2-40B4-BE49-F238E27FC236}">
                <a16:creationId xmlns:a16="http://schemas.microsoft.com/office/drawing/2014/main" id="{9CB654A3-57BE-F1B4-AD0C-6D2A0D608B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189788" y="3178175"/>
            <a:ext cx="1392237" cy="1173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윈도우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I/O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시스템</a:t>
            </a:r>
          </a:p>
        </p:txBody>
      </p:sp>
      <p:sp>
        <p:nvSpPr>
          <p:cNvPr id="19464" name="Rectangle 7">
            <a:extLst>
              <a:ext uri="{FF2B5EF4-FFF2-40B4-BE49-F238E27FC236}">
                <a16:creationId xmlns:a16="http://schemas.microsoft.com/office/drawing/2014/main" id="{927E51AB-3668-266B-CAF4-191DAE8D95E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89425" y="3848100"/>
            <a:ext cx="387350" cy="41910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9465" name="Rectangle 8">
            <a:extLst>
              <a:ext uri="{FF2B5EF4-FFF2-40B4-BE49-F238E27FC236}">
                <a16:creationId xmlns:a16="http://schemas.microsoft.com/office/drawing/2014/main" id="{314ABD12-9C7A-99B9-B04D-18E3280EFF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67275" y="3848100"/>
            <a:ext cx="387350" cy="41910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9466" name="Rectangle 9">
            <a:extLst>
              <a:ext uri="{FF2B5EF4-FFF2-40B4-BE49-F238E27FC236}">
                <a16:creationId xmlns:a16="http://schemas.microsoft.com/office/drawing/2014/main" id="{9EA84EC1-18C9-3D10-DC9E-AC68A9EBCF3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629025" y="1752600"/>
            <a:ext cx="2322513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①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비동기 입출력 시작</a:t>
            </a:r>
          </a:p>
        </p:txBody>
      </p:sp>
      <p:sp>
        <p:nvSpPr>
          <p:cNvPr id="19467" name="Rectangle 10">
            <a:extLst>
              <a:ext uri="{FF2B5EF4-FFF2-40B4-BE49-F238E27FC236}">
                <a16:creationId xmlns:a16="http://schemas.microsoft.com/office/drawing/2014/main" id="{D3FFEF89-14A0-1365-D341-817C2C5F8B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718175" y="4351338"/>
            <a:ext cx="2398713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③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비동기 입출력 완료</a:t>
            </a:r>
          </a:p>
        </p:txBody>
      </p:sp>
      <p:sp>
        <p:nvSpPr>
          <p:cNvPr id="19468" name="Line 11">
            <a:extLst>
              <a:ext uri="{FF2B5EF4-FFF2-40B4-BE49-F238E27FC236}">
                <a16:creationId xmlns:a16="http://schemas.microsoft.com/office/drawing/2014/main" id="{859FB26A-C05E-F6B4-24BC-0477C785BC7F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538288" y="2157413"/>
            <a:ext cx="1587" cy="5238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69" name="Line 12">
            <a:extLst>
              <a:ext uri="{FF2B5EF4-FFF2-40B4-BE49-F238E27FC236}">
                <a16:creationId xmlns:a16="http://schemas.microsoft.com/office/drawing/2014/main" id="{011DFD46-B8B8-624F-DF88-A13F39520EA3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1527175" y="2171700"/>
            <a:ext cx="6435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0" name="Line 13">
            <a:extLst>
              <a:ext uri="{FF2B5EF4-FFF2-40B4-BE49-F238E27FC236}">
                <a16:creationId xmlns:a16="http://schemas.microsoft.com/office/drawing/2014/main" id="{2370D6EB-951F-4FDB-D3CD-E677921A8AA0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7962900" y="2154238"/>
            <a:ext cx="0" cy="10239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1" name="Line 14">
            <a:extLst>
              <a:ext uri="{FF2B5EF4-FFF2-40B4-BE49-F238E27FC236}">
                <a16:creationId xmlns:a16="http://schemas.microsoft.com/office/drawing/2014/main" id="{1CD1B2B8-FE08-E9A5-F529-DE683D9E9E37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1684338" y="2339975"/>
            <a:ext cx="612298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2" name="Line 15">
            <a:extLst>
              <a:ext uri="{FF2B5EF4-FFF2-40B4-BE49-F238E27FC236}">
                <a16:creationId xmlns:a16="http://schemas.microsoft.com/office/drawing/2014/main" id="{20510426-6043-58F6-6757-2D7610C27ABA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7807325" y="2320925"/>
            <a:ext cx="0" cy="8572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3" name="Line 16">
            <a:extLst>
              <a:ext uri="{FF2B5EF4-FFF2-40B4-BE49-F238E27FC236}">
                <a16:creationId xmlns:a16="http://schemas.microsoft.com/office/drawing/2014/main" id="{92EA6219-9441-425F-E1CA-E1DAB24D80BF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>
            <a:off x="5245100" y="4140200"/>
            <a:ext cx="194627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4" name="Line 17">
            <a:extLst>
              <a:ext uri="{FF2B5EF4-FFF2-40B4-BE49-F238E27FC236}">
                <a16:creationId xmlns:a16="http://schemas.microsoft.com/office/drawing/2014/main" id="{64B8DC28-FA5D-3AAE-DE5D-DBF2E4D2ACCC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>
            <a:off x="4676775" y="3957638"/>
            <a:ext cx="250507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5" name="Line 18">
            <a:extLst>
              <a:ext uri="{FF2B5EF4-FFF2-40B4-BE49-F238E27FC236}">
                <a16:creationId xmlns:a16="http://schemas.microsoft.com/office/drawing/2014/main" id="{18F3A686-51B8-631D-CD8A-401B42A5D708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4481513" y="4279900"/>
            <a:ext cx="4762" cy="10953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6" name="Line 19">
            <a:extLst>
              <a:ext uri="{FF2B5EF4-FFF2-40B4-BE49-F238E27FC236}">
                <a16:creationId xmlns:a16="http://schemas.microsoft.com/office/drawing/2014/main" id="{91624BB2-2097-54AC-7F8D-3F5F9F864065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 flipV="1">
            <a:off x="2630488" y="5354638"/>
            <a:ext cx="1866900" cy="31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7" name="Line 20">
            <a:extLst>
              <a:ext uri="{FF2B5EF4-FFF2-40B4-BE49-F238E27FC236}">
                <a16:creationId xmlns:a16="http://schemas.microsoft.com/office/drawing/2014/main" id="{7A600736-CF9E-A9EC-BEED-3A565780A9B5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5086350" y="4267200"/>
            <a:ext cx="0" cy="134461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8" name="Line 21">
            <a:extLst>
              <a:ext uri="{FF2B5EF4-FFF2-40B4-BE49-F238E27FC236}">
                <a16:creationId xmlns:a16="http://schemas.microsoft.com/office/drawing/2014/main" id="{9FC0A580-3BEE-DB51-5D2F-10542C732F36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 flipV="1">
            <a:off x="2622550" y="5608638"/>
            <a:ext cx="248126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9" name="Rectangle 22">
            <a:extLst>
              <a:ext uri="{FF2B5EF4-FFF2-40B4-BE49-F238E27FC236}">
                <a16:creationId xmlns:a16="http://schemas.microsoft.com/office/drawing/2014/main" id="{229E568B-0D41-F10E-2536-8068154978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73125" y="4519613"/>
            <a:ext cx="1441450" cy="117316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9480" name="Rectangle 23">
            <a:extLst>
              <a:ext uri="{FF2B5EF4-FFF2-40B4-BE49-F238E27FC236}">
                <a16:creationId xmlns:a16="http://schemas.microsoft.com/office/drawing/2014/main" id="{1188A3C2-F8CB-CD85-C26F-5AEC275259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27113" y="4686300"/>
            <a:ext cx="1441450" cy="1173163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9481" name="Rectangle 24">
            <a:extLst>
              <a:ext uri="{FF2B5EF4-FFF2-40B4-BE49-F238E27FC236}">
                <a16:creationId xmlns:a16="http://schemas.microsoft.com/office/drawing/2014/main" id="{6D0D8228-C44A-0883-4363-27C7C72DBC5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82688" y="4854575"/>
            <a:ext cx="1439862" cy="1173163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작업자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스레드</a:t>
            </a:r>
          </a:p>
        </p:txBody>
      </p:sp>
      <p:sp>
        <p:nvSpPr>
          <p:cNvPr id="19482" name="Line 25">
            <a:extLst>
              <a:ext uri="{FF2B5EF4-FFF2-40B4-BE49-F238E27FC236}">
                <a16:creationId xmlns:a16="http://schemas.microsoft.com/office/drawing/2014/main" id="{994CEB0C-7078-C9E1-7573-9ED68D16119D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 flipV="1">
            <a:off x="1897063" y="4187825"/>
            <a:ext cx="0" cy="666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83" name="Line 26">
            <a:extLst>
              <a:ext uri="{FF2B5EF4-FFF2-40B4-BE49-F238E27FC236}">
                <a16:creationId xmlns:a16="http://schemas.microsoft.com/office/drawing/2014/main" id="{6B71FA45-11B0-A00D-E946-7E1D68B2232E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749425" y="4068763"/>
            <a:ext cx="0" cy="6048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84" name="Line 27">
            <a:extLst>
              <a:ext uri="{FF2B5EF4-FFF2-40B4-BE49-F238E27FC236}">
                <a16:creationId xmlns:a16="http://schemas.microsoft.com/office/drawing/2014/main" id="{94CF1E17-A4E1-306C-C79B-BDF93F8F490E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600200" y="3949700"/>
            <a:ext cx="0" cy="5699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85" name="Line 28">
            <a:extLst>
              <a:ext uri="{FF2B5EF4-FFF2-40B4-BE49-F238E27FC236}">
                <a16:creationId xmlns:a16="http://schemas.microsoft.com/office/drawing/2014/main" id="{ABE189FA-30C3-687F-9396-C7CB57B60AE6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897063" y="4183063"/>
            <a:ext cx="22875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86" name="Rectangle 29">
            <a:extLst>
              <a:ext uri="{FF2B5EF4-FFF2-40B4-BE49-F238E27FC236}">
                <a16:creationId xmlns:a16="http://schemas.microsoft.com/office/drawing/2014/main" id="{B7BB32E6-1558-BEA4-72D5-940D446C13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44550" y="4222750"/>
            <a:ext cx="3249613" cy="255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bIns="82800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② GetQueuedCompletionStatus()</a:t>
            </a:r>
          </a:p>
        </p:txBody>
      </p:sp>
      <p:sp>
        <p:nvSpPr>
          <p:cNvPr id="19487" name="Line 30">
            <a:extLst>
              <a:ext uri="{FF2B5EF4-FFF2-40B4-BE49-F238E27FC236}">
                <a16:creationId xmlns:a16="http://schemas.microsoft.com/office/drawing/2014/main" id="{CF01AA45-6B84-F7A6-2791-15597DDB8F22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749425" y="4070350"/>
            <a:ext cx="2430463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88" name="Line 31">
            <a:extLst>
              <a:ext uri="{FF2B5EF4-FFF2-40B4-BE49-F238E27FC236}">
                <a16:creationId xmlns:a16="http://schemas.microsoft.com/office/drawing/2014/main" id="{DB217158-2C34-8E3D-C4B2-E8561B8A7D23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601788" y="3944938"/>
            <a:ext cx="25796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89" name="Rectangle 32">
            <a:extLst>
              <a:ext uri="{FF2B5EF4-FFF2-40B4-BE49-F238E27FC236}">
                <a16:creationId xmlns:a16="http://schemas.microsoft.com/office/drawing/2014/main" id="{1FB28581-E66F-7CA0-3A05-245F85A49A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55913" y="5776913"/>
            <a:ext cx="2165350" cy="250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 ④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비동기 입출력 결과 처리</a:t>
            </a:r>
          </a:p>
        </p:txBody>
      </p:sp>
      <p:sp>
        <p:nvSpPr>
          <p:cNvPr id="19490" name="Line 33">
            <a:extLst>
              <a:ext uri="{FF2B5EF4-FFF2-40B4-BE49-F238E27FC236}">
                <a16:creationId xmlns:a16="http://schemas.microsoft.com/office/drawing/2014/main" id="{082F482A-DC86-A6C3-6441-CB912F617AFB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679575" y="2325688"/>
            <a:ext cx="1588" cy="34448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바닥글 개체 틀 3">
            <a:extLst>
              <a:ext uri="{FF2B5EF4-FFF2-40B4-BE49-F238E27FC236}">
                <a16:creationId xmlns:a16="http://schemas.microsoft.com/office/drawing/2014/main" id="{57E3E264-0C4C-8E44-74B6-22DCF018CD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FB48C07D-0916-4953-6E3E-9D569146E8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IOCP</a:t>
            </a:r>
          </a:p>
        </p:txBody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BB4A3456-50CF-1075-2743-D7B406E60A5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Completion Port </a:t>
            </a:r>
            <a:r>
              <a:rPr lang="ko-KR" altLang="en-US"/>
              <a:t>모델 동작 원리 </a:t>
            </a:r>
          </a:p>
          <a:p>
            <a:pPr eaLnBrk="1" hangingPunct="1"/>
            <a:endParaRPr lang="en-US" altLang="ko-KR"/>
          </a:p>
        </p:txBody>
      </p:sp>
      <p:sp>
        <p:nvSpPr>
          <p:cNvPr id="20485" name="Rectangle 4">
            <a:extLst>
              <a:ext uri="{FF2B5EF4-FFF2-40B4-BE49-F238E27FC236}">
                <a16:creationId xmlns:a16="http://schemas.microsoft.com/office/drawing/2014/main" id="{724DB82B-DA7F-A410-F21B-6EA5DFC2E9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73125" y="2667000"/>
            <a:ext cx="1441450" cy="1173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스레드</a:t>
            </a:r>
          </a:p>
        </p:txBody>
      </p:sp>
      <p:sp>
        <p:nvSpPr>
          <p:cNvPr id="20486" name="Rectangle 5">
            <a:extLst>
              <a:ext uri="{FF2B5EF4-FFF2-40B4-BE49-F238E27FC236}">
                <a16:creationId xmlns:a16="http://schemas.microsoft.com/office/drawing/2014/main" id="{BDB71C16-2315-FFE5-AAFE-0267CC64E5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70363" y="3170238"/>
            <a:ext cx="2476500" cy="11731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latinLnBrk="0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입출력 완료 포트</a:t>
            </a:r>
          </a:p>
          <a:p>
            <a:pPr algn="ctr" latinLnBrk="0">
              <a:spcBef>
                <a:spcPct val="0"/>
              </a:spcBef>
              <a:buClrTx/>
              <a:buFontTx/>
              <a:buNone/>
            </a:pPr>
            <a:endParaRPr lang="ko-KR" altLang="en-US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0487" name="Rectangle 6">
            <a:extLst>
              <a:ext uri="{FF2B5EF4-FFF2-40B4-BE49-F238E27FC236}">
                <a16:creationId xmlns:a16="http://schemas.microsoft.com/office/drawing/2014/main" id="{0EBB57C6-5AA4-D7C7-9927-A1444B5D148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189788" y="3170238"/>
            <a:ext cx="1392237" cy="11731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윈도우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I/O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시스템</a:t>
            </a:r>
          </a:p>
        </p:txBody>
      </p:sp>
      <p:sp>
        <p:nvSpPr>
          <p:cNvPr id="20488" name="Rectangle 7">
            <a:extLst>
              <a:ext uri="{FF2B5EF4-FFF2-40B4-BE49-F238E27FC236}">
                <a16:creationId xmlns:a16="http://schemas.microsoft.com/office/drawing/2014/main" id="{B2FB6FFD-7E5F-31FF-B4B5-DFFBC731E5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89425" y="3840163"/>
            <a:ext cx="387350" cy="41910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0489" name="Rectangle 8">
            <a:extLst>
              <a:ext uri="{FF2B5EF4-FFF2-40B4-BE49-F238E27FC236}">
                <a16:creationId xmlns:a16="http://schemas.microsoft.com/office/drawing/2014/main" id="{5713E9CC-1A0C-0778-A801-B4409826B2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67275" y="3840163"/>
            <a:ext cx="387350" cy="41910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0490" name="Rectangle 9">
            <a:extLst>
              <a:ext uri="{FF2B5EF4-FFF2-40B4-BE49-F238E27FC236}">
                <a16:creationId xmlns:a16="http://schemas.microsoft.com/office/drawing/2014/main" id="{8D5048BE-0083-C7B3-62E1-86B72D32CD7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933700" y="1744663"/>
            <a:ext cx="2320925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①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비동기 입출력 시작</a:t>
            </a:r>
          </a:p>
        </p:txBody>
      </p:sp>
      <p:sp>
        <p:nvSpPr>
          <p:cNvPr id="20491" name="Rectangle 10">
            <a:extLst>
              <a:ext uri="{FF2B5EF4-FFF2-40B4-BE49-F238E27FC236}">
                <a16:creationId xmlns:a16="http://schemas.microsoft.com/office/drawing/2014/main" id="{2B016B60-BC7C-8087-9C22-40E510FB92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718175" y="4343400"/>
            <a:ext cx="2398713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③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비동기 입출력 완료</a:t>
            </a:r>
          </a:p>
        </p:txBody>
      </p:sp>
      <p:sp>
        <p:nvSpPr>
          <p:cNvPr id="20492" name="Line 11">
            <a:extLst>
              <a:ext uri="{FF2B5EF4-FFF2-40B4-BE49-F238E27FC236}">
                <a16:creationId xmlns:a16="http://schemas.microsoft.com/office/drawing/2014/main" id="{1969D8AB-385F-5DD2-E368-71EE788014C4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457200" y="2163763"/>
            <a:ext cx="75057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493" name="Line 12">
            <a:extLst>
              <a:ext uri="{FF2B5EF4-FFF2-40B4-BE49-F238E27FC236}">
                <a16:creationId xmlns:a16="http://schemas.microsoft.com/office/drawing/2014/main" id="{7E6BF9C5-0F47-32FF-D1D4-6C2998A13CF5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7962900" y="2146300"/>
            <a:ext cx="0" cy="102393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494" name="Line 13">
            <a:extLst>
              <a:ext uri="{FF2B5EF4-FFF2-40B4-BE49-F238E27FC236}">
                <a16:creationId xmlns:a16="http://schemas.microsoft.com/office/drawing/2014/main" id="{87BF611C-886B-2F13-DA6A-6548230E2B67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612775" y="2332038"/>
            <a:ext cx="71945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495" name="Line 14">
            <a:extLst>
              <a:ext uri="{FF2B5EF4-FFF2-40B4-BE49-F238E27FC236}">
                <a16:creationId xmlns:a16="http://schemas.microsoft.com/office/drawing/2014/main" id="{1CC4CD76-3452-9991-A472-052FE1102688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7807325" y="2312988"/>
            <a:ext cx="0" cy="8572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496" name="Line 15">
            <a:extLst>
              <a:ext uri="{FF2B5EF4-FFF2-40B4-BE49-F238E27FC236}">
                <a16:creationId xmlns:a16="http://schemas.microsoft.com/office/drawing/2014/main" id="{E8D1D820-B373-4FAF-F97A-D4E05DC61FB1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>
            <a:off x="5245100" y="4132263"/>
            <a:ext cx="194627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497" name="Line 16">
            <a:extLst>
              <a:ext uri="{FF2B5EF4-FFF2-40B4-BE49-F238E27FC236}">
                <a16:creationId xmlns:a16="http://schemas.microsoft.com/office/drawing/2014/main" id="{D3A72514-DC61-FB83-BB0B-DF32B372E9EB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>
            <a:off x="4676775" y="3949700"/>
            <a:ext cx="250507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498" name="Line 17">
            <a:extLst>
              <a:ext uri="{FF2B5EF4-FFF2-40B4-BE49-F238E27FC236}">
                <a16:creationId xmlns:a16="http://schemas.microsoft.com/office/drawing/2014/main" id="{26237BC4-F4F0-B9D4-FF23-53FE071417F7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5086350" y="4259263"/>
            <a:ext cx="0" cy="134461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499" name="Line 18">
            <a:extLst>
              <a:ext uri="{FF2B5EF4-FFF2-40B4-BE49-F238E27FC236}">
                <a16:creationId xmlns:a16="http://schemas.microsoft.com/office/drawing/2014/main" id="{2538BFEE-5AAD-536F-40C6-B6BCD7250CDD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 flipV="1">
            <a:off x="2622550" y="5600700"/>
            <a:ext cx="248126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500" name="Rectangle 19">
            <a:extLst>
              <a:ext uri="{FF2B5EF4-FFF2-40B4-BE49-F238E27FC236}">
                <a16:creationId xmlns:a16="http://schemas.microsoft.com/office/drawing/2014/main" id="{5F614E67-0F6A-771E-2074-38B117B808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73125" y="4511675"/>
            <a:ext cx="1441450" cy="1173163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0501" name="Rectangle 20">
            <a:extLst>
              <a:ext uri="{FF2B5EF4-FFF2-40B4-BE49-F238E27FC236}">
                <a16:creationId xmlns:a16="http://schemas.microsoft.com/office/drawing/2014/main" id="{763C96C8-1074-632B-6CE8-548E3AB324B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27113" y="4678363"/>
            <a:ext cx="1441450" cy="117316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0502" name="Rectangle 21">
            <a:extLst>
              <a:ext uri="{FF2B5EF4-FFF2-40B4-BE49-F238E27FC236}">
                <a16:creationId xmlns:a16="http://schemas.microsoft.com/office/drawing/2014/main" id="{20F73112-94C2-34A5-7EFE-5FD6B2754A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82688" y="4846638"/>
            <a:ext cx="1439862" cy="117316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작업자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스레드</a:t>
            </a:r>
          </a:p>
        </p:txBody>
      </p:sp>
      <p:sp>
        <p:nvSpPr>
          <p:cNvPr id="20503" name="Line 22">
            <a:extLst>
              <a:ext uri="{FF2B5EF4-FFF2-40B4-BE49-F238E27FC236}">
                <a16:creationId xmlns:a16="http://schemas.microsoft.com/office/drawing/2014/main" id="{4B8A6C5D-ECCA-648A-8C05-721D85C29F42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 flipV="1">
            <a:off x="1897063" y="4189413"/>
            <a:ext cx="0" cy="657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504" name="Line 23">
            <a:extLst>
              <a:ext uri="{FF2B5EF4-FFF2-40B4-BE49-F238E27FC236}">
                <a16:creationId xmlns:a16="http://schemas.microsoft.com/office/drawing/2014/main" id="{0C50D1C4-1285-CEEB-AABC-B3B7F5CF6152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749425" y="4060825"/>
            <a:ext cx="0" cy="604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505" name="Line 24">
            <a:extLst>
              <a:ext uri="{FF2B5EF4-FFF2-40B4-BE49-F238E27FC236}">
                <a16:creationId xmlns:a16="http://schemas.microsoft.com/office/drawing/2014/main" id="{E1758F3C-7603-1519-9590-315286ECD5A6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600200" y="3956050"/>
            <a:ext cx="0" cy="5556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506" name="Line 25">
            <a:extLst>
              <a:ext uri="{FF2B5EF4-FFF2-40B4-BE49-F238E27FC236}">
                <a16:creationId xmlns:a16="http://schemas.microsoft.com/office/drawing/2014/main" id="{10BE6968-C6D6-3F77-B68D-1265D05396AF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889125" y="4175125"/>
            <a:ext cx="2295525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507" name="Rectangle 26">
            <a:extLst>
              <a:ext uri="{FF2B5EF4-FFF2-40B4-BE49-F238E27FC236}">
                <a16:creationId xmlns:a16="http://schemas.microsoft.com/office/drawing/2014/main" id="{B1498F64-42DA-214F-3A23-ADE4FBA09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44550" y="4214813"/>
            <a:ext cx="3249613" cy="255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bIns="82800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② GetQueuedCompletionStatus()</a:t>
            </a:r>
          </a:p>
        </p:txBody>
      </p:sp>
      <p:sp>
        <p:nvSpPr>
          <p:cNvPr id="20508" name="Line 27">
            <a:extLst>
              <a:ext uri="{FF2B5EF4-FFF2-40B4-BE49-F238E27FC236}">
                <a16:creationId xmlns:a16="http://schemas.microsoft.com/office/drawing/2014/main" id="{1342D156-9182-2575-B2BB-CD21109B942B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749425" y="4062413"/>
            <a:ext cx="243046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509" name="Line 28">
            <a:extLst>
              <a:ext uri="{FF2B5EF4-FFF2-40B4-BE49-F238E27FC236}">
                <a16:creationId xmlns:a16="http://schemas.microsoft.com/office/drawing/2014/main" id="{78478F62-F9BC-8DDE-A810-F83941929025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606550" y="3937000"/>
            <a:ext cx="2574925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510" name="Rectangle 29">
            <a:extLst>
              <a:ext uri="{FF2B5EF4-FFF2-40B4-BE49-F238E27FC236}">
                <a16:creationId xmlns:a16="http://schemas.microsoft.com/office/drawing/2014/main" id="{1F9AC41D-050E-664F-6DF2-EAF7080B97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55913" y="5768975"/>
            <a:ext cx="2165350" cy="250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 ④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비동기 입출력 결과 처리</a:t>
            </a:r>
          </a:p>
        </p:txBody>
      </p:sp>
      <p:sp>
        <p:nvSpPr>
          <p:cNvPr id="20511" name="Line 30">
            <a:extLst>
              <a:ext uri="{FF2B5EF4-FFF2-40B4-BE49-F238E27FC236}">
                <a16:creationId xmlns:a16="http://schemas.microsoft.com/office/drawing/2014/main" id="{AF9FC43A-971F-3344-A5F0-734AB52E94FD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>
            <a:off x="606425" y="5349875"/>
            <a:ext cx="57467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512" name="Line 31">
            <a:extLst>
              <a:ext uri="{FF2B5EF4-FFF2-40B4-BE49-F238E27FC236}">
                <a16:creationId xmlns:a16="http://schemas.microsoft.com/office/drawing/2014/main" id="{1EDA006F-DB44-98C0-B2E1-61B7BF11EC83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606425" y="2316163"/>
            <a:ext cx="0" cy="30511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513" name="Line 32">
            <a:extLst>
              <a:ext uri="{FF2B5EF4-FFF2-40B4-BE49-F238E27FC236}">
                <a16:creationId xmlns:a16="http://schemas.microsoft.com/office/drawing/2014/main" id="{5C8BD4EC-6107-33B5-EA5D-83A5290B08FD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>
            <a:off x="455613" y="5561013"/>
            <a:ext cx="7302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514" name="Line 33">
            <a:extLst>
              <a:ext uri="{FF2B5EF4-FFF2-40B4-BE49-F238E27FC236}">
                <a16:creationId xmlns:a16="http://schemas.microsoft.com/office/drawing/2014/main" id="{D39B04B0-BA55-B887-DC1F-6F693E812D45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457200" y="2144713"/>
            <a:ext cx="0" cy="34369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515" name="Line 34">
            <a:extLst>
              <a:ext uri="{FF2B5EF4-FFF2-40B4-BE49-F238E27FC236}">
                <a16:creationId xmlns:a16="http://schemas.microsoft.com/office/drawing/2014/main" id="{E00C2CC9-7126-4261-9B8B-33A212DEEA2D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4479925" y="4267200"/>
            <a:ext cx="0" cy="11017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516" name="Line 35">
            <a:extLst>
              <a:ext uri="{FF2B5EF4-FFF2-40B4-BE49-F238E27FC236}">
                <a16:creationId xmlns:a16="http://schemas.microsoft.com/office/drawing/2014/main" id="{43C4A57B-DF1B-4158-575C-9E107F8C16F2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 flipV="1">
            <a:off x="2630488" y="5356225"/>
            <a:ext cx="1863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바닥글 개체 틀 3">
            <a:extLst>
              <a:ext uri="{FF2B5EF4-FFF2-40B4-BE49-F238E27FC236}">
                <a16:creationId xmlns:a16="http://schemas.microsoft.com/office/drawing/2014/main" id="{ECAEDCB5-7723-9B2C-119F-36DFDD30B4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05EF5126-41E6-B11E-6667-17A563D397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</a:t>
            </a:r>
            <a:r>
              <a:rPr lang="ko-KR" altLang="en-US" sz="2400"/>
              <a:t>네트워크 </a:t>
            </a:r>
            <a:r>
              <a:rPr lang="en-US" altLang="ko-KR" sz="2400"/>
              <a:t>Util - </a:t>
            </a:r>
            <a:r>
              <a:rPr lang="ko-KR" altLang="en-US" sz="2400"/>
              <a:t>원형 큐</a:t>
            </a:r>
          </a:p>
        </p:txBody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9D9121B1-202A-BFF4-78ED-629D3B6C41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template&lt;class T&gt;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class TqueCircular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{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protected: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	T*	m_pBuf;		// </a:t>
            </a:r>
            <a:r>
              <a:rPr lang="ko-KR" altLang="en-US" sz="1800"/>
              <a:t>큐의 버퍼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800"/>
              <a:t>	</a:t>
            </a:r>
            <a:r>
              <a:rPr lang="en-US" altLang="ko-KR" sz="1800"/>
              <a:t>int	m_iFront;	// </a:t>
            </a:r>
            <a:r>
              <a:rPr lang="ko-KR" altLang="en-US" sz="1800"/>
              <a:t>시작 위치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800"/>
              <a:t>	</a:t>
            </a:r>
            <a:r>
              <a:rPr lang="en-US" altLang="ko-KR" sz="1800"/>
              <a:t>int	m_iRear;		// </a:t>
            </a:r>
            <a:r>
              <a:rPr lang="ko-KR" altLang="en-US" sz="1800"/>
              <a:t>끝 위치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800"/>
              <a:t>	</a:t>
            </a:r>
            <a:r>
              <a:rPr lang="en-US" altLang="ko-KR" sz="1800"/>
              <a:t>int	m_iSpace;	// </a:t>
            </a:r>
            <a:r>
              <a:rPr lang="ko-KR" altLang="en-US" sz="1800"/>
              <a:t>남아있는 큐의 버퍼 크기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800"/>
              <a:t>	</a:t>
            </a:r>
            <a:r>
              <a:rPr lang="en-US" altLang="ko-KR" sz="1800"/>
              <a:t>int	m_iWidth;	// </a:t>
            </a:r>
            <a:r>
              <a:rPr lang="ko-KR" altLang="en-US" sz="1800"/>
              <a:t>큐의 버퍼 크기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public: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	TqueCircular();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	TqueCircular(int iWidth);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	virtual ~TqueCircular();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	int	Enqueue(T* p);	// </a:t>
            </a:r>
            <a:r>
              <a:rPr lang="ko-KR" altLang="en-US" sz="1800"/>
              <a:t>데이터 추가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800"/>
              <a:t>	</a:t>
            </a:r>
            <a:r>
              <a:rPr lang="en-US" altLang="ko-KR" sz="1800"/>
              <a:t>int	Dequeue(T* p);	// </a:t>
            </a:r>
            <a:r>
              <a:rPr lang="ko-KR" altLang="en-US" sz="1800"/>
              <a:t>데이터 꺼냄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};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1800"/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1800"/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template&lt;class T&gt;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TqueCircular&lt;T&gt;::TqueCircular()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>
                <a:latin typeface="Times New Roman" panose="02020603050405020304" pitchFamily="18" charset="0"/>
              </a:rPr>
              <a:t>…</a:t>
            </a:r>
            <a:endParaRPr lang="en-US" altLang="ko-KR"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바닥글 개체 틀 3">
            <a:extLst>
              <a:ext uri="{FF2B5EF4-FFF2-40B4-BE49-F238E27FC236}">
                <a16:creationId xmlns:a16="http://schemas.microsoft.com/office/drawing/2014/main" id="{386B57A3-A990-5503-2F77-A0285F67E2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2531" name="Rectangle 2">
            <a:extLst>
              <a:ext uri="{FF2B5EF4-FFF2-40B4-BE49-F238E27FC236}">
                <a16:creationId xmlns:a16="http://schemas.microsoft.com/office/drawing/2014/main" id="{6202D423-C41C-FCCB-15A1-09DE1FFD8B7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</a:t>
            </a:r>
            <a:r>
              <a:rPr lang="ko-KR" altLang="en-US" sz="2400"/>
              <a:t>네트워크 </a:t>
            </a:r>
            <a:r>
              <a:rPr lang="en-US" altLang="ko-KR" sz="2400"/>
              <a:t>Util - </a:t>
            </a:r>
            <a:r>
              <a:rPr lang="ko-KR" altLang="en-US" sz="2400"/>
              <a:t>링 버퍼</a:t>
            </a:r>
          </a:p>
        </p:txBody>
      </p:sp>
      <p:sp>
        <p:nvSpPr>
          <p:cNvPr id="22532" name="Rectangle 3">
            <a:extLst>
              <a:ext uri="{FF2B5EF4-FFF2-40B4-BE49-F238E27FC236}">
                <a16:creationId xmlns:a16="http://schemas.microsoft.com/office/drawing/2014/main" id="{469520C4-31D0-4510-7156-8841748ACF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typedef	unsigned char	BYTE;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1400"/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class CQueStr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{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protected: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	BYTE*	m_sBuf;			// </a:t>
            </a:r>
            <a:r>
              <a:rPr lang="ko-KR" altLang="en-US" sz="1400"/>
              <a:t>큐의 버퍼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/>
              <a:t>	</a:t>
            </a:r>
            <a:r>
              <a:rPr lang="en-US" altLang="ko-KR" sz="1400"/>
              <a:t>int	m_iFront;			// Front </a:t>
            </a:r>
            <a:r>
              <a:rPr lang="ko-KR" altLang="en-US" sz="1400"/>
              <a:t>위치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/>
              <a:t>	</a:t>
            </a:r>
            <a:r>
              <a:rPr lang="en-US" altLang="ko-KR" sz="1400"/>
              <a:t>int	m_iRear;			// Rear </a:t>
            </a:r>
            <a:r>
              <a:rPr lang="ko-KR" altLang="en-US" sz="1400"/>
              <a:t>위치위치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/>
              <a:t>	</a:t>
            </a:r>
            <a:r>
              <a:rPr lang="en-US" altLang="ko-KR" sz="1400"/>
              <a:t>int	m_iSpace;			// </a:t>
            </a:r>
            <a:r>
              <a:rPr lang="ko-KR" altLang="en-US" sz="1400"/>
              <a:t>남아 있는 공간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/>
              <a:t>	</a:t>
            </a:r>
            <a:r>
              <a:rPr lang="en-US" altLang="ko-KR" sz="1400"/>
              <a:t>int	m_iWidth;			// </a:t>
            </a:r>
            <a:r>
              <a:rPr lang="ko-KR" altLang="en-US" sz="1400"/>
              <a:t>큐의 버퍼 크기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ko-KR" altLang="en-US" sz="1400"/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public: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	CQueStr();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	CQueStr(int iWidth);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	virtual ~CQueStr();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1400"/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	int	Enqueue(void* sIn,int iSize);	// </a:t>
            </a:r>
            <a:r>
              <a:rPr lang="ko-KR" altLang="en-US" sz="1400"/>
              <a:t>데이터 추가기</a:t>
            </a:r>
            <a:r>
              <a:rPr lang="en-US" altLang="ko-KR" sz="1400"/>
              <a:t>. </a:t>
            </a:r>
            <a:r>
              <a:rPr lang="ko-KR" altLang="en-US" sz="1400"/>
              <a:t>리턴 값은 추가 못한 나머지 사이즈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/>
              <a:t>	</a:t>
            </a:r>
            <a:r>
              <a:rPr lang="en-US" altLang="ko-KR" sz="1400"/>
              <a:t>int	Dequeue(void*sOut,int* iSize);	// </a:t>
            </a:r>
            <a:r>
              <a:rPr lang="ko-KR" altLang="en-US" sz="1400"/>
              <a:t>데이터 가져오기</a:t>
            </a:r>
            <a:r>
              <a:rPr lang="en-US" altLang="ko-KR" sz="1400"/>
              <a:t>. </a:t>
            </a:r>
            <a:r>
              <a:rPr lang="ko-KR" altLang="en-US" sz="1400"/>
              <a:t>리턴 값은 꺼내온 사이즈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ko-KR" altLang="en-US" sz="1400"/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/>
              <a:t>	</a:t>
            </a:r>
            <a:r>
              <a:rPr lang="en-US" altLang="ko-KR" sz="1400"/>
              <a:t>void	Clear();			// </a:t>
            </a:r>
            <a:r>
              <a:rPr lang="ko-KR" altLang="en-US" sz="1400"/>
              <a:t>큐의 내용을 지움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/>
              <a:t>	</a:t>
            </a:r>
            <a:r>
              <a:rPr lang="en-US" altLang="ko-KR" sz="1400"/>
              <a:t>int	GetWidth();		// </a:t>
            </a:r>
            <a:r>
              <a:rPr lang="ko-KR" altLang="en-US" sz="1400"/>
              <a:t>큐의 크기를 가져옴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/>
              <a:t>	</a:t>
            </a:r>
            <a:r>
              <a:rPr lang="en-US" altLang="ko-KR" sz="1400"/>
              <a:t>int	GetRemain();		// </a:t>
            </a:r>
            <a:r>
              <a:rPr lang="ko-KR" altLang="en-US" sz="1400"/>
              <a:t>큐의 남아 있는 크기를 가져옴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/>
              <a:t>	</a:t>
            </a:r>
            <a:r>
              <a:rPr lang="en-US" altLang="ko-KR" sz="1400"/>
              <a:t>void	Resize(int iSize);		// </a:t>
            </a:r>
            <a:r>
              <a:rPr lang="ko-KR" altLang="en-US" sz="1400"/>
              <a:t>큐의 사이즈를 다시 설정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};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바닥글 개체 틀 3">
            <a:extLst>
              <a:ext uri="{FF2B5EF4-FFF2-40B4-BE49-F238E27FC236}">
                <a16:creationId xmlns:a16="http://schemas.microsoft.com/office/drawing/2014/main" id="{9FEA2461-F4FE-893E-DCC0-80BAFC9666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DF4B505D-968D-9682-C8B8-6DA3A71E7E8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</a:t>
            </a:r>
            <a:r>
              <a:rPr lang="ko-KR" altLang="en-US" sz="2400"/>
              <a:t>네트워크 </a:t>
            </a:r>
            <a:r>
              <a:rPr lang="en-US" altLang="ko-KR" sz="2400"/>
              <a:t>Util - </a:t>
            </a:r>
            <a:r>
              <a:rPr lang="ko-KR" altLang="en-US" sz="2400"/>
              <a:t>패킷 디자인</a:t>
            </a:r>
          </a:p>
        </p:txBody>
      </p:sp>
      <p:grpSp>
        <p:nvGrpSpPr>
          <p:cNvPr id="23556" name="Group 23">
            <a:extLst>
              <a:ext uri="{FF2B5EF4-FFF2-40B4-BE49-F238E27FC236}">
                <a16:creationId xmlns:a16="http://schemas.microsoft.com/office/drawing/2014/main" id="{198B148B-AEDC-B71C-9056-8302F3B8C1B6}"/>
              </a:ext>
            </a:extLst>
          </p:cNvPr>
          <p:cNvGrpSpPr>
            <a:grpSpLocks/>
          </p:cNvGrpSpPr>
          <p:nvPr/>
        </p:nvGrpSpPr>
        <p:grpSpPr bwMode="auto">
          <a:xfrm>
            <a:off x="684213" y="1341438"/>
            <a:ext cx="3941762" cy="576262"/>
            <a:chOff x="113" y="664"/>
            <a:chExt cx="2483" cy="363"/>
          </a:xfrm>
        </p:grpSpPr>
        <p:sp>
          <p:nvSpPr>
            <p:cNvPr id="23567" name="Rectangle 6">
              <a:extLst>
                <a:ext uri="{FF2B5EF4-FFF2-40B4-BE49-F238E27FC236}">
                  <a16:creationId xmlns:a16="http://schemas.microsoft.com/office/drawing/2014/main" id="{7755F7F5-6077-C5EB-8248-859B6658D8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664"/>
              <a:ext cx="832" cy="363"/>
            </a:xfrm>
            <a:prstGeom prst="rect">
              <a:avLst/>
            </a:prstGeom>
            <a:solidFill>
              <a:srgbClr val="00FFFF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/>
                <a:t>길이</a:t>
              </a:r>
              <a:r>
                <a:rPr lang="en-US" altLang="ko-KR" sz="1800"/>
                <a:t>(2Byte)</a:t>
              </a:r>
            </a:p>
          </p:txBody>
        </p:sp>
        <p:sp>
          <p:nvSpPr>
            <p:cNvPr id="23568" name="Rectangle 7">
              <a:extLst>
                <a:ext uri="{FF2B5EF4-FFF2-40B4-BE49-F238E27FC236}">
                  <a16:creationId xmlns:a16="http://schemas.microsoft.com/office/drawing/2014/main" id="{E52BABF4-C8F6-2A67-CF90-ACE816F69F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664"/>
              <a:ext cx="1651" cy="363"/>
            </a:xfrm>
            <a:prstGeom prst="rect">
              <a:avLst/>
            </a:prstGeom>
            <a:solidFill>
              <a:srgbClr val="CC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/>
                <a:t>메시지</a:t>
              </a:r>
            </a:p>
          </p:txBody>
        </p:sp>
      </p:grpSp>
      <p:grpSp>
        <p:nvGrpSpPr>
          <p:cNvPr id="23557" name="Group 24">
            <a:extLst>
              <a:ext uri="{FF2B5EF4-FFF2-40B4-BE49-F238E27FC236}">
                <a16:creationId xmlns:a16="http://schemas.microsoft.com/office/drawing/2014/main" id="{B7AB8139-AE2A-F0DE-9C78-527F98094EA3}"/>
              </a:ext>
            </a:extLst>
          </p:cNvPr>
          <p:cNvGrpSpPr>
            <a:grpSpLocks/>
          </p:cNvGrpSpPr>
          <p:nvPr/>
        </p:nvGrpSpPr>
        <p:grpSpPr bwMode="auto">
          <a:xfrm>
            <a:off x="684213" y="3429000"/>
            <a:ext cx="6121400" cy="576263"/>
            <a:chOff x="113" y="1253"/>
            <a:chExt cx="3856" cy="363"/>
          </a:xfrm>
        </p:grpSpPr>
        <p:sp>
          <p:nvSpPr>
            <p:cNvPr id="23564" name="Rectangle 11">
              <a:extLst>
                <a:ext uri="{FF2B5EF4-FFF2-40B4-BE49-F238E27FC236}">
                  <a16:creationId xmlns:a16="http://schemas.microsoft.com/office/drawing/2014/main" id="{B26F5744-EA04-DA4A-149B-20666415A9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1253"/>
              <a:ext cx="832" cy="363"/>
            </a:xfrm>
            <a:prstGeom prst="rect">
              <a:avLst/>
            </a:prstGeom>
            <a:solidFill>
              <a:srgbClr val="00FFFF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/>
                <a:t>길이</a:t>
              </a:r>
              <a:r>
                <a:rPr lang="en-US" altLang="ko-KR" sz="1800"/>
                <a:t>(2Byte)</a:t>
              </a:r>
            </a:p>
          </p:txBody>
        </p:sp>
        <p:sp>
          <p:nvSpPr>
            <p:cNvPr id="23565" name="Rectangle 12">
              <a:extLst>
                <a:ext uri="{FF2B5EF4-FFF2-40B4-BE49-F238E27FC236}">
                  <a16:creationId xmlns:a16="http://schemas.microsoft.com/office/drawing/2014/main" id="{E4D7AB76-9BAD-52C4-3461-65768DE2C6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18" y="1253"/>
              <a:ext cx="1651" cy="363"/>
            </a:xfrm>
            <a:prstGeom prst="rect">
              <a:avLst/>
            </a:prstGeom>
            <a:solidFill>
              <a:srgbClr val="CC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/>
                <a:t>메시지</a:t>
              </a:r>
            </a:p>
          </p:txBody>
        </p:sp>
        <p:sp>
          <p:nvSpPr>
            <p:cNvPr id="23566" name="Rectangle 13">
              <a:extLst>
                <a:ext uri="{FF2B5EF4-FFF2-40B4-BE49-F238E27FC236}">
                  <a16:creationId xmlns:a16="http://schemas.microsoft.com/office/drawing/2014/main" id="{7205D774-3571-FFDB-D7B8-84E74292C3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1253"/>
              <a:ext cx="1373" cy="363"/>
            </a:xfrm>
            <a:prstGeom prst="rect">
              <a:avLst/>
            </a:prstGeom>
            <a:solidFill>
              <a:srgbClr val="66FF33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/>
                <a:t>종류</a:t>
              </a:r>
              <a:r>
                <a:rPr lang="en-US" altLang="ko-KR" sz="1800"/>
                <a:t>(4Byte)</a:t>
              </a:r>
            </a:p>
          </p:txBody>
        </p:sp>
      </p:grpSp>
      <p:grpSp>
        <p:nvGrpSpPr>
          <p:cNvPr id="23558" name="Group 25">
            <a:extLst>
              <a:ext uri="{FF2B5EF4-FFF2-40B4-BE49-F238E27FC236}">
                <a16:creationId xmlns:a16="http://schemas.microsoft.com/office/drawing/2014/main" id="{11A65198-294B-7FF1-CC58-1C898EC1FFFB}"/>
              </a:ext>
            </a:extLst>
          </p:cNvPr>
          <p:cNvGrpSpPr>
            <a:grpSpLocks/>
          </p:cNvGrpSpPr>
          <p:nvPr/>
        </p:nvGrpSpPr>
        <p:grpSpPr bwMode="auto">
          <a:xfrm>
            <a:off x="684213" y="5445125"/>
            <a:ext cx="8301037" cy="576263"/>
            <a:chOff x="113" y="1842"/>
            <a:chExt cx="5229" cy="363"/>
          </a:xfrm>
        </p:grpSpPr>
        <p:sp>
          <p:nvSpPr>
            <p:cNvPr id="23560" name="Rectangle 19">
              <a:extLst>
                <a:ext uri="{FF2B5EF4-FFF2-40B4-BE49-F238E27FC236}">
                  <a16:creationId xmlns:a16="http://schemas.microsoft.com/office/drawing/2014/main" id="{63CF0C36-4B83-2975-0414-91B3A6949A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1842"/>
              <a:ext cx="832" cy="363"/>
            </a:xfrm>
            <a:prstGeom prst="rect">
              <a:avLst/>
            </a:prstGeom>
            <a:solidFill>
              <a:srgbClr val="00FFFF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/>
                <a:t>길이</a:t>
              </a:r>
              <a:r>
                <a:rPr lang="en-US" altLang="ko-KR" sz="1800"/>
                <a:t>(2Byte)</a:t>
              </a:r>
            </a:p>
          </p:txBody>
        </p:sp>
        <p:sp>
          <p:nvSpPr>
            <p:cNvPr id="23561" name="Rectangle 20">
              <a:extLst>
                <a:ext uri="{FF2B5EF4-FFF2-40B4-BE49-F238E27FC236}">
                  <a16:creationId xmlns:a16="http://schemas.microsoft.com/office/drawing/2014/main" id="{11FC80E7-072F-3319-93B5-9DC340C3F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18" y="1842"/>
              <a:ext cx="1651" cy="363"/>
            </a:xfrm>
            <a:prstGeom prst="rect">
              <a:avLst/>
            </a:prstGeom>
            <a:solidFill>
              <a:srgbClr val="CC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/>
                <a:t>메시지</a:t>
              </a:r>
            </a:p>
          </p:txBody>
        </p:sp>
        <p:sp>
          <p:nvSpPr>
            <p:cNvPr id="23562" name="Rectangle 21">
              <a:extLst>
                <a:ext uri="{FF2B5EF4-FFF2-40B4-BE49-F238E27FC236}">
                  <a16:creationId xmlns:a16="http://schemas.microsoft.com/office/drawing/2014/main" id="{DFEEA92F-9611-A099-CA0F-9793A2115D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1842"/>
              <a:ext cx="1373" cy="363"/>
            </a:xfrm>
            <a:prstGeom prst="rect">
              <a:avLst/>
            </a:prstGeom>
            <a:solidFill>
              <a:srgbClr val="66FF33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/>
                <a:t>종류</a:t>
              </a:r>
              <a:r>
                <a:rPr lang="en-US" altLang="ko-KR" sz="1800"/>
                <a:t>(4Byte)</a:t>
              </a:r>
            </a:p>
          </p:txBody>
        </p:sp>
        <p:sp>
          <p:nvSpPr>
            <p:cNvPr id="23563" name="Rectangle 22">
              <a:extLst>
                <a:ext uri="{FF2B5EF4-FFF2-40B4-BE49-F238E27FC236}">
                  <a16:creationId xmlns:a16="http://schemas.microsoft.com/office/drawing/2014/main" id="{7A76B8B5-76E4-0E31-36A5-B926741FAD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9" y="1842"/>
              <a:ext cx="1373" cy="363"/>
            </a:xfrm>
            <a:prstGeom prst="rect">
              <a:avLst/>
            </a:prstGeom>
            <a:solidFill>
              <a:srgbClr val="FF99FF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US" altLang="ko-KR" sz="1800"/>
                <a:t>End Marker(4Byte)</a:t>
              </a:r>
            </a:p>
          </p:txBody>
        </p:sp>
      </p:grpSp>
      <p:sp>
        <p:nvSpPr>
          <p:cNvPr id="23559" name="Rectangle 26">
            <a:extLst>
              <a:ext uri="{FF2B5EF4-FFF2-40B4-BE49-F238E27FC236}">
                <a16:creationId xmlns:a16="http://schemas.microsoft.com/office/drawing/2014/main" id="{BAF28182-FED0-3DE6-E421-DD8DFFCC07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r>
              <a:rPr lang="ko-KR" altLang="en-US"/>
              <a:t>단순 패킷 구조</a:t>
            </a:r>
          </a:p>
          <a:p>
            <a:pPr eaLnBrk="1" hangingPunct="1"/>
            <a:endParaRPr lang="ko-KR" altLang="en-US"/>
          </a:p>
          <a:p>
            <a:pPr eaLnBrk="1" hangingPunct="1"/>
            <a:endParaRPr lang="ko-KR" altLang="en-US"/>
          </a:p>
          <a:p>
            <a:pPr eaLnBrk="1" hangingPunct="1"/>
            <a:endParaRPr lang="ko-KR" altLang="en-US"/>
          </a:p>
          <a:p>
            <a:pPr eaLnBrk="1" hangingPunct="1"/>
            <a:r>
              <a:rPr lang="ko-KR" altLang="en-US"/>
              <a:t>패킷 종류가 들어간 구조</a:t>
            </a:r>
          </a:p>
          <a:p>
            <a:pPr eaLnBrk="1" hangingPunct="1"/>
            <a:endParaRPr lang="ko-KR" altLang="en-US"/>
          </a:p>
          <a:p>
            <a:pPr eaLnBrk="1" hangingPunct="1"/>
            <a:endParaRPr lang="ko-KR" altLang="en-US"/>
          </a:p>
          <a:p>
            <a:pPr eaLnBrk="1" hangingPunct="1"/>
            <a:endParaRPr lang="ko-KR" altLang="en-US"/>
          </a:p>
          <a:p>
            <a:pPr eaLnBrk="1" hangingPunct="1"/>
            <a:r>
              <a:rPr lang="en-US" altLang="ko-KR"/>
              <a:t>End Marker</a:t>
            </a:r>
            <a:r>
              <a:rPr lang="ko-KR" altLang="en-US"/>
              <a:t>가 들어간 구조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2945</TotalTime>
  <Words>2000</Words>
  <Application>Microsoft Office PowerPoint</Application>
  <PresentationFormat>화면 슬라이드 쇼(4:3)</PresentationFormat>
  <Paragraphs>360</Paragraphs>
  <Slides>20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Arial</vt:lpstr>
      <vt:lpstr>굴림</vt:lpstr>
      <vt:lpstr>가을체</vt:lpstr>
      <vt:lpstr>Wingdings</vt:lpstr>
      <vt:lpstr>HY견고딕</vt:lpstr>
      <vt:lpstr>Times New Roman</vt:lpstr>
      <vt:lpstr>Arial Black</vt:lpstr>
      <vt:lpstr>기본 디자인</vt:lpstr>
      <vt:lpstr>Network Programming - 04  afewhee@gmail.com</vt:lpstr>
      <vt:lpstr>0. 목차</vt:lpstr>
      <vt:lpstr>1. I/O 모델</vt:lpstr>
      <vt:lpstr>1. I/O 모델</vt:lpstr>
      <vt:lpstr>1. I/O 모델</vt:lpstr>
      <vt:lpstr>1. I/O 모델</vt:lpstr>
      <vt:lpstr>1. I/O 모델 - Overlapped I/O 모델 분류</vt:lpstr>
      <vt:lpstr>PowerPoint 프레젠테이션</vt:lpstr>
      <vt:lpstr>PowerPoint 프레젠테이션</vt:lpstr>
      <vt:lpstr>2. IOCP - 소켓 입출력 절차</vt:lpstr>
      <vt:lpstr>2. IOCP - 주요함수</vt:lpstr>
      <vt:lpstr>2. IOCP - 주요함수</vt:lpstr>
      <vt:lpstr>2. IOCP - 주요함수</vt:lpstr>
      <vt:lpstr>2. IOCP</vt:lpstr>
      <vt:lpstr>2. IOCP</vt:lpstr>
      <vt:lpstr>2. IOCP</vt:lpstr>
      <vt:lpstr>2. IOCP</vt:lpstr>
      <vt:lpstr>3. 네트워크 Util - 원형 큐</vt:lpstr>
      <vt:lpstr>3. 네트워크 Util - 링 버퍼</vt:lpstr>
      <vt:lpstr>3. 네트워크 Util - 패킷 디자인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166</cp:revision>
  <dcterms:created xsi:type="dcterms:W3CDTF">2003-11-30T16:03:20Z</dcterms:created>
  <dcterms:modified xsi:type="dcterms:W3CDTF">2026-03-10T13:27:24Z</dcterms:modified>
</cp:coreProperties>
</file>