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68" r:id="rId3"/>
    <p:sldId id="269" r:id="rId4"/>
    <p:sldId id="271" r:id="rId5"/>
    <p:sldId id="273" r:id="rId6"/>
    <p:sldId id="274" r:id="rId7"/>
    <p:sldId id="275" r:id="rId8"/>
    <p:sldId id="276" r:id="rId9"/>
    <p:sldId id="285" r:id="rId10"/>
    <p:sldId id="277" r:id="rId11"/>
    <p:sldId id="278" r:id="rId12"/>
    <p:sldId id="283" r:id="rId13"/>
  </p:sldIdLst>
  <p:sldSz cx="9144000" cy="6858000" type="screen4x3"/>
  <p:notesSz cx="6858000" cy="9144000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63">
          <p15:clr>
            <a:srgbClr val="A4A3A4"/>
          </p15:clr>
        </p15:guide>
        <p15:guide id="2" orient="horz" pos="890">
          <p15:clr>
            <a:srgbClr val="A4A3A4"/>
          </p15:clr>
        </p15:guide>
        <p15:guide id="3" orient="horz" pos="1026">
          <p15:clr>
            <a:srgbClr val="A4A3A4"/>
          </p15:clr>
        </p15:guide>
        <p15:guide id="4" pos="930">
          <p15:clr>
            <a:srgbClr val="A4A3A4"/>
          </p15:clr>
        </p15:guide>
        <p15:guide id="5" pos="476">
          <p15:clr>
            <a:srgbClr val="A4A3A4"/>
          </p15:clr>
        </p15:guide>
        <p15:guide id="6" pos="2880">
          <p15:clr>
            <a:srgbClr val="A4A3A4"/>
          </p15:clr>
        </p15:guide>
        <p15:guide id="7" pos="4105">
          <p15:clr>
            <a:srgbClr val="A4A3A4"/>
          </p15:clr>
        </p15:guide>
        <p15:guide id="8" pos="1519">
          <p15:clr>
            <a:srgbClr val="A4A3A4"/>
          </p15:clr>
        </p15:guide>
        <p15:guide id="9" pos="703">
          <p15:clr>
            <a:srgbClr val="A4A3A4"/>
          </p15:clr>
        </p15:guide>
        <p15:guide id="10" pos="1927">
          <p15:clr>
            <a:srgbClr val="A4A3A4"/>
          </p15:clr>
        </p15:guide>
        <p15:guide id="11" pos="52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00"/>
    <a:srgbClr val="FF0000"/>
    <a:srgbClr val="CC0000"/>
    <a:srgbClr val="0000FF"/>
    <a:srgbClr val="009900"/>
    <a:srgbClr val="FF00FF"/>
    <a:srgbClr val="CC00CC"/>
    <a:srgbClr val="66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691" autoAdjust="0"/>
    <p:restoredTop sz="94582" autoAdjust="0"/>
  </p:normalViewPr>
  <p:slideViewPr>
    <p:cSldViewPr>
      <p:cViewPr varScale="1">
        <p:scale>
          <a:sx n="127" d="100"/>
          <a:sy n="127" d="100"/>
        </p:scale>
        <p:origin x="1680" y="114"/>
      </p:cViewPr>
      <p:guideLst>
        <p:guide orient="horz" pos="663"/>
        <p:guide orient="horz" pos="890"/>
        <p:guide orient="horz" pos="1026"/>
        <p:guide pos="930"/>
        <p:guide pos="476"/>
        <p:guide pos="2880"/>
        <p:guide pos="4105"/>
        <p:guide pos="1519"/>
        <p:guide pos="703"/>
        <p:guide pos="1927"/>
        <p:guide pos="52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CFBA77B4-50ED-EF87-0CE8-6E6B74E6A71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44E49877-20D6-9C6C-2C62-6417D5732872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A575700D-B927-51B5-6716-2FFBFC76FB6E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5605" name="Rectangle 5">
            <a:extLst>
              <a:ext uri="{FF2B5EF4-FFF2-40B4-BE49-F238E27FC236}">
                <a16:creationId xmlns:a16="http://schemas.microsoft.com/office/drawing/2014/main" id="{76D35B88-99C0-1869-F9EF-8E109F2B208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25606" name="Rectangle 6">
            <a:extLst>
              <a:ext uri="{FF2B5EF4-FFF2-40B4-BE49-F238E27FC236}">
                <a16:creationId xmlns:a16="http://schemas.microsoft.com/office/drawing/2014/main" id="{8274C312-3053-78DD-04A5-E7F36816F37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5607" name="Rectangle 7">
            <a:extLst>
              <a:ext uri="{FF2B5EF4-FFF2-40B4-BE49-F238E27FC236}">
                <a16:creationId xmlns:a16="http://schemas.microsoft.com/office/drawing/2014/main" id="{49400B75-525A-FFD0-5DF1-567C5758D4E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793FAFCC-E99A-4C86-8417-FF1864A46B2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B65A7FE-047F-0DB3-775D-BA98B2FDB82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ko-KR" altLang="en-US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580116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22407F5-BC0F-354A-0437-8065A5355C0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ko-KR" altLang="en-US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961189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4FC2898-A02E-CD66-03DB-4A5896C5F1B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ko-KR" altLang="en-US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243347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39750" y="692150"/>
            <a:ext cx="4064000" cy="58324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56150" y="692150"/>
            <a:ext cx="4064000" cy="58324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7970048-33A3-4842-2C3E-33566C95418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ko-KR" altLang="en-US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58789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바닥글 개체 틀 6">
            <a:extLst>
              <a:ext uri="{FF2B5EF4-FFF2-40B4-BE49-F238E27FC236}">
                <a16:creationId xmlns:a16="http://schemas.microsoft.com/office/drawing/2014/main" id="{CB990E13-BD46-079D-449C-DDA9C8BB6DF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ko-KR" altLang="en-US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53756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B3674DF-547D-E279-D0EA-7B41AC4405F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ko-KR" altLang="en-US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020085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1EC084B5-66F3-51C4-5973-6699C28BF1A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ko-KR" altLang="en-US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678067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144E790-8FBF-28C9-5F1C-2809F3ACCD1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ko-KR" altLang="en-US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898537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A11D3F7-BBA1-731A-06EF-56044E9D38D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ko-KR" altLang="en-US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4085354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8775A95-3EEE-7290-E848-41C6231ED93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ko-KR" altLang="en-US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653692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750050" y="44450"/>
            <a:ext cx="2070100" cy="64801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539750" y="44450"/>
            <a:ext cx="6057900" cy="64801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23D1944-84DD-EB17-0256-26B9A9E24FF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ko-KR" altLang="en-US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610782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ACD7080-EE97-221E-8ACA-2B9D97F6D8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9750" y="44450"/>
            <a:ext cx="82804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1C29438-F4C7-7874-4262-A9DEC0156D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692150"/>
            <a:ext cx="8280400" cy="583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7534619B-4405-307C-8D75-3FDB91E41A0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821238" y="6597650"/>
            <a:ext cx="3927475" cy="2603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00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1029" name="Rectangle 8">
            <a:extLst>
              <a:ext uri="{FF2B5EF4-FFF2-40B4-BE49-F238E27FC236}">
                <a16:creationId xmlns:a16="http://schemas.microsoft.com/office/drawing/2014/main" id="{186C12CC-54FC-4F04-DFA4-8A61EF6A43C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11950" y="44450"/>
            <a:ext cx="2397125" cy="404813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hangingPunct="1">
              <a:defRPr/>
            </a:pPr>
            <a:r>
              <a:rPr lang="en-US" altLang="ko-KR" sz="900" b="1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Heesung Oh</a:t>
            </a:r>
            <a:endParaRPr lang="en-US" altLang="ko-KR" sz="900">
              <a:solidFill>
                <a:schemeClr val="bg2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r" eaLnBrk="1" hangingPunct="1">
              <a:defRPr/>
            </a:pPr>
            <a:r>
              <a:rPr lang="en-US" altLang="ko-KR" sz="800">
                <a:solidFill>
                  <a:schemeClr val="bg2"/>
                </a:solidFill>
              </a:rPr>
              <a:t>Copyright All rights reserved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</p:sldLayoutIdLst>
  <p:hf sldNum="0" hd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800" b="1" kern="1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rgbClr val="0000FF"/>
        </a:buClr>
        <a:buFont typeface="Wingdings" panose="05000000000000000000" pitchFamily="2" charset="2"/>
        <a:buChar char="l"/>
        <a:defRPr kumimoji="1"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rgbClr val="CC00CC"/>
        </a:buClr>
        <a:buSzPct val="80000"/>
        <a:buFont typeface="Wingdings" panose="05000000000000000000" pitchFamily="2" charset="2"/>
        <a:buChar char="u"/>
        <a:defRPr kumimoji="1" sz="24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9900"/>
        </a:buClr>
        <a:buSzPct val="80000"/>
        <a:buFont typeface="Wingdings" panose="05000000000000000000" pitchFamily="2" charset="2"/>
        <a:buChar char="l"/>
        <a:defRPr kumimoji="1" sz="20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00FF"/>
        </a:buClr>
        <a:buSzPct val="140000"/>
        <a:buFont typeface="Wingdings" panose="05000000000000000000" pitchFamily="2" charset="2"/>
        <a:buChar char="§"/>
        <a:defRPr kumimoji="1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CC0000"/>
        </a:buClr>
        <a:buSzPct val="90000"/>
        <a:buFont typeface="Wingdings" panose="05000000000000000000" pitchFamily="2" charset="2"/>
        <a:buChar char="v"/>
        <a:defRPr kumimoji="1" sz="16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바닥글 개체 틀 3">
            <a:extLst>
              <a:ext uri="{FF2B5EF4-FFF2-40B4-BE49-F238E27FC236}">
                <a16:creationId xmlns:a16="http://schemas.microsoft.com/office/drawing/2014/main" id="{F288B84E-47C1-90B8-0470-4064C67B0D3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000" b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374D4E8E-8654-7977-943D-16B608A98D2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708275"/>
            <a:ext cx="7772400" cy="1143000"/>
          </a:xfrm>
        </p:spPr>
        <p:txBody>
          <a:bodyPr anchor="ctr"/>
          <a:lstStyle/>
          <a:p>
            <a:pPr eaLnBrk="1" hangingPunct="1"/>
            <a:r>
              <a:rPr lang="en-US" altLang="ko-KR" sz="3200">
                <a:solidFill>
                  <a:schemeClr val="tx1"/>
                </a:solidFill>
              </a:rPr>
              <a:t>Network Programming - 03</a:t>
            </a:r>
            <a:br>
              <a:rPr lang="en-US" altLang="ko-KR" sz="3200">
                <a:solidFill>
                  <a:schemeClr val="tx1"/>
                </a:solidFill>
              </a:rPr>
            </a:br>
            <a:r>
              <a:rPr lang="en-US" altLang="ko-KR" sz="3200">
                <a:solidFill>
                  <a:schemeClr val="tx1"/>
                </a:solidFill>
              </a:rPr>
              <a:t> </a:t>
            </a:r>
            <a:r>
              <a:rPr lang="en-US" altLang="ko-KR" sz="1400">
                <a:solidFill>
                  <a:schemeClr val="tx1"/>
                </a:solidFill>
              </a:rPr>
              <a:t>afewhee@gmail.com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바닥글 개체 틀 3">
            <a:extLst>
              <a:ext uri="{FF2B5EF4-FFF2-40B4-BE49-F238E27FC236}">
                <a16:creationId xmlns:a16="http://schemas.microsoft.com/office/drawing/2014/main" id="{F3A5D71B-7DB1-E790-F585-66B1E883768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000" b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169EB08C-9356-0EC5-7BAA-32ECF5C423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/>
              <a:t>0. </a:t>
            </a:r>
            <a:r>
              <a:rPr lang="ko-KR" altLang="en-US" sz="2400"/>
              <a:t>목차</a:t>
            </a:r>
          </a:p>
        </p:txBody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37623951-5B52-DA02-E727-E6ACA8F858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ko-KR"/>
              <a:t>WSAAsyncSelect </a:t>
            </a:r>
            <a:r>
              <a:rPr lang="ko-KR" altLang="en-US"/>
              <a:t>모델</a:t>
            </a:r>
          </a:p>
          <a:p>
            <a:pPr eaLnBrk="1" hangingPunct="1"/>
            <a:endParaRPr lang="ko-KR" altLang="en-US"/>
          </a:p>
          <a:p>
            <a:pPr eaLnBrk="1" hangingPunct="1"/>
            <a:r>
              <a:rPr lang="en-US" altLang="ko-KR"/>
              <a:t>WSAEventSelect </a:t>
            </a:r>
            <a:r>
              <a:rPr lang="ko-KR" altLang="en-US"/>
              <a:t>모델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바닥글 개체 틀 3">
            <a:extLst>
              <a:ext uri="{FF2B5EF4-FFF2-40B4-BE49-F238E27FC236}">
                <a16:creationId xmlns:a16="http://schemas.microsoft.com/office/drawing/2014/main" id="{AEAFD2DD-E32D-2DEA-7B6F-4FC18BE91EF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000" b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B45FD446-0FFC-D311-E7BF-5421ECBF26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/>
              <a:t>1. WSAAsyncSelect</a:t>
            </a: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CA6F6F76-6E37-7F87-E7DF-65810B89AD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ko-KR" sz="2400"/>
              <a:t>WSAAsyncSelect </a:t>
            </a:r>
            <a:r>
              <a:rPr lang="ko-KR" altLang="en-US" sz="2400"/>
              <a:t>모델</a:t>
            </a:r>
          </a:p>
          <a:p>
            <a:pPr lvl="1" eaLnBrk="1" hangingPunct="1"/>
            <a:r>
              <a:rPr lang="en-US" altLang="ko-KR" sz="2000"/>
              <a:t>WSAAsyncSelect() </a:t>
            </a:r>
            <a:r>
              <a:rPr lang="ko-KR" altLang="en-US" sz="2000"/>
              <a:t>함수 사용 </a:t>
            </a:r>
          </a:p>
          <a:p>
            <a:pPr lvl="1" eaLnBrk="1" hangingPunct="1"/>
            <a:r>
              <a:rPr lang="en-US" altLang="ko-KR" sz="2000"/>
              <a:t>I/O </a:t>
            </a:r>
            <a:r>
              <a:rPr lang="ko-KR" altLang="en-US" sz="2000"/>
              <a:t>멀티 플렉싱을 메시지 큐로 구현</a:t>
            </a:r>
          </a:p>
          <a:p>
            <a:pPr lvl="1" eaLnBrk="1" hangingPunct="1"/>
            <a:r>
              <a:rPr lang="ko-KR" altLang="en-US" sz="2000">
                <a:sym typeface="Wingdings" panose="05000000000000000000" pitchFamily="2" charset="2"/>
              </a:rPr>
              <a:t>소켓 이벤트  메시지로 전환  메시지 큐에 저장  응용프로그램에 전달</a:t>
            </a:r>
          </a:p>
          <a:p>
            <a:pPr lvl="1" eaLnBrk="1" hangingPunct="1"/>
            <a:r>
              <a:rPr lang="en-US" altLang="ko-KR" sz="2000">
                <a:sym typeface="Wingdings" panose="05000000000000000000" pitchFamily="2" charset="2"/>
              </a:rPr>
              <a:t>select </a:t>
            </a:r>
            <a:r>
              <a:rPr lang="ko-KR" altLang="en-US" sz="2000">
                <a:sym typeface="Wingdings" panose="05000000000000000000" pitchFamily="2" charset="2"/>
              </a:rPr>
              <a:t>모델과 마찬가지로 </a:t>
            </a:r>
            <a:r>
              <a:rPr lang="ko-KR" altLang="en-US" sz="2000"/>
              <a:t>멀티쓰레드를 사용하지 않고 여러 개의 소켓 이벤트를 처리</a:t>
            </a:r>
          </a:p>
          <a:p>
            <a:pPr lvl="1" eaLnBrk="1" hangingPunct="1"/>
            <a:endParaRPr lang="ko-KR" altLang="en-US" sz="2000"/>
          </a:p>
          <a:p>
            <a:pPr eaLnBrk="1" hangingPunct="1"/>
            <a:r>
              <a:rPr lang="ko-KR" altLang="en-US" sz="2400"/>
              <a:t>동작 원리</a:t>
            </a:r>
          </a:p>
          <a:p>
            <a:pPr lvl="1" eaLnBrk="1" hangingPunct="1"/>
            <a:endParaRPr lang="en-US" altLang="ko-KR"/>
          </a:p>
        </p:txBody>
      </p:sp>
      <p:sp>
        <p:nvSpPr>
          <p:cNvPr id="16389" name="Rectangle 5">
            <a:extLst>
              <a:ext uri="{FF2B5EF4-FFF2-40B4-BE49-F238E27FC236}">
                <a16:creationId xmlns:a16="http://schemas.microsoft.com/office/drawing/2014/main" id="{E396CE07-CBEF-71CD-923C-186BF55471B1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2594769" y="5957094"/>
            <a:ext cx="146050" cy="125412"/>
          </a:xfrm>
          <a:prstGeom prst="rect">
            <a:avLst/>
          </a:prstGeom>
          <a:solidFill>
            <a:srgbClr val="FF6600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ko-KR" altLang="ko-KR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6390" name="Rectangle 6">
            <a:extLst>
              <a:ext uri="{FF2B5EF4-FFF2-40B4-BE49-F238E27FC236}">
                <a16:creationId xmlns:a16="http://schemas.microsoft.com/office/drawing/2014/main" id="{D40AF483-2E74-25CB-E47C-8684EE8E3F23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2860675" y="5524500"/>
            <a:ext cx="146050" cy="127000"/>
          </a:xfrm>
          <a:prstGeom prst="rect">
            <a:avLst/>
          </a:prstGeom>
          <a:solidFill>
            <a:srgbClr val="FF6600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ko-KR" altLang="ko-KR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6391" name="Rectangle 7">
            <a:extLst>
              <a:ext uri="{FF2B5EF4-FFF2-40B4-BE49-F238E27FC236}">
                <a16:creationId xmlns:a16="http://schemas.microsoft.com/office/drawing/2014/main" id="{EF6952AC-2373-A696-A392-C17468FEE0F2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2593182" y="5198268"/>
            <a:ext cx="146050" cy="125413"/>
          </a:xfrm>
          <a:prstGeom prst="rect">
            <a:avLst/>
          </a:prstGeom>
          <a:solidFill>
            <a:srgbClr val="FF6600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ko-KR" altLang="ko-KR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6392" name="Rectangle 8">
            <a:extLst>
              <a:ext uri="{FF2B5EF4-FFF2-40B4-BE49-F238E27FC236}">
                <a16:creationId xmlns:a16="http://schemas.microsoft.com/office/drawing/2014/main" id="{9A855CA1-A395-BE3A-4791-259770211B32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2860675" y="4665663"/>
            <a:ext cx="146050" cy="127000"/>
          </a:xfrm>
          <a:prstGeom prst="rect">
            <a:avLst/>
          </a:prstGeom>
          <a:solidFill>
            <a:srgbClr val="FF6600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ko-KR" altLang="ko-KR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6393" name="Rectangle 9">
            <a:extLst>
              <a:ext uri="{FF2B5EF4-FFF2-40B4-BE49-F238E27FC236}">
                <a16:creationId xmlns:a16="http://schemas.microsoft.com/office/drawing/2014/main" id="{92EB391E-21B4-B668-253B-DD47142D3AB0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2593182" y="4372768"/>
            <a:ext cx="146050" cy="125413"/>
          </a:xfrm>
          <a:prstGeom prst="rect">
            <a:avLst/>
          </a:prstGeom>
          <a:solidFill>
            <a:srgbClr val="FF6600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ko-KR" altLang="ko-KR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6394" name="Line 10">
            <a:extLst>
              <a:ext uri="{FF2B5EF4-FFF2-40B4-BE49-F238E27FC236}">
                <a16:creationId xmlns:a16="http://schemas.microsoft.com/office/drawing/2014/main" id="{E2398C1E-3D0E-A4B4-E12C-CC1988DC9A64}"/>
              </a:ext>
            </a:extLst>
          </p:cNvPr>
          <p:cNvSpPr>
            <a:spLocks noChangeShapeType="1"/>
          </p:cNvSpPr>
          <p:nvPr/>
        </p:nvSpPr>
        <p:spPr bwMode="auto">
          <a:xfrm rot="16200000" flipH="1">
            <a:off x="3146426" y="3990975"/>
            <a:ext cx="671512" cy="15636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6395" name="Line 11">
            <a:extLst>
              <a:ext uri="{FF2B5EF4-FFF2-40B4-BE49-F238E27FC236}">
                <a16:creationId xmlns:a16="http://schemas.microsoft.com/office/drawing/2014/main" id="{8F32AC38-1638-9F94-7088-4E6CDC907FAD}"/>
              </a:ext>
            </a:extLst>
          </p:cNvPr>
          <p:cNvSpPr>
            <a:spLocks noChangeShapeType="1"/>
          </p:cNvSpPr>
          <p:nvPr/>
        </p:nvSpPr>
        <p:spPr bwMode="auto">
          <a:xfrm rot="16200000" flipH="1">
            <a:off x="3369468" y="4291807"/>
            <a:ext cx="461963" cy="1327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6396" name="Line 12">
            <a:extLst>
              <a:ext uri="{FF2B5EF4-FFF2-40B4-BE49-F238E27FC236}">
                <a16:creationId xmlns:a16="http://schemas.microsoft.com/office/drawing/2014/main" id="{4F1BEB69-D21B-AC7B-5226-FB3BE97BF034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3467894" y="4469607"/>
            <a:ext cx="0" cy="1592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6397" name="Line 13">
            <a:extLst>
              <a:ext uri="{FF2B5EF4-FFF2-40B4-BE49-F238E27FC236}">
                <a16:creationId xmlns:a16="http://schemas.microsoft.com/office/drawing/2014/main" id="{B2B031D4-806D-D7ED-2A07-73A593BD981E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3450431" y="4777582"/>
            <a:ext cx="276225" cy="13446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6398" name="Line 14">
            <a:extLst>
              <a:ext uri="{FF2B5EF4-FFF2-40B4-BE49-F238E27FC236}">
                <a16:creationId xmlns:a16="http://schemas.microsoft.com/office/drawing/2014/main" id="{75A1CD48-DF37-6A20-CCA5-B95CDDC0C446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3159125" y="4919663"/>
            <a:ext cx="642938" cy="15605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16399" name="Group 27">
            <a:extLst>
              <a:ext uri="{FF2B5EF4-FFF2-40B4-BE49-F238E27FC236}">
                <a16:creationId xmlns:a16="http://schemas.microsoft.com/office/drawing/2014/main" id="{5E64A95E-B77E-6204-9BB5-3D70D6113ABE}"/>
              </a:ext>
            </a:extLst>
          </p:cNvPr>
          <p:cNvGrpSpPr>
            <a:grpSpLocks/>
          </p:cNvGrpSpPr>
          <p:nvPr/>
        </p:nvGrpSpPr>
        <p:grpSpPr bwMode="auto">
          <a:xfrm>
            <a:off x="4264025" y="5032375"/>
            <a:ext cx="1027113" cy="385763"/>
            <a:chOff x="3049" y="2989"/>
            <a:chExt cx="502" cy="243"/>
          </a:xfrm>
        </p:grpSpPr>
        <p:sp>
          <p:nvSpPr>
            <p:cNvPr id="16405" name="Rectangle 15">
              <a:extLst>
                <a:ext uri="{FF2B5EF4-FFF2-40B4-BE49-F238E27FC236}">
                  <a16:creationId xmlns:a16="http://schemas.microsoft.com/office/drawing/2014/main" id="{212CEA65-EDAD-0246-5249-E67A71F6AAF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969" y="3069"/>
              <a:ext cx="243" cy="8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en-US" sz="2400" b="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6406" name="Rectangle 16">
              <a:extLst>
                <a:ext uri="{FF2B5EF4-FFF2-40B4-BE49-F238E27FC236}">
                  <a16:creationId xmlns:a16="http://schemas.microsoft.com/office/drawing/2014/main" id="{BC8D028D-6BC8-83D9-3F67-EA98A581F17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3053" y="3069"/>
              <a:ext cx="243" cy="8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en-US" sz="2400" b="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6407" name="Rectangle 17">
              <a:extLst>
                <a:ext uri="{FF2B5EF4-FFF2-40B4-BE49-F238E27FC236}">
                  <a16:creationId xmlns:a16="http://schemas.microsoft.com/office/drawing/2014/main" id="{B868A5FA-D655-35E8-FF04-F69D0705F41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3136" y="3069"/>
              <a:ext cx="243" cy="84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en-US" sz="2400" b="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6408" name="Rectangle 18">
              <a:extLst>
                <a:ext uri="{FF2B5EF4-FFF2-40B4-BE49-F238E27FC236}">
                  <a16:creationId xmlns:a16="http://schemas.microsoft.com/office/drawing/2014/main" id="{3CF06CDB-889F-715F-DC24-C69200D9E79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3220" y="3069"/>
              <a:ext cx="243" cy="84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en-US" sz="2400" b="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6409" name="Rectangle 19">
              <a:extLst>
                <a:ext uri="{FF2B5EF4-FFF2-40B4-BE49-F238E27FC236}">
                  <a16:creationId xmlns:a16="http://schemas.microsoft.com/office/drawing/2014/main" id="{DD80AAB8-6101-1478-CE0B-5369A355E38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3304" y="3069"/>
              <a:ext cx="243" cy="83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en-US" sz="2400" b="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6410" name="Rectangle 20">
              <a:extLst>
                <a:ext uri="{FF2B5EF4-FFF2-40B4-BE49-F238E27FC236}">
                  <a16:creationId xmlns:a16="http://schemas.microsoft.com/office/drawing/2014/main" id="{54D7B47C-9EC2-1724-AE94-E683D2AD56E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3387" y="3069"/>
              <a:ext cx="243" cy="84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en-US" sz="2400" b="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16400" name="Line 21">
            <a:extLst>
              <a:ext uri="{FF2B5EF4-FFF2-40B4-BE49-F238E27FC236}">
                <a16:creationId xmlns:a16="http://schemas.microsoft.com/office/drawing/2014/main" id="{30F70C73-9420-4049-8363-F6F4404ED06A}"/>
              </a:ext>
            </a:extLst>
          </p:cNvPr>
          <p:cNvSpPr>
            <a:spLocks noChangeShapeType="1"/>
          </p:cNvSpPr>
          <p:nvPr/>
        </p:nvSpPr>
        <p:spPr bwMode="auto">
          <a:xfrm rot="16200000" flipH="1">
            <a:off x="5662613" y="4840288"/>
            <a:ext cx="0" cy="742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6401" name="Rectangle 23">
            <a:extLst>
              <a:ext uri="{FF2B5EF4-FFF2-40B4-BE49-F238E27FC236}">
                <a16:creationId xmlns:a16="http://schemas.microsoft.com/office/drawing/2014/main" id="{8767AAB9-FCFB-0128-07E3-DC77F346BB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8613" y="4602163"/>
            <a:ext cx="1223962" cy="266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ko-KR" altLang="en-US" sz="1800">
                <a:latin typeface="굴림" panose="020B0600000101010101" pitchFamily="50" charset="-127"/>
                <a:ea typeface="굴림" panose="020B0600000101010101" pitchFamily="50" charset="-127"/>
              </a:rPr>
              <a:t>메시지 큐</a:t>
            </a:r>
          </a:p>
        </p:txBody>
      </p:sp>
      <p:sp>
        <p:nvSpPr>
          <p:cNvPr id="16402" name="Rectangle 24">
            <a:extLst>
              <a:ext uri="{FF2B5EF4-FFF2-40B4-BE49-F238E27FC236}">
                <a16:creationId xmlns:a16="http://schemas.microsoft.com/office/drawing/2014/main" id="{CE0FCDE9-8595-8BE8-EFB9-DE4EA3D956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0" y="5040313"/>
            <a:ext cx="576263" cy="33178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ko-KR" altLang="en-US" sz="1800">
                <a:latin typeface="굴림" panose="020B0600000101010101" pitchFamily="50" charset="-127"/>
                <a:ea typeface="굴림" panose="020B0600000101010101" pitchFamily="50" charset="-127"/>
              </a:rPr>
              <a:t>소켓</a:t>
            </a:r>
          </a:p>
        </p:txBody>
      </p:sp>
      <p:sp>
        <p:nvSpPr>
          <p:cNvPr id="16403" name="AutoShape 25">
            <a:extLst>
              <a:ext uri="{FF2B5EF4-FFF2-40B4-BE49-F238E27FC236}">
                <a16:creationId xmlns:a16="http://schemas.microsoft.com/office/drawing/2014/main" id="{30EE301D-B2FD-07FD-09DD-74037E6FB92A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1658144" y="4758531"/>
            <a:ext cx="2160588" cy="796925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ko-KR" altLang="en-US" sz="2400" b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6404" name="Rectangle 26">
            <a:extLst>
              <a:ext uri="{FF2B5EF4-FFF2-40B4-BE49-F238E27FC236}">
                <a16:creationId xmlns:a16="http://schemas.microsoft.com/office/drawing/2014/main" id="{41190401-13DD-2792-67C6-7D7EE94715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3300" y="4556125"/>
            <a:ext cx="1871663" cy="12954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ko-KR" altLang="en-US" sz="1800">
                <a:latin typeface="굴림" panose="020B0600000101010101" pitchFamily="50" charset="-127"/>
                <a:ea typeface="굴림" panose="020B0600000101010101" pitchFamily="50" charset="-127"/>
              </a:rPr>
              <a:t>응용프로그램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바닥글 개체 틀 3">
            <a:extLst>
              <a:ext uri="{FF2B5EF4-FFF2-40B4-BE49-F238E27FC236}">
                <a16:creationId xmlns:a16="http://schemas.microsoft.com/office/drawing/2014/main" id="{C5A0E6FF-D684-E0F3-544C-EE284F1D828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000" b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E2B14216-8496-E476-F404-F8D6FCF24E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/>
              <a:t>1. WSAAsyncSelect</a:t>
            </a:r>
          </a:p>
        </p:txBody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B1D5B2EF-DD17-87BB-9C74-5E3571FFD8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ko-KR" sz="1800"/>
              <a:t>WSAAsyncSelect</a:t>
            </a:r>
            <a:r>
              <a:rPr lang="ko-KR" altLang="en-US" sz="1800"/>
              <a:t>의 </a:t>
            </a:r>
            <a:r>
              <a:rPr lang="en-US" altLang="ko-KR" sz="1800"/>
              <a:t>I/O </a:t>
            </a:r>
            <a:r>
              <a:rPr lang="ko-KR" altLang="en-US" sz="1800"/>
              <a:t>절차</a:t>
            </a:r>
          </a:p>
          <a:p>
            <a:pPr lvl="1" eaLnBrk="1" hangingPunct="1">
              <a:lnSpc>
                <a:spcPct val="80000"/>
              </a:lnSpc>
            </a:pPr>
            <a:endParaRPr lang="ko-KR" altLang="en-US" sz="1600"/>
          </a:p>
          <a:p>
            <a:pPr lvl="1" eaLnBrk="1" hangingPunct="1">
              <a:lnSpc>
                <a:spcPct val="80000"/>
              </a:lnSpc>
            </a:pPr>
            <a:r>
              <a:rPr lang="en-US" altLang="ko-KR" sz="1600"/>
              <a:t>WSAAsyncSelect() </a:t>
            </a:r>
            <a:r>
              <a:rPr lang="ko-KR" altLang="en-US" sz="1600"/>
              <a:t>함수를 이용 소켓 </a:t>
            </a:r>
            <a:r>
              <a:rPr lang="en-US" altLang="ko-KR" sz="1600"/>
              <a:t>+ </a:t>
            </a:r>
            <a:r>
              <a:rPr lang="ko-KR" altLang="en-US" sz="1600"/>
              <a:t>메시지 </a:t>
            </a:r>
            <a:r>
              <a:rPr lang="en-US" altLang="ko-KR" sz="1600"/>
              <a:t>+ </a:t>
            </a:r>
            <a:r>
              <a:rPr lang="ko-KR" altLang="en-US" sz="1600"/>
              <a:t>네트워크 이벤트를 연결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ko-KR" altLang="en-US" sz="1600">
                <a:sym typeface="Wingdings" panose="05000000000000000000" pitchFamily="2" charset="2"/>
              </a:rPr>
              <a:t>	 성공</a:t>
            </a:r>
            <a:r>
              <a:rPr lang="en-US" altLang="ko-KR" sz="1600">
                <a:sym typeface="Wingdings" panose="05000000000000000000" pitchFamily="2" charset="2"/>
              </a:rPr>
              <a:t>: 0, </a:t>
            </a:r>
            <a:r>
              <a:rPr lang="ko-KR" altLang="en-US" sz="1600">
                <a:sym typeface="Wingdings" panose="05000000000000000000" pitchFamily="2" charset="2"/>
              </a:rPr>
              <a:t>실패</a:t>
            </a:r>
            <a:r>
              <a:rPr lang="en-US" altLang="ko-KR" sz="1600">
                <a:sym typeface="Wingdings" panose="05000000000000000000" pitchFamily="2" charset="2"/>
              </a:rPr>
              <a:t>: SOCKET_ERROR</a:t>
            </a:r>
            <a:endParaRPr lang="en-US" altLang="ko-KR" sz="1600"/>
          </a:p>
          <a:p>
            <a:pPr lvl="1" eaLnBrk="1" hangingPunct="1">
              <a:lnSpc>
                <a:spcPct val="80000"/>
              </a:lnSpc>
            </a:pPr>
            <a:endParaRPr lang="en-US" altLang="ko-KR" sz="1600"/>
          </a:p>
          <a:p>
            <a:pPr lvl="1" eaLnBrk="1" hangingPunct="1">
              <a:lnSpc>
                <a:spcPct val="80000"/>
              </a:lnSpc>
            </a:pPr>
            <a:r>
              <a:rPr lang="ko-KR" altLang="en-US" sz="1600"/>
              <a:t>네트워크 이벤트 </a:t>
            </a:r>
            <a:r>
              <a:rPr lang="ko-KR" altLang="en-US" sz="1600">
                <a:sym typeface="Wingdings" panose="05000000000000000000" pitchFamily="2" charset="2"/>
              </a:rPr>
              <a:t></a:t>
            </a:r>
            <a:r>
              <a:rPr lang="ko-KR" altLang="en-US" sz="1600"/>
              <a:t> 윈도우 메시지 발생 </a:t>
            </a:r>
            <a:r>
              <a:rPr lang="ko-KR" altLang="en-US" sz="1600">
                <a:sym typeface="Wingdings" panose="05000000000000000000" pitchFamily="2" charset="2"/>
              </a:rPr>
              <a:t> </a:t>
            </a:r>
            <a:r>
              <a:rPr lang="ko-KR" altLang="en-US" sz="1600"/>
              <a:t>윈도우 프로시저 순으로 호출 됨</a:t>
            </a:r>
          </a:p>
          <a:p>
            <a:pPr lvl="1" eaLnBrk="1" hangingPunct="1">
              <a:lnSpc>
                <a:spcPct val="80000"/>
              </a:lnSpc>
            </a:pPr>
            <a:r>
              <a:rPr lang="ko-KR" altLang="en-US" sz="1600"/>
              <a:t>윈도우 프로시저에서 받은 메시지 종류에 따라 적절한 소켓 함수를 호출</a:t>
            </a:r>
            <a:r>
              <a:rPr lang="en-US" altLang="ko-KR" sz="1600"/>
              <a:t>, </a:t>
            </a:r>
            <a:r>
              <a:rPr lang="ko-KR" altLang="en-US" sz="1600"/>
              <a:t>처리</a:t>
            </a:r>
          </a:p>
          <a:p>
            <a:pPr lvl="1" eaLnBrk="1" hangingPunct="1">
              <a:lnSpc>
                <a:spcPct val="80000"/>
              </a:lnSpc>
            </a:pPr>
            <a:endParaRPr lang="ko-KR" altLang="en-US" sz="1600"/>
          </a:p>
          <a:p>
            <a:pPr lvl="1" eaLnBrk="1" hangingPunct="1">
              <a:lnSpc>
                <a:spcPct val="80000"/>
              </a:lnSpc>
            </a:pPr>
            <a:r>
              <a:rPr lang="ko-KR" altLang="en-US" sz="1600"/>
              <a:t>큐의 이용으로 네트워크 이벤트에 대한 동기화처리와</a:t>
            </a:r>
            <a:r>
              <a:rPr lang="en-US" altLang="ko-KR" sz="1600"/>
              <a:t>, Receive</a:t>
            </a:r>
            <a:r>
              <a:rPr lang="ko-KR" altLang="en-US" sz="1600"/>
              <a:t>용 쓰레드가 필요 없어  사용하기 편리함</a:t>
            </a:r>
            <a:r>
              <a:rPr lang="en-US" altLang="ko-KR" sz="1600"/>
              <a:t>. </a:t>
            </a:r>
            <a:r>
              <a:rPr lang="ko-KR" altLang="en-US" sz="1600"/>
              <a:t>게임 클라이언트</a:t>
            </a:r>
            <a:r>
              <a:rPr lang="en-US" altLang="ko-KR" sz="1600"/>
              <a:t>, </a:t>
            </a:r>
            <a:r>
              <a:rPr lang="ko-KR" altLang="en-US" sz="1600"/>
              <a:t>접속 인원이 수십 명 정도인 서버에 적합</a:t>
            </a:r>
          </a:p>
          <a:p>
            <a:pPr lvl="1" eaLnBrk="1" hangingPunct="1">
              <a:lnSpc>
                <a:spcPct val="80000"/>
              </a:lnSpc>
            </a:pPr>
            <a:endParaRPr lang="ko-KR" altLang="en-US" sz="1600"/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1600"/>
              <a:t>Ex)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1600"/>
              <a:t>// </a:t>
            </a:r>
            <a:r>
              <a:rPr lang="ko-KR" altLang="en-US" sz="1600"/>
              <a:t>사용자 정의 윈도우 메시지 정의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1600"/>
              <a:t>#define </a:t>
            </a:r>
            <a:r>
              <a:rPr lang="en-US" altLang="ko-KR" sz="1600">
                <a:solidFill>
                  <a:srgbClr val="FF0000"/>
                </a:solidFill>
              </a:rPr>
              <a:t>MSG_NETWORK</a:t>
            </a:r>
            <a:r>
              <a:rPr lang="en-US" altLang="ko-KR" sz="1600"/>
              <a:t> (WM_USER+1)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1600"/>
              <a:t>...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1600"/>
              <a:t>SOCKET scH </a:t>
            </a:r>
            <a:r>
              <a:rPr lang="en-US" altLang="ko-KR" sz="1600">
                <a:latin typeface="Times New Roman" panose="02020603050405020304" pitchFamily="18" charset="0"/>
              </a:rPr>
              <a:t>…</a:t>
            </a:r>
            <a:r>
              <a:rPr lang="en-US" altLang="ko-KR" sz="1600"/>
              <a:t> Create</a:t>
            </a:r>
            <a:r>
              <a:rPr lang="en-US" altLang="ko-KR" sz="1600">
                <a:latin typeface="Times New Roman" panose="02020603050405020304" pitchFamily="18" charset="0"/>
              </a:rPr>
              <a:t>…</a:t>
            </a:r>
            <a:endParaRPr lang="en-US" altLang="ko-KR" sz="1600"/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ko-KR" sz="1600"/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1600"/>
              <a:t>// Net Event Binding with Message ID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1600"/>
              <a:t>WSAAsyncSelect(scH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1600"/>
              <a:t>		, hWnd			// </a:t>
            </a:r>
            <a:r>
              <a:rPr lang="ko-KR" altLang="en-US" sz="1600"/>
              <a:t>메시지 프로시저 윈도우 핸들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ko-KR" altLang="en-US" sz="1600"/>
              <a:t>		</a:t>
            </a:r>
            <a:r>
              <a:rPr lang="en-US" altLang="ko-KR" sz="1600"/>
              <a:t>, </a:t>
            </a:r>
            <a:r>
              <a:rPr lang="en-US" altLang="ko-KR" sz="1600">
                <a:solidFill>
                  <a:srgbClr val="FF0000"/>
                </a:solidFill>
              </a:rPr>
              <a:t>MSG_NETWORK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1600"/>
              <a:t>		, FD_READ|FD_WRITE|FD_ACCEPT|FD_CONNECT|FD_CLOSE);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바닥글 개체 틀 3">
            <a:extLst>
              <a:ext uri="{FF2B5EF4-FFF2-40B4-BE49-F238E27FC236}">
                <a16:creationId xmlns:a16="http://schemas.microsoft.com/office/drawing/2014/main" id="{F8AC028B-51FC-8E66-01FF-92E2EE3396F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000" b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C1DE940A-28AC-3D65-3616-F574E444F6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/>
              <a:t>1. WSAAsyncSelect</a:t>
            </a:r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4F78A948-935C-E1B9-011A-78DA21B2F8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ko-KR" altLang="en-US" sz="2400"/>
              <a:t>네트워크 이벤트 상수 값</a:t>
            </a:r>
          </a:p>
          <a:p>
            <a:pPr lvl="1" eaLnBrk="1" hangingPunct="1"/>
            <a:endParaRPr lang="ko-KR" altLang="en-US" sz="2000"/>
          </a:p>
          <a:p>
            <a:pPr lvl="1" eaLnBrk="1" hangingPunct="1"/>
            <a:r>
              <a:rPr lang="en-US" altLang="ko-KR" sz="2000"/>
              <a:t>FD_ACCEPT: </a:t>
            </a:r>
            <a:r>
              <a:rPr lang="ko-KR" altLang="en-US" sz="2000"/>
              <a:t>클라이언트가 접속</a:t>
            </a:r>
          </a:p>
          <a:p>
            <a:pPr lvl="1" eaLnBrk="1" hangingPunct="1"/>
            <a:endParaRPr lang="ko-KR" altLang="en-US" sz="2000"/>
          </a:p>
          <a:p>
            <a:pPr lvl="1" eaLnBrk="1" hangingPunct="1"/>
            <a:r>
              <a:rPr lang="en-US" altLang="ko-KR" sz="2000"/>
              <a:t>FD_READ: </a:t>
            </a:r>
            <a:r>
              <a:rPr lang="ko-KR" altLang="en-US" sz="2000"/>
              <a:t>데이터 수신이 있는 경우</a:t>
            </a:r>
          </a:p>
          <a:p>
            <a:pPr lvl="1" eaLnBrk="1" hangingPunct="1"/>
            <a:endParaRPr lang="ko-KR" altLang="en-US" sz="2000"/>
          </a:p>
          <a:p>
            <a:pPr lvl="1" eaLnBrk="1" hangingPunct="1"/>
            <a:r>
              <a:rPr lang="en-US" altLang="ko-KR" sz="2000"/>
              <a:t>FD_WRITE: </a:t>
            </a:r>
            <a:r>
              <a:rPr lang="ko-KR" altLang="en-US" sz="2000"/>
              <a:t>데이터 송신이 있는 경우</a:t>
            </a:r>
          </a:p>
          <a:p>
            <a:pPr lvl="1" eaLnBrk="1" hangingPunct="1"/>
            <a:endParaRPr lang="ko-KR" altLang="en-US" sz="2000"/>
          </a:p>
          <a:p>
            <a:pPr lvl="1" eaLnBrk="1" hangingPunct="1"/>
            <a:r>
              <a:rPr lang="en-US" altLang="ko-KR" sz="2000"/>
              <a:t>FD_CLOSE: </a:t>
            </a:r>
            <a:r>
              <a:rPr lang="ko-KR" altLang="en-US" sz="2000"/>
              <a:t>연결한 상대편이 접속 종료</a:t>
            </a:r>
          </a:p>
          <a:p>
            <a:pPr lvl="1" eaLnBrk="1" hangingPunct="1"/>
            <a:endParaRPr lang="ko-KR" altLang="en-US" sz="2000"/>
          </a:p>
          <a:p>
            <a:pPr lvl="1" eaLnBrk="1" hangingPunct="1"/>
            <a:r>
              <a:rPr lang="en-US" altLang="ko-KR" sz="2000"/>
              <a:t>FD_CONNECT: </a:t>
            </a:r>
            <a:r>
              <a:rPr lang="ko-KR" altLang="en-US" sz="2000"/>
              <a:t>서버로 접속이 완료</a:t>
            </a:r>
          </a:p>
          <a:p>
            <a:pPr lvl="1" eaLnBrk="1" hangingPunct="1"/>
            <a:endParaRPr lang="ko-KR" altLang="en-US" sz="2000"/>
          </a:p>
          <a:p>
            <a:pPr lvl="1" eaLnBrk="1" hangingPunct="1"/>
            <a:r>
              <a:rPr lang="en-US" altLang="ko-KR" sz="2000"/>
              <a:t>FD_OOB: Out-of-Bound </a:t>
            </a:r>
            <a:r>
              <a:rPr lang="ko-KR" altLang="en-US" sz="2000"/>
              <a:t>긴급 메시지 수신</a:t>
            </a:r>
          </a:p>
          <a:p>
            <a:pPr lvl="1" eaLnBrk="1" hangingPunct="1"/>
            <a:endParaRPr lang="ko-KR" altLang="en-US" sz="200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ko-KR" altLang="en-US" sz="2000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바닥글 개체 틀 3">
            <a:extLst>
              <a:ext uri="{FF2B5EF4-FFF2-40B4-BE49-F238E27FC236}">
                <a16:creationId xmlns:a16="http://schemas.microsoft.com/office/drawing/2014/main" id="{35E2F628-4D43-4DFB-B5B6-A066B75E28A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000" b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2B771E38-99B1-9917-953B-1C4A7B3E82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/>
              <a:t>1. WSAAsyncSelect - </a:t>
            </a:r>
            <a:r>
              <a:rPr lang="ko-KR" altLang="en-US" sz="2400"/>
              <a:t>윈도우 프로시저 처리 예</a:t>
            </a:r>
          </a:p>
        </p:txBody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4737D9E9-6FB1-25FF-2B01-7CF849EF69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400"/>
              <a:t>LRESULT WINAPI WndProc(HWND hWnd, UINT msg, WPARAM wParam, LPARAM lParam)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400"/>
              <a:t>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400"/>
              <a:t>    if(MSG_NETWORK == msg 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400"/>
              <a:t>    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400"/>
              <a:t>        SOCKET  scHost  = (SOCKET)wParam;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400"/>
              <a:t>        DWORD   dError  = WSAGETSELECTERROR(lParam);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400"/>
              <a:t>        DWORD   dEvent  = WSAGETSELECTEVENT(lParam);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ko-KR" sz="1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400"/>
              <a:t>        if(dError)  // </a:t>
            </a:r>
            <a:r>
              <a:rPr lang="ko-KR" altLang="en-US" sz="1400"/>
              <a:t>비 정상적인 에러 체크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ko-KR" altLang="en-US" sz="1400"/>
              <a:t>        </a:t>
            </a:r>
            <a:r>
              <a:rPr lang="en-US" altLang="ko-KR" sz="1400">
                <a:latin typeface="Times New Roman" panose="02020603050405020304" pitchFamily="18" charset="0"/>
              </a:rPr>
              <a:t>…</a:t>
            </a:r>
            <a:endParaRPr lang="en-US" altLang="ko-KR" sz="1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400"/>
              <a:t>        else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400"/>
              <a:t>            if(FD_ACCEPT == dEvent) // Accept </a:t>
            </a:r>
            <a:r>
              <a:rPr lang="ko-KR" altLang="en-US" sz="1400"/>
              <a:t>메시지</a:t>
            </a:r>
            <a:r>
              <a:rPr lang="en-US" altLang="ko-KR" sz="1400"/>
              <a:t>(</a:t>
            </a:r>
            <a:r>
              <a:rPr lang="ko-KR" altLang="en-US" sz="1400"/>
              <a:t>서버부분</a:t>
            </a:r>
            <a:r>
              <a:rPr lang="en-US" altLang="ko-KR" sz="1400"/>
              <a:t>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400"/>
              <a:t>            </a:t>
            </a:r>
            <a:r>
              <a:rPr lang="en-US" altLang="ko-KR" sz="1400">
                <a:latin typeface="Times New Roman" panose="02020603050405020304" pitchFamily="18" charset="0"/>
              </a:rPr>
              <a:t>…</a:t>
            </a:r>
            <a:endParaRPr lang="en-US" altLang="ko-KR" sz="1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400"/>
              <a:t>            else if(FD_CONNECT == dEvent)   // connection </a:t>
            </a:r>
            <a:r>
              <a:rPr lang="ko-KR" altLang="en-US" sz="1400"/>
              <a:t>메시지</a:t>
            </a:r>
            <a:r>
              <a:rPr lang="en-US" altLang="ko-KR" sz="1400"/>
              <a:t>(</a:t>
            </a:r>
            <a:r>
              <a:rPr lang="ko-KR" altLang="en-US" sz="1400"/>
              <a:t>클라이언트부분</a:t>
            </a:r>
            <a:r>
              <a:rPr lang="en-US" altLang="ko-KR" sz="1400"/>
              <a:t>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400"/>
              <a:t>            </a:t>
            </a:r>
            <a:r>
              <a:rPr lang="en-US" altLang="ko-KR" sz="1400">
                <a:latin typeface="Times New Roman" panose="02020603050405020304" pitchFamily="18" charset="0"/>
              </a:rPr>
              <a:t>…</a:t>
            </a:r>
            <a:endParaRPr lang="en-US" altLang="ko-KR" sz="1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400"/>
              <a:t>            else if(FD_WRITE == dEvent) // Sending </a:t>
            </a:r>
            <a:r>
              <a:rPr lang="ko-KR" altLang="en-US" sz="1400"/>
              <a:t>메시지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ko-KR" altLang="en-US" sz="1400"/>
              <a:t>            </a:t>
            </a:r>
            <a:r>
              <a:rPr lang="en-US" altLang="ko-KR" sz="1400">
                <a:latin typeface="Times New Roman" panose="02020603050405020304" pitchFamily="18" charset="0"/>
              </a:rPr>
              <a:t>…</a:t>
            </a:r>
            <a:endParaRPr lang="en-US" altLang="ko-KR" sz="1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400"/>
              <a:t>            else if(FD_READ == dEvent)  // Receive </a:t>
            </a:r>
            <a:r>
              <a:rPr lang="ko-KR" altLang="en-US" sz="1400"/>
              <a:t>메시지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ko-KR" altLang="en-US" sz="1400"/>
              <a:t>            </a:t>
            </a:r>
            <a:r>
              <a:rPr lang="en-US" altLang="ko-KR" sz="1400"/>
              <a:t>int iRcv=recv(</a:t>
            </a:r>
            <a:r>
              <a:rPr lang="en-US" altLang="ko-KR" sz="1400">
                <a:latin typeface="Times New Roman" panose="02020603050405020304" pitchFamily="18" charset="0"/>
              </a:rPr>
              <a:t>…</a:t>
            </a:r>
            <a:r>
              <a:rPr lang="en-US" altLang="ko-KR" sz="1400"/>
              <a:t>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400"/>
              <a:t>            </a:t>
            </a:r>
            <a:r>
              <a:rPr lang="en-US" altLang="ko-KR" sz="1400">
                <a:latin typeface="Times New Roman" panose="02020603050405020304" pitchFamily="18" charset="0"/>
              </a:rPr>
              <a:t>…</a:t>
            </a:r>
            <a:endParaRPr lang="en-US" altLang="ko-KR" sz="1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400"/>
              <a:t>            else if(FD_CLOSE == dEvent) // </a:t>
            </a:r>
            <a:r>
              <a:rPr lang="ko-KR" altLang="en-US" sz="1400"/>
              <a:t>접속 해제 메시지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ko-KR" altLang="en-US" sz="1400"/>
              <a:t>            </a:t>
            </a:r>
            <a:r>
              <a:rPr lang="en-US" altLang="ko-KR" sz="1400">
                <a:latin typeface="Times New Roman" panose="02020603050405020304" pitchFamily="18" charset="0"/>
              </a:rPr>
              <a:t>…</a:t>
            </a:r>
            <a:endParaRPr lang="en-US" altLang="ko-KR" sz="1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바닥글 개체 틀 3">
            <a:extLst>
              <a:ext uri="{FF2B5EF4-FFF2-40B4-BE49-F238E27FC236}">
                <a16:creationId xmlns:a16="http://schemas.microsoft.com/office/drawing/2014/main" id="{12303247-6728-5C68-3B45-DE8A710D781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000" b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94F57A35-DBDF-740A-2B24-49C4719553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/>
              <a:t>2. WSAEventSelect</a:t>
            </a:r>
          </a:p>
        </p:txBody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0E1F7451-7038-225F-3A06-D0D66A2CB3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ko-KR" sz="2400"/>
              <a:t>WSAEventSelect </a:t>
            </a:r>
            <a:r>
              <a:rPr lang="ko-KR" altLang="en-US" sz="2400"/>
              <a:t>모델</a:t>
            </a:r>
          </a:p>
          <a:p>
            <a:pPr lvl="1" eaLnBrk="1" hangingPunct="1"/>
            <a:r>
              <a:rPr lang="en-US" altLang="ko-KR" sz="2000"/>
              <a:t>WSAEventSelect() </a:t>
            </a:r>
            <a:r>
              <a:rPr lang="ko-KR" altLang="en-US" sz="2000"/>
              <a:t>함수를 이용 </a:t>
            </a:r>
            <a:r>
              <a:rPr lang="ko-KR" altLang="en-US" sz="2000">
                <a:sym typeface="Wingdings" panose="05000000000000000000" pitchFamily="2" charset="2"/>
              </a:rPr>
              <a:t></a:t>
            </a:r>
            <a:r>
              <a:rPr lang="en-US" altLang="ko-KR" sz="2000">
                <a:sym typeface="Wingdings" panose="05000000000000000000" pitchFamily="2" charset="2"/>
              </a:rPr>
              <a:t>{</a:t>
            </a:r>
            <a:r>
              <a:rPr lang="ko-KR" altLang="en-US" sz="2000"/>
              <a:t>소켓 </a:t>
            </a:r>
            <a:r>
              <a:rPr lang="en-US" altLang="ko-KR" sz="2000"/>
              <a:t>+ </a:t>
            </a:r>
            <a:r>
              <a:rPr lang="ko-KR" altLang="en-US" sz="2000"/>
              <a:t>이벤트 객체</a:t>
            </a:r>
            <a:r>
              <a:rPr lang="en-US" altLang="ko-KR" sz="2000"/>
              <a:t>+</a:t>
            </a:r>
            <a:r>
              <a:rPr lang="ko-KR" altLang="en-US" sz="2000"/>
              <a:t>이벤트 내용</a:t>
            </a:r>
            <a:r>
              <a:rPr lang="en-US" altLang="ko-KR" sz="2000"/>
              <a:t>}</a:t>
            </a:r>
            <a:r>
              <a:rPr lang="ko-KR" altLang="en-US" sz="2000"/>
              <a:t>를 바인딩</a:t>
            </a:r>
          </a:p>
          <a:p>
            <a:pPr lvl="2" eaLnBrk="1" hangingPunct="1"/>
            <a:r>
              <a:rPr lang="ko-KR" altLang="en-US" sz="1800"/>
              <a:t>이벤트 내용은 </a:t>
            </a:r>
            <a:r>
              <a:rPr lang="en-US" altLang="ko-KR" sz="1800"/>
              <a:t>FD_READ </a:t>
            </a:r>
            <a:r>
              <a:rPr lang="ko-KR" altLang="en-US" sz="1800"/>
              <a:t>등</a:t>
            </a:r>
            <a:r>
              <a:rPr lang="en-US" altLang="ko-KR" sz="1800"/>
              <a:t>, AsyncSelect</a:t>
            </a:r>
            <a:r>
              <a:rPr lang="ko-KR" altLang="en-US" sz="1800"/>
              <a:t>와 동일</a:t>
            </a:r>
          </a:p>
          <a:p>
            <a:pPr lvl="1" eaLnBrk="1" hangingPunct="1"/>
            <a:endParaRPr lang="ko-KR" altLang="en-US" sz="2000"/>
          </a:p>
          <a:p>
            <a:pPr lvl="1" eaLnBrk="1" hangingPunct="1"/>
            <a:r>
              <a:rPr lang="ko-KR" altLang="en-US" sz="2000"/>
              <a:t>소켓 이벤트 </a:t>
            </a:r>
            <a:r>
              <a:rPr lang="ko-KR" altLang="en-US" sz="2000">
                <a:sym typeface="Wingdings" panose="05000000000000000000" pitchFamily="2" charset="2"/>
              </a:rPr>
              <a:t> 이벤트 객체  </a:t>
            </a:r>
            <a:r>
              <a:rPr lang="ko-KR" altLang="en-US" sz="2000"/>
              <a:t>이벤트 처리 순으로 네트워크의 </a:t>
            </a:r>
            <a:r>
              <a:rPr lang="en-US" altLang="ko-KR" sz="2000"/>
              <a:t>I/O</a:t>
            </a:r>
            <a:r>
              <a:rPr lang="ko-KR" altLang="en-US" sz="2000"/>
              <a:t>를 처리</a:t>
            </a:r>
          </a:p>
          <a:p>
            <a:pPr lvl="1" eaLnBrk="1" hangingPunct="1"/>
            <a:endParaRPr lang="ko-KR" altLang="en-US" sz="2000"/>
          </a:p>
          <a:p>
            <a:pPr lvl="1" eaLnBrk="1" hangingPunct="1"/>
            <a:r>
              <a:rPr lang="ko-KR" altLang="en-US" sz="2000"/>
              <a:t>소켓에 바인딩 된 이벤트 객체를 관찰함으로써 멀티쓰레드를 사용하지 않고 여러 개의 소켓을 처리</a:t>
            </a:r>
          </a:p>
          <a:p>
            <a:pPr lvl="1" eaLnBrk="1" hangingPunct="1"/>
            <a:endParaRPr lang="ko-KR" altLang="en-US" sz="2000"/>
          </a:p>
          <a:p>
            <a:pPr lvl="1" eaLnBrk="1" hangingPunct="1"/>
            <a:r>
              <a:rPr lang="ko-KR" altLang="en-US" sz="2000"/>
              <a:t>메시지 큐를 이용하는 </a:t>
            </a:r>
            <a:r>
              <a:rPr lang="en-US" altLang="ko-KR" sz="2000"/>
              <a:t>AsyncSelect </a:t>
            </a:r>
            <a:r>
              <a:rPr lang="ko-KR" altLang="en-US" sz="2000"/>
              <a:t>보다 유연</a:t>
            </a:r>
          </a:p>
          <a:p>
            <a:pPr lvl="1" eaLnBrk="1" hangingPunct="1"/>
            <a:endParaRPr lang="ko-KR" altLang="en-US" sz="2000"/>
          </a:p>
          <a:p>
            <a:pPr lvl="1" eaLnBrk="1" hangingPunct="1"/>
            <a:r>
              <a:rPr lang="ko-KR" altLang="en-US" sz="2000"/>
              <a:t>수신을 위한 </a:t>
            </a:r>
            <a:r>
              <a:rPr lang="en-US" altLang="ko-KR" sz="2000"/>
              <a:t>Work Thread</a:t>
            </a:r>
            <a:r>
              <a:rPr lang="ko-KR" altLang="en-US" sz="2000"/>
              <a:t>가 필요하나 네트워크 이벤트 발생 </a:t>
            </a:r>
            <a:r>
              <a:rPr lang="ko-KR" altLang="en-US" sz="2000">
                <a:sym typeface="Wingdings" panose="05000000000000000000" pitchFamily="2" charset="2"/>
              </a:rPr>
              <a:t> </a:t>
            </a:r>
            <a:r>
              <a:rPr lang="ko-KR" altLang="en-US" sz="2000"/>
              <a:t>이벤트 객체 </a:t>
            </a:r>
            <a:r>
              <a:rPr lang="en-US" altLang="ko-KR" sz="2000"/>
              <a:t>Signaled </a:t>
            </a:r>
            <a:r>
              <a:rPr lang="ko-KR" altLang="en-US" sz="2000"/>
              <a:t>상태 일 때만 쓰레드를 사용하므로 효율이 좋음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바닥글 개체 틀 3">
            <a:extLst>
              <a:ext uri="{FF2B5EF4-FFF2-40B4-BE49-F238E27FC236}">
                <a16:creationId xmlns:a16="http://schemas.microsoft.com/office/drawing/2014/main" id="{FF3F4648-8A7F-A7ED-37DC-5ADD804C952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000" b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6843D8C9-D0CA-4F9E-7793-D8BAF8EB66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/>
              <a:t>2. WSAEventSelect</a:t>
            </a:r>
          </a:p>
        </p:txBody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9D363606-7085-FAA3-E77C-529950D76B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ko-KR" altLang="en-US"/>
              <a:t>동작 원리</a:t>
            </a:r>
          </a:p>
        </p:txBody>
      </p:sp>
      <p:sp>
        <p:nvSpPr>
          <p:cNvPr id="21509" name="Rectangle 6">
            <a:extLst>
              <a:ext uri="{FF2B5EF4-FFF2-40B4-BE49-F238E27FC236}">
                <a16:creationId xmlns:a16="http://schemas.microsoft.com/office/drawing/2014/main" id="{9685B8E6-510A-0DF6-1BE5-A3000DD8AF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2143125"/>
            <a:ext cx="7048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ko-KR" altLang="en-US" sz="1800">
                <a:latin typeface="굴림" panose="020B0600000101010101" pitchFamily="50" charset="-127"/>
                <a:ea typeface="굴림" panose="020B0600000101010101" pitchFamily="50" charset="-127"/>
              </a:rPr>
              <a:t>소켓</a:t>
            </a:r>
          </a:p>
        </p:txBody>
      </p:sp>
      <p:sp>
        <p:nvSpPr>
          <p:cNvPr id="21510" name="AutoShape 7">
            <a:extLst>
              <a:ext uri="{FF2B5EF4-FFF2-40B4-BE49-F238E27FC236}">
                <a16:creationId xmlns:a16="http://schemas.microsoft.com/office/drawing/2014/main" id="{3ABE2D28-9B08-BC86-6C24-6789373554E9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-430212" y="3406775"/>
            <a:ext cx="2535237" cy="779463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ko-KR" altLang="en-US" sz="2400" b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1511" name="AutoShape 8">
            <a:extLst>
              <a:ext uri="{FF2B5EF4-FFF2-40B4-BE49-F238E27FC236}">
                <a16:creationId xmlns:a16="http://schemas.microsoft.com/office/drawing/2014/main" id="{2C1B1EE1-69E6-34E7-10D0-942CE7E47FE0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1195388" y="3406775"/>
            <a:ext cx="2535237" cy="779463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ko-KR" altLang="en-US" sz="2400" b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1512" name="Rectangle 9">
            <a:extLst>
              <a:ext uri="{FF2B5EF4-FFF2-40B4-BE49-F238E27FC236}">
                <a16:creationId xmlns:a16="http://schemas.microsoft.com/office/drawing/2014/main" id="{338D77C5-F217-CCB6-492A-C09D08026C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7050" y="1773238"/>
            <a:ext cx="1387475" cy="719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ko-KR" altLang="en-US" sz="1800">
                <a:latin typeface="굴림" panose="020B0600000101010101" pitchFamily="50" charset="-127"/>
                <a:ea typeface="굴림" panose="020B0600000101010101" pitchFamily="50" charset="-127"/>
              </a:rPr>
              <a:t>윈도우</a:t>
            </a:r>
            <a:br>
              <a:rPr lang="ko-KR" altLang="en-US" sz="1800">
                <a:latin typeface="굴림" panose="020B0600000101010101" pitchFamily="50" charset="-127"/>
                <a:ea typeface="굴림" panose="020B0600000101010101" pitchFamily="50" charset="-127"/>
              </a:rPr>
            </a:br>
            <a:r>
              <a:rPr lang="ko-KR" altLang="en-US" sz="1800">
                <a:latin typeface="굴림" panose="020B0600000101010101" pitchFamily="50" charset="-127"/>
                <a:ea typeface="굴림" panose="020B0600000101010101" pitchFamily="50" charset="-127"/>
              </a:rPr>
              <a:t>이벤트 객체</a:t>
            </a:r>
          </a:p>
        </p:txBody>
      </p:sp>
      <p:sp>
        <p:nvSpPr>
          <p:cNvPr id="21513" name="Oval 14">
            <a:extLst>
              <a:ext uri="{FF2B5EF4-FFF2-40B4-BE49-F238E27FC236}">
                <a16:creationId xmlns:a16="http://schemas.microsoft.com/office/drawing/2014/main" id="{3B375592-CF94-6160-418C-5C8CF74ADDC8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2319337" y="4727576"/>
            <a:ext cx="149225" cy="152400"/>
          </a:xfrm>
          <a:prstGeom prst="ellipse">
            <a:avLst/>
          </a:prstGeom>
          <a:solidFill>
            <a:srgbClr val="FF9933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ko-KR" altLang="en-US" sz="2400" b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1514" name="Oval 16">
            <a:extLst>
              <a:ext uri="{FF2B5EF4-FFF2-40B4-BE49-F238E27FC236}">
                <a16:creationId xmlns:a16="http://schemas.microsoft.com/office/drawing/2014/main" id="{DE534F23-1005-A046-A906-58E929FEFDA3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2590800" y="4165601"/>
            <a:ext cx="149225" cy="152400"/>
          </a:xfrm>
          <a:prstGeom prst="ellipse">
            <a:avLst/>
          </a:prstGeom>
          <a:solidFill>
            <a:srgbClr val="FF9933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ko-KR" altLang="en-US" sz="2400" b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1515" name="Oval 17">
            <a:extLst>
              <a:ext uri="{FF2B5EF4-FFF2-40B4-BE49-F238E27FC236}">
                <a16:creationId xmlns:a16="http://schemas.microsoft.com/office/drawing/2014/main" id="{B51DC039-6C09-376D-38D4-E9B5EC3C9D2B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2336006" y="3712369"/>
            <a:ext cx="149225" cy="153988"/>
          </a:xfrm>
          <a:prstGeom prst="ellipse">
            <a:avLst/>
          </a:prstGeom>
          <a:solidFill>
            <a:srgbClr val="FF9933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ko-KR" altLang="en-US" sz="2400" b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1516" name="Oval 18">
            <a:extLst>
              <a:ext uri="{FF2B5EF4-FFF2-40B4-BE49-F238E27FC236}">
                <a16:creationId xmlns:a16="http://schemas.microsoft.com/office/drawing/2014/main" id="{1DC264F3-B284-0AD5-CE2D-5199B736E084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2586037" y="3279776"/>
            <a:ext cx="149225" cy="152400"/>
          </a:xfrm>
          <a:prstGeom prst="ellipse">
            <a:avLst/>
          </a:prstGeom>
          <a:solidFill>
            <a:srgbClr val="FF9933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ko-KR" altLang="en-US" sz="2400" b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1517" name="Oval 19">
            <a:extLst>
              <a:ext uri="{FF2B5EF4-FFF2-40B4-BE49-F238E27FC236}">
                <a16:creationId xmlns:a16="http://schemas.microsoft.com/office/drawing/2014/main" id="{47DE3392-0C14-F628-E44D-BB33D6C49071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2332831" y="2705894"/>
            <a:ext cx="149225" cy="153988"/>
          </a:xfrm>
          <a:prstGeom prst="ellipse">
            <a:avLst/>
          </a:prstGeom>
          <a:solidFill>
            <a:srgbClr val="FF9933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ko-KR" altLang="en-US" sz="2400" b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1518" name="Rectangle 20">
            <a:extLst>
              <a:ext uri="{FF2B5EF4-FFF2-40B4-BE49-F238E27FC236}">
                <a16:creationId xmlns:a16="http://schemas.microsoft.com/office/drawing/2014/main" id="{EE9BBCB2-A679-5C6A-B096-52AA1E4BD252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708819" y="4753769"/>
            <a:ext cx="120650" cy="122238"/>
          </a:xfrm>
          <a:prstGeom prst="rect">
            <a:avLst/>
          </a:prstGeom>
          <a:solidFill>
            <a:srgbClr val="C0C0C0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ko-KR" altLang="ko-KR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1519" name="Rectangle 21">
            <a:extLst>
              <a:ext uri="{FF2B5EF4-FFF2-40B4-BE49-F238E27FC236}">
                <a16:creationId xmlns:a16="http://schemas.microsoft.com/office/drawing/2014/main" id="{63B45E20-B8A1-BC72-0841-4B3CE626D9DF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969169" y="4177506"/>
            <a:ext cx="120650" cy="122238"/>
          </a:xfrm>
          <a:prstGeom prst="rect">
            <a:avLst/>
          </a:prstGeom>
          <a:solidFill>
            <a:srgbClr val="C0C0C0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ko-KR" altLang="ko-KR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1520" name="Rectangle 22">
            <a:extLst>
              <a:ext uri="{FF2B5EF4-FFF2-40B4-BE49-F238E27FC236}">
                <a16:creationId xmlns:a16="http://schemas.microsoft.com/office/drawing/2014/main" id="{27C5A703-EE4B-6F32-D4D8-8219F3BA2966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708819" y="3733006"/>
            <a:ext cx="120650" cy="122238"/>
          </a:xfrm>
          <a:prstGeom prst="rect">
            <a:avLst/>
          </a:prstGeom>
          <a:solidFill>
            <a:srgbClr val="C0C0C0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ko-KR" altLang="ko-KR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1521" name="Rectangle 23">
            <a:extLst>
              <a:ext uri="{FF2B5EF4-FFF2-40B4-BE49-F238E27FC236}">
                <a16:creationId xmlns:a16="http://schemas.microsoft.com/office/drawing/2014/main" id="{CD74C5C4-ACEF-9BEE-E5EC-34E765B5E9DC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969169" y="3296444"/>
            <a:ext cx="120650" cy="122238"/>
          </a:xfrm>
          <a:prstGeom prst="rect">
            <a:avLst/>
          </a:prstGeom>
          <a:solidFill>
            <a:srgbClr val="C0C0C0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ko-KR" altLang="ko-KR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1522" name="Rectangle 24">
            <a:extLst>
              <a:ext uri="{FF2B5EF4-FFF2-40B4-BE49-F238E27FC236}">
                <a16:creationId xmlns:a16="http://schemas.microsoft.com/office/drawing/2014/main" id="{64445C7B-EF8F-D320-7022-17E6E2FAB8A5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709613" y="2724150"/>
            <a:ext cx="119062" cy="122238"/>
          </a:xfrm>
          <a:prstGeom prst="rect">
            <a:avLst/>
          </a:prstGeom>
          <a:solidFill>
            <a:srgbClr val="C0C0C0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ko-KR" altLang="ko-KR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1523" name="Line 25">
            <a:extLst>
              <a:ext uri="{FF2B5EF4-FFF2-40B4-BE49-F238E27FC236}">
                <a16:creationId xmlns:a16="http://schemas.microsoft.com/office/drawing/2014/main" id="{91F96643-E134-2C8B-7643-B5CC96A6A8F7}"/>
              </a:ext>
            </a:extLst>
          </p:cNvPr>
          <p:cNvSpPr>
            <a:spLocks noChangeShapeType="1"/>
          </p:cNvSpPr>
          <p:nvPr/>
        </p:nvSpPr>
        <p:spPr bwMode="auto">
          <a:xfrm rot="16200000" flipH="1">
            <a:off x="1812132" y="2583656"/>
            <a:ext cx="0" cy="15605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1524" name="Line 26">
            <a:extLst>
              <a:ext uri="{FF2B5EF4-FFF2-40B4-BE49-F238E27FC236}">
                <a16:creationId xmlns:a16="http://schemas.microsoft.com/office/drawing/2014/main" id="{3987D03A-9223-ADFB-3548-F2E14CA57587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1552576" y="3017837"/>
            <a:ext cx="0" cy="1558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1525" name="Line 27">
            <a:extLst>
              <a:ext uri="{FF2B5EF4-FFF2-40B4-BE49-F238E27FC236}">
                <a16:creationId xmlns:a16="http://schemas.microsoft.com/office/drawing/2014/main" id="{AEED6A50-F904-B7A8-D95A-398D4162858E}"/>
              </a:ext>
            </a:extLst>
          </p:cNvPr>
          <p:cNvSpPr>
            <a:spLocks noChangeShapeType="1"/>
          </p:cNvSpPr>
          <p:nvPr/>
        </p:nvSpPr>
        <p:spPr bwMode="auto">
          <a:xfrm rot="16200000" flipH="1">
            <a:off x="1803401" y="3465512"/>
            <a:ext cx="4762" cy="1547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1526" name="Line 28">
            <a:extLst>
              <a:ext uri="{FF2B5EF4-FFF2-40B4-BE49-F238E27FC236}">
                <a16:creationId xmlns:a16="http://schemas.microsoft.com/office/drawing/2014/main" id="{2F3B4BD4-C55E-7E27-7D5B-8C71C86F5114}"/>
              </a:ext>
            </a:extLst>
          </p:cNvPr>
          <p:cNvSpPr>
            <a:spLocks noChangeShapeType="1"/>
          </p:cNvSpPr>
          <p:nvPr/>
        </p:nvSpPr>
        <p:spPr bwMode="auto">
          <a:xfrm rot="16200000" flipH="1">
            <a:off x="1547019" y="4037807"/>
            <a:ext cx="3175" cy="15509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1527" name="Line 29">
            <a:extLst>
              <a:ext uri="{FF2B5EF4-FFF2-40B4-BE49-F238E27FC236}">
                <a16:creationId xmlns:a16="http://schemas.microsoft.com/office/drawing/2014/main" id="{D3873863-41A9-EB4E-5AAB-35FBF56DDEF2}"/>
              </a:ext>
            </a:extLst>
          </p:cNvPr>
          <p:cNvSpPr>
            <a:spLocks noChangeShapeType="1"/>
          </p:cNvSpPr>
          <p:nvPr/>
        </p:nvSpPr>
        <p:spPr bwMode="auto">
          <a:xfrm rot="16200000" flipH="1">
            <a:off x="1545432" y="2010569"/>
            <a:ext cx="0" cy="15446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1528" name="Rectangle 30">
            <a:extLst>
              <a:ext uri="{FF2B5EF4-FFF2-40B4-BE49-F238E27FC236}">
                <a16:creationId xmlns:a16="http://schemas.microsoft.com/office/drawing/2014/main" id="{B2AE09EB-47D4-462E-C964-6E4A21172BEF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762794" y="3634582"/>
            <a:ext cx="1774825" cy="32543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ko-KR" altLang="en-US" sz="1800">
                <a:latin typeface="굴림" panose="020B0600000101010101" pitchFamily="50" charset="-127"/>
                <a:ea typeface="굴림" panose="020B0600000101010101" pitchFamily="50" charset="-127"/>
              </a:rPr>
              <a:t>네트워크 이벤트</a:t>
            </a:r>
          </a:p>
        </p:txBody>
      </p:sp>
      <p:grpSp>
        <p:nvGrpSpPr>
          <p:cNvPr id="21529" name="Group 61">
            <a:extLst>
              <a:ext uri="{FF2B5EF4-FFF2-40B4-BE49-F238E27FC236}">
                <a16:creationId xmlns:a16="http://schemas.microsoft.com/office/drawing/2014/main" id="{BC98C00C-613C-3B31-1B2E-D05C8413D48C}"/>
              </a:ext>
            </a:extLst>
          </p:cNvPr>
          <p:cNvGrpSpPr>
            <a:grpSpLocks/>
          </p:cNvGrpSpPr>
          <p:nvPr/>
        </p:nvGrpSpPr>
        <p:grpSpPr bwMode="auto">
          <a:xfrm>
            <a:off x="6515100" y="1687513"/>
            <a:ext cx="2190750" cy="3470275"/>
            <a:chOff x="4104" y="976"/>
            <a:chExt cx="1380" cy="2186"/>
          </a:xfrm>
        </p:grpSpPr>
        <p:sp>
          <p:nvSpPr>
            <p:cNvPr id="21538" name="Rectangle 32">
              <a:extLst>
                <a:ext uri="{FF2B5EF4-FFF2-40B4-BE49-F238E27FC236}">
                  <a16:creationId xmlns:a16="http://schemas.microsoft.com/office/drawing/2014/main" id="{BC702DA1-5E89-9B00-3272-673D71C644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4" y="1501"/>
              <a:ext cx="152" cy="164"/>
            </a:xfrm>
            <a:prstGeom prst="rect">
              <a:avLst/>
            </a:prstGeom>
            <a:solidFill>
              <a:srgbClr val="C0C0C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ko-KR" sz="18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21539" name="Rectangle 33">
              <a:extLst>
                <a:ext uri="{FF2B5EF4-FFF2-40B4-BE49-F238E27FC236}">
                  <a16:creationId xmlns:a16="http://schemas.microsoft.com/office/drawing/2014/main" id="{0B5D623B-12D0-BCE1-562F-7C6C699321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9" y="1894"/>
              <a:ext cx="413" cy="1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800">
                  <a:latin typeface="굴림" panose="020B0600000101010101" pitchFamily="50" charset="-127"/>
                  <a:ea typeface="굴림" panose="020B0600000101010101" pitchFamily="50" charset="-127"/>
                </a:rPr>
                <a:t>소켓</a:t>
              </a:r>
            </a:p>
          </p:txBody>
        </p:sp>
        <p:sp>
          <p:nvSpPr>
            <p:cNvPr id="21540" name="Rectangle 34">
              <a:extLst>
                <a:ext uri="{FF2B5EF4-FFF2-40B4-BE49-F238E27FC236}">
                  <a16:creationId xmlns:a16="http://schemas.microsoft.com/office/drawing/2014/main" id="{67A8710B-7AA1-B313-7D44-0EEC56EAB8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4" y="2769"/>
              <a:ext cx="152" cy="164"/>
            </a:xfrm>
            <a:prstGeom prst="rect">
              <a:avLst/>
            </a:prstGeom>
            <a:solidFill>
              <a:srgbClr val="C0C0C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ko-KR" sz="18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21541" name="Oval 35">
              <a:extLst>
                <a:ext uri="{FF2B5EF4-FFF2-40B4-BE49-F238E27FC236}">
                  <a16:creationId xmlns:a16="http://schemas.microsoft.com/office/drawing/2014/main" id="{7D9FBC94-A732-31EA-1A90-1F63FAD1D7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2" y="2779"/>
              <a:ext cx="152" cy="164"/>
            </a:xfrm>
            <a:prstGeom prst="ellipse">
              <a:avLst/>
            </a:prstGeom>
            <a:solidFill>
              <a:srgbClr val="FF9933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en-US" sz="2400" b="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21542" name="Line 36">
              <a:extLst>
                <a:ext uri="{FF2B5EF4-FFF2-40B4-BE49-F238E27FC236}">
                  <a16:creationId xmlns:a16="http://schemas.microsoft.com/office/drawing/2014/main" id="{E56F55B6-7A7E-C41C-2F78-2A938487F6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65" y="2856"/>
              <a:ext cx="81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543" name="AutoShape 37">
              <a:extLst>
                <a:ext uri="{FF2B5EF4-FFF2-40B4-BE49-F238E27FC236}">
                  <a16:creationId xmlns:a16="http://schemas.microsoft.com/office/drawing/2014/main" id="{56D79BDB-6063-5D20-1C2F-8DE9ED5B47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54" y="1248"/>
              <a:ext cx="324" cy="263"/>
            </a:xfrm>
            <a:prstGeom prst="wave">
              <a:avLst>
                <a:gd name="adj1" fmla="val 13005"/>
                <a:gd name="adj2" fmla="val 0"/>
              </a:avLst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en-US" sz="2400" b="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21544" name="Line 38">
              <a:extLst>
                <a:ext uri="{FF2B5EF4-FFF2-40B4-BE49-F238E27FC236}">
                  <a16:creationId xmlns:a16="http://schemas.microsoft.com/office/drawing/2014/main" id="{8CB756CA-E436-E0FF-13F9-3B78D62F5C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53" y="976"/>
              <a:ext cx="3" cy="54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545" name="Oval 39">
              <a:extLst>
                <a:ext uri="{FF2B5EF4-FFF2-40B4-BE49-F238E27FC236}">
                  <a16:creationId xmlns:a16="http://schemas.microsoft.com/office/drawing/2014/main" id="{5EE5D6DA-2112-6AA1-7AB0-B8658986B9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2" y="1511"/>
              <a:ext cx="152" cy="164"/>
            </a:xfrm>
            <a:prstGeom prst="ellipse">
              <a:avLst/>
            </a:prstGeom>
            <a:solidFill>
              <a:srgbClr val="FF9933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en-US" sz="2400" b="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21546" name="AutoShape 40">
              <a:extLst>
                <a:ext uri="{FF2B5EF4-FFF2-40B4-BE49-F238E27FC236}">
                  <a16:creationId xmlns:a16="http://schemas.microsoft.com/office/drawing/2014/main" id="{B706F42A-1FDE-0D28-504A-E4FE334725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61" y="2210"/>
              <a:ext cx="323" cy="263"/>
            </a:xfrm>
            <a:prstGeom prst="wave">
              <a:avLst>
                <a:gd name="adj1" fmla="val 13005"/>
                <a:gd name="adj2" fmla="val 0"/>
              </a:avLst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en-US" sz="2400" b="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21547" name="Line 41">
              <a:extLst>
                <a:ext uri="{FF2B5EF4-FFF2-40B4-BE49-F238E27FC236}">
                  <a16:creationId xmlns:a16="http://schemas.microsoft.com/office/drawing/2014/main" id="{4FE00129-6057-FCF2-1B4D-B0FD6BB0CE3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61" y="2238"/>
              <a:ext cx="1" cy="54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548" name="Rectangle 42">
              <a:extLst>
                <a:ext uri="{FF2B5EF4-FFF2-40B4-BE49-F238E27FC236}">
                  <a16:creationId xmlns:a16="http://schemas.microsoft.com/office/drawing/2014/main" id="{60531332-47FD-2EAB-E7C4-E6D3BC2E85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9" y="2987"/>
              <a:ext cx="1322" cy="1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800">
                  <a:latin typeface="굴림" panose="020B0600000101010101" pitchFamily="50" charset="-127"/>
                  <a:ea typeface="굴림" panose="020B0600000101010101" pitchFamily="50" charset="-127"/>
                </a:rPr>
                <a:t>네트워크 이벤트 발생</a:t>
              </a:r>
            </a:p>
          </p:txBody>
        </p:sp>
        <p:sp>
          <p:nvSpPr>
            <p:cNvPr id="21549" name="Freeform 43">
              <a:extLst>
                <a:ext uri="{FF2B5EF4-FFF2-40B4-BE49-F238E27FC236}">
                  <a16:creationId xmlns:a16="http://schemas.microsoft.com/office/drawing/2014/main" id="{FE44924A-44EC-92F8-0A7B-ACA2F63CD2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1" y="1588"/>
              <a:ext cx="134" cy="306"/>
            </a:xfrm>
            <a:custGeom>
              <a:avLst/>
              <a:gdLst>
                <a:gd name="T0" fmla="*/ 11 w 160"/>
                <a:gd name="T1" fmla="*/ 0 h 336"/>
                <a:gd name="T2" fmla="*/ 112 w 160"/>
                <a:gd name="T3" fmla="*/ 159 h 336"/>
                <a:gd name="T4" fmla="*/ 11 w 160"/>
                <a:gd name="T5" fmla="*/ 199 h 336"/>
                <a:gd name="T6" fmla="*/ 45 w 160"/>
                <a:gd name="T7" fmla="*/ 279 h 3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0" h="336">
                  <a:moveTo>
                    <a:pt x="16" y="0"/>
                  </a:moveTo>
                  <a:cubicBezTo>
                    <a:pt x="88" y="76"/>
                    <a:pt x="160" y="152"/>
                    <a:pt x="160" y="192"/>
                  </a:cubicBezTo>
                  <a:cubicBezTo>
                    <a:pt x="160" y="232"/>
                    <a:pt x="32" y="216"/>
                    <a:pt x="16" y="240"/>
                  </a:cubicBezTo>
                  <a:cubicBezTo>
                    <a:pt x="0" y="264"/>
                    <a:pt x="56" y="320"/>
                    <a:pt x="64" y="336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550" name="Rectangle 44">
              <a:extLst>
                <a:ext uri="{FF2B5EF4-FFF2-40B4-BE49-F238E27FC236}">
                  <a16:creationId xmlns:a16="http://schemas.microsoft.com/office/drawing/2014/main" id="{B4AA739D-1EE4-BD2B-6376-E9A3588A0B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12" y="1894"/>
              <a:ext cx="665" cy="1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800">
                  <a:latin typeface="굴림" panose="020B0600000101010101" pitchFamily="50" charset="-127"/>
                  <a:ea typeface="굴림" panose="020B0600000101010101" pitchFamily="50" charset="-127"/>
                </a:rPr>
                <a:t>이벤트 객체</a:t>
              </a:r>
            </a:p>
          </p:txBody>
        </p:sp>
        <p:sp>
          <p:nvSpPr>
            <p:cNvPr id="21551" name="Freeform 45">
              <a:extLst>
                <a:ext uri="{FF2B5EF4-FFF2-40B4-BE49-F238E27FC236}">
                  <a16:creationId xmlns:a16="http://schemas.microsoft.com/office/drawing/2014/main" id="{4650211F-05E9-B946-9B58-6FC0F21D4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5140" y="1588"/>
              <a:ext cx="134" cy="306"/>
            </a:xfrm>
            <a:custGeom>
              <a:avLst/>
              <a:gdLst>
                <a:gd name="T0" fmla="*/ 11 w 160"/>
                <a:gd name="T1" fmla="*/ 0 h 336"/>
                <a:gd name="T2" fmla="*/ 112 w 160"/>
                <a:gd name="T3" fmla="*/ 159 h 336"/>
                <a:gd name="T4" fmla="*/ 11 w 160"/>
                <a:gd name="T5" fmla="*/ 199 h 336"/>
                <a:gd name="T6" fmla="*/ 45 w 160"/>
                <a:gd name="T7" fmla="*/ 279 h 3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0" h="336">
                  <a:moveTo>
                    <a:pt x="16" y="0"/>
                  </a:moveTo>
                  <a:cubicBezTo>
                    <a:pt x="88" y="76"/>
                    <a:pt x="160" y="152"/>
                    <a:pt x="160" y="192"/>
                  </a:cubicBezTo>
                  <a:cubicBezTo>
                    <a:pt x="160" y="232"/>
                    <a:pt x="32" y="216"/>
                    <a:pt x="16" y="240"/>
                  </a:cubicBezTo>
                  <a:cubicBezTo>
                    <a:pt x="0" y="264"/>
                    <a:pt x="56" y="320"/>
                    <a:pt x="64" y="336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552" name="Line 46">
              <a:extLst>
                <a:ext uri="{FF2B5EF4-FFF2-40B4-BE49-F238E27FC236}">
                  <a16:creationId xmlns:a16="http://schemas.microsoft.com/office/drawing/2014/main" id="{8BE79503-5608-2AE3-DE81-892EB1D185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65" y="1588"/>
              <a:ext cx="8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1530" name="Line 47">
            <a:extLst>
              <a:ext uri="{FF2B5EF4-FFF2-40B4-BE49-F238E27FC236}">
                <a16:creationId xmlns:a16="http://schemas.microsoft.com/office/drawing/2014/main" id="{48B5804A-0A27-F4A5-C63C-5CCBB44C1146}"/>
              </a:ext>
            </a:extLst>
          </p:cNvPr>
          <p:cNvSpPr>
            <a:spLocks noChangeShapeType="1"/>
          </p:cNvSpPr>
          <p:nvPr/>
        </p:nvSpPr>
        <p:spPr bwMode="auto">
          <a:xfrm>
            <a:off x="6084888" y="1557338"/>
            <a:ext cx="0" cy="3600450"/>
          </a:xfrm>
          <a:prstGeom prst="line">
            <a:avLst/>
          </a:prstGeom>
          <a:noFill/>
          <a:ln w="38100" cap="rnd">
            <a:solidFill>
              <a:srgbClr val="0099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1531" name="Rectangle 48">
            <a:extLst>
              <a:ext uri="{FF2B5EF4-FFF2-40B4-BE49-F238E27FC236}">
                <a16:creationId xmlns:a16="http://schemas.microsoft.com/office/drawing/2014/main" id="{725B8B41-8573-8020-5B9F-E14FF4F813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5988" y="2701925"/>
            <a:ext cx="2449512" cy="2230438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Ctr="1"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ko-KR" altLang="en-US" sz="1800">
                <a:latin typeface="굴림" panose="020B0600000101010101" pitchFamily="50" charset="-127"/>
                <a:ea typeface="굴림" panose="020B0600000101010101" pitchFamily="50" charset="-127"/>
              </a:rPr>
              <a:t>응용프로그램</a:t>
            </a:r>
          </a:p>
        </p:txBody>
      </p:sp>
      <p:sp>
        <p:nvSpPr>
          <p:cNvPr id="21532" name="Rectangle 57">
            <a:extLst>
              <a:ext uri="{FF2B5EF4-FFF2-40B4-BE49-F238E27FC236}">
                <a16:creationId xmlns:a16="http://schemas.microsoft.com/office/drawing/2014/main" id="{E4614612-3D1C-685C-A0BB-FD9468F278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5988" y="3571875"/>
            <a:ext cx="1512887" cy="450850"/>
          </a:xfrm>
          <a:prstGeom prst="rect">
            <a:avLst/>
          </a:prstGeom>
          <a:solidFill>
            <a:srgbClr val="FF9900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ko-KR" altLang="en-US" sz="1800">
                <a:latin typeface="굴림" panose="020B0600000101010101" pitchFamily="50" charset="-127"/>
                <a:ea typeface="굴림" panose="020B0600000101010101" pitchFamily="50" charset="-127"/>
              </a:rPr>
              <a:t>이벤트처리</a:t>
            </a:r>
          </a:p>
        </p:txBody>
      </p:sp>
      <p:sp>
        <p:nvSpPr>
          <p:cNvPr id="21533" name="Line 10">
            <a:extLst>
              <a:ext uri="{FF2B5EF4-FFF2-40B4-BE49-F238E27FC236}">
                <a16:creationId xmlns:a16="http://schemas.microsoft.com/office/drawing/2014/main" id="{902257B4-DBE2-8FC7-45B3-9FF1AF953BD7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2480468" y="3844132"/>
            <a:ext cx="881063" cy="1047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1534" name="Line 11">
            <a:extLst>
              <a:ext uri="{FF2B5EF4-FFF2-40B4-BE49-F238E27FC236}">
                <a16:creationId xmlns:a16="http://schemas.microsoft.com/office/drawing/2014/main" id="{48B97C3A-18E0-653A-29FA-5FAAA6DF8D7D}"/>
              </a:ext>
            </a:extLst>
          </p:cNvPr>
          <p:cNvSpPr>
            <a:spLocks noChangeShapeType="1"/>
          </p:cNvSpPr>
          <p:nvPr/>
        </p:nvSpPr>
        <p:spPr bwMode="auto">
          <a:xfrm rot="16200000" flipH="1">
            <a:off x="2905125" y="3265488"/>
            <a:ext cx="3175" cy="1060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1535" name="Line 12">
            <a:extLst>
              <a:ext uri="{FF2B5EF4-FFF2-40B4-BE49-F238E27FC236}">
                <a16:creationId xmlns:a16="http://schemas.microsoft.com/office/drawing/2014/main" id="{285FA920-3248-F1B6-68DC-A8D1CCD4B796}"/>
              </a:ext>
            </a:extLst>
          </p:cNvPr>
          <p:cNvSpPr>
            <a:spLocks noChangeShapeType="1"/>
          </p:cNvSpPr>
          <p:nvPr/>
        </p:nvSpPr>
        <p:spPr bwMode="auto">
          <a:xfrm rot="16200000" flipH="1">
            <a:off x="2861469" y="3156744"/>
            <a:ext cx="379413" cy="765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1536" name="Line 13">
            <a:extLst>
              <a:ext uri="{FF2B5EF4-FFF2-40B4-BE49-F238E27FC236}">
                <a16:creationId xmlns:a16="http://schemas.microsoft.com/office/drawing/2014/main" id="{6ABA4C74-AF48-DDAC-2E01-1C06437EC9E1}"/>
              </a:ext>
            </a:extLst>
          </p:cNvPr>
          <p:cNvSpPr>
            <a:spLocks noChangeShapeType="1"/>
          </p:cNvSpPr>
          <p:nvPr/>
        </p:nvSpPr>
        <p:spPr bwMode="auto">
          <a:xfrm rot="16200000" flipH="1">
            <a:off x="2486025" y="2700338"/>
            <a:ext cx="865188" cy="1033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1537" name="Line 15">
            <a:extLst>
              <a:ext uri="{FF2B5EF4-FFF2-40B4-BE49-F238E27FC236}">
                <a16:creationId xmlns:a16="http://schemas.microsoft.com/office/drawing/2014/main" id="{20223C7A-7A36-7BBC-98C9-C2FEBE6E1039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2845594" y="3663157"/>
            <a:ext cx="409575" cy="763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바닥글 개체 틀 1">
            <a:extLst>
              <a:ext uri="{FF2B5EF4-FFF2-40B4-BE49-F238E27FC236}">
                <a16:creationId xmlns:a16="http://schemas.microsoft.com/office/drawing/2014/main" id="{4CEF3CE0-0EFA-DA35-D843-F473DD1D3F0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000" b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sp>
        <p:nvSpPr>
          <p:cNvPr id="22531" name="AutoShape 24">
            <a:extLst>
              <a:ext uri="{FF2B5EF4-FFF2-40B4-BE49-F238E27FC236}">
                <a16:creationId xmlns:a16="http://schemas.microsoft.com/office/drawing/2014/main" id="{2349AAD1-831A-3239-89FF-6CF3F27E5D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0563" y="1196975"/>
            <a:ext cx="4319587" cy="5327650"/>
          </a:xfrm>
          <a:prstGeom prst="roundRect">
            <a:avLst>
              <a:gd name="adj" fmla="val 6843"/>
            </a:avLst>
          </a:prstGeom>
          <a:solidFill>
            <a:srgbClr val="00FF00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1600">
                <a:latin typeface="굴림" panose="020B0600000101010101" pitchFamily="50" charset="-127"/>
                <a:ea typeface="굴림" panose="020B0600000101010101" pitchFamily="50" charset="-127"/>
              </a:rPr>
              <a:t>While(1)</a:t>
            </a:r>
          </a:p>
        </p:txBody>
      </p:sp>
      <p:sp>
        <p:nvSpPr>
          <p:cNvPr id="22532" name="Rectangle 15">
            <a:extLst>
              <a:ext uri="{FF2B5EF4-FFF2-40B4-BE49-F238E27FC236}">
                <a16:creationId xmlns:a16="http://schemas.microsoft.com/office/drawing/2014/main" id="{2C8503EC-AEB8-F9E4-06AD-70671A1EED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44450"/>
            <a:ext cx="82804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2400">
                <a:solidFill>
                  <a:schemeClr val="bg1"/>
                </a:solidFill>
              </a:rPr>
              <a:t>2. WSAEventSelect</a:t>
            </a:r>
          </a:p>
        </p:txBody>
      </p:sp>
      <p:sp>
        <p:nvSpPr>
          <p:cNvPr id="22533" name="Rectangle 16">
            <a:extLst>
              <a:ext uri="{FF2B5EF4-FFF2-40B4-BE49-F238E27FC236}">
                <a16:creationId xmlns:a16="http://schemas.microsoft.com/office/drawing/2014/main" id="{5BD7EC08-8824-D6ED-D71B-8D2FC050B7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692150"/>
            <a:ext cx="8280400" cy="583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eaLnBrk="1" hangingPunct="1"/>
            <a:r>
              <a:rPr lang="ko-KR" altLang="en-US"/>
              <a:t>구현 순서</a:t>
            </a:r>
          </a:p>
        </p:txBody>
      </p:sp>
      <p:sp>
        <p:nvSpPr>
          <p:cNvPr id="22534" name="Rectangle 7">
            <a:extLst>
              <a:ext uri="{FF2B5EF4-FFF2-40B4-BE49-F238E27FC236}">
                <a16:creationId xmlns:a16="http://schemas.microsoft.com/office/drawing/2014/main" id="{28AE187B-51A5-BEDA-F161-1616BFBDCC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3663" y="1485900"/>
            <a:ext cx="1892300" cy="647700"/>
          </a:xfrm>
          <a:prstGeom prst="rect">
            <a:avLst/>
          </a:prstGeom>
          <a:solidFill>
            <a:srgbClr val="CCFFCC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ko-KR" altLang="en-US" sz="1600">
                <a:latin typeface="Arial" panose="020B0604020202020204" pitchFamily="34" charset="0"/>
                <a:ea typeface="굴림" panose="020B0600000101010101" pitchFamily="50" charset="-127"/>
              </a:rPr>
              <a:t>이벤트객체생성</a:t>
            </a:r>
            <a:br>
              <a:rPr lang="ko-KR" altLang="en-US" sz="1600">
                <a:latin typeface="Arial" panose="020B0604020202020204" pitchFamily="34" charset="0"/>
                <a:ea typeface="굴림" panose="020B0600000101010101" pitchFamily="50" charset="-127"/>
              </a:rPr>
            </a:br>
            <a:r>
              <a:rPr lang="en-US" altLang="ko-KR" sz="1600">
                <a:latin typeface="Arial" panose="020B0604020202020204" pitchFamily="34" charset="0"/>
                <a:ea typeface="굴림" panose="020B0600000101010101" pitchFamily="50" charset="-127"/>
              </a:rPr>
              <a:t>WSACreateEvent()</a:t>
            </a:r>
          </a:p>
        </p:txBody>
      </p:sp>
      <p:sp>
        <p:nvSpPr>
          <p:cNvPr id="22535" name="Oval 4">
            <a:extLst>
              <a:ext uri="{FF2B5EF4-FFF2-40B4-BE49-F238E27FC236}">
                <a16:creationId xmlns:a16="http://schemas.microsoft.com/office/drawing/2014/main" id="{9F3B9040-AFB8-D35D-CCCC-C252A0CA8B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5413" y="5373688"/>
            <a:ext cx="1812925" cy="914400"/>
          </a:xfrm>
          <a:prstGeom prst="ellipse">
            <a:avLst/>
          </a:prstGeom>
          <a:solidFill>
            <a:srgbClr val="FFCC00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1600">
                <a:latin typeface="Arial" panose="020B0604020202020204" pitchFamily="34" charset="0"/>
                <a:ea typeface="굴림" panose="020B0600000101010101" pitchFamily="50" charset="-127"/>
              </a:rPr>
              <a:t>Socket</a:t>
            </a:r>
          </a:p>
        </p:txBody>
      </p:sp>
      <p:sp>
        <p:nvSpPr>
          <p:cNvPr id="22536" name="Oval 5">
            <a:extLst>
              <a:ext uri="{FF2B5EF4-FFF2-40B4-BE49-F238E27FC236}">
                <a16:creationId xmlns:a16="http://schemas.microsoft.com/office/drawing/2014/main" id="{607B067D-285C-7C31-1E1A-CA9B31134F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8588" y="2587625"/>
            <a:ext cx="1812925" cy="914400"/>
          </a:xfrm>
          <a:prstGeom prst="ellipse">
            <a:avLst/>
          </a:prstGeom>
          <a:solidFill>
            <a:srgbClr val="FFCC00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1600">
                <a:latin typeface="Arial" panose="020B0604020202020204" pitchFamily="34" charset="0"/>
                <a:ea typeface="굴림" panose="020B0600000101010101" pitchFamily="50" charset="-127"/>
              </a:rPr>
              <a:t>Event Object</a:t>
            </a:r>
          </a:p>
        </p:txBody>
      </p:sp>
      <p:sp>
        <p:nvSpPr>
          <p:cNvPr id="22537" name="Rectangle 10">
            <a:extLst>
              <a:ext uri="{FF2B5EF4-FFF2-40B4-BE49-F238E27FC236}">
                <a16:creationId xmlns:a16="http://schemas.microsoft.com/office/drawing/2014/main" id="{DBE4FF0A-B5F0-D180-5E5D-123C7D9876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5075" y="4010025"/>
            <a:ext cx="2120900" cy="858838"/>
          </a:xfrm>
          <a:prstGeom prst="rect">
            <a:avLst/>
          </a:prstGeom>
          <a:solidFill>
            <a:srgbClr val="CCFFCC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ko-KR" altLang="en-US" sz="1600">
                <a:latin typeface="Arial" panose="020B0604020202020204" pitchFamily="34" charset="0"/>
                <a:ea typeface="굴림" panose="020B0600000101010101" pitchFamily="50" charset="-127"/>
              </a:rPr>
              <a:t>소켓</a:t>
            </a:r>
            <a:r>
              <a:rPr lang="en-US" altLang="ko-KR" sz="1600">
                <a:latin typeface="Arial" panose="020B0604020202020204" pitchFamily="34" charset="0"/>
                <a:ea typeface="굴림" panose="020B0600000101010101" pitchFamily="50" charset="-127"/>
              </a:rPr>
              <a:t>+</a:t>
            </a:r>
            <a:r>
              <a:rPr lang="ko-KR" altLang="en-US" sz="1600">
                <a:latin typeface="Arial" panose="020B0604020202020204" pitchFamily="34" charset="0"/>
                <a:ea typeface="굴림" panose="020B0600000101010101" pitchFamily="50" charset="-127"/>
              </a:rPr>
              <a:t>이벤트 바인딩</a:t>
            </a:r>
            <a:br>
              <a:rPr lang="ko-KR" altLang="en-US" sz="1600">
                <a:latin typeface="Arial" panose="020B0604020202020204" pitchFamily="34" charset="0"/>
                <a:ea typeface="굴림" panose="020B0600000101010101" pitchFamily="50" charset="-127"/>
              </a:rPr>
            </a:br>
            <a:r>
              <a:rPr lang="en-US" altLang="ko-KR" sz="1600">
                <a:latin typeface="Arial" panose="020B0604020202020204" pitchFamily="34" charset="0"/>
                <a:ea typeface="굴림" panose="020B0600000101010101" pitchFamily="50" charset="-127"/>
              </a:rPr>
              <a:t>WSAEventSelect()</a:t>
            </a:r>
          </a:p>
        </p:txBody>
      </p:sp>
      <p:sp>
        <p:nvSpPr>
          <p:cNvPr id="22538" name="Rectangle 11">
            <a:extLst>
              <a:ext uri="{FF2B5EF4-FFF2-40B4-BE49-F238E27FC236}">
                <a16:creationId xmlns:a16="http://schemas.microsoft.com/office/drawing/2014/main" id="{8661787D-11B4-2EE8-AB44-E9FFDCB32A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3188" y="1917700"/>
            <a:ext cx="3276600" cy="863600"/>
          </a:xfrm>
          <a:prstGeom prst="rect">
            <a:avLst/>
          </a:prstGeom>
          <a:solidFill>
            <a:srgbClr val="CCFFCC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ko-KR" altLang="en-US" sz="1600">
                <a:latin typeface="Arial" panose="020B0604020202020204" pitchFamily="34" charset="0"/>
                <a:ea typeface="굴림" panose="020B0600000101010101" pitchFamily="50" charset="-127"/>
              </a:rPr>
              <a:t>네트워크 이벤트 감지</a:t>
            </a:r>
            <a:br>
              <a:rPr lang="ko-KR" altLang="en-US" sz="1600">
                <a:latin typeface="Arial" panose="020B0604020202020204" pitchFamily="34" charset="0"/>
                <a:ea typeface="굴림" panose="020B0600000101010101" pitchFamily="50" charset="-127"/>
              </a:rPr>
            </a:br>
            <a:r>
              <a:rPr lang="en-US" altLang="ko-KR" sz="1600">
                <a:latin typeface="Arial" panose="020B0604020202020204" pitchFamily="34" charset="0"/>
                <a:ea typeface="굴림" panose="020B0600000101010101" pitchFamily="50" charset="-127"/>
              </a:rPr>
              <a:t>WSAWaitForMultipleEvents()</a:t>
            </a:r>
          </a:p>
        </p:txBody>
      </p:sp>
      <p:cxnSp>
        <p:nvCxnSpPr>
          <p:cNvPr id="22539" name="AutoShape 12">
            <a:extLst>
              <a:ext uri="{FF2B5EF4-FFF2-40B4-BE49-F238E27FC236}">
                <a16:creationId xmlns:a16="http://schemas.microsoft.com/office/drawing/2014/main" id="{B182CBFA-A724-1FA7-2DEA-F1C2FEA08727}"/>
              </a:ext>
            </a:extLst>
          </p:cNvPr>
          <p:cNvCxnSpPr>
            <a:cxnSpLocks noChangeShapeType="1"/>
            <a:stCxn id="22537" idx="3"/>
            <a:endCxn id="22538" idx="1"/>
          </p:cNvCxnSpPr>
          <p:nvPr/>
        </p:nvCxnSpPr>
        <p:spPr bwMode="auto">
          <a:xfrm flipV="1">
            <a:off x="3365500" y="2349500"/>
            <a:ext cx="1808163" cy="2090738"/>
          </a:xfrm>
          <a:prstGeom prst="bentConnector3">
            <a:avLst>
              <a:gd name="adj1" fmla="val 49958"/>
            </a:avLst>
          </a:prstGeom>
          <a:noFill/>
          <a:ln w="38100">
            <a:solidFill>
              <a:schemeClr val="tx1"/>
            </a:solidFill>
            <a:miter lim="800000"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540" name="Rectangle 13">
            <a:extLst>
              <a:ext uri="{FF2B5EF4-FFF2-40B4-BE49-F238E27FC236}">
                <a16:creationId xmlns:a16="http://schemas.microsoft.com/office/drawing/2014/main" id="{66DB8399-1E98-43E8-B950-359B413893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3429000"/>
            <a:ext cx="3276600" cy="863600"/>
          </a:xfrm>
          <a:prstGeom prst="rect">
            <a:avLst/>
          </a:prstGeom>
          <a:solidFill>
            <a:srgbClr val="CCFFCC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ko-KR" altLang="en-US" sz="1600">
                <a:latin typeface="Arial" panose="020B0604020202020204" pitchFamily="34" charset="0"/>
                <a:ea typeface="굴림" panose="020B0600000101010101" pitchFamily="50" charset="-127"/>
              </a:rPr>
              <a:t>이벤트 분석</a:t>
            </a:r>
            <a:br>
              <a:rPr lang="ko-KR" altLang="en-US" sz="1600">
                <a:latin typeface="Arial" panose="020B0604020202020204" pitchFamily="34" charset="0"/>
                <a:ea typeface="굴림" panose="020B0600000101010101" pitchFamily="50" charset="-127"/>
              </a:rPr>
            </a:br>
            <a:r>
              <a:rPr lang="en-US" altLang="ko-KR" sz="1600">
                <a:latin typeface="Arial" panose="020B0604020202020204" pitchFamily="34" charset="0"/>
                <a:ea typeface="굴림" panose="020B0600000101010101" pitchFamily="50" charset="-127"/>
              </a:rPr>
              <a:t>WSAEnumNetworkEvents()</a:t>
            </a:r>
          </a:p>
        </p:txBody>
      </p:sp>
      <p:cxnSp>
        <p:nvCxnSpPr>
          <p:cNvPr id="22541" name="AutoShape 14">
            <a:extLst>
              <a:ext uri="{FF2B5EF4-FFF2-40B4-BE49-F238E27FC236}">
                <a16:creationId xmlns:a16="http://schemas.microsoft.com/office/drawing/2014/main" id="{021B4709-FE3F-CC4E-7A19-AA9ABDB94CDD}"/>
              </a:ext>
            </a:extLst>
          </p:cNvPr>
          <p:cNvCxnSpPr>
            <a:cxnSpLocks noChangeShapeType="1"/>
            <a:stCxn id="22538" idx="2"/>
            <a:endCxn id="22540" idx="0"/>
          </p:cNvCxnSpPr>
          <p:nvPr/>
        </p:nvCxnSpPr>
        <p:spPr bwMode="auto">
          <a:xfrm flipH="1">
            <a:off x="6819900" y="2790825"/>
            <a:ext cx="1588" cy="62865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542" name="AutoShape 19">
            <a:extLst>
              <a:ext uri="{FF2B5EF4-FFF2-40B4-BE49-F238E27FC236}">
                <a16:creationId xmlns:a16="http://schemas.microsoft.com/office/drawing/2014/main" id="{AEFFEB94-CB87-D218-A3AC-7B0572BA6CB9}"/>
              </a:ext>
            </a:extLst>
          </p:cNvPr>
          <p:cNvCxnSpPr>
            <a:cxnSpLocks noChangeShapeType="1"/>
            <a:stCxn id="22535" idx="0"/>
            <a:endCxn id="22537" idx="2"/>
          </p:cNvCxnSpPr>
          <p:nvPr/>
        </p:nvCxnSpPr>
        <p:spPr bwMode="auto">
          <a:xfrm flipH="1" flipV="1">
            <a:off x="2295525" y="4878388"/>
            <a:ext cx="6350" cy="485775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543" name="AutoShape 21">
            <a:extLst>
              <a:ext uri="{FF2B5EF4-FFF2-40B4-BE49-F238E27FC236}">
                <a16:creationId xmlns:a16="http://schemas.microsoft.com/office/drawing/2014/main" id="{43CEA11C-B1CE-D6F9-C576-0E272840B1DC}"/>
              </a:ext>
            </a:extLst>
          </p:cNvPr>
          <p:cNvCxnSpPr>
            <a:cxnSpLocks noChangeShapeType="1"/>
            <a:stCxn id="22536" idx="4"/>
            <a:endCxn id="22537" idx="0"/>
          </p:cNvCxnSpPr>
          <p:nvPr/>
        </p:nvCxnSpPr>
        <p:spPr bwMode="auto">
          <a:xfrm flipH="1">
            <a:off x="2295525" y="3511550"/>
            <a:ext cx="9525" cy="48895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544" name="AutoShape 22">
            <a:extLst>
              <a:ext uri="{FF2B5EF4-FFF2-40B4-BE49-F238E27FC236}">
                <a16:creationId xmlns:a16="http://schemas.microsoft.com/office/drawing/2014/main" id="{D56BCAE6-1F3A-2318-0597-16CEE8326288}"/>
              </a:ext>
            </a:extLst>
          </p:cNvPr>
          <p:cNvCxnSpPr>
            <a:cxnSpLocks noChangeShapeType="1"/>
            <a:stCxn id="22534" idx="2"/>
            <a:endCxn id="22536" idx="0"/>
          </p:cNvCxnSpPr>
          <p:nvPr/>
        </p:nvCxnSpPr>
        <p:spPr bwMode="auto">
          <a:xfrm flipH="1">
            <a:off x="2305050" y="2143125"/>
            <a:ext cx="4763" cy="434975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545" name="Rectangle 25">
            <a:extLst>
              <a:ext uri="{FF2B5EF4-FFF2-40B4-BE49-F238E27FC236}">
                <a16:creationId xmlns:a16="http://schemas.microsoft.com/office/drawing/2014/main" id="{5EB6E072-1B92-7FF9-818B-4E527CC620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3188" y="4941888"/>
            <a:ext cx="3276600" cy="863600"/>
          </a:xfrm>
          <a:prstGeom prst="rect">
            <a:avLst/>
          </a:prstGeom>
          <a:solidFill>
            <a:srgbClr val="CCFFCC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ko-KR" altLang="en-US" sz="1600">
                <a:latin typeface="Arial" panose="020B0604020202020204" pitchFamily="34" charset="0"/>
                <a:ea typeface="굴림" panose="020B0600000101010101" pitchFamily="50" charset="-127"/>
              </a:rPr>
              <a:t>이벤트 처리</a:t>
            </a:r>
          </a:p>
        </p:txBody>
      </p:sp>
      <p:cxnSp>
        <p:nvCxnSpPr>
          <p:cNvPr id="22546" name="AutoShape 26">
            <a:extLst>
              <a:ext uri="{FF2B5EF4-FFF2-40B4-BE49-F238E27FC236}">
                <a16:creationId xmlns:a16="http://schemas.microsoft.com/office/drawing/2014/main" id="{66501D39-2B16-6616-B320-F9D54F054FC3}"/>
              </a:ext>
            </a:extLst>
          </p:cNvPr>
          <p:cNvCxnSpPr>
            <a:cxnSpLocks noChangeShapeType="1"/>
            <a:stCxn id="22540" idx="2"/>
            <a:endCxn id="22545" idx="0"/>
          </p:cNvCxnSpPr>
          <p:nvPr/>
        </p:nvCxnSpPr>
        <p:spPr bwMode="auto">
          <a:xfrm>
            <a:off x="6819900" y="4302125"/>
            <a:ext cx="1588" cy="63023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547" name="AutoShape 27">
            <a:extLst>
              <a:ext uri="{FF2B5EF4-FFF2-40B4-BE49-F238E27FC236}">
                <a16:creationId xmlns:a16="http://schemas.microsoft.com/office/drawing/2014/main" id="{E1B44F3D-0AEE-7290-0F2D-09361A26C017}"/>
              </a:ext>
            </a:extLst>
          </p:cNvPr>
          <p:cNvCxnSpPr>
            <a:cxnSpLocks noChangeShapeType="1"/>
            <a:stCxn id="22545" idx="2"/>
            <a:endCxn id="22538" idx="1"/>
          </p:cNvCxnSpPr>
          <p:nvPr/>
        </p:nvCxnSpPr>
        <p:spPr bwMode="auto">
          <a:xfrm rot="16200000" flipV="1">
            <a:off x="4264819" y="3258344"/>
            <a:ext cx="3465513" cy="1647825"/>
          </a:xfrm>
          <a:prstGeom prst="bentConnector4">
            <a:avLst>
              <a:gd name="adj1" fmla="val -6319"/>
              <a:gd name="adj2" fmla="val 113296"/>
            </a:avLst>
          </a:prstGeom>
          <a:noFill/>
          <a:ln w="38100">
            <a:solidFill>
              <a:schemeClr val="tx1"/>
            </a:solidFill>
            <a:miter lim="800000"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바닥글 개체 틀 3">
            <a:extLst>
              <a:ext uri="{FF2B5EF4-FFF2-40B4-BE49-F238E27FC236}">
                <a16:creationId xmlns:a16="http://schemas.microsoft.com/office/drawing/2014/main" id="{F7270679-11C1-D75B-9CEF-2B10B60E865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000" b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A0382B9C-E785-1DC1-EE9E-87D0C466CC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/>
              <a:t>2. WSAEventSelect - </a:t>
            </a:r>
            <a:r>
              <a:rPr lang="ko-KR" altLang="en-US" sz="2400"/>
              <a:t>주요 함수 내용</a:t>
            </a:r>
          </a:p>
        </p:txBody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FC6F177F-8682-3278-E244-4EB67D7C56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ko-KR" altLang="en-US" sz="1200"/>
              <a:t>이벤트 객체 생성</a:t>
            </a:r>
            <a:r>
              <a:rPr lang="en-US" altLang="ko-KR" sz="1200"/>
              <a:t>: WSAEVENT WSACreateEvent()</a:t>
            </a:r>
          </a:p>
          <a:p>
            <a:pPr lvl="1" eaLnBrk="1" hangingPunct="1">
              <a:lnSpc>
                <a:spcPct val="80000"/>
              </a:lnSpc>
            </a:pPr>
            <a:r>
              <a:rPr lang="ko-KR" altLang="en-US" sz="1000"/>
              <a:t>성공</a:t>
            </a:r>
            <a:r>
              <a:rPr lang="en-US" altLang="ko-KR" sz="1000"/>
              <a:t>: non-signaled </a:t>
            </a:r>
            <a:r>
              <a:rPr lang="ko-KR" altLang="en-US" sz="1000"/>
              <a:t>상태</a:t>
            </a:r>
            <a:r>
              <a:rPr lang="en-US" altLang="ko-KR" sz="1000"/>
              <a:t>, </a:t>
            </a:r>
            <a:r>
              <a:rPr lang="en-US" altLang="ko-KR" sz="1000">
                <a:solidFill>
                  <a:srgbClr val="FF0000"/>
                </a:solidFill>
              </a:rPr>
              <a:t>manual-reset </a:t>
            </a:r>
            <a:r>
              <a:rPr lang="ko-KR" altLang="en-US" sz="1000">
                <a:solidFill>
                  <a:srgbClr val="FF0000"/>
                </a:solidFill>
              </a:rPr>
              <a:t>모드 </a:t>
            </a:r>
            <a:r>
              <a:rPr lang="en-US" altLang="ko-KR" sz="1000">
                <a:solidFill>
                  <a:srgbClr val="FF0000"/>
                </a:solidFill>
              </a:rPr>
              <a:t>Event</a:t>
            </a:r>
            <a:r>
              <a:rPr lang="ko-KR" altLang="en-US" sz="1000">
                <a:solidFill>
                  <a:srgbClr val="FF0000"/>
                </a:solidFill>
              </a:rPr>
              <a:t>를 생성해야 </a:t>
            </a:r>
            <a:r>
              <a:rPr lang="en-US" altLang="ko-KR" sz="1000">
                <a:solidFill>
                  <a:srgbClr val="FF0000"/>
                </a:solidFill>
              </a:rPr>
              <a:t>WSAEnumNetworkEvents() </a:t>
            </a:r>
            <a:r>
              <a:rPr lang="ko-KR" altLang="en-US" sz="1000">
                <a:solidFill>
                  <a:srgbClr val="FF0000"/>
                </a:solidFill>
              </a:rPr>
              <a:t>애서 이벤트 해석 가능</a:t>
            </a:r>
          </a:p>
          <a:p>
            <a:pPr lvl="1" eaLnBrk="1" hangingPunct="1">
              <a:lnSpc>
                <a:spcPct val="80000"/>
              </a:lnSpc>
            </a:pPr>
            <a:r>
              <a:rPr lang="ko-KR" altLang="en-US" sz="1000"/>
              <a:t>실패</a:t>
            </a:r>
            <a:r>
              <a:rPr lang="en-US" altLang="ko-KR" sz="1000"/>
              <a:t>: WSA_INVALID_EVENT</a:t>
            </a:r>
          </a:p>
          <a:p>
            <a:pPr eaLnBrk="1" hangingPunct="1">
              <a:lnSpc>
                <a:spcPct val="80000"/>
              </a:lnSpc>
            </a:pPr>
            <a:endParaRPr lang="en-US" altLang="ko-KR" sz="1200"/>
          </a:p>
          <a:p>
            <a:pPr eaLnBrk="1" hangingPunct="1">
              <a:lnSpc>
                <a:spcPct val="80000"/>
              </a:lnSpc>
            </a:pPr>
            <a:r>
              <a:rPr lang="ko-KR" altLang="en-US" sz="1200"/>
              <a:t>이벤트 객체 해제</a:t>
            </a:r>
            <a:r>
              <a:rPr lang="en-US" altLang="ko-KR" sz="1200"/>
              <a:t>: BOOL WSACloseEvent (WSAEVENT hEvent)</a:t>
            </a:r>
          </a:p>
          <a:p>
            <a:pPr lvl="1" eaLnBrk="1" hangingPunct="1">
              <a:lnSpc>
                <a:spcPct val="80000"/>
              </a:lnSpc>
            </a:pPr>
            <a:r>
              <a:rPr lang="ko-KR" altLang="en-US" sz="1000"/>
              <a:t>성공</a:t>
            </a:r>
            <a:r>
              <a:rPr lang="en-US" altLang="ko-KR" sz="1000"/>
              <a:t>: TRUE, </a:t>
            </a:r>
            <a:r>
              <a:rPr lang="ko-KR" altLang="en-US" sz="1000"/>
              <a:t>실패</a:t>
            </a:r>
            <a:r>
              <a:rPr lang="en-US" altLang="ko-KR" sz="1000"/>
              <a:t>: FALSE</a:t>
            </a:r>
          </a:p>
          <a:p>
            <a:pPr eaLnBrk="1" hangingPunct="1">
              <a:lnSpc>
                <a:spcPct val="80000"/>
              </a:lnSpc>
            </a:pPr>
            <a:endParaRPr lang="en-US" altLang="ko-KR" sz="1200"/>
          </a:p>
          <a:p>
            <a:pPr eaLnBrk="1" hangingPunct="1">
              <a:lnSpc>
                <a:spcPct val="80000"/>
              </a:lnSpc>
            </a:pPr>
            <a:r>
              <a:rPr lang="en-US" altLang="ko-KR" sz="1200"/>
              <a:t>{</a:t>
            </a:r>
            <a:r>
              <a:rPr lang="ko-KR" altLang="en-US" sz="1200"/>
              <a:t>소켓 </a:t>
            </a:r>
            <a:r>
              <a:rPr lang="en-US" altLang="ko-KR" sz="1200"/>
              <a:t>+ </a:t>
            </a:r>
            <a:r>
              <a:rPr lang="ko-KR" altLang="en-US" sz="1200"/>
              <a:t>이벤트 객체 </a:t>
            </a:r>
            <a:r>
              <a:rPr lang="en-US" altLang="ko-KR" sz="1200"/>
              <a:t>+ </a:t>
            </a:r>
            <a:r>
              <a:rPr lang="ko-KR" altLang="en-US" sz="1200"/>
              <a:t>이벤트 내용</a:t>
            </a:r>
            <a:r>
              <a:rPr lang="en-US" altLang="ko-KR" sz="1200"/>
              <a:t>} </a:t>
            </a:r>
            <a:r>
              <a:rPr lang="ko-KR" altLang="en-US" sz="1200"/>
              <a:t>바인딩</a:t>
            </a:r>
            <a:r>
              <a:rPr lang="en-US" altLang="ko-KR" sz="1200"/>
              <a:t>: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1000"/>
              <a:t>int WSAEventSelect(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1000"/>
              <a:t>	SOCKET s, 		// </a:t>
            </a:r>
            <a:r>
              <a:rPr lang="ko-KR" altLang="en-US" sz="1000"/>
              <a:t>감시 대상이 되는 소켓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ko-KR" altLang="en-US" sz="1000"/>
              <a:t>	</a:t>
            </a:r>
            <a:r>
              <a:rPr lang="en-US" altLang="ko-KR" sz="1000"/>
              <a:t>WSAEVENT hEventObject, 	// </a:t>
            </a:r>
            <a:r>
              <a:rPr lang="ko-KR" altLang="en-US" sz="1000"/>
              <a:t>소켓의 변화를 확인하기 위한 </a:t>
            </a:r>
            <a:r>
              <a:rPr lang="en-US" altLang="ko-KR" sz="1000"/>
              <a:t>Event </a:t>
            </a:r>
            <a:r>
              <a:rPr lang="ko-KR" altLang="en-US" sz="1000"/>
              <a:t>객체 핸들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ko-KR" altLang="en-US" sz="1000"/>
              <a:t>	</a:t>
            </a:r>
            <a:r>
              <a:rPr lang="en-US" altLang="ko-KR" sz="1000"/>
              <a:t>long lNetworkEvents 	// </a:t>
            </a:r>
            <a:r>
              <a:rPr lang="ko-KR" altLang="en-US" sz="1000"/>
              <a:t>확인하고자 하는 이벤트 종류들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1000"/>
              <a:t>)</a:t>
            </a:r>
          </a:p>
          <a:p>
            <a:pPr lvl="1" eaLnBrk="1" hangingPunct="1">
              <a:lnSpc>
                <a:spcPct val="80000"/>
              </a:lnSpc>
            </a:pPr>
            <a:r>
              <a:rPr lang="ko-KR" altLang="en-US" sz="1000"/>
              <a:t>성공</a:t>
            </a:r>
            <a:r>
              <a:rPr lang="en-US" altLang="ko-KR" sz="1000"/>
              <a:t>: 0, </a:t>
            </a:r>
            <a:r>
              <a:rPr lang="ko-KR" altLang="en-US" sz="1000"/>
              <a:t>실패</a:t>
            </a:r>
            <a:r>
              <a:rPr lang="en-US" altLang="ko-KR" sz="1000"/>
              <a:t>: SOCKET_ERROR</a:t>
            </a:r>
          </a:p>
          <a:p>
            <a:pPr eaLnBrk="1" hangingPunct="1">
              <a:lnSpc>
                <a:spcPct val="80000"/>
              </a:lnSpc>
            </a:pPr>
            <a:endParaRPr lang="en-US" altLang="ko-KR" sz="1200"/>
          </a:p>
          <a:p>
            <a:pPr eaLnBrk="1" hangingPunct="1">
              <a:lnSpc>
                <a:spcPct val="80000"/>
              </a:lnSpc>
            </a:pPr>
            <a:r>
              <a:rPr lang="ko-KR" altLang="en-US" sz="1200"/>
              <a:t>네트워크 이벤트 감지</a:t>
            </a:r>
            <a:r>
              <a:rPr lang="en-US" altLang="ko-KR" sz="1200"/>
              <a:t>: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1200"/>
              <a:t>	DWORD WSAWaitForMultipleEvents(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1000"/>
              <a:t>	DWORD cEvents, 		 // </a:t>
            </a:r>
            <a:r>
              <a:rPr lang="ko-KR" altLang="en-US" sz="1000"/>
              <a:t>검사 대상의 수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ko-KR" altLang="en-US" sz="1000"/>
              <a:t>	</a:t>
            </a:r>
            <a:r>
              <a:rPr lang="en-US" altLang="ko-KR" sz="1000"/>
              <a:t>const WSAEVENT FAR *lphEvents, // </a:t>
            </a:r>
            <a:r>
              <a:rPr lang="ko-KR" altLang="en-US" sz="1000"/>
              <a:t>검사 대상 배열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ko-KR" altLang="en-US" sz="1000"/>
              <a:t>	</a:t>
            </a:r>
            <a:r>
              <a:rPr lang="en-US" altLang="ko-KR" sz="1000"/>
              <a:t>BOOL fWaitAll, 		 // FALSE </a:t>
            </a:r>
            <a:r>
              <a:rPr lang="ko-KR" altLang="en-US" sz="1000"/>
              <a:t>전달 시 하나의 변화로도 리턴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ko-KR" altLang="en-US" sz="1000"/>
              <a:t>	</a:t>
            </a:r>
            <a:r>
              <a:rPr lang="en-US" altLang="ko-KR" sz="1000"/>
              <a:t>DWORD dwTimeout, 	 // </a:t>
            </a:r>
            <a:r>
              <a:rPr lang="ko-KR" altLang="en-US" sz="1000"/>
              <a:t>타임</a:t>
            </a:r>
            <a:r>
              <a:rPr lang="en-US" altLang="ko-KR" sz="1000"/>
              <a:t>-</a:t>
            </a:r>
            <a:r>
              <a:rPr lang="ko-KR" altLang="en-US" sz="1000"/>
              <a:t>아웃 설정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ko-KR" altLang="en-US" sz="1000"/>
              <a:t>	</a:t>
            </a:r>
            <a:r>
              <a:rPr lang="en-US" altLang="ko-KR" sz="1000"/>
              <a:t>BOOL fAlertable 		 // For Completion Routine</a:t>
            </a:r>
            <a:r>
              <a:rPr lang="en-US" altLang="ko-KR" sz="1000">
                <a:latin typeface="Times New Roman" panose="02020603050405020304" pitchFamily="18" charset="0"/>
              </a:rPr>
              <a:t>…</a:t>
            </a:r>
            <a:endParaRPr lang="en-US" altLang="ko-KR" sz="1000"/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1000"/>
              <a:t>)</a:t>
            </a:r>
          </a:p>
          <a:p>
            <a:pPr lvl="1" eaLnBrk="1" hangingPunct="1">
              <a:lnSpc>
                <a:spcPct val="80000"/>
              </a:lnSpc>
            </a:pPr>
            <a:r>
              <a:rPr lang="ko-KR" altLang="en-US" sz="1000"/>
              <a:t>성공</a:t>
            </a:r>
            <a:r>
              <a:rPr lang="en-US" altLang="ko-KR" sz="1000"/>
              <a:t>: WSA_WAIT_EVENT_0 ~ WSA_WAIT_EVENT_0 + cEvents-1</a:t>
            </a:r>
            <a:r>
              <a:rPr lang="ko-KR" altLang="en-US" sz="1000"/>
              <a:t>또는 </a:t>
            </a:r>
            <a:r>
              <a:rPr lang="en-US" altLang="ko-KR" sz="1000"/>
              <a:t>WSA_WAIT_TIMEOUT.  </a:t>
            </a:r>
            <a:r>
              <a:rPr lang="ko-KR" altLang="en-US" sz="1000"/>
              <a:t>실패</a:t>
            </a:r>
            <a:r>
              <a:rPr lang="en-US" altLang="ko-KR" sz="1000"/>
              <a:t>: WSA_WAIT_FAILED</a:t>
            </a:r>
          </a:p>
          <a:p>
            <a:pPr eaLnBrk="1" hangingPunct="1">
              <a:lnSpc>
                <a:spcPct val="80000"/>
              </a:lnSpc>
            </a:pPr>
            <a:endParaRPr lang="en-US" altLang="ko-KR" sz="1200"/>
          </a:p>
          <a:p>
            <a:pPr eaLnBrk="1" hangingPunct="1">
              <a:lnSpc>
                <a:spcPct val="80000"/>
              </a:lnSpc>
            </a:pPr>
            <a:r>
              <a:rPr lang="ko-KR" altLang="en-US" sz="1200"/>
              <a:t>이벤트 내용 분석</a:t>
            </a:r>
            <a:r>
              <a:rPr lang="en-US" altLang="ko-KR" sz="1200"/>
              <a:t>: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1200"/>
              <a:t>	int WSAEnumNetworkEvents(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1200"/>
              <a:t>		SOCKET s, 			   // </a:t>
            </a:r>
            <a:r>
              <a:rPr lang="ko-KR" altLang="en-US" sz="1200"/>
              <a:t>변화가 생긴 소켓의 핸들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ko-KR" altLang="en-US" sz="1200"/>
              <a:t>		</a:t>
            </a:r>
            <a:r>
              <a:rPr lang="en-US" altLang="ko-KR" sz="1200"/>
              <a:t>WSAEVENT hEventObject, 	   // </a:t>
            </a:r>
            <a:r>
              <a:rPr lang="ko-KR" altLang="en-US" sz="1200"/>
              <a:t>변화가 생긴 소켓의 </a:t>
            </a:r>
            <a:r>
              <a:rPr lang="en-US" altLang="ko-KR" sz="1200"/>
              <a:t>Event </a:t>
            </a:r>
            <a:r>
              <a:rPr lang="ko-KR" altLang="en-US" sz="1200"/>
              <a:t>오브젝트 핸들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ko-KR" altLang="en-US" sz="1200"/>
              <a:t>		</a:t>
            </a:r>
            <a:r>
              <a:rPr lang="en-US" altLang="ko-KR" sz="1200"/>
              <a:t>LPWSANETWORKEVENTS lpNetworkEvents // </a:t>
            </a:r>
            <a:r>
              <a:rPr lang="ko-KR" altLang="en-US" sz="1200"/>
              <a:t>발생한 변화에 대한 정보를 채우기 위한 포인터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ko-KR" altLang="en-US" sz="1200"/>
              <a:t>	</a:t>
            </a:r>
            <a:r>
              <a:rPr lang="en-US" altLang="ko-KR" sz="1200"/>
              <a:t>)</a:t>
            </a:r>
          </a:p>
          <a:p>
            <a:pPr lvl="1" eaLnBrk="1" hangingPunct="1">
              <a:lnSpc>
                <a:spcPct val="80000"/>
              </a:lnSpc>
            </a:pPr>
            <a:r>
              <a:rPr lang="ko-KR" altLang="en-US" sz="1000"/>
              <a:t>해당 이벤트 객체를 </a:t>
            </a:r>
            <a:r>
              <a:rPr lang="en-US" altLang="ko-KR" sz="1000"/>
              <a:t>non-signaled </a:t>
            </a:r>
            <a:r>
              <a:rPr lang="ko-KR" altLang="en-US" sz="1000"/>
              <a:t>상태로 전환</a:t>
            </a:r>
            <a:r>
              <a:rPr lang="en-US" altLang="ko-KR" sz="1000"/>
              <a:t>. </a:t>
            </a:r>
            <a:r>
              <a:rPr lang="ko-KR" altLang="en-US" sz="1000"/>
              <a:t>성공</a:t>
            </a:r>
            <a:r>
              <a:rPr lang="en-US" altLang="ko-KR" sz="1000"/>
              <a:t>: 0, </a:t>
            </a:r>
            <a:r>
              <a:rPr lang="ko-KR" altLang="en-US" sz="1000"/>
              <a:t>실패</a:t>
            </a:r>
            <a:r>
              <a:rPr lang="en-US" altLang="ko-KR" sz="1000"/>
              <a:t>: SOCKET_ERROR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바닥글 개체 틀 3">
            <a:extLst>
              <a:ext uri="{FF2B5EF4-FFF2-40B4-BE49-F238E27FC236}">
                <a16:creationId xmlns:a16="http://schemas.microsoft.com/office/drawing/2014/main" id="{EF2D4B79-E9FA-1206-F6EA-35825C6540D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000" b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C394ECE5-D4F9-35F6-43AD-4C982015F3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/>
              <a:t>2. WSAEventSelect - </a:t>
            </a:r>
            <a:r>
              <a:rPr lang="ko-KR" altLang="en-US" sz="2400"/>
              <a:t>처리 절차</a:t>
            </a:r>
          </a:p>
        </p:txBody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8A988613-D346-AE28-009D-FBD0D7C61C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ko-KR" altLang="en-US" sz="2600"/>
              <a:t>소켓을 생성할 때마다 </a:t>
            </a:r>
            <a:r>
              <a:rPr lang="en-US" altLang="ko-KR" sz="2600"/>
              <a:t>WSACreateEvent() </a:t>
            </a:r>
            <a:r>
              <a:rPr lang="ko-KR" altLang="en-US" sz="2600"/>
              <a:t>함수를 이용하여 이벤트 객체를 생성</a:t>
            </a:r>
          </a:p>
          <a:p>
            <a:pPr eaLnBrk="1" hangingPunct="1">
              <a:lnSpc>
                <a:spcPct val="80000"/>
              </a:lnSpc>
            </a:pPr>
            <a:endParaRPr lang="ko-KR" altLang="en-US" sz="2600"/>
          </a:p>
          <a:p>
            <a:pPr eaLnBrk="1" hangingPunct="1">
              <a:lnSpc>
                <a:spcPct val="80000"/>
              </a:lnSpc>
            </a:pPr>
            <a:r>
              <a:rPr lang="en-US" altLang="ko-KR" sz="2600"/>
              <a:t>WSAEventSelect() </a:t>
            </a:r>
            <a:r>
              <a:rPr lang="ko-KR" altLang="en-US" sz="2600"/>
              <a:t>함수를 이용 </a:t>
            </a:r>
            <a:r>
              <a:rPr lang="en-US" altLang="ko-KR" sz="2600"/>
              <a:t>{</a:t>
            </a:r>
            <a:r>
              <a:rPr lang="ko-KR" altLang="en-US" sz="2600"/>
              <a:t>소켓</a:t>
            </a:r>
            <a:r>
              <a:rPr lang="en-US" altLang="ko-KR" sz="2600"/>
              <a:t>+</a:t>
            </a:r>
            <a:r>
              <a:rPr lang="ko-KR" altLang="en-US" sz="2600"/>
              <a:t>이벤트 객체</a:t>
            </a:r>
            <a:r>
              <a:rPr lang="en-US" altLang="ko-KR" sz="2600"/>
              <a:t>+</a:t>
            </a:r>
            <a:r>
              <a:rPr lang="ko-KR" altLang="en-US" sz="2600"/>
              <a:t>이벤트 내용들</a:t>
            </a:r>
            <a:r>
              <a:rPr lang="en-US" altLang="ko-KR" sz="2600"/>
              <a:t>}</a:t>
            </a:r>
            <a:r>
              <a:rPr lang="ko-KR" altLang="en-US" sz="2600"/>
              <a:t>을 바인딩</a:t>
            </a:r>
          </a:p>
          <a:p>
            <a:pPr eaLnBrk="1" hangingPunct="1">
              <a:lnSpc>
                <a:spcPct val="80000"/>
              </a:lnSpc>
            </a:pPr>
            <a:endParaRPr lang="ko-KR" altLang="en-US" sz="2600"/>
          </a:p>
          <a:p>
            <a:pPr eaLnBrk="1" hangingPunct="1">
              <a:lnSpc>
                <a:spcPct val="80000"/>
              </a:lnSpc>
            </a:pPr>
            <a:r>
              <a:rPr lang="en-US" altLang="ko-KR" sz="2600"/>
              <a:t>WSAWaitForMultipleEvents() </a:t>
            </a:r>
            <a:r>
              <a:rPr lang="ko-KR" altLang="en-US" sz="2600"/>
              <a:t>함수를 호출하여 </a:t>
            </a:r>
            <a:r>
              <a:rPr lang="en-US" altLang="ko-KR" sz="2600"/>
              <a:t>Signaled </a:t>
            </a:r>
            <a:r>
              <a:rPr lang="ko-KR" altLang="en-US" sz="2600"/>
              <a:t>상태인 이벤트들을 기다림</a:t>
            </a:r>
          </a:p>
          <a:p>
            <a:pPr eaLnBrk="1" hangingPunct="1">
              <a:lnSpc>
                <a:spcPct val="80000"/>
              </a:lnSpc>
            </a:pPr>
            <a:endParaRPr lang="ko-KR" altLang="en-US" sz="2600"/>
          </a:p>
          <a:p>
            <a:pPr eaLnBrk="1" hangingPunct="1">
              <a:lnSpc>
                <a:spcPct val="80000"/>
              </a:lnSpc>
            </a:pPr>
            <a:r>
              <a:rPr lang="en-US" altLang="ko-KR" sz="2600"/>
              <a:t>WSAEnumNetworkEvents() </a:t>
            </a:r>
            <a:r>
              <a:rPr lang="ko-KR" altLang="en-US" sz="2600"/>
              <a:t>함수를 이용 네트워크 이벤트를 파악하고 적절한 소켓 함수를 호출하여 처리</a:t>
            </a:r>
          </a:p>
          <a:p>
            <a:pPr eaLnBrk="1" hangingPunct="1">
              <a:lnSpc>
                <a:spcPct val="80000"/>
              </a:lnSpc>
            </a:pPr>
            <a:endParaRPr lang="ko-KR" altLang="en-US" sz="2600"/>
          </a:p>
          <a:p>
            <a:pPr eaLnBrk="1" hangingPunct="1">
              <a:lnSpc>
                <a:spcPct val="80000"/>
              </a:lnSpc>
            </a:pPr>
            <a:endParaRPr lang="ko-KR" altLang="en-US" sz="2600"/>
          </a:p>
          <a:p>
            <a:pPr eaLnBrk="1" hangingPunct="1">
              <a:lnSpc>
                <a:spcPct val="80000"/>
              </a:lnSpc>
            </a:pPr>
            <a:endParaRPr lang="ko-KR" altLang="en-US" sz="260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ko-KR" altLang="en-US" sz="2600"/>
              <a:t> </a:t>
            </a:r>
          </a:p>
          <a:p>
            <a:pPr lvl="1" eaLnBrk="1" hangingPunct="1">
              <a:lnSpc>
                <a:spcPct val="80000"/>
              </a:lnSpc>
            </a:pPr>
            <a:endParaRPr lang="en-US" altLang="ko-KR" sz="22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바닥글 개체 틀 3">
            <a:extLst>
              <a:ext uri="{FF2B5EF4-FFF2-40B4-BE49-F238E27FC236}">
                <a16:creationId xmlns:a16="http://schemas.microsoft.com/office/drawing/2014/main" id="{7FA4C832-D982-401F-750A-9B18FB4DEF4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000" b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DC424C8F-F94F-0400-63E0-3D2C4E09CC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/>
              <a:t>2. WSAEventSelect - Ex</a:t>
            </a:r>
          </a:p>
        </p:txBody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B623270C-5E13-8D42-957D-049D71B5F4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1400"/>
              <a:t>// </a:t>
            </a:r>
            <a:r>
              <a:rPr lang="ko-KR" altLang="en-US" sz="1400"/>
              <a:t>소켓</a:t>
            </a:r>
            <a:r>
              <a:rPr lang="en-US" altLang="ko-KR" sz="1400"/>
              <a:t>: SOCKET s;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1400"/>
              <a:t>WSAEVENT hEvent = WSACreateEvent();                                     // </a:t>
            </a:r>
            <a:r>
              <a:rPr lang="ko-KR" altLang="en-US" sz="1400"/>
              <a:t>이벤트 객체 생성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1400"/>
              <a:t>WSAEventSelect(s, hEvent, (FD_ACCEPT|FD_READ|FD_WRITE|FD_CLOSE));  // </a:t>
            </a:r>
            <a:r>
              <a:rPr lang="ko-KR" altLang="en-US" sz="1400"/>
              <a:t>소켓에 이벤트 객체 바인딩</a:t>
            </a:r>
            <a:r>
              <a:rPr lang="en-US" altLang="ko-KR" sz="1400"/>
              <a:t>.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1400">
                <a:latin typeface="Times New Roman" panose="02020603050405020304" pitchFamily="18" charset="0"/>
              </a:rPr>
              <a:t>…</a:t>
            </a:r>
            <a:endParaRPr lang="en-US" altLang="ko-KR" sz="140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1400"/>
              <a:t>while(1)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1400"/>
              <a:t>    nEv = WSAWaitForMultipleEvents(</a:t>
            </a:r>
            <a:r>
              <a:rPr lang="en-US" altLang="ko-KR" sz="1400">
                <a:latin typeface="Times New Roman" panose="02020603050405020304" pitchFamily="18" charset="0"/>
              </a:rPr>
              <a:t>…</a:t>
            </a:r>
            <a:r>
              <a:rPr lang="en-US" altLang="ko-KR" sz="1400"/>
              <a:t>, FALSE, WSA_INFINITE, FALSE);    // </a:t>
            </a:r>
            <a:r>
              <a:rPr lang="ko-KR" altLang="en-US" sz="1400"/>
              <a:t>네트워크 이벤트를 기다림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ko-KR" altLang="en-US" sz="1400"/>
              <a:t>    </a:t>
            </a:r>
            <a:r>
              <a:rPr lang="en-US" altLang="ko-KR" sz="1400"/>
              <a:t>nEv -= WSA_WAIT_EVENT_0;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1400"/>
              <a:t>    for(i= nEv; i&lt;MAX_CLIENT; ++i)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1400"/>
              <a:t>    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1400"/>
              <a:t>        nEv = WSAWaitForMultipleEvents(1, &amp;vEv[i], TRUE, 0, FALSE);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1400"/>
              <a:t>        if((nEv==WSA_WAIT_FAILED || nEv==WSA_WAIT_TIMEOUT))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1400"/>
              <a:t>            continue;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1400"/>
              <a:t>        scHost = vSc[i];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1400"/>
              <a:t>        hr = WSAEnumNetworkEvents(scHost, vEv[i], &amp;wtEv);      // </a:t>
            </a:r>
            <a:r>
              <a:rPr lang="ko-KR" altLang="en-US" sz="1400"/>
              <a:t>이벤트 분해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ko-KR" altLang="en-US" sz="1400"/>
              <a:t>        </a:t>
            </a:r>
            <a:r>
              <a:rPr lang="en-US" altLang="ko-KR" sz="1400"/>
              <a:t>if( FD_ACCEPT &amp; wtEv.lNetworkEvents)                     // Accept </a:t>
            </a:r>
            <a:r>
              <a:rPr lang="ko-KR" altLang="en-US" sz="1400"/>
              <a:t>이벤트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ko-KR" altLang="en-US" sz="1400"/>
              <a:t>            </a:t>
            </a:r>
            <a:r>
              <a:rPr lang="en-US" altLang="ko-KR" sz="1400"/>
              <a:t>WSAEventSelect(rmClnH, wsEv, (FD_READ|FD_WRITE|FD_CLOSE)); // </a:t>
            </a:r>
            <a:r>
              <a:rPr lang="ko-KR" altLang="en-US" sz="1400"/>
              <a:t>소켓에 이벤트 객체 바인딩</a:t>
            </a:r>
            <a:r>
              <a:rPr lang="en-US" altLang="ko-KR" sz="1400"/>
              <a:t>.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1400"/>
              <a:t>        </a:t>
            </a:r>
            <a:r>
              <a:rPr lang="en-US" altLang="ko-KR" sz="1400">
                <a:latin typeface="Times New Roman" panose="02020603050405020304" pitchFamily="18" charset="0"/>
              </a:rPr>
              <a:t>…</a:t>
            </a:r>
            <a:endParaRPr lang="en-US" altLang="ko-KR" sz="140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1400"/>
              <a:t>        else if( FD_CONNECT &amp; wtEv.lNetworkEvents)              // Connection </a:t>
            </a:r>
            <a:r>
              <a:rPr lang="ko-KR" altLang="en-US" sz="1400"/>
              <a:t>이벤트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ko-KR" altLang="en-US" sz="1400"/>
              <a:t>        </a:t>
            </a:r>
            <a:r>
              <a:rPr lang="en-US" altLang="ko-KR" sz="1400">
                <a:latin typeface="Times New Roman" panose="02020603050405020304" pitchFamily="18" charset="0"/>
              </a:rPr>
              <a:t>…</a:t>
            </a:r>
            <a:endParaRPr lang="en-US" altLang="ko-KR" sz="140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1400"/>
              <a:t>        else if( FD_WRITE &amp; wtEv.lNetworkEvents)                  // Send </a:t>
            </a:r>
            <a:r>
              <a:rPr lang="ko-KR" altLang="en-US" sz="1400"/>
              <a:t>이벤트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ko-KR" altLang="en-US" sz="1400"/>
              <a:t>        </a:t>
            </a:r>
            <a:r>
              <a:rPr lang="en-US" altLang="ko-KR" sz="1400">
                <a:latin typeface="Times New Roman" panose="02020603050405020304" pitchFamily="18" charset="0"/>
              </a:rPr>
              <a:t>…</a:t>
            </a:r>
            <a:endParaRPr lang="en-US" altLang="ko-KR" sz="140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1400"/>
              <a:t>        else if( FD_READ &amp; wtEv.lNetworkEvents)                   // Receive </a:t>
            </a:r>
            <a:r>
              <a:rPr lang="ko-KR" altLang="en-US" sz="1400"/>
              <a:t>이벤트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ko-KR" altLang="en-US" sz="1400"/>
              <a:t>            </a:t>
            </a:r>
            <a:r>
              <a:rPr lang="en-US" altLang="ko-KR" sz="1400"/>
              <a:t>recv(</a:t>
            </a:r>
            <a:r>
              <a:rPr lang="en-US" altLang="ko-KR" sz="1400">
                <a:latin typeface="Times New Roman" panose="02020603050405020304" pitchFamily="18" charset="0"/>
              </a:rPr>
              <a:t>…</a:t>
            </a:r>
            <a:r>
              <a:rPr lang="en-US" altLang="ko-KR" sz="1400"/>
              <a:t>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1400"/>
              <a:t>        </a:t>
            </a:r>
            <a:r>
              <a:rPr lang="en-US" altLang="ko-KR" sz="1400">
                <a:latin typeface="Times New Roman" panose="02020603050405020304" pitchFamily="18" charset="0"/>
              </a:rPr>
              <a:t>…</a:t>
            </a:r>
            <a:endParaRPr lang="en-US" altLang="ko-KR" sz="140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1400"/>
              <a:t>        else if( FD_CLOSE &amp; wtEv.lNetworkEvents)                  // Close </a:t>
            </a:r>
            <a:r>
              <a:rPr lang="ko-KR" altLang="en-US" sz="1400"/>
              <a:t>이벤트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ko-KR" altLang="en-US" sz="1400"/>
              <a:t>        </a:t>
            </a:r>
            <a:r>
              <a:rPr lang="en-US" altLang="ko-KR" sz="1400">
                <a:latin typeface="Times New Roman" panose="02020603050405020304" pitchFamily="18" charset="0"/>
              </a:rPr>
              <a:t>…</a:t>
            </a:r>
            <a:endParaRPr lang="en-US" altLang="ko-KR"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가을체"/>
        <a:ea typeface="가을체"/>
        <a:cs typeface=""/>
      </a:majorFont>
      <a:minorFont>
        <a:latin typeface="가을체"/>
        <a:ea typeface="가을체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pitchFamily="50" charset="-127"/>
            <a:ea typeface="굴림" panose="020B0600000101010101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pitchFamily="50" charset="-127"/>
            <a:ea typeface="굴림" panose="020B0600000101010101" pitchFamily="50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2708</TotalTime>
  <Words>1219</Words>
  <Application>Microsoft Office PowerPoint</Application>
  <PresentationFormat>화면 슬라이드 쇼(4:3)</PresentationFormat>
  <Paragraphs>193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9" baseType="lpstr">
      <vt:lpstr>굴림</vt:lpstr>
      <vt:lpstr>Arial</vt:lpstr>
      <vt:lpstr>가을체</vt:lpstr>
      <vt:lpstr>Wingdings</vt:lpstr>
      <vt:lpstr>HY견고딕</vt:lpstr>
      <vt:lpstr>Times New Roman</vt:lpstr>
      <vt:lpstr>기본 디자인</vt:lpstr>
      <vt:lpstr>Network Programming - 03  afewhee@gmail.com</vt:lpstr>
      <vt:lpstr>0. 목차</vt:lpstr>
      <vt:lpstr>1. WSAAsyncSelect</vt:lpstr>
      <vt:lpstr>1. WSAAsyncSelect</vt:lpstr>
      <vt:lpstr>1. WSAAsyncSelect</vt:lpstr>
      <vt:lpstr>1. WSAAsyncSelect - 윈도우 프로시저 처리 예</vt:lpstr>
      <vt:lpstr>2. WSAEventSelect</vt:lpstr>
      <vt:lpstr>2. WSAEventSelect</vt:lpstr>
      <vt:lpstr>PowerPoint 프레젠테이션</vt:lpstr>
      <vt:lpstr>2. WSAEventSelect - 주요 함수 내용</vt:lpstr>
      <vt:lpstr>2. WSAEventSelect - 처리 절차</vt:lpstr>
      <vt:lpstr>2. WSAEventSelect - Ex</vt:lpstr>
    </vt:vector>
  </TitlesOfParts>
  <Company>GaLic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</dc:title>
  <dc:creator>Heesung Oh</dc:creator>
  <cp:lastModifiedBy>Heesung Oh</cp:lastModifiedBy>
  <cp:revision>162</cp:revision>
  <dcterms:created xsi:type="dcterms:W3CDTF">2003-11-30T16:03:20Z</dcterms:created>
  <dcterms:modified xsi:type="dcterms:W3CDTF">2026-03-10T13:27:11Z</dcterms:modified>
</cp:coreProperties>
</file>